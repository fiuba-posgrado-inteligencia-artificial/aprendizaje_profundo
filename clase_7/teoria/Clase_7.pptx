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81" r:id="rId4"/>
    <p:sldId id="270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8" r:id="rId13"/>
    <p:sldId id="264" r:id="rId14"/>
    <p:sldId id="265" r:id="rId15"/>
    <p:sldId id="266" r:id="rId16"/>
    <p:sldId id="289" r:id="rId17"/>
    <p:sldId id="267" r:id="rId18"/>
    <p:sldId id="285" r:id="rId19"/>
    <p:sldId id="284" r:id="rId20"/>
    <p:sldId id="286" r:id="rId21"/>
    <p:sldId id="287" r:id="rId22"/>
    <p:sldId id="288" r:id="rId23"/>
    <p:sldId id="269" r:id="rId24"/>
    <p:sldId id="272" r:id="rId25"/>
    <p:sldId id="274" r:id="rId26"/>
    <p:sldId id="273" r:id="rId27"/>
    <p:sldId id="275" r:id="rId28"/>
    <p:sldId id="276" r:id="rId29"/>
    <p:sldId id="282" r:id="rId30"/>
    <p:sldId id="277" r:id="rId31"/>
    <p:sldId id="278" r:id="rId32"/>
    <p:sldId id="279" r:id="rId33"/>
    <p:sldId id="280" r:id="rId34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6"/>
    </p:embeddedFont>
    <p:embeddedFont>
      <p:font typeface="Roboto" panose="020000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1" roundtripDataSignature="AMtx7mjFLyGGbKtZ6MKWK8o6r1g77If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BE5CE-8B26-408D-B50F-FC0A92A9D305}" v="9" dt="2026-10-05T21:55:41.0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20" y="109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undo custSel addSld delSld modSld sldOrd">
      <pc:chgData name="Marcos Maillot" userId="fa14b39d-e966-4ebb-a436-4f96f84b9577" providerId="ADAL" clId="{152A8D8E-FC9A-4326-9172-4A160D290924}" dt="2026-10-05T22:50:12.693" v="1215" actId="20577"/>
      <pc:docMkLst>
        <pc:docMk/>
      </pc:docMkLst>
      <pc:sldChg chg="modSp mod modShow">
        <pc:chgData name="Marcos Maillot" userId="fa14b39d-e966-4ebb-a436-4f96f84b9577" providerId="ADAL" clId="{152A8D8E-FC9A-4326-9172-4A160D290924}" dt="2026-10-05T21:21:25.955" v="1077" actId="729"/>
        <pc:sldMkLst>
          <pc:docMk/>
          <pc:sldMk cId="0" sldId="261"/>
        </pc:sldMkLst>
        <pc:spChg chg="mod">
          <ac:chgData name="Marcos Maillot" userId="fa14b39d-e966-4ebb-a436-4f96f84b9577" providerId="ADAL" clId="{152A8D8E-FC9A-4326-9172-4A160D290924}" dt="2026-10-05T21:21:19.553" v="1076" actId="6549"/>
          <ac:spMkLst>
            <pc:docMk/>
            <pc:sldMk cId="0" sldId="261"/>
            <ac:spMk id="124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10-05T21:32:33.105" v="1110" actId="1076"/>
        <pc:sldMkLst>
          <pc:docMk/>
          <pc:sldMk cId="0" sldId="262"/>
        </pc:sldMkLst>
        <pc:spChg chg="mod">
          <ac:chgData name="Marcos Maillot" userId="fa14b39d-e966-4ebb-a436-4f96f84b9577" providerId="ADAL" clId="{152A8D8E-FC9A-4326-9172-4A160D290924}" dt="2026-10-05T21:32:33.105" v="1110" actId="1076"/>
          <ac:spMkLst>
            <pc:docMk/>
            <pc:sldMk cId="0" sldId="262"/>
            <ac:spMk id="135" creationId="{00000000-0000-0000-0000-000000000000}"/>
          </ac:spMkLst>
        </pc:spChg>
      </pc:sldChg>
      <pc:sldChg chg="mod modShow">
        <pc:chgData name="Marcos Maillot" userId="fa14b39d-e966-4ebb-a436-4f96f84b9577" providerId="ADAL" clId="{152A8D8E-FC9A-4326-9172-4A160D290924}" dt="2026-10-05T21:21:38.489" v="1078" actId="729"/>
        <pc:sldMkLst>
          <pc:docMk/>
          <pc:sldMk cId="0" sldId="263"/>
        </pc:sldMkLst>
      </pc:sldChg>
      <pc:sldChg chg="mod modShow">
        <pc:chgData name="Marcos Maillot" userId="fa14b39d-e966-4ebb-a436-4f96f84b9577" providerId="ADAL" clId="{152A8D8E-FC9A-4326-9172-4A160D290924}" dt="2026-10-05T21:22:18.994" v="1079" actId="729"/>
        <pc:sldMkLst>
          <pc:docMk/>
          <pc:sldMk cId="0" sldId="265"/>
        </pc:sldMkLst>
      </pc:sldChg>
      <pc:sldChg chg="addSp modSp mod">
        <pc:chgData name="Marcos Maillot" userId="fa14b39d-e966-4ebb-a436-4f96f84b9577" providerId="ADAL" clId="{152A8D8E-FC9A-4326-9172-4A160D290924}" dt="2026-10-05T21:55:12.270" v="1194" actId="1076"/>
        <pc:sldMkLst>
          <pc:docMk/>
          <pc:sldMk cId="0" sldId="266"/>
        </pc:sldMkLst>
        <pc:spChg chg="mod">
          <ac:chgData name="Marcos Maillot" userId="fa14b39d-e966-4ebb-a436-4f96f84b9577" providerId="ADAL" clId="{152A8D8E-FC9A-4326-9172-4A160D290924}" dt="2026-10-05T21:54:29.905" v="1191" actId="1076"/>
          <ac:spMkLst>
            <pc:docMk/>
            <pc:sldMk cId="0" sldId="266"/>
            <ac:spMk id="173" creationId="{00000000-0000-0000-0000-000000000000}"/>
          </ac:spMkLst>
        </pc:spChg>
        <pc:picChg chg="add mod">
          <ac:chgData name="Marcos Maillot" userId="fa14b39d-e966-4ebb-a436-4f96f84b9577" providerId="ADAL" clId="{152A8D8E-FC9A-4326-9172-4A160D290924}" dt="2026-10-05T21:54:31.201" v="1192" actId="1076"/>
          <ac:picMkLst>
            <pc:docMk/>
            <pc:sldMk cId="0" sldId="266"/>
            <ac:picMk id="3" creationId="{3B7C6167-564C-E459-7EB2-0E3964BED632}"/>
          </ac:picMkLst>
        </pc:picChg>
        <pc:picChg chg="add mod">
          <ac:chgData name="Marcos Maillot" userId="fa14b39d-e966-4ebb-a436-4f96f84b9577" providerId="ADAL" clId="{152A8D8E-FC9A-4326-9172-4A160D290924}" dt="2026-10-05T21:55:12.270" v="1194" actId="1076"/>
          <ac:picMkLst>
            <pc:docMk/>
            <pc:sldMk cId="0" sldId="266"/>
            <ac:picMk id="5" creationId="{460ECF69-737F-4211-7295-E54C0A727D55}"/>
          </ac:picMkLst>
        </pc:picChg>
        <pc:picChg chg="mod">
          <ac:chgData name="Marcos Maillot" userId="fa14b39d-e966-4ebb-a436-4f96f84b9577" providerId="ADAL" clId="{152A8D8E-FC9A-4326-9172-4A160D290924}" dt="2026-10-05T21:54:25.885" v="1190" actId="1076"/>
          <ac:picMkLst>
            <pc:docMk/>
            <pc:sldMk cId="0" sldId="266"/>
            <ac:picMk id="174" creationId="{00000000-0000-0000-0000-000000000000}"/>
          </ac:picMkLst>
        </pc:picChg>
      </pc:sldChg>
      <pc:sldChg chg="mod modShow">
        <pc:chgData name="Marcos Maillot" userId="fa14b39d-e966-4ebb-a436-4f96f84b9577" providerId="ADAL" clId="{152A8D8E-FC9A-4326-9172-4A160D290924}" dt="2026-10-05T21:41:56.646" v="1164" actId="729"/>
        <pc:sldMkLst>
          <pc:docMk/>
          <pc:sldMk cId="0" sldId="267"/>
        </pc:sldMkLst>
      </pc:sldChg>
      <pc:sldChg chg="ord modNotes">
        <pc:chgData name="Marcos Maillot" userId="fa14b39d-e966-4ebb-a436-4f96f84b9577" providerId="ADAL" clId="{152A8D8E-FC9A-4326-9172-4A160D290924}" dt="2026-10-05T21:35:06.090" v="1112"/>
        <pc:sldMkLst>
          <pc:docMk/>
          <pc:sldMk cId="0" sldId="268"/>
        </pc:sldMkLst>
      </pc:sldChg>
      <pc:sldChg chg="mod modShow">
        <pc:chgData name="Marcos Maillot" userId="fa14b39d-e966-4ebb-a436-4f96f84b9577" providerId="ADAL" clId="{152A8D8E-FC9A-4326-9172-4A160D290924}" dt="2026-10-05T21:20:23.235" v="1075" actId="729"/>
        <pc:sldMkLst>
          <pc:docMk/>
          <pc:sldMk cId="0" sldId="271"/>
        </pc:sldMkLst>
      </pc:sldChg>
      <pc:sldChg chg="modSp mod">
        <pc:chgData name="Marcos Maillot" userId="fa14b39d-e966-4ebb-a436-4f96f84b9577" providerId="ADAL" clId="{152A8D8E-FC9A-4326-9172-4A160D290924}" dt="2026-10-05T21:43:09.562" v="1170" actId="6549"/>
        <pc:sldMkLst>
          <pc:docMk/>
          <pc:sldMk cId="0" sldId="272"/>
        </pc:sldMkLst>
        <pc:spChg chg="mod">
          <ac:chgData name="Marcos Maillot" userId="fa14b39d-e966-4ebb-a436-4f96f84b9577" providerId="ADAL" clId="{152A8D8E-FC9A-4326-9172-4A160D290924}" dt="2026-10-05T21:43:09.562" v="1170" actId="6549"/>
          <ac:spMkLst>
            <pc:docMk/>
            <pc:sldMk cId="0" sldId="272"/>
            <ac:spMk id="222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43:08.861" v="1168" actId="1076"/>
          <ac:spMkLst>
            <pc:docMk/>
            <pc:sldMk cId="0" sldId="272"/>
            <ac:spMk id="223" creationId="{00000000-0000-0000-0000-000000000000}"/>
          </ac:spMkLst>
        </pc:spChg>
      </pc:sldChg>
      <pc:sldChg chg="ord">
        <pc:chgData name="Marcos Maillot" userId="fa14b39d-e966-4ebb-a436-4f96f84b9577" providerId="ADAL" clId="{152A8D8E-FC9A-4326-9172-4A160D290924}" dt="2026-10-05T21:24:37.063" v="1082"/>
        <pc:sldMkLst>
          <pc:docMk/>
          <pc:sldMk cId="0" sldId="274"/>
        </pc:sldMkLst>
      </pc:sldChg>
      <pc:sldChg chg="mod modShow">
        <pc:chgData name="Marcos Maillot" userId="fa14b39d-e966-4ebb-a436-4f96f84b9577" providerId="ADAL" clId="{152A8D8E-FC9A-4326-9172-4A160D290924}" dt="2026-10-05T21:25:17.755" v="1083" actId="729"/>
        <pc:sldMkLst>
          <pc:docMk/>
          <pc:sldMk cId="0" sldId="275"/>
        </pc:sldMkLst>
      </pc:sldChg>
      <pc:sldChg chg="mod modShow">
        <pc:chgData name="Marcos Maillot" userId="fa14b39d-e966-4ebb-a436-4f96f84b9577" providerId="ADAL" clId="{152A8D8E-FC9A-4326-9172-4A160D290924}" dt="2026-10-05T21:25:20.761" v="1084" actId="729"/>
        <pc:sldMkLst>
          <pc:docMk/>
          <pc:sldMk cId="0" sldId="276"/>
        </pc:sldMkLst>
      </pc:sldChg>
      <pc:sldChg chg="addSp modSp mod">
        <pc:chgData name="Marcos Maillot" userId="fa14b39d-e966-4ebb-a436-4f96f84b9577" providerId="ADAL" clId="{152A8D8E-FC9A-4326-9172-4A160D290924}" dt="2026-10-05T21:40:30.762" v="1163" actId="20577"/>
        <pc:sldMkLst>
          <pc:docMk/>
          <pc:sldMk cId="0" sldId="277"/>
        </pc:sldMkLst>
        <pc:spChg chg="add mod">
          <ac:chgData name="Marcos Maillot" userId="fa14b39d-e966-4ebb-a436-4f96f84b9577" providerId="ADAL" clId="{152A8D8E-FC9A-4326-9172-4A160D290924}" dt="2026-10-05T21:40:15.380" v="1143" actId="6549"/>
          <ac:spMkLst>
            <pc:docMk/>
            <pc:sldMk cId="0" sldId="277"/>
            <ac:spMk id="3" creationId="{4D3DB723-C316-6124-9A59-5643D438D70B}"/>
          </ac:spMkLst>
        </pc:spChg>
        <pc:spChg chg="mod">
          <ac:chgData name="Marcos Maillot" userId="fa14b39d-e966-4ebb-a436-4f96f84b9577" providerId="ADAL" clId="{152A8D8E-FC9A-4326-9172-4A160D290924}" dt="2026-10-05T21:38:20.320" v="1122" actId="20577"/>
          <ac:spMkLst>
            <pc:docMk/>
            <pc:sldMk cId="0" sldId="277"/>
            <ac:spMk id="27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40:30.762" v="1163" actId="20577"/>
          <ac:spMkLst>
            <pc:docMk/>
            <pc:sldMk cId="0" sldId="277"/>
            <ac:spMk id="272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10-05T21:39:49.584" v="1132" actId="1076"/>
          <ac:picMkLst>
            <pc:docMk/>
            <pc:sldMk cId="0" sldId="277"/>
            <ac:picMk id="273" creationId="{00000000-0000-0000-0000-000000000000}"/>
          </ac:picMkLst>
        </pc:picChg>
        <pc:picChg chg="mod">
          <ac:chgData name="Marcos Maillot" userId="fa14b39d-e966-4ebb-a436-4f96f84b9577" providerId="ADAL" clId="{152A8D8E-FC9A-4326-9172-4A160D290924}" dt="2026-10-05T21:39:48.456" v="1131" actId="1076"/>
          <ac:picMkLst>
            <pc:docMk/>
            <pc:sldMk cId="0" sldId="277"/>
            <ac:picMk id="274" creationId="{00000000-0000-0000-0000-000000000000}"/>
          </ac:picMkLst>
        </pc:picChg>
      </pc:sldChg>
      <pc:sldChg chg="mod modShow">
        <pc:chgData name="Marcos Maillot" userId="fa14b39d-e966-4ebb-a436-4f96f84b9577" providerId="ADAL" clId="{152A8D8E-FC9A-4326-9172-4A160D290924}" dt="2026-10-05T21:25:48.620" v="1089" actId="729"/>
        <pc:sldMkLst>
          <pc:docMk/>
          <pc:sldMk cId="0" sldId="278"/>
        </pc:sldMkLst>
      </pc:sldChg>
      <pc:sldChg chg="modSp mod">
        <pc:chgData name="Marcos Maillot" userId="fa14b39d-e966-4ebb-a436-4f96f84b9577" providerId="ADAL" clId="{152A8D8E-FC9A-4326-9172-4A160D290924}" dt="2026-10-05T21:27:37.965" v="1104" actId="20577"/>
        <pc:sldMkLst>
          <pc:docMk/>
          <pc:sldMk cId="0" sldId="280"/>
        </pc:sldMkLst>
        <pc:spChg chg="mod">
          <ac:chgData name="Marcos Maillot" userId="fa14b39d-e966-4ebb-a436-4f96f84b9577" providerId="ADAL" clId="{152A8D8E-FC9A-4326-9172-4A160D290924}" dt="2026-10-05T21:27:37.965" v="1104" actId="20577"/>
          <ac:spMkLst>
            <pc:docMk/>
            <pc:sldMk cId="0" sldId="280"/>
            <ac:spMk id="294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27:37.395" v="1103" actId="20577"/>
          <ac:spMkLst>
            <pc:docMk/>
            <pc:sldMk cId="0" sldId="280"/>
            <ac:spMk id="29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27:36.723" v="1100" actId="1076"/>
          <ac:spMkLst>
            <pc:docMk/>
            <pc:sldMk cId="0" sldId="280"/>
            <ac:spMk id="296" creationId="{00000000-0000-0000-0000-000000000000}"/>
          </ac:spMkLst>
        </pc:spChg>
      </pc:sldChg>
      <pc:sldChg chg="mod modShow">
        <pc:chgData name="Marcos Maillot" userId="fa14b39d-e966-4ebb-a436-4f96f84b9577" providerId="ADAL" clId="{152A8D8E-FC9A-4326-9172-4A160D290924}" dt="2026-10-05T21:23:32.056" v="1080" actId="729"/>
        <pc:sldMkLst>
          <pc:docMk/>
          <pc:sldMk cId="1791952568" sldId="288"/>
        </pc:sldMkLst>
      </pc:sldChg>
      <pc:sldChg chg="addSp delSp modSp add mod">
        <pc:chgData name="Marcos Maillot" userId="fa14b39d-e966-4ebb-a436-4f96f84b9577" providerId="ADAL" clId="{152A8D8E-FC9A-4326-9172-4A160D290924}" dt="2026-10-05T22:50:12.693" v="1215" actId="20577"/>
        <pc:sldMkLst>
          <pc:docMk/>
          <pc:sldMk cId="2834631516" sldId="289"/>
        </pc:sldMkLst>
        <pc:spChg chg="add mod">
          <ac:chgData name="Marcos Maillot" userId="fa14b39d-e966-4ebb-a436-4f96f84b9577" providerId="ADAL" clId="{152A8D8E-FC9A-4326-9172-4A160D290924}" dt="2026-10-05T21:56:52.710" v="1211" actId="1076"/>
          <ac:spMkLst>
            <pc:docMk/>
            <pc:sldMk cId="2834631516" sldId="289"/>
            <ac:spMk id="5" creationId="{33AEF044-62D8-E50E-0883-1A21C38BB4D5}"/>
          </ac:spMkLst>
        </pc:spChg>
        <pc:spChg chg="del">
          <ac:chgData name="Marcos Maillot" userId="fa14b39d-e966-4ebb-a436-4f96f84b9577" providerId="ADAL" clId="{152A8D8E-FC9A-4326-9172-4A160D290924}" dt="2026-10-05T21:56:51.061" v="1210" actId="478"/>
          <ac:spMkLst>
            <pc:docMk/>
            <pc:sldMk cId="2834631516" sldId="289"/>
            <ac:spMk id="172" creationId="{0154D684-4FC9-AAD3-B11F-5EE33921FBC1}"/>
          </ac:spMkLst>
        </pc:spChg>
        <pc:spChg chg="mod">
          <ac:chgData name="Marcos Maillot" userId="fa14b39d-e966-4ebb-a436-4f96f84b9577" providerId="ADAL" clId="{152A8D8E-FC9A-4326-9172-4A160D290924}" dt="2026-10-05T22:50:12.693" v="1215" actId="20577"/>
          <ac:spMkLst>
            <pc:docMk/>
            <pc:sldMk cId="2834631516" sldId="289"/>
            <ac:spMk id="173" creationId="{338C066C-9615-F67C-B539-A7A8CF759DB6}"/>
          </ac:spMkLst>
        </pc:spChg>
        <pc:picChg chg="add mod">
          <ac:chgData name="Marcos Maillot" userId="fa14b39d-e966-4ebb-a436-4f96f84b9577" providerId="ADAL" clId="{152A8D8E-FC9A-4326-9172-4A160D290924}" dt="2026-10-05T22:13:56.364" v="1214" actId="1076"/>
          <ac:picMkLst>
            <pc:docMk/>
            <pc:sldMk cId="2834631516" sldId="289"/>
            <ac:picMk id="3" creationId="{99643DE5-D2E2-54FB-EBBA-35C4A2E7164B}"/>
          </ac:picMkLst>
        </pc:picChg>
        <pc:picChg chg="add mod">
          <ac:chgData name="Marcos Maillot" userId="fa14b39d-e966-4ebb-a436-4f96f84b9577" providerId="ADAL" clId="{152A8D8E-FC9A-4326-9172-4A160D290924}" dt="2026-10-05T21:56:54.933" v="1213" actId="1076"/>
          <ac:picMkLst>
            <pc:docMk/>
            <pc:sldMk cId="2834631516" sldId="289"/>
            <ac:picMk id="7" creationId="{F03D4E4D-DD9A-00AF-51A5-99D8581D7F45}"/>
          </ac:picMkLst>
        </pc:picChg>
        <pc:picChg chg="del">
          <ac:chgData name="Marcos Maillot" userId="fa14b39d-e966-4ebb-a436-4f96f84b9577" providerId="ADAL" clId="{152A8D8E-FC9A-4326-9172-4A160D290924}" dt="2026-10-05T21:55:44.661" v="1199" actId="478"/>
          <ac:picMkLst>
            <pc:docMk/>
            <pc:sldMk cId="2834631516" sldId="289"/>
            <ac:picMk id="171" creationId="{5A467618-5FF7-4400-D1BA-1B9A66E012F0}"/>
          </ac:picMkLst>
        </pc:picChg>
        <pc:picChg chg="del">
          <ac:chgData name="Marcos Maillot" userId="fa14b39d-e966-4ebb-a436-4f96f84b9577" providerId="ADAL" clId="{152A8D8E-FC9A-4326-9172-4A160D290924}" dt="2026-10-05T21:55:42.851" v="1198" actId="478"/>
          <ac:picMkLst>
            <pc:docMk/>
            <pc:sldMk cId="2834631516" sldId="289"/>
            <ac:picMk id="174" creationId="{B416FA87-6251-7B71-988E-0AB2104FD86B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19:24:38.69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145 259 24575,'6'-7'0,"-1"-1"0,0 0 0,-1 0 0,1 0 0,-2-1 0,1 0 0,-1 0 0,2-12 0,14-32 0,-16 45 0,1 1 0,1-1 0,-1 1 0,1 0 0,0 0 0,1 1 0,-1 0 0,1 0 0,1 0 0,-1 0 0,1 1 0,0 0 0,0 1 0,10-5 0,-6 4 0,1 1 0,0 1 0,1 0 0,-1 1 0,1 0 0,-1 0 0,1 2 0,24 1 0,196 3 0,-230-4 0,0 0 0,0 1 0,0-1 0,0 1 0,0-1 0,0 1 0,0 0 0,0 0 0,0 1 0,-1-1 0,1 1 0,0-1 0,-1 1 0,1 0 0,-1 0 0,0 0 0,1 0 0,-1 0 0,0 0 0,0 1 0,-1-1 0,1 1 0,0-1 0,-1 1 0,1 0 0,-1 0 0,0 0 0,0 0 0,0-1 0,-1 1 0,2 4 0,0 10 0,-1 0 0,0 0 0,-2 0 0,-3 29 0,1 0 0,3 74 0,2-53 0,-4 1 0,-11 78 0,10-133 0,0 0 0,-2 0 0,1 0 0,-1 0 0,-1-1 0,0 0 0,-1 0 0,0-1 0,-9 11 0,-10 9 0,-50 47 0,59-61 0,-26 38 0,34-42 0,0-1 0,0 0 0,-2 0 0,1-1 0,-1 0 0,-1-1 0,-15 11 0,19-18 0,1 1 0,-1-1 0,0-1 0,0 1 0,0-1 0,0-1 0,0 1 0,-1-2 0,1 1 0,0-1 0,-1 0 0,1-1 0,0 0 0,0 0 0,-1-1 0,1 0 0,0 0 0,-9-4 0,-1-2 0,1 0 0,-1 0 0,2-2 0,-1 0 0,1-1 0,-24-22 0,29 23 0,0-1 0,1-1 0,0 0 0,1 0 0,-14-25 0,20 33 0,1 0 0,0 0 0,0 0 0,0-1 0,1 1 0,-1-1 0,1 1 0,0-1 0,0 1 0,1-1 0,-1 0 0,1 1 0,0-1 0,1 0 0,-1 1 0,1-1 0,0 0 0,0 1 0,0-1 0,0 1 0,1-1 0,0 1 0,3-6 0,-3 8 0,1-1 0,0 0 0,-1 1 0,1 0 0,0 0 0,0 0 0,1 0 0,-1 0 0,0 1 0,0-1 0,1 1 0,-1 0 0,1 0 0,0 0 0,-1 0 0,1 1 0,-1-1 0,1 1 0,0 0 0,-1 0 0,1 1 0,0-1 0,6 2 0,2 0 0,0 1 0,-1 0 0,1 1 0,-1 0 0,0 1 0,11 6 0,-9-2 0,0 1 0,-1 0 0,-1 0 0,0 1 0,0 1 0,-1 0 0,15 23 0,-19-25 0,1 1 0,1-1 0,0 0 0,0-1 0,1 0 0,0 0 0,1-1 0,0 0 0,0 0 0,0-1 0,1-1 0,16 8 0,1-4 0,7 4 0,1-2 0,0-1 0,0-2 0,52 7 0,-58-12-128,-1 2-1,0 2 0,0 1 0,0 0 1,-1 3-1,43 23 0,-55-28-335,11 6-6362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19:26:05.18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1 120 24575,'13'-13'0,"2"1"0,-1 1 0,1 0 0,1 1 0,0 0 0,0 2 0,1 0 0,0 1 0,0 0 0,1 1 0,0 2 0,0-1 0,36-2 0,-49 7 0,0 0 0,1 0 0,-1 1 0,0-1 0,0 1 0,0 0 0,0 1 0,0-1 0,0 1 0,0 0 0,0 1 0,0-1 0,-1 1 0,0 0 0,1 0 0,-1 0 0,0 0 0,0 1 0,-1 0 0,1 0 0,-1 0 0,5 7 0,-2-1 0,0 0 0,-1 0 0,0 0 0,-1 1 0,0 0 0,0 0 0,-2 0 0,1 0 0,1 16 0,-4-24 0,0 0 0,0 1 0,1-1 0,0 0 0,0 1 0,0-1 0,0 0 0,0 0 0,1 1 0,-1-1 0,1 0 0,0-1 0,0 1 0,0 0 0,0 0 0,0-1 0,1 1 0,-1-1 0,1 0 0,-1 0 0,4 2 0,1-1 0,-1-1 0,0 1 0,1-1 0,-1-1 0,1 1 0,-1-1 0,1 0 0,0-1 0,0 1 0,6-2 0,2 0 0,0-1 0,0-1 0,0 0 0,0-1 0,-1 0 0,0-1 0,0-1 0,0-1 0,12-7 0,36-15 0,-55 26 0,0 0 0,0 1 0,0 1 0,0-1 0,1 1 0,-1 0 0,0 1 0,1-1 0,-1 1 0,0 1 0,1 0 0,-1 0 0,0 0 0,0 1 0,0 0 0,0 0 0,0 1 0,0 0 0,-1 0 0,1 0 0,-1 1 0,0 0 0,0 0 0,0 1 0,-1 0 0,1 0 0,-1 0 0,0 0 0,-1 1 0,1 0 0,-1 0 0,0 0 0,-1 1 0,1-1 0,-1 1 0,-1 0 0,1 0 0,-1 0 0,0 0 0,-1 0 0,0 0 0,0 0 0,0 1 0,-1 10 0,-17 161 0,6-93 0,11-82 0,0 1 0,-1-1 0,0 0 0,0 1 0,0-1 0,0 0 0,-1 0 0,1 1 0,-1-1 0,0-1 0,0 1 0,-1 0 0,1 0 0,-1-1 0,0 1 0,1-1 0,-2 0 0,1 0 0,-4 3 0,1-3 0,0 0 0,-1 0 0,1-1 0,-1 0 0,0 0 0,1-1 0,-1 1 0,0-1 0,0-1 0,0 1 0,-10-2 0,-78-2 0,-83 2 0,176 1 0,-1 0 0,1 1 0,-1-1 0,1 1 0,0 0 0,-1 0 0,1 0 0,0 0 0,0 0 0,0 0 0,0 0 0,-1 1 0,2 0 0,-1-1 0,0 1 0,0 0 0,1-1 0,-1 1 0,0 0 0,1 0 0,0 1 0,0-1 0,-1 0 0,1 0 0,1 1 0,-1-1 0,0 0 0,0 1 0,1-1 0,0 1 0,-1-1 0,1 4 0,-1 12 0,0-1 0,2 1 0,3 30 0,-1-10 0,-1-27 0,-2 0 0,0 0 0,0 0 0,-1 0 0,0 0 0,-1 0 0,0 0 0,0-1 0,-2 1 0,1-1 0,-1 1 0,-1-1 0,-7 12 0,8-14 0,0 0 0,1 0 0,0 0 0,0 0 0,-2 14 0,4-18 0,1 0 0,-1 0 0,1 0 0,-1 0 0,-1 0 0,1-1 0,0 1 0,-1 0 0,0-1 0,0 1 0,0-1 0,0 1 0,0-1 0,-1 0 0,0 0 0,1 0 0,-1 0 0,0-1 0,-1 1 0,1-1 0,0 0 0,-1 1 0,1-2 0,-1 1 0,0 0 0,-3 1 0,-3 0 0,1-1 0,0 0 0,-1 0 0,1-1 0,-1 0 0,0 0 0,1-1 0,-1-1 0,1 1 0,-1-2 0,1 1 0,-1-1 0,1-1 0,0 0 0,0 0 0,0 0 0,0-2 0,0 1 0,1-1 0,0 0 0,0 0 0,0-1 0,1 0 0,0-1 0,0 1 0,0-2 0,1 1 0,0-1 0,1 1 0,0-1 0,0-1 0,0 1 0,1-1 0,0 0 0,1 0 0,0 0 0,1 0 0,-1-1 0,2 1 0,-1-1 0,2 1 0,-1-1 0,2-18 0,0 26 0,-1-1 0,1 1 0,-1 0 0,1 0 0,0 0 0,0 0 0,0-1 0,1 1 0,-1 0 0,0 1 0,1-1 0,-1 0 0,1 0 0,0 1 0,0-1 0,-1 1 0,1-1 0,0 1 0,0 0 0,0 0 0,0-1 0,1 2 0,-1-1 0,0 0 0,0 0 0,1 1 0,-1-1 0,0 1 0,1 0 0,2-1 0,12 0 0,1 1 0,-1 0 0,22 3 0,-9-1 0,-22-1 0,12-2 0,1 1 0,-1 1 0,1 1 0,-1 1 0,0 1 0,0 1 0,0 0 0,37 17 0,-47-17 0,-1 0 0,1 1 0,-1 0 0,1 1 0,-2 0 0,1 0 0,-1 1 0,0 0 0,-1 0 0,0 1 0,0 0 0,-1 1 0,0-1 0,-1 1 0,0 0 0,0 0 0,-1 1 0,0-1 0,-1 1 0,2 15 0,-4-25 0,2 13 0,0-1 0,1 0 0,1 0 0,0 0 0,8 14 0,-11-23 0,1-1 0,0 1 0,0-1 0,0 1 0,0-1 0,0 0 0,1 0 0,-1-1 0,1 1 0,0-1 0,0 0 0,0 0 0,0 0 0,0 0 0,0-1 0,1 1 0,-1-1 0,0 0 0,9 0 0,-1 1 0,-1-1 0,1-1 0,-1 0 0,1 0 0,-1-1 0,1-1 0,-1 0 0,12-3 0,-14 1 0,-1 1 0,0-1 0,0-1 0,0 0 0,-1 0 0,0 0 0,0-1 0,0 0 0,0 0 0,9-13 0,31-53 0,-38 55 0,1 1 0,0 0 0,1 1 0,19-21 0,-26 32 0,0 1 0,-1 0 0,1 0 0,0 0 0,0 0 0,1 1 0,-1 0 0,1 0 0,-1 0 0,1 0 0,-1 1 0,1-1 0,0 1 0,0 0 0,0 1 0,0-1 0,0 1 0,-1 0 0,1 0 0,0 1 0,9 2 0,-11-3 0,0 2 0,0-1 0,-1 0 0,1 0 0,-1 1 0,1 0 0,-1-1 0,0 1 0,0 0 0,0 0 0,0 0 0,0 0 0,0 1 0,0-1 0,0 0 0,-1 1 0,0-1 0,1 1 0,-1 0 0,0-1 0,0 1 0,0 0 0,-1 0 0,1 0 0,-1 0 0,1 4 0,1 12 0,-2-1 0,1 1 0,-4 20 0,2-17 0,0-16 0,1 0 0,0-1 0,0 1 0,1 0 0,-1 0 0,1-1 0,1 1 0,-1 0 0,1-1 0,0 0 0,0 1 0,1-1 0,-1 0 0,4 5 0,-3-7 0,0 0 0,0 0 0,0 0 0,0-1 0,1 0 0,-1 1 0,1-1 0,0 0 0,-1-1 0,1 1 0,0-1 0,0 1 0,0-1 0,0 0 0,0-1 0,0 1 0,0-1 0,1 0 0,-1 0 0,6 0 0,38-5 0,-1-2 0,51-14 0,-80 17 0,4-2-1365,-4-1-5461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12T01:00:14.2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3 4 0 0,'0'-2'9485'0'0,"0"2"-9384"0"0,-40 46 109 0 0,-56 78-610 0 0,63-76 205 0 0,25-36 147 0 0,0 0 0 0 0,-1 0 0 0 0,-19 19 0 0 0,-13 30 48 0 0,35-53-1338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12T01:00:15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96 0 0,'-2'0'11874'0'0,"71"60"-9665"0"0,62 58 607 0 0,-109-97-2189 0 0,1 0 0 0 0,43 28 1 0 0,20 17 1286 0 0,-77-59-1721 0 0,0 0-1 0 0,0 0 0 0 0,19 9 1 0 0,-25-14 977 0 0,-9-3-6570 0 0,-6-2-2677 0 0,7 2 5746 0 0,-6-3-4201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>
          <a:extLst>
            <a:ext uri="{FF2B5EF4-FFF2-40B4-BE49-F238E27FC236}">
              <a16:creationId xmlns:a16="http://schemas.microsoft.com/office/drawing/2014/main" id="{1E6AF8C4-1E52-79B0-B285-F03EEC9E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>
            <a:extLst>
              <a:ext uri="{FF2B5EF4-FFF2-40B4-BE49-F238E27FC236}">
                <a16:creationId xmlns:a16="http://schemas.microsoft.com/office/drawing/2014/main" id="{DCD84084-0FA0-0C8A-DFE1-4834767EE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>
            <a:extLst>
              <a:ext uri="{FF2B5EF4-FFF2-40B4-BE49-F238E27FC236}">
                <a16:creationId xmlns:a16="http://schemas.microsoft.com/office/drawing/2014/main" id="{68478B48-37C1-3743-F09B-F6D485326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482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f19d644e1e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2f19d644e1e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f19d644e1e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f19d644e1e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f19d644e1e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2f19d644e1e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19d644e1e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2f19d644e1e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19d644e1e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2f19d644e1e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f19d644e1e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2f19d644e1e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f19d644e1e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f19d644e1e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19d644e1e_1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f19d644e1e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f19d644e1e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2f19d644e1e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6EED4D60-AC61-BFFA-BD3A-B36FC5774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>
            <a:extLst>
              <a:ext uri="{FF2B5EF4-FFF2-40B4-BE49-F238E27FC236}">
                <a16:creationId xmlns:a16="http://schemas.microsoft.com/office/drawing/2014/main" id="{678C6CA7-4A7E-CE7B-1374-E99FE12132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>
            <a:extLst>
              <a:ext uri="{FF2B5EF4-FFF2-40B4-BE49-F238E27FC236}">
                <a16:creationId xmlns:a16="http://schemas.microsoft.com/office/drawing/2014/main" id="{7509892E-E05D-B0DB-C704-D99F3DB482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74643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f19d644e1e_1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2f19d644e1e_1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538FC70F-713A-88E7-5065-A012C5238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2C6472A0-6274-8743-504A-65C695E953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BFF51063-C744-D9FA-C21B-8C236B0E9D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3868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E0AA8347-332A-298A-C584-8535D299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58AB3E9E-7EC9-7291-EEBE-044F34EEC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8910E96B-0BD4-204E-FC56-79D4C96ED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49545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75E045F2-A9F4-AEE8-7828-19BB0373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6EF6C27B-E787-6A26-FB8F-D87505A48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A0661EA6-909F-B66F-DA49-251D2FFF4D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60737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A148A57E-066B-1149-3CA9-8F25862E9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870D84E5-D55C-C7E5-1DB6-E2B2157949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25026067-EE5F-4553-405E-68348AD956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02397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723273AD-CEA4-975C-7E47-20D537EF0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238105D1-06C2-F59C-F690-8F13EFFAFA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8554B801-9040-34D3-3E6A-46B376299B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091248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19d644e1e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f19d644e1e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19d644e1e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2f19d644e1e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f19d644e1e_1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f19d644e1e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19d644e1e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19d644e1e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f19d644e1e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g2f19d644e1e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AE3337C4-64EA-56F1-0AC7-AFECD02B1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>
            <a:extLst>
              <a:ext uri="{FF2B5EF4-FFF2-40B4-BE49-F238E27FC236}">
                <a16:creationId xmlns:a16="http://schemas.microsoft.com/office/drawing/2014/main" id="{4EC2DE8D-99A9-E1D1-95D7-2DF5F02B8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>
            <a:extLst>
              <a:ext uri="{FF2B5EF4-FFF2-40B4-BE49-F238E27FC236}">
                <a16:creationId xmlns:a16="http://schemas.microsoft.com/office/drawing/2014/main" id="{04F4F4E2-A8BA-534B-AF01-F26320563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1956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f19d644e1e_1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2f19d644e1e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f19d644e1e_1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2f19d644e1e_1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f19d644e1e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f19d644e1e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f19d644e1e_1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f19d644e1e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4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customXml" Target="../ink/ink2.xml"/><Relationship Id="rId12" Type="http://schemas.openxmlformats.org/officeDocument/2006/relationships/customXml" Target="../ink/ink4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0.png"/><Relationship Id="rId11" Type="http://schemas.openxmlformats.org/officeDocument/2006/relationships/image" Target="../media/image33.png"/><Relationship Id="rId5" Type="http://schemas.openxmlformats.org/officeDocument/2006/relationships/customXml" Target="../ink/ink1.xml"/><Relationship Id="rId10" Type="http://schemas.openxmlformats.org/officeDocument/2006/relationships/customXml" Target="../ink/ink3.xml"/><Relationship Id="rId4" Type="http://schemas.openxmlformats.org/officeDocument/2006/relationships/image" Target="../media/image33.jpeg"/><Relationship Id="rId9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rxiv.org/abs/1310.4546v1" TargetMode="Externa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</a:t>
            </a:r>
            <a:r>
              <a:rPr lang="pt-BR" sz="2600" dirty="0" err="1"/>
              <a:t>Vilcamiza</a:t>
            </a:r>
            <a:r>
              <a:rPr lang="en" sz="2600" dirty="0"/>
              <a:t>	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/>
              <a:t>REPRESENTATION LEARNING </a:t>
            </a:r>
            <a:br>
              <a:rPr lang="en" sz="2100" dirty="0"/>
            </a:br>
            <a:r>
              <a:rPr lang="en" sz="2100" dirty="0"/>
              <a:t>AUTOENCODER / EMBEDDINGS</a:t>
            </a:r>
            <a:endParaRPr sz="2818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03148" y="2776300"/>
            <a:ext cx="3598950" cy="21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Autoencoders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-AR" dirty="0">
                <a:solidFill>
                  <a:schemeClr val="dk2"/>
                </a:solidFill>
              </a:rPr>
              <a:t>U</a:t>
            </a:r>
            <a:r>
              <a:rPr lang="en" dirty="0">
                <a:solidFill>
                  <a:schemeClr val="dk2"/>
                </a:solidFill>
              </a:rPr>
              <a:t>ndercomplete vs regularized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Manifold learning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Varational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72000" y="2712242"/>
            <a:ext cx="4302000" cy="2348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Embeddings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 err="1">
                <a:solidFill>
                  <a:schemeClr val="dk2"/>
                </a:solidFill>
              </a:rPr>
              <a:t>Embeddings</a:t>
            </a:r>
            <a:r>
              <a:rPr lang="es-ES" dirty="0">
                <a:solidFill>
                  <a:schemeClr val="dk2"/>
                </a:solidFill>
              </a:rPr>
              <a:t> vs </a:t>
            </a:r>
            <a:r>
              <a:rPr lang="es-ES" dirty="0" err="1">
                <a:solidFill>
                  <a:schemeClr val="dk2"/>
                </a:solidFill>
              </a:rPr>
              <a:t>one-hot.encoding</a:t>
            </a: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>
                <a:solidFill>
                  <a:schemeClr val="dk2"/>
                </a:solidFill>
              </a:rPr>
              <a:t>F</a:t>
            </a:r>
            <a:r>
              <a:rPr lang="en" dirty="0">
                <a:solidFill>
                  <a:schemeClr val="dk2"/>
                </a:solidFill>
              </a:rPr>
              <a:t>alse task training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4D6A6C-4882-7422-E750-B3F7E8634DD0}"/>
              </a:ext>
            </a:extLst>
          </p:cNvPr>
          <p:cNvSpPr txBox="1"/>
          <p:nvPr/>
        </p:nvSpPr>
        <p:spPr>
          <a:xfrm>
            <a:off x="2732887" y="1983377"/>
            <a:ext cx="3104147" cy="38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800" dirty="0">
                <a:solidFill>
                  <a:schemeClr val="dk2"/>
                </a:solidFill>
              </a:rPr>
              <a:t>Representation learning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>
          <a:extLst>
            <a:ext uri="{FF2B5EF4-FFF2-40B4-BE49-F238E27FC236}">
              <a16:creationId xmlns:a16="http://schemas.microsoft.com/office/drawing/2014/main" id="{44912406-6DFA-DCE3-557D-0F143ADF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>
            <a:extLst>
              <a:ext uri="{FF2B5EF4-FFF2-40B4-BE49-F238E27FC236}">
                <a16:creationId xmlns:a16="http://schemas.microsoft.com/office/drawing/2014/main" id="{BC1D470F-D7B0-7CCC-8DDE-746CEFACBEC0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2" name="Google Shape;202;g2f19d644e1e_1_101">
            <a:extLst>
              <a:ext uri="{FF2B5EF4-FFF2-40B4-BE49-F238E27FC236}">
                <a16:creationId xmlns:a16="http://schemas.microsoft.com/office/drawing/2014/main" id="{B03FFB50-A0E3-911B-80C4-8D35D952D00D}"/>
              </a:ext>
            </a:extLst>
          </p:cNvPr>
          <p:cNvSpPr/>
          <p:nvPr/>
        </p:nvSpPr>
        <p:spPr>
          <a:xfrm>
            <a:off x="725830" y="1246594"/>
            <a:ext cx="8088161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¿Cuantos es 240 divido 6?			Y… ¿Cuánto es CCXL divido VI?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>
            <a:extLst>
              <a:ext uri="{FF2B5EF4-FFF2-40B4-BE49-F238E27FC236}">
                <a16:creationId xmlns:a16="http://schemas.microsoft.com/office/drawing/2014/main" id="{5C0311A7-6656-927A-9642-E4A7614CB47F}"/>
              </a:ext>
            </a:extLst>
          </p:cNvPr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>
            <a:extLst>
              <a:ext uri="{FF2B5EF4-FFF2-40B4-BE49-F238E27FC236}">
                <a16:creationId xmlns:a16="http://schemas.microsoft.com/office/drawing/2014/main" id="{8B93E0BA-8AA4-8C9D-01A2-A423154A6419}"/>
              </a:ext>
            </a:extLst>
          </p:cNvPr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>
            <a:extLst>
              <a:ext uri="{FF2B5EF4-FFF2-40B4-BE49-F238E27FC236}">
                <a16:creationId xmlns:a16="http://schemas.microsoft.com/office/drawing/2014/main" id="{7FE7E7FE-41A8-A56E-609D-CB2E0394C524}"/>
              </a:ext>
            </a:extLst>
          </p:cNvPr>
          <p:cNvSpPr/>
          <p:nvPr/>
        </p:nvSpPr>
        <p:spPr>
          <a:xfrm>
            <a:off x="725830" y="2052377"/>
            <a:ext cx="786128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misma información puede ser representada en distintas maneras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una representación será mejor que otras si la tarea que queremos realizar nos resulta mas facil empleando dicha representación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984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1" name="Google Shape;201;g2f19d644e1e_1_101"/>
          <p:cNvSpPr txBox="1"/>
          <p:nvPr/>
        </p:nvSpPr>
        <p:spPr>
          <a:xfrm>
            <a:off x="836350" y="1001204"/>
            <a:ext cx="7471299" cy="39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 (featuring engineer automático)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2" name="Google Shape;202;g2f19d644e1e_1_101"/>
          <p:cNvSpPr/>
          <p:nvPr/>
        </p:nvSpPr>
        <p:spPr>
          <a:xfrm>
            <a:off x="242887" y="1758061"/>
            <a:ext cx="78611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features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unlabeled data siguiendo un entrenamiento supervisado bajo una NN secundaria (autoencoder o semejantes) siguiendo una false task.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Reducción de dimension del input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Encontrar latent variables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sym typeface="Twentieth Century"/>
              </a:rPr>
              <a:t>+ Semi supervised learning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3" name="Google Shape;203;g2f19d644e1e_1_101"/>
          <p:cNvSpPr/>
          <p:nvPr/>
        </p:nvSpPr>
        <p:spPr>
          <a:xfrm>
            <a:off x="4640975" y="3367300"/>
            <a:ext cx="3973500" cy="14541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Clustering maps 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Operdores lógicos (auto &gt; bicicleta?)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Medir distancias (manzana mas cerca que torta?)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Proyecciones o multiplicaciones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/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/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/>
          <p:cNvSpPr/>
          <p:nvPr/>
        </p:nvSpPr>
        <p:spPr>
          <a:xfrm>
            <a:off x="544133" y="3718268"/>
            <a:ext cx="3512713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complejidad del dataset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reducen las anomalias y el ruido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7" name="Google Shape;207;g2f19d644e1e_1_101"/>
          <p:cNvSpPr/>
          <p:nvPr/>
        </p:nvSpPr>
        <p:spPr>
          <a:xfrm>
            <a:off x="4640976" y="2912223"/>
            <a:ext cx="336548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Hacemos operaciones sobre ellos</a:t>
            </a:r>
            <a:endParaRPr sz="15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f19d644e1e_1_11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f19d644e1e_1_112"/>
          <p:cNvSpPr txBox="1"/>
          <p:nvPr/>
        </p:nvSpPr>
        <p:spPr>
          <a:xfrm>
            <a:off x="165175" y="737146"/>
            <a:ext cx="86415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14" name="Google Shape;214;g2f19d644e1e_1_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9603" y="1188666"/>
            <a:ext cx="7548535" cy="206082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2f19d644e1e_1_112"/>
          <p:cNvSpPr/>
          <p:nvPr/>
        </p:nvSpPr>
        <p:spPr>
          <a:xfrm>
            <a:off x="264630" y="3501019"/>
            <a:ext cx="387998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Mas datos (de entrenamiento) no necesariamente garantiza llegar a un buen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features correctos, las tarea de la red puede ser mejor alcanzada. 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6" name="Google Shape;216;g2f19d644e1e_1_112"/>
          <p:cNvSpPr/>
          <p:nvPr/>
        </p:nvSpPr>
        <p:spPr>
          <a:xfrm>
            <a:off x="4365195" y="3509733"/>
            <a:ext cx="4619683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When the learned features are passed into the supervised learning algorithm, it can improve the prediction accuracy up to 17%. 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[https://dl.acm.org/doi/10.1145/3303772.3303795].</a:t>
            </a: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5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9d644e1e_1_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0" name="Google Shape;90;g2f19d644e1e_1_8"/>
          <p:cNvPicPr preferRelativeResize="0"/>
          <p:nvPr/>
        </p:nvPicPr>
        <p:blipFill rotWithShape="1">
          <a:blip r:embed="rId3">
            <a:alphaModFix/>
          </a:blip>
          <a:srcRect l="20812" r="6770"/>
          <a:stretch/>
        </p:blipFill>
        <p:spPr>
          <a:xfrm>
            <a:off x="4419197" y="902371"/>
            <a:ext cx="1996889" cy="1993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2f19d644e1e_1_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81604" y="1832010"/>
            <a:ext cx="2499751" cy="70098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2f19d644e1e_1_8"/>
          <p:cNvSpPr/>
          <p:nvPr/>
        </p:nvSpPr>
        <p:spPr>
          <a:xfrm>
            <a:off x="6017654" y="3487056"/>
            <a:ext cx="1512017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PCA??</a:t>
            </a:r>
            <a:endParaRPr sz="21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3" name="Google Shape;93;g2f19d644e1e_1_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927" y="3810796"/>
            <a:ext cx="3191217" cy="781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2f19d644e1e_1_8"/>
          <p:cNvPicPr preferRelativeResize="0"/>
          <p:nvPr/>
        </p:nvPicPr>
        <p:blipFill rotWithShape="1">
          <a:blip r:embed="rId6">
            <a:alphaModFix/>
          </a:blip>
          <a:srcRect l="24706" t="1523" r="19883" b="12579"/>
          <a:stretch/>
        </p:blipFill>
        <p:spPr>
          <a:xfrm>
            <a:off x="660149" y="754946"/>
            <a:ext cx="3166782" cy="305584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2f19d644e1e_1_8"/>
          <p:cNvSpPr txBox="1"/>
          <p:nvPr/>
        </p:nvSpPr>
        <p:spPr>
          <a:xfrm>
            <a:off x="3392945" y="1705744"/>
            <a:ext cx="736226" cy="53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2f19d644e1e_1_8"/>
          <p:cNvSpPr txBox="1"/>
          <p:nvPr/>
        </p:nvSpPr>
        <p:spPr>
          <a:xfrm>
            <a:off x="1242722" y="4634235"/>
            <a:ext cx="7369650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autoencoders vs regularized autoencoders</a:t>
            </a:r>
            <a:endParaRPr sz="2100" b="0" i="0" u="none" strike="noStrike" cap="none" dirty="0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7" name="Google Shape;97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422187" y="1892658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3648196" y="1892645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2f19d644e1e_1_8"/>
          <p:cNvPicPr preferRelativeResize="0"/>
          <p:nvPr/>
        </p:nvPicPr>
        <p:blipFill rotWithShape="1">
          <a:blip r:embed="rId7">
            <a:alphaModFix/>
          </a:blip>
          <a:srcRect l="69947" t="15321" r="22128" b="40537"/>
          <a:stretch/>
        </p:blipFill>
        <p:spPr>
          <a:xfrm>
            <a:off x="5904783" y="2293144"/>
            <a:ext cx="225741" cy="345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f19d644e1e_1_2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5" name="Google Shape;105;g2f19d644e1e_1_22"/>
          <p:cNvSpPr txBox="1"/>
          <p:nvPr/>
        </p:nvSpPr>
        <p:spPr>
          <a:xfrm>
            <a:off x="251252" y="884448"/>
            <a:ext cx="8641496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 vs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</a:t>
            </a: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6" name="Google Shape;106;g2f19d644e1e_1_22"/>
          <p:cNvSpPr/>
          <p:nvPr/>
        </p:nvSpPr>
        <p:spPr>
          <a:xfrm>
            <a:off x="251252" y="1681799"/>
            <a:ext cx="7505049" cy="256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en autoencoder tiene capacidad suficiente copiará la entrada (aprende la función identidad).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capacidad del autoencoder (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…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 para que aprenda los “aspectos relevantes” de la entrada. Aprenden la </a:t>
            </a:r>
            <a:r>
              <a:rPr lang="en" sz="1800" i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latent variable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del dataset.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Otra manera es “regularizar” sus pesos en el entrenamiento…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 …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que aprenda otras características del dataset.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7" name="Google Shape;107;g2f19d644e1e_1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33453" y="4323200"/>
            <a:ext cx="3113222" cy="658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19d644e1e_1_29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f19d644e1e_1_29"/>
          <p:cNvSpPr txBox="1"/>
          <p:nvPr/>
        </p:nvSpPr>
        <p:spPr>
          <a:xfrm>
            <a:off x="251252" y="814403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limitación de activación neuronas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f19d644e1e_1_29"/>
          <p:cNvSpPr/>
          <p:nvPr/>
        </p:nvSpPr>
        <p:spPr>
          <a:xfrm>
            <a:off x="328525" y="2055760"/>
            <a:ext cx="8641496" cy="237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activation 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Para una entrada dada, la mayoría de los </a:t>
            </a:r>
            <a:r>
              <a:rPr lang="en" sz="2400" b="0" i="1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2400" b="0" i="1" u="none" strike="noStrike" cap="none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producirán una activación muy pequeña.</a:t>
            </a:r>
            <a:endParaRPr sz="110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una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dada, su activación promedio (sobre todas las muestras) será un valor cercano a cero.</a:t>
            </a:r>
            <a:endParaRPr sz="1100">
              <a:solidFill>
                <a:schemeClr val="dk2"/>
              </a:solidFill>
            </a:endParaRPr>
          </a:p>
          <a:p>
            <a:pPr marL="0" marR="0" lvl="0" indent="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Esto previene que el autoencoder use todas las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al mismo tiempo y fuerza a un uso reducido de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g2f19d644e1e_1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23306" y="1256947"/>
            <a:ext cx="1885950" cy="678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2f19d644e1e_1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2910" y="1237685"/>
            <a:ext cx="3113222" cy="65838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2f19d644e1e_1_29"/>
          <p:cNvSpPr txBox="1"/>
          <p:nvPr/>
        </p:nvSpPr>
        <p:spPr>
          <a:xfrm>
            <a:off x="328525" y="4553490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para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features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otra tarea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pre-training.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f19d644e1e_1_29"/>
          <p:cNvSpPr/>
          <p:nvPr/>
        </p:nvSpPr>
        <p:spPr>
          <a:xfrm>
            <a:off x="5796430" y="1416637"/>
            <a:ext cx="213393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Regularización L1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f19d644e1e_1_39"/>
          <p:cNvSpPr txBox="1"/>
          <p:nvPr/>
        </p:nvSpPr>
        <p:spPr>
          <a:xfrm>
            <a:off x="-119743" y="1"/>
            <a:ext cx="9383486" cy="367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f19d644e1e_1_39"/>
          <p:cNvSpPr txBox="1"/>
          <p:nvPr/>
        </p:nvSpPr>
        <p:spPr>
          <a:xfrm>
            <a:off x="328526" y="722229"/>
            <a:ext cx="53277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Contractive autoencoders CAE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25" name="Google Shape;125;g2f19d644e1e_1_39"/>
          <p:cNvSpPr txBox="1"/>
          <p:nvPr/>
        </p:nvSpPr>
        <p:spPr>
          <a:xfrm>
            <a:off x="198782" y="4388380"/>
            <a:ext cx="8771239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autoencodes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hace que el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varie mucho ante pequeños cambios en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x</a:t>
            </a:r>
            <a:endParaRPr sz="1800" b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6" name="Google Shape;126;g2f19d644e1e_1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526" y="1260902"/>
            <a:ext cx="2000250" cy="73580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2f19d644e1e_1_39"/>
          <p:cNvSpPr/>
          <p:nvPr/>
        </p:nvSpPr>
        <p:spPr>
          <a:xfrm>
            <a:off x="328525" y="2287394"/>
            <a:ext cx="8364841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Inputs similares tendrán similares representaciones. Se fuerza al modelo a aprender un vecindario reducido de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mapearlo a un vecindario reducido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1397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Undercomplete + constractive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aprenden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/dx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pequeñas. Solo un número pequeño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(que se corresponden con un número reducido de direcciones en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), pueden tener una derivada considerable.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8" name="Google Shape;128;g2f19d644e1e_1_39"/>
          <p:cNvSpPr/>
          <p:nvPr/>
        </p:nvSpPr>
        <p:spPr>
          <a:xfrm>
            <a:off x="2769371" y="1391131"/>
            <a:ext cx="5595884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objetivo es aprender un representación que sea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poco sensible a pequeñas variaciones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los datos de entrada.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f19d644e1e_1_4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34" name="Google Shape;134;g2f19d644e1e_1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22208" y="1044523"/>
            <a:ext cx="3883068" cy="400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2f19d644e1e_1_48"/>
          <p:cNvSpPr txBox="1"/>
          <p:nvPr/>
        </p:nvSpPr>
        <p:spPr>
          <a:xfrm>
            <a:off x="405225" y="3960121"/>
            <a:ext cx="38832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TODAS LAS NN “ENCUENTRAN” EL MANIFOLD DE LOS DATOS</a:t>
            </a:r>
            <a:endParaRPr sz="1500" i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g2f19d644e1e_1_48"/>
          <p:cNvSpPr txBox="1"/>
          <p:nvPr/>
        </p:nvSpPr>
        <p:spPr>
          <a:xfrm>
            <a:off x="328526" y="637179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7" name="Google Shape;137;g2f19d644e1e_1_48"/>
          <p:cNvSpPr/>
          <p:nvPr/>
        </p:nvSpPr>
        <p:spPr>
          <a:xfrm>
            <a:off x="186614" y="1210480"/>
            <a:ext cx="4691400" cy="25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un espacio N-dimensional, de menor dimensión del espacio original donde los datos se concentran.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desplazamos dentro del manifold del MNIST, siempre encontraremos un número MNIST.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salimos de dicho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no encontraremos un número MNIST.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38" name="Google Shape;138;g2f19d644e1e_1_48"/>
          <p:cNvSpPr txBox="1"/>
          <p:nvPr/>
        </p:nvSpPr>
        <p:spPr>
          <a:xfrm>
            <a:off x="230939" y="4521936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https://www.youtube.com/watch?v=QHj9uVmwA_0&amp;t=12s&amp;ab_channel=ArtemKirsanov</a:t>
            </a:r>
            <a:endParaRPr sz="11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f19d644e1e_1_5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4" name="Google Shape;144;g2f19d644e1e_1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674" y="1264586"/>
            <a:ext cx="3970619" cy="2744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2f19d644e1e_1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1993" y="1630546"/>
            <a:ext cx="4027870" cy="278396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2f19d644e1e_1_57"/>
          <p:cNvSpPr/>
          <p:nvPr/>
        </p:nvSpPr>
        <p:spPr>
          <a:xfrm>
            <a:off x="528033" y="4505045"/>
            <a:ext cx="4572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https://www.kaggle.com/apapiu/manifold-learning-and-autoencoders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7" name="Google Shape;147;g2f19d644e1e_1_57"/>
          <p:cNvSpPr txBox="1"/>
          <p:nvPr/>
        </p:nvSpPr>
        <p:spPr>
          <a:xfrm>
            <a:off x="338726" y="691266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/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9" name="Google Shape;189;g2f19d644e1e_1_90"/>
          <p:cNvSpPr txBox="1"/>
          <p:nvPr/>
        </p:nvSpPr>
        <p:spPr>
          <a:xfrm>
            <a:off x="612588" y="2049328"/>
            <a:ext cx="532779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ver github autoencoder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19d644e1e_1_6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g2f19d644e1e_1_65"/>
          <p:cNvSpPr txBox="1"/>
          <p:nvPr/>
        </p:nvSpPr>
        <p:spPr>
          <a:xfrm>
            <a:off x="218939" y="650065"/>
            <a:ext cx="5154935" cy="43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4" name="Google Shape;154;g2f19d644e1e_1_65"/>
          <p:cNvSpPr/>
          <p:nvPr/>
        </p:nvSpPr>
        <p:spPr>
          <a:xfrm>
            <a:off x="539800" y="1805582"/>
            <a:ext cx="24828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 genera el espacio latente bajo una función de densidad de probabilidad.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5" name="Google Shape;155;g2f19d644e1e_1_65"/>
          <p:cNvPicPr preferRelativeResize="0"/>
          <p:nvPr/>
        </p:nvPicPr>
        <p:blipFill rotWithShape="1">
          <a:blip r:embed="rId3">
            <a:alphaModFix/>
          </a:blip>
          <a:srcRect l="22571" b="46639"/>
          <a:stretch/>
        </p:blipFill>
        <p:spPr>
          <a:xfrm>
            <a:off x="3711014" y="1011386"/>
            <a:ext cx="5381934" cy="229426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2f19d644e1e_1_65"/>
          <p:cNvSpPr/>
          <p:nvPr/>
        </p:nvSpPr>
        <p:spPr>
          <a:xfrm>
            <a:off x="407551" y="3327723"/>
            <a:ext cx="7904409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Otorga control sobre cómo se distribuye el espacio latent de nuestro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 de entrenar, se toma una muesta aleatoria de dicha función de densidad de probabilidad para alimentar al decoder.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VAE el espacio latente Z se ve como una variable latent con una probabilidad P(Z) de que dicha variable z pertencezca al manifold de los datos de entrada. 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f19d644e1e_1_7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2" name="Google Shape;162;g2f19d644e1e_1_74"/>
          <p:cNvSpPr txBox="1"/>
          <p:nvPr/>
        </p:nvSpPr>
        <p:spPr>
          <a:xfrm>
            <a:off x="218939" y="759640"/>
            <a:ext cx="5154900" cy="4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63" name="Google Shape;163;g2f19d644e1e_1_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1774" y="1946405"/>
            <a:ext cx="2501378" cy="1250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g2f19d644e1e_1_7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66680" y="759660"/>
            <a:ext cx="4815547" cy="372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2f19d644e1e_1_74"/>
          <p:cNvSpPr txBox="1"/>
          <p:nvPr/>
        </p:nvSpPr>
        <p:spPr>
          <a:xfrm>
            <a:off x="218951" y="4725575"/>
            <a:ext cx="6010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https://towardsdatascience.com/what-the-heck-are-vae-gans-17b86023588a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1" name="Google Shape;171;g2f19d644e1e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2025" y="1351825"/>
            <a:ext cx="5003075" cy="30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2f19d644e1e_0_28"/>
          <p:cNvSpPr txBox="1"/>
          <p:nvPr/>
        </p:nvSpPr>
        <p:spPr>
          <a:xfrm>
            <a:off x="229075" y="4692725"/>
            <a:ext cx="3059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https://lilianweng.github.io/posts/2018-08-12-vae/</a:t>
            </a:r>
            <a:endParaRPr sz="100"/>
          </a:p>
        </p:txBody>
      </p:sp>
      <p:sp>
        <p:nvSpPr>
          <p:cNvPr id="173" name="Google Shape;173;g2f19d644e1e_0_28"/>
          <p:cNvSpPr txBox="1"/>
          <p:nvPr/>
        </p:nvSpPr>
        <p:spPr>
          <a:xfrm>
            <a:off x="229075" y="591300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n" sz="1700" b="1" dirty="0"/>
              <a:t>Reparameterization Trick</a:t>
            </a:r>
            <a:endParaRPr sz="1700" b="1" dirty="0"/>
          </a:p>
        </p:txBody>
      </p:sp>
      <p:pic>
        <p:nvPicPr>
          <p:cNvPr id="174" name="Google Shape;174;g2f19d644e1e_0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8397" y="3164380"/>
            <a:ext cx="2501378" cy="1250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7C6167-564C-E459-7EB2-0E3964BED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075" y="1351825"/>
            <a:ext cx="4820323" cy="16766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0ECF69-737F-4211-7295-E54C0A727D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0461" y="3128415"/>
            <a:ext cx="4934639" cy="246731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C301F015-5982-E3AE-6FB6-E3B81679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>
            <a:extLst>
              <a:ext uri="{FF2B5EF4-FFF2-40B4-BE49-F238E27FC236}">
                <a16:creationId xmlns:a16="http://schemas.microsoft.com/office/drawing/2014/main" id="{0DC5E0BF-AB5C-5DEB-47EE-38694941929F}"/>
              </a:ext>
            </a:extLst>
          </p:cNvPr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3" name="Google Shape;173;g2f19d644e1e_0_28">
            <a:extLst>
              <a:ext uri="{FF2B5EF4-FFF2-40B4-BE49-F238E27FC236}">
                <a16:creationId xmlns:a16="http://schemas.microsoft.com/office/drawing/2014/main" id="{338C066C-9615-F67C-B539-A7A8CF759DB6}"/>
              </a:ext>
            </a:extLst>
          </p:cNvPr>
          <p:cNvSpPr txBox="1"/>
          <p:nvPr/>
        </p:nvSpPr>
        <p:spPr>
          <a:xfrm>
            <a:off x="229074" y="814500"/>
            <a:ext cx="8012717" cy="1326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-ES" sz="1700" b="1" dirty="0"/>
              <a:t>B</a:t>
            </a:r>
            <a:r>
              <a:rPr lang="en" sz="1700" b="1"/>
              <a:t>eta VAE</a:t>
            </a:r>
            <a:endParaRPr lang="en" sz="1700" b="1" dirty="0"/>
          </a:p>
          <a:p>
            <a:pPr lvl="0">
              <a:spcBef>
                <a:spcPts val="1800"/>
              </a:spcBef>
              <a:spcAft>
                <a:spcPts val="400"/>
              </a:spcAft>
            </a:pPr>
            <a:r>
              <a:rPr lang="es-ES" sz="1800" dirty="0"/>
              <a:t>Penalizamos la diferencia entre la distribución del </a:t>
            </a:r>
            <a:r>
              <a:rPr lang="es-ES" sz="1800" dirty="0" err="1"/>
              <a:t>encoder</a:t>
            </a:r>
            <a:r>
              <a:rPr lang="es-ES" sz="1800" dirty="0"/>
              <a:t> y el prior</a:t>
            </a:r>
            <a:endParaRPr sz="17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643DE5-D2E2-54FB-EBBA-35C4A2E71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8943"/>
            <a:ext cx="4353533" cy="9812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AEF044-62D8-E50E-0883-1A21C38BB4D5}"/>
              </a:ext>
            </a:extLst>
          </p:cNvPr>
          <p:cNvSpPr txBox="1"/>
          <p:nvPr/>
        </p:nvSpPr>
        <p:spPr>
          <a:xfrm>
            <a:off x="229074" y="4620280"/>
            <a:ext cx="4693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β controla cuánto pesa la regularización frente a la reconstrucción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3D4E4D-DD9A-00AF-51A5-99D8581D7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217" y="2442787"/>
            <a:ext cx="4763165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631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f19d644e1e_1_8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0" name="Google Shape;180;g2f19d644e1e_1_82"/>
          <p:cNvSpPr txBox="1"/>
          <p:nvPr/>
        </p:nvSpPr>
        <p:spPr>
          <a:xfrm>
            <a:off x="318866" y="782346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Denoising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81" name="Google Shape;181;g2f19d644e1e_1_82"/>
          <p:cNvPicPr preferRelativeResize="0"/>
          <p:nvPr/>
        </p:nvPicPr>
        <p:blipFill rotWithShape="1">
          <a:blip r:embed="rId3">
            <a:alphaModFix/>
          </a:blip>
          <a:srcRect l="6202" r="8682"/>
          <a:stretch/>
        </p:blipFill>
        <p:spPr>
          <a:xfrm>
            <a:off x="453981" y="1309306"/>
            <a:ext cx="1854558" cy="24645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2f19d644e1e_1_82"/>
          <p:cNvPicPr preferRelativeResize="0"/>
          <p:nvPr/>
        </p:nvPicPr>
        <p:blipFill rotWithShape="1">
          <a:blip r:embed="rId4">
            <a:alphaModFix/>
          </a:blip>
          <a:srcRect l="8987" r="6948" b="25887"/>
          <a:stretch/>
        </p:blipFill>
        <p:spPr>
          <a:xfrm>
            <a:off x="231820" y="4027868"/>
            <a:ext cx="2849451" cy="68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2f19d644e1e_1_8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4014" y="1456315"/>
            <a:ext cx="4986337" cy="338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54E0B96-BAAA-9C8B-425E-DD2784314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6C18E871-786D-B36B-D070-C9CEA13EC78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" name="Google Shape;189;g2f19d644e1e_1_90">
            <a:extLst>
              <a:ext uri="{FF2B5EF4-FFF2-40B4-BE49-F238E27FC236}">
                <a16:creationId xmlns:a16="http://schemas.microsoft.com/office/drawing/2014/main" id="{19A1861C-CD1E-F9FC-BD14-3DCE37591AA8}"/>
              </a:ext>
            </a:extLst>
          </p:cNvPr>
          <p:cNvSpPr txBox="1"/>
          <p:nvPr/>
        </p:nvSpPr>
        <p:spPr>
          <a:xfrm>
            <a:off x="1148853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3337770-E30F-A72E-6F53-1C496080E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05" y="1926692"/>
            <a:ext cx="2880000" cy="26496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362ACDD-A284-08D5-5D33-8B49629A6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99" y="1926691"/>
            <a:ext cx="2880000" cy="262415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EAFBA3A-FAA1-2705-1BE6-952330CA59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7825" y="1915559"/>
            <a:ext cx="2880000" cy="2649600"/>
          </a:xfrm>
          <a:prstGeom prst="rect">
            <a:avLst/>
          </a:prstGeom>
        </p:spPr>
      </p:pic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B3BF4D1C-C310-7879-287A-7B7A6B50BFBF}"/>
              </a:ext>
            </a:extLst>
          </p:cNvPr>
          <p:cNvSpPr txBox="1"/>
          <p:nvPr/>
        </p:nvSpPr>
        <p:spPr>
          <a:xfrm>
            <a:off x="4319461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l=0.25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" name="Google Shape;189;g2f19d644e1e_1_90">
            <a:extLst>
              <a:ext uri="{FF2B5EF4-FFF2-40B4-BE49-F238E27FC236}">
                <a16:creationId xmlns:a16="http://schemas.microsoft.com/office/drawing/2014/main" id="{C2CF6083-D58F-AA54-214B-2B53926AE02C}"/>
              </a:ext>
            </a:extLst>
          </p:cNvPr>
          <p:cNvSpPr txBox="1"/>
          <p:nvPr/>
        </p:nvSpPr>
        <p:spPr>
          <a:xfrm>
            <a:off x="7015659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l=0.75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" name="Google Shape;189;g2f19d644e1e_1_90">
            <a:extLst>
              <a:ext uri="{FF2B5EF4-FFF2-40B4-BE49-F238E27FC236}">
                <a16:creationId xmlns:a16="http://schemas.microsoft.com/office/drawing/2014/main" id="{590DA479-56F1-E6F3-42AA-DE5EA4F3E0A4}"/>
              </a:ext>
            </a:extLst>
          </p:cNvPr>
          <p:cNvSpPr txBox="1"/>
          <p:nvPr/>
        </p:nvSpPr>
        <p:spPr>
          <a:xfrm>
            <a:off x="2880704" y="814500"/>
            <a:ext cx="367135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</a:t>
            </a: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convolucional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89375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29405F6-7F81-E61D-806A-10C7D85E7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B3615DAB-FC99-EF45-D3B3-785FFD7D348B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BB7FF96-0A4A-881B-92F2-2CDAE022A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298" y="2077947"/>
            <a:ext cx="2880000" cy="2519999"/>
          </a:xfrm>
          <a:prstGeom prst="rect">
            <a:avLst/>
          </a:prstGeom>
        </p:spPr>
      </p:pic>
      <p:sp>
        <p:nvSpPr>
          <p:cNvPr id="4" name="Google Shape;189;g2f19d644e1e_1_90">
            <a:extLst>
              <a:ext uri="{FF2B5EF4-FFF2-40B4-BE49-F238E27FC236}">
                <a16:creationId xmlns:a16="http://schemas.microsoft.com/office/drawing/2014/main" id="{5B839E1E-554B-65AC-A7C3-85FFDAB7A83F}"/>
              </a:ext>
            </a:extLst>
          </p:cNvPr>
          <p:cNvSpPr txBox="1"/>
          <p:nvPr/>
        </p:nvSpPr>
        <p:spPr>
          <a:xfrm>
            <a:off x="3711382" y="91916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L1: 5e-4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6236D8-E150-6244-93D2-BC1EEA48D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298" y="2112833"/>
            <a:ext cx="2880000" cy="2520000"/>
          </a:xfrm>
          <a:prstGeom prst="rect">
            <a:avLst/>
          </a:prstGeom>
        </p:spPr>
      </p:pic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BEE56B23-341F-DBD7-E8DA-372DDE715C9E}"/>
              </a:ext>
            </a:extLst>
          </p:cNvPr>
          <p:cNvSpPr txBox="1"/>
          <p:nvPr/>
        </p:nvSpPr>
        <p:spPr>
          <a:xfrm>
            <a:off x="6850727" y="996318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Kl: 1e-4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1DD52B7-6D92-C044-AFBB-50DB345461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816" y="2112833"/>
            <a:ext cx="2880000" cy="2520000"/>
          </a:xfrm>
          <a:prstGeom prst="rect">
            <a:avLst/>
          </a:prstGeom>
        </p:spPr>
      </p:pic>
      <p:sp>
        <p:nvSpPr>
          <p:cNvPr id="10" name="Google Shape;189;g2f19d644e1e_1_90">
            <a:extLst>
              <a:ext uri="{FF2B5EF4-FFF2-40B4-BE49-F238E27FC236}">
                <a16:creationId xmlns:a16="http://schemas.microsoft.com/office/drawing/2014/main" id="{5C64B54E-77D2-53F4-ED48-4839DF7770D9}"/>
              </a:ext>
            </a:extLst>
          </p:cNvPr>
          <p:cNvSpPr txBox="1"/>
          <p:nvPr/>
        </p:nvSpPr>
        <p:spPr>
          <a:xfrm>
            <a:off x="694321" y="970474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245BCB9B-BC5E-A8D9-B15C-291C94FEC326}"/>
              </a:ext>
            </a:extLst>
          </p:cNvPr>
          <p:cNvSpPr txBox="1"/>
          <p:nvPr/>
        </p:nvSpPr>
        <p:spPr>
          <a:xfrm>
            <a:off x="788340" y="469109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0.0431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B9315433-840C-5FED-1729-50367699B95C}"/>
              </a:ext>
            </a:extLst>
          </p:cNvPr>
          <p:cNvSpPr txBox="1"/>
          <p:nvPr/>
        </p:nvSpPr>
        <p:spPr>
          <a:xfrm>
            <a:off x="3772524" y="4656130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0.0457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3AECCDD5-CA7D-1C2A-6F6E-498E4B0AFE57}"/>
              </a:ext>
            </a:extLst>
          </p:cNvPr>
          <p:cNvSpPr txBox="1"/>
          <p:nvPr/>
        </p:nvSpPr>
        <p:spPr>
          <a:xfrm>
            <a:off x="6588054" y="459794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0.0440</a:t>
            </a:r>
          </a:p>
        </p:txBody>
      </p:sp>
    </p:spTree>
    <p:extLst>
      <p:ext uri="{BB962C8B-B14F-4D97-AF65-F5344CB8AC3E}">
        <p14:creationId xmlns:p14="http://schemas.microsoft.com/office/powerpoint/2010/main" val="3636683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3EADC6E9-5E89-A1DB-7334-3B54724C7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43D4DF03-0E23-2525-8250-9AE1FF4979A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189;g2f19d644e1e_1_90">
            <a:extLst>
              <a:ext uri="{FF2B5EF4-FFF2-40B4-BE49-F238E27FC236}">
                <a16:creationId xmlns:a16="http://schemas.microsoft.com/office/drawing/2014/main" id="{C0AD1CD5-313C-8345-35E1-EE490B62DE69}"/>
              </a:ext>
            </a:extLst>
          </p:cNvPr>
          <p:cNvSpPr txBox="1"/>
          <p:nvPr/>
        </p:nvSpPr>
        <p:spPr>
          <a:xfrm>
            <a:off x="3711382" y="91916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L1: 5e-4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157AADA2-0864-34B0-682A-FC33B129A56A}"/>
              </a:ext>
            </a:extLst>
          </p:cNvPr>
          <p:cNvSpPr txBox="1"/>
          <p:nvPr/>
        </p:nvSpPr>
        <p:spPr>
          <a:xfrm>
            <a:off x="6850727" y="996318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Kl: 1e-4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" name="Google Shape;189;g2f19d644e1e_1_90">
            <a:extLst>
              <a:ext uri="{FF2B5EF4-FFF2-40B4-BE49-F238E27FC236}">
                <a16:creationId xmlns:a16="http://schemas.microsoft.com/office/drawing/2014/main" id="{38743EAC-28CD-9FA0-BECC-C083B56EC437}"/>
              </a:ext>
            </a:extLst>
          </p:cNvPr>
          <p:cNvSpPr txBox="1"/>
          <p:nvPr/>
        </p:nvSpPr>
        <p:spPr>
          <a:xfrm>
            <a:off x="694321" y="970474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720055BD-D7D0-FC30-865A-55AA61DE09DC}"/>
              </a:ext>
            </a:extLst>
          </p:cNvPr>
          <p:cNvSpPr txBox="1"/>
          <p:nvPr/>
        </p:nvSpPr>
        <p:spPr>
          <a:xfrm>
            <a:off x="788340" y="469109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0.0431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E6D49E6B-AA33-2ECE-16AF-4FEA9DD67BB2}"/>
              </a:ext>
            </a:extLst>
          </p:cNvPr>
          <p:cNvSpPr txBox="1"/>
          <p:nvPr/>
        </p:nvSpPr>
        <p:spPr>
          <a:xfrm>
            <a:off x="3772524" y="4656130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0.0457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44954AE5-4D2C-BC9E-5B16-45CEAD3F25CD}"/>
              </a:ext>
            </a:extLst>
          </p:cNvPr>
          <p:cNvSpPr txBox="1"/>
          <p:nvPr/>
        </p:nvSpPr>
        <p:spPr>
          <a:xfrm>
            <a:off x="6588054" y="459794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0.0440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D46FC77-5229-22CA-AB3E-65B9588C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7" y="2269368"/>
            <a:ext cx="2880000" cy="144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15E41EE-6008-E7F4-8976-B6C2188F68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298" y="2269368"/>
            <a:ext cx="2880000" cy="144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0191610-9F0D-9904-AF50-B51EF8BB15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917" y="2269368"/>
            <a:ext cx="288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28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92621C82-C11D-8353-A345-4F496A4E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3B14C33E-1DF6-1A2C-DB2B-10F0C94664DC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 – Anomaly detection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Google Shape;94;g2f19d644e1e_1_8">
            <a:extLst>
              <a:ext uri="{FF2B5EF4-FFF2-40B4-BE49-F238E27FC236}">
                <a16:creationId xmlns:a16="http://schemas.microsoft.com/office/drawing/2014/main" id="{16F9A3B7-E590-1E87-E98E-1DB5C2743DF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4706" t="1523" r="19883" b="12579"/>
          <a:stretch/>
        </p:blipFill>
        <p:spPr>
          <a:xfrm>
            <a:off x="2169997" y="973083"/>
            <a:ext cx="1885589" cy="1819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MNIST handwritten digits">
            <a:extLst>
              <a:ext uri="{FF2B5EF4-FFF2-40B4-BE49-F238E27FC236}">
                <a16:creationId xmlns:a16="http://schemas.microsoft.com/office/drawing/2014/main" id="{BA09B1A1-1AA9-E4CC-5E57-E3BDECA62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30" y="1083738"/>
            <a:ext cx="1411872" cy="1411872"/>
          </a:xfrm>
          <a:prstGeom prst="rect">
            <a:avLst/>
          </a:prstGeom>
        </p:spPr>
      </p:pic>
      <p:pic>
        <p:nvPicPr>
          <p:cNvPr id="9" name="Picture 8" descr="MNIST handwritten digits">
            <a:extLst>
              <a:ext uri="{FF2B5EF4-FFF2-40B4-BE49-F238E27FC236}">
                <a16:creationId xmlns:a16="http://schemas.microsoft.com/office/drawing/2014/main" id="{59467FE4-BA9A-B951-8632-21BEDED40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2289" y="1083738"/>
            <a:ext cx="1411872" cy="1411872"/>
          </a:xfrm>
          <a:prstGeom prst="rect">
            <a:avLst/>
          </a:prstGeom>
        </p:spPr>
      </p:pic>
      <p:sp>
        <p:nvSpPr>
          <p:cNvPr id="17" name="Google Shape;189;g2f19d644e1e_1_90">
            <a:extLst>
              <a:ext uri="{FF2B5EF4-FFF2-40B4-BE49-F238E27FC236}">
                <a16:creationId xmlns:a16="http://schemas.microsoft.com/office/drawing/2014/main" id="{21EB2BD7-8939-50C7-265F-A3FEBA09751D}"/>
              </a:ext>
            </a:extLst>
          </p:cNvPr>
          <p:cNvSpPr txBox="1"/>
          <p:nvPr/>
        </p:nvSpPr>
        <p:spPr>
          <a:xfrm>
            <a:off x="1909594" y="655917"/>
            <a:ext cx="285232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Entreno sobre datos normales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D70EE2-C075-ADD4-1CEA-43A56078A0F7}"/>
              </a:ext>
            </a:extLst>
          </p:cNvPr>
          <p:cNvSpPr/>
          <p:nvPr/>
        </p:nvSpPr>
        <p:spPr>
          <a:xfrm>
            <a:off x="658135" y="3879415"/>
            <a:ext cx="808892" cy="752621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D761C1A-5545-5C8F-AB9C-98703149AF00}"/>
                  </a:ext>
                </a:extLst>
              </p14:cNvPr>
              <p14:cNvContentPartPr/>
              <p14:nvPr/>
            </p14:nvContentPartPr>
            <p14:xfrm>
              <a:off x="895246" y="4045665"/>
              <a:ext cx="352080" cy="420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D761C1A-5545-5C8F-AB9C-98703149AF0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77246" y="4028025"/>
                <a:ext cx="387720" cy="455760"/>
              </a:xfrm>
              <a:prstGeom prst="rect">
                <a:avLst/>
              </a:prstGeom>
            </p:spPr>
          </p:pic>
        </mc:Fallback>
      </mc:AlternateContent>
      <p:pic>
        <p:nvPicPr>
          <p:cNvPr id="24" name="Google Shape;94;g2f19d644e1e_1_8">
            <a:extLst>
              <a:ext uri="{FF2B5EF4-FFF2-40B4-BE49-F238E27FC236}">
                <a16:creationId xmlns:a16="http://schemas.microsoft.com/office/drawing/2014/main" id="{FF4C98FB-9EEC-8D85-7B34-53E17DBFF04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4706" t="1523" r="19883" b="12579"/>
          <a:stretch/>
        </p:blipFill>
        <p:spPr>
          <a:xfrm>
            <a:off x="2258591" y="3549789"/>
            <a:ext cx="1463128" cy="141187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89;g2f19d644e1e_1_90">
            <a:extLst>
              <a:ext uri="{FF2B5EF4-FFF2-40B4-BE49-F238E27FC236}">
                <a16:creationId xmlns:a16="http://schemas.microsoft.com/office/drawing/2014/main" id="{11A3FE02-B278-F5C5-C801-B399B362B5D1}"/>
              </a:ext>
            </a:extLst>
          </p:cNvPr>
          <p:cNvSpPr txBox="1"/>
          <p:nvPr/>
        </p:nvSpPr>
        <p:spPr>
          <a:xfrm>
            <a:off x="221460" y="4644495"/>
            <a:ext cx="179341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Nueva muestra!</a:t>
            </a:r>
          </a:p>
        </p:txBody>
      </p:sp>
      <p:sp>
        <p:nvSpPr>
          <p:cNvPr id="28" name="Google Shape;189;g2f19d644e1e_1_90">
            <a:extLst>
              <a:ext uri="{FF2B5EF4-FFF2-40B4-BE49-F238E27FC236}">
                <a16:creationId xmlns:a16="http://schemas.microsoft.com/office/drawing/2014/main" id="{F77F96F2-B320-ED41-3FF2-B88FD18C8B3B}"/>
              </a:ext>
            </a:extLst>
          </p:cNvPr>
          <p:cNvSpPr txBox="1"/>
          <p:nvPr/>
        </p:nvSpPr>
        <p:spPr>
          <a:xfrm>
            <a:off x="4937261" y="3901179"/>
            <a:ext cx="285232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Mido error de reconstrucción (respecto de un error medio de reconstrucción de muestras normales)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14688E1-7A41-7685-65A4-EF9CA938ACD5}"/>
              </a:ext>
            </a:extLst>
          </p:cNvPr>
          <p:cNvSpPr/>
          <p:nvPr/>
        </p:nvSpPr>
        <p:spPr>
          <a:xfrm>
            <a:off x="4055586" y="3879414"/>
            <a:ext cx="808892" cy="752621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24910DB6-8790-8EDB-9EEF-F8FF3B5AE3AE}"/>
                  </a:ext>
                </a:extLst>
              </p14:cNvPr>
              <p14:cNvContentPartPr/>
              <p14:nvPr/>
            </p14:nvContentPartPr>
            <p14:xfrm>
              <a:off x="4128369" y="4036569"/>
              <a:ext cx="572760" cy="480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24910DB6-8790-8EDB-9EEF-F8FF3B5AE3A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110729" y="4018929"/>
                <a:ext cx="608400" cy="51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297814F-9133-85F2-0884-71693722582C}"/>
              </a:ext>
            </a:extLst>
          </p:cNvPr>
          <p:cNvCxnSpPr/>
          <p:nvPr/>
        </p:nvCxnSpPr>
        <p:spPr>
          <a:xfrm flipV="1">
            <a:off x="2990155" y="3207552"/>
            <a:ext cx="2461076" cy="907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5" name="Google Shape;189;g2f19d644e1e_1_90">
            <a:extLst>
              <a:ext uri="{FF2B5EF4-FFF2-40B4-BE49-F238E27FC236}">
                <a16:creationId xmlns:a16="http://schemas.microsoft.com/office/drawing/2014/main" id="{651452F9-CB63-A9AE-D9CB-EB8925FCC70D}"/>
              </a:ext>
            </a:extLst>
          </p:cNvPr>
          <p:cNvSpPr txBox="1"/>
          <p:nvPr/>
        </p:nvSpPr>
        <p:spPr>
          <a:xfrm>
            <a:off x="5331656" y="2952362"/>
            <a:ext cx="2852320" cy="53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Mido distancia respecto de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dato normal</a:t>
            </a:r>
          </a:p>
        </p:txBody>
      </p:sp>
      <p:pic>
        <p:nvPicPr>
          <p:cNvPr id="4" name="Imagen 8">
            <a:extLst>
              <a:ext uri="{FF2B5EF4-FFF2-40B4-BE49-F238E27FC236}">
                <a16:creationId xmlns:a16="http://schemas.microsoft.com/office/drawing/2014/main" id="{C595757D-9648-F075-84DE-13376035B8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7152" y="1535225"/>
            <a:ext cx="1499228" cy="1311825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92CE82E-B670-1AFC-293C-2432729E305C}"/>
              </a:ext>
            </a:extLst>
          </p:cNvPr>
          <p:cNvGrpSpPr/>
          <p:nvPr/>
        </p:nvGrpSpPr>
        <p:grpSpPr>
          <a:xfrm>
            <a:off x="6784573" y="1665638"/>
            <a:ext cx="164520" cy="151920"/>
            <a:chOff x="6784573" y="1665638"/>
            <a:chExt cx="164520" cy="15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EE9576E-EDAF-E6BA-6AD8-29E215259B38}"/>
                    </a:ext>
                  </a:extLst>
                </p14:cNvPr>
                <p14:cNvContentPartPr/>
                <p14:nvPr/>
              </p14:nvContentPartPr>
              <p14:xfrm>
                <a:off x="6805453" y="1665638"/>
                <a:ext cx="97560" cy="127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EE9576E-EDAF-E6BA-6AD8-29E215259B3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799333" y="1659518"/>
                  <a:ext cx="109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8C60630-6602-0EAD-7B9C-4069D2E8A273}"/>
                    </a:ext>
                  </a:extLst>
                </p14:cNvPr>
                <p14:cNvContentPartPr/>
                <p14:nvPr/>
              </p14:nvContentPartPr>
              <p14:xfrm>
                <a:off x="6784573" y="1682558"/>
                <a:ext cx="164520" cy="135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8C60630-6602-0EAD-7B9C-4069D2E8A2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778453" y="1676438"/>
                  <a:ext cx="176760" cy="147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A2472F9-FE7E-485E-24E0-71D7EE734D21}"/>
              </a:ext>
            </a:extLst>
          </p:cNvPr>
          <p:cNvCxnSpPr>
            <a:cxnSpLocks/>
          </p:cNvCxnSpPr>
          <p:nvPr/>
        </p:nvCxnSpPr>
        <p:spPr>
          <a:xfrm flipV="1">
            <a:off x="2961207" y="1789674"/>
            <a:ext cx="3796609" cy="2179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9393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87">
          <a:extLst>
            <a:ext uri="{FF2B5EF4-FFF2-40B4-BE49-F238E27FC236}">
              <a16:creationId xmlns:a16="http://schemas.microsoft.com/office/drawing/2014/main" id="{4D1FE718-CCA9-4066-EA28-5B97291BA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DF959481-AA6E-4B7C-7EFB-B021F899CF5B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 – SSL (self supervised learning) Constractive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65FC4983-9E1B-DAEA-3F95-138E02312CB1}"/>
              </a:ext>
            </a:extLst>
          </p:cNvPr>
          <p:cNvSpPr txBox="1"/>
          <p:nvPr/>
        </p:nvSpPr>
        <p:spPr>
          <a:xfrm>
            <a:off x="250546" y="826880"/>
            <a:ext cx="4472709" cy="1733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entrena un ENC sobre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unlabeled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data (cuando tengo pocos datos etiquetados)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 cada input se aplica una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augmentation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lvl="0">
              <a:lnSpc>
                <a:spcPct val="90000"/>
              </a:lnSpc>
              <a:buClr>
                <a:srgbClr val="FF0000"/>
              </a:buClr>
              <a:buSzPts val="2100"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función de perdida a optimizar maximiza similitud entre muestras aumentadas  mientras minimiza similitud entre contra las otras muestras.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" name="Picture 1" descr="79fdee373d7b4a52a6f612fd5b187971">
            <a:extLst>
              <a:ext uri="{FF2B5EF4-FFF2-40B4-BE49-F238E27FC236}">
                <a16:creationId xmlns:a16="http://schemas.microsoft.com/office/drawing/2014/main" id="{594DA33F-7240-88E5-B9B4-B78886B6D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775" y="785146"/>
            <a:ext cx="3059459" cy="3148447"/>
          </a:xfrm>
          <a:prstGeom prst="rect">
            <a:avLst/>
          </a:prstGeom>
        </p:spPr>
      </p:pic>
      <p:sp>
        <p:nvSpPr>
          <p:cNvPr id="4" name="Google Shape;138;g2f19d644e1e_1_48">
            <a:extLst>
              <a:ext uri="{FF2B5EF4-FFF2-40B4-BE49-F238E27FC236}">
                <a16:creationId xmlns:a16="http://schemas.microsoft.com/office/drawing/2014/main" id="{974F0942-D778-5328-FEDF-9A6D5FC362D1}"/>
              </a:ext>
            </a:extLst>
          </p:cNvPr>
          <p:cNvSpPr txBox="1"/>
          <p:nvPr/>
        </p:nvSpPr>
        <p:spPr>
          <a:xfrm>
            <a:off x="2021304" y="4802068"/>
            <a:ext cx="7177697" cy="457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lnSpc>
                <a:spcPct val="90000"/>
              </a:lnSpc>
              <a:buClr>
                <a:srgbClr val="FF0000"/>
              </a:buClr>
              <a:buSzPts val="2100"/>
            </a:pPr>
            <a:r>
              <a:rPr lang="es-AR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https://uvadlc-notebooks.readthedocs.io/en/latest/tutorial_notebooks/tutorial17/SimCLR.html</a:t>
            </a:r>
          </a:p>
          <a:p>
            <a:pPr lvl="0">
              <a:lnSpc>
                <a:spcPct val="90000"/>
              </a:lnSpc>
              <a:buClr>
                <a:srgbClr val="FF0000"/>
              </a:buClr>
              <a:buSzPts val="2100"/>
            </a:pPr>
            <a:endParaRPr lang="es-AR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4DAF36-B452-6EAD-76A8-867834B6A1FC}"/>
                  </a:ext>
                </a:extLst>
              </p:cNvPr>
              <p:cNvSpPr txBox="1"/>
              <p:nvPr/>
            </p:nvSpPr>
            <p:spPr>
              <a:xfrm>
                <a:off x="477738" y="2824139"/>
                <a:ext cx="3362139" cy="10291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20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200" i="1">
                          <a:latin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s-ES" sz="12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200" i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s-ES" sz="120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s-ES" sz="12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s-ES" sz="1200" i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s-ES" sz="1200" i="0">
                                          <a:latin typeface="Cambria Math" panose="02040503050406030204" pitchFamily="18" charset="0"/>
                                        </a:rPr>
                                        <m:t>sim</m:t>
                                      </m:r>
                                      <m:d>
                                        <m:dPr>
                                          <m:ctrl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>
                                          <m:lit/>
                                        </m:r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s-E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200" i="1" smtClean="0">
                                          <a:latin typeface="Cambria Math" panose="02040503050406030204" pitchFamily="18" charset="0"/>
                                        </a:rPr>
                                        <m:t>𝟙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k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s-ES" sz="1200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ES" sz="1200" b="0" i="0" smtClean="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ES" sz="12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s-E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sim</m:t>
                                          </m:r>
                                          <m:d>
                                            <m:d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m:rPr>
                                              <m:lit/>
                                            </m:r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nary>
                            </m:den>
                          </m:f>
                        </m:e>
                      </m:func>
                      <m:r>
                        <a:rPr lang="es-E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s-E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s-E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s-ES" sz="1200" i="0">
                          <a:latin typeface="Cambria Math" panose="02040503050406030204" pitchFamily="18" charset="0"/>
                        </a:rPr>
                        <m:t>sim</m:t>
                      </m:r>
                      <m:d>
                        <m:dPr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m:rPr>
                          <m:lit/>
                        </m:rPr>
                        <a:rPr lang="es-ES" sz="12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s-ES" sz="12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s-ES" sz="12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2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200" i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  <m:t>𝟙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k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s-ES" sz="1200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ES" sz="1200" b="0" i="0" smtClean="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ES" sz="12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s-E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sim</m:t>
                                          </m:r>
                                          <m:d>
                                            <m:d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m:rPr>
                                              <m:lit/>
                                            </m:r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s-ES" sz="1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4DAF36-B452-6EAD-76A8-867834B6A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738" y="2824139"/>
                <a:ext cx="3362139" cy="1029128"/>
              </a:xfrm>
              <a:prstGeom prst="rect">
                <a:avLst/>
              </a:prstGeom>
              <a:blipFill>
                <a:blip r:embed="rId4"/>
                <a:stretch>
                  <a:fillRect t="-591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89;g2f19d644e1e_1_90">
            <a:extLst>
              <a:ext uri="{FF2B5EF4-FFF2-40B4-BE49-F238E27FC236}">
                <a16:creationId xmlns:a16="http://schemas.microsoft.com/office/drawing/2014/main" id="{D910EC72-8782-C0A8-79CD-9F00C8A7D1CD}"/>
              </a:ext>
            </a:extLst>
          </p:cNvPr>
          <p:cNvSpPr txBox="1"/>
          <p:nvPr/>
        </p:nvSpPr>
        <p:spPr>
          <a:xfrm>
            <a:off x="250545" y="4039708"/>
            <a:ext cx="4472709" cy="65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vez entrenado, el ENC aprendió una muy buena representación de mis datos.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1791952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f19d644e1e_1_96"/>
          <p:cNvSpPr txBox="1"/>
          <p:nvPr/>
        </p:nvSpPr>
        <p:spPr>
          <a:xfrm>
            <a:off x="2188593" y="14216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195" name="Google Shape;195;g2f19d644e1e_1_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f19d644e1e_1_1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f19d644e1e_1_120"/>
          <p:cNvSpPr txBox="1"/>
          <p:nvPr/>
        </p:nvSpPr>
        <p:spPr>
          <a:xfrm>
            <a:off x="173979" y="781835"/>
            <a:ext cx="8641496" cy="415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trata de crear espacio continuo de representación de los inputs.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crean ad-hoc o dentro del frame de la NN.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palabra es representada por un vector N-dimensional en un sub-espacio contínuo (en el embedding)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posición que toma el vector N-dimensional se entrena a partir de su entorno.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3" name="Google Shape;223;g2f19d644e1e_1_120"/>
          <p:cNvSpPr txBox="1"/>
          <p:nvPr/>
        </p:nvSpPr>
        <p:spPr>
          <a:xfrm>
            <a:off x="2183084" y="3429405"/>
            <a:ext cx="3660707" cy="35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[e1, e2, e3, … eN]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f19d644e1e_1_13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2" name="Google Shape;242;g2f19d644e1e_1_138"/>
          <p:cNvSpPr txBox="1"/>
          <p:nvPr/>
        </p:nvSpPr>
        <p:spPr>
          <a:xfrm>
            <a:off x="127118" y="983612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3" name="Google Shape;243;g2f19d644e1e_1_138"/>
          <p:cNvSpPr/>
          <p:nvPr/>
        </p:nvSpPr>
        <p:spPr>
          <a:xfrm>
            <a:off x="200950" y="1798027"/>
            <a:ext cx="3069600" cy="10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One-hot-encoding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!=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Word embedding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244" name="Google Shape;244;g2f19d644e1e_1_138"/>
          <p:cNvPicPr preferRelativeResize="0"/>
          <p:nvPr/>
        </p:nvPicPr>
        <p:blipFill rotWithShape="1">
          <a:blip r:embed="rId3">
            <a:alphaModFix/>
          </a:blip>
          <a:srcRect t="5432" r="20504" b="6596"/>
          <a:stretch/>
        </p:blipFill>
        <p:spPr>
          <a:xfrm>
            <a:off x="4066416" y="743525"/>
            <a:ext cx="4591357" cy="18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2f19d644e1e_1_138"/>
          <p:cNvSpPr/>
          <p:nvPr/>
        </p:nvSpPr>
        <p:spPr>
          <a:xfrm>
            <a:off x="270571" y="4776341"/>
            <a:ext cx="81908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https://www.shanelynn.ie/get-busy-with-word-embeddings-introduction/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6" name="Google Shape;246;g2f19d644e1e_1_138"/>
          <p:cNvPicPr preferRelativeResize="0"/>
          <p:nvPr/>
        </p:nvPicPr>
        <p:blipFill rotWithShape="1">
          <a:blip r:embed="rId4">
            <a:alphaModFix/>
          </a:blip>
          <a:srcRect t="12665" r="26123" b="6713"/>
          <a:stretch/>
        </p:blipFill>
        <p:spPr>
          <a:xfrm>
            <a:off x="4537105" y="2571750"/>
            <a:ext cx="4190445" cy="21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19d644e1e_1_138"/>
          <p:cNvSpPr/>
          <p:nvPr/>
        </p:nvSpPr>
        <p:spPr>
          <a:xfrm>
            <a:off x="537127" y="3159945"/>
            <a:ext cx="304252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aprenden propiedades intrínsecas de palabas que pertenecen al mismo grupo.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f19d644e1e_1_126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g2f19d644e1e_1_126"/>
          <p:cNvSpPr txBox="1"/>
          <p:nvPr/>
        </p:nvSpPr>
        <p:spPr>
          <a:xfrm>
            <a:off x="423857" y="635911"/>
            <a:ext cx="8391617" cy="171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Ejemplo: vocabulario 4 palabra, embedding dimensión 2: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[ 0.123, 0.541]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[e10, e11] = [ 0.287, 0.459]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[ 0.594, 0.180]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[ 0.251, 0.328]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0" name="Google Shape;230;g2f19d644e1e_1_126"/>
          <p:cNvSpPr/>
          <p:nvPr/>
        </p:nvSpPr>
        <p:spPr>
          <a:xfrm rot="10800000" flipH="1">
            <a:off x="1868554" y="2845883"/>
            <a:ext cx="824950" cy="143956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58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1" name="Google Shape;231;g2f19d644e1e_1_126"/>
          <p:cNvSpPr txBox="1"/>
          <p:nvPr/>
        </p:nvSpPr>
        <p:spPr>
          <a:xfrm>
            <a:off x="553064" y="3136463"/>
            <a:ext cx="1454639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supervisado siguiendo una false task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2" name="Google Shape;232;g2f19d644e1e_1_126"/>
          <p:cNvSpPr txBox="1"/>
          <p:nvPr/>
        </p:nvSpPr>
        <p:spPr>
          <a:xfrm>
            <a:off x="2987225" y="3565663"/>
            <a:ext cx="4805618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[ 0.873, 0.241]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[e10, e11] = [ 0.921, 0.147]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[ 0.723, 0.541]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[ 0.003, 0.981]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33" name="Google Shape;233;g2f19d644e1e_1_126"/>
          <p:cNvCxnSpPr/>
          <p:nvPr/>
        </p:nvCxnSpPr>
        <p:spPr>
          <a:xfrm rot="10800000" flipH="1">
            <a:off x="6165499" y="3377803"/>
            <a:ext cx="904460" cy="1298624"/>
          </a:xfrm>
          <a:prstGeom prst="straightConnector1">
            <a:avLst/>
          </a:prstGeom>
          <a:noFill/>
          <a:ln w="57150" cap="flat" cmpd="sng">
            <a:solidFill>
              <a:srgbClr val="FF0000">
                <a:alpha val="49803"/>
              </a:srgbClr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34" name="Google Shape;234;g2f19d644e1e_1_126"/>
          <p:cNvSpPr txBox="1"/>
          <p:nvPr/>
        </p:nvSpPr>
        <p:spPr>
          <a:xfrm>
            <a:off x="5995652" y="3109577"/>
            <a:ext cx="214861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entrenados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5" name="Google Shape;235;g2f19d644e1e_1_126"/>
          <p:cNvSpPr txBox="1"/>
          <p:nvPr/>
        </p:nvSpPr>
        <p:spPr>
          <a:xfrm>
            <a:off x="4315726" y="1116385"/>
            <a:ext cx="2625311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inicializados “rand”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6" name="Google Shape;236;g2f19d644e1e_1_126"/>
          <p:cNvSpPr/>
          <p:nvPr/>
        </p:nvSpPr>
        <p:spPr>
          <a:xfrm>
            <a:off x="3151580" y="1266426"/>
            <a:ext cx="1779104" cy="1576476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f19d644e1e_1_14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g2f19d644e1e_1_14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54" name="Google Shape;254;g2f19d644e1e_1_148"/>
          <p:cNvPicPr preferRelativeResize="0"/>
          <p:nvPr/>
        </p:nvPicPr>
        <p:blipFill rotWithShape="1">
          <a:blip r:embed="rId3">
            <a:alphaModFix/>
          </a:blip>
          <a:srcRect l="340" t="-1621" r="70116" b="1620"/>
          <a:stretch/>
        </p:blipFill>
        <p:spPr>
          <a:xfrm>
            <a:off x="370290" y="1272474"/>
            <a:ext cx="2515807" cy="29789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2f19d644e1e_1_148"/>
          <p:cNvSpPr/>
          <p:nvPr/>
        </p:nvSpPr>
        <p:spPr>
          <a:xfrm>
            <a:off x="3488841" y="2838935"/>
            <a:ext cx="472388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[king] – [man] + [woman] = [queen]</a:t>
            </a:r>
            <a:endParaRPr sz="1100" dirty="0">
              <a:solidFill>
                <a:schemeClr val="dk2"/>
              </a:solidFill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FEF88716-F229-8744-D6A5-DE56D2742278}"/>
              </a:ext>
            </a:extLst>
          </p:cNvPr>
          <p:cNvCxnSpPr/>
          <p:nvPr/>
        </p:nvCxnSpPr>
        <p:spPr>
          <a:xfrm flipH="1" flipV="1">
            <a:off x="882650" y="2571750"/>
            <a:ext cx="266700" cy="54610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9C6985B-7AC7-099D-43B8-2A56ED109CC5}"/>
              </a:ext>
            </a:extLst>
          </p:cNvPr>
          <p:cNvCxnSpPr/>
          <p:nvPr/>
        </p:nvCxnSpPr>
        <p:spPr>
          <a:xfrm flipV="1">
            <a:off x="1143000" y="2362200"/>
            <a:ext cx="368300" cy="768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47F2E51-7CFF-0C51-7F57-7328F32A898E}"/>
              </a:ext>
            </a:extLst>
          </p:cNvPr>
          <p:cNvCxnSpPr/>
          <p:nvPr/>
        </p:nvCxnSpPr>
        <p:spPr>
          <a:xfrm flipV="1">
            <a:off x="492395" y="2571750"/>
            <a:ext cx="368300" cy="76835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3766B4A-2686-A4ED-6A12-085B2A710C05}"/>
              </a:ext>
            </a:extLst>
          </p:cNvPr>
          <p:cNvCxnSpPr/>
          <p:nvPr/>
        </p:nvCxnSpPr>
        <p:spPr>
          <a:xfrm flipV="1">
            <a:off x="1149350" y="2679700"/>
            <a:ext cx="1054100" cy="4445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8A270E86-FE07-9BEE-7CAE-188A9E366ED5}"/>
              </a:ext>
            </a:extLst>
          </p:cNvPr>
          <p:cNvCxnSpPr/>
          <p:nvPr/>
        </p:nvCxnSpPr>
        <p:spPr>
          <a:xfrm flipV="1">
            <a:off x="488950" y="2901950"/>
            <a:ext cx="1054100" cy="44450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/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2" name="Google Shape;262;g2f19d644e1e_1_1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19" y="1050538"/>
            <a:ext cx="5102504" cy="352790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f19d644e1e_1_155"/>
          <p:cNvSpPr/>
          <p:nvPr/>
        </p:nvSpPr>
        <p:spPr>
          <a:xfrm>
            <a:off x="359609" y="3903898"/>
            <a:ext cx="3909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[Italy] – [Rome] + [Berlín] = [Germany]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65" name="Google Shape;265;g2f19d644e1e_1_15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6807" y="1655260"/>
            <a:ext cx="2714625" cy="18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g2f19d644e1e_1_155"/>
          <p:cNvSpPr txBox="1"/>
          <p:nvPr/>
        </p:nvSpPr>
        <p:spPr>
          <a:xfrm>
            <a:off x="4012825" y="4578450"/>
            <a:ext cx="5054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https://arxiv.org/abs/1310.4546v1</a:t>
            </a:r>
            <a:r>
              <a:rPr lang="en" sz="1100"/>
              <a:t>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 sz="1100"/>
              <a:t>Distributed Representations of Words and Phrases and their Compositionality</a:t>
            </a:r>
            <a:endParaRPr sz="110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7EF9B6D-6751-82C5-5C36-88C1704C4DCC}"/>
              </a:ext>
            </a:extLst>
          </p:cNvPr>
          <p:cNvCxnSpPr>
            <a:cxnSpLocks/>
          </p:cNvCxnSpPr>
          <p:nvPr/>
        </p:nvCxnSpPr>
        <p:spPr>
          <a:xfrm>
            <a:off x="4269509" y="2832567"/>
            <a:ext cx="4302991" cy="1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5FA09B14-8071-6395-9CD8-A822CD255FCC}"/>
              </a:ext>
            </a:extLst>
          </p:cNvPr>
          <p:cNvCxnSpPr/>
          <p:nvPr/>
        </p:nvCxnSpPr>
        <p:spPr>
          <a:xfrm>
            <a:off x="6338923" y="935026"/>
            <a:ext cx="0" cy="3795103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8657898-21BA-D773-B87F-A70150F076C9}"/>
              </a:ext>
            </a:extLst>
          </p:cNvPr>
          <p:cNvCxnSpPr/>
          <p:nvPr/>
        </p:nvCxnSpPr>
        <p:spPr>
          <a:xfrm flipH="1">
            <a:off x="4654502" y="2832577"/>
            <a:ext cx="1698172" cy="35063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28C978D-6F61-62D2-B9F3-7D10C328F839}"/>
              </a:ext>
            </a:extLst>
          </p:cNvPr>
          <p:cNvCxnSpPr>
            <a:cxnSpLocks/>
          </p:cNvCxnSpPr>
          <p:nvPr/>
        </p:nvCxnSpPr>
        <p:spPr>
          <a:xfrm>
            <a:off x="6335171" y="2832567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D0FBF5F-F20B-37A1-4A7B-3F98512C4B6D}"/>
              </a:ext>
            </a:extLst>
          </p:cNvPr>
          <p:cNvCxnSpPr/>
          <p:nvPr/>
        </p:nvCxnSpPr>
        <p:spPr>
          <a:xfrm>
            <a:off x="6338923" y="2832577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BAA040C-3C61-9255-8E6A-8E0570FE9603}"/>
              </a:ext>
            </a:extLst>
          </p:cNvPr>
          <p:cNvCxnSpPr>
            <a:cxnSpLocks/>
          </p:cNvCxnSpPr>
          <p:nvPr/>
        </p:nvCxnSpPr>
        <p:spPr>
          <a:xfrm>
            <a:off x="3569879" y="2596432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FFDA6DC1-772A-7E15-5362-E1C8050D8EE3}"/>
              </a:ext>
            </a:extLst>
          </p:cNvPr>
          <p:cNvCxnSpPr/>
          <p:nvPr/>
        </p:nvCxnSpPr>
        <p:spPr>
          <a:xfrm>
            <a:off x="3577378" y="2591982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507C970C-12AA-A108-ADCB-9AA0D456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>
            <a:extLst>
              <a:ext uri="{FF2B5EF4-FFF2-40B4-BE49-F238E27FC236}">
                <a16:creationId xmlns:a16="http://schemas.microsoft.com/office/drawing/2014/main" id="{E5D0292D-44F9-7EC8-39F2-5EB9B1CEA9A7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>
            <a:extLst>
              <a:ext uri="{FF2B5EF4-FFF2-40B4-BE49-F238E27FC236}">
                <a16:creationId xmlns:a16="http://schemas.microsoft.com/office/drawing/2014/main" id="{B099A186-CC06-00D9-1DAA-4BCF0F5B2B97}"/>
              </a:ext>
            </a:extLst>
          </p:cNvPr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metricas de similitud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61;g2f19d644e1e_1_155">
            <a:extLst>
              <a:ext uri="{FF2B5EF4-FFF2-40B4-BE49-F238E27FC236}">
                <a16:creationId xmlns:a16="http://schemas.microsoft.com/office/drawing/2014/main" id="{FFA1A8F4-5F24-EB3E-C77B-1BFCF13D2D0A}"/>
              </a:ext>
            </a:extLst>
          </p:cNvPr>
          <p:cNvSpPr txBox="1"/>
          <p:nvPr/>
        </p:nvSpPr>
        <p:spPr>
          <a:xfrm>
            <a:off x="272075" y="1797933"/>
            <a:ext cx="2211711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Distancia euclidea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61;g2f19d644e1e_1_155">
            <a:extLst>
              <a:ext uri="{FF2B5EF4-FFF2-40B4-BE49-F238E27FC236}">
                <a16:creationId xmlns:a16="http://schemas.microsoft.com/office/drawing/2014/main" id="{597CEB4E-0671-FD57-0623-8DA3B7214C67}"/>
              </a:ext>
            </a:extLst>
          </p:cNvPr>
          <p:cNvSpPr txBox="1"/>
          <p:nvPr/>
        </p:nvSpPr>
        <p:spPr>
          <a:xfrm>
            <a:off x="173978" y="2720407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imilitud del coseno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61;g2f19d644e1e_1_155">
            <a:extLst>
              <a:ext uri="{FF2B5EF4-FFF2-40B4-BE49-F238E27FC236}">
                <a16:creationId xmlns:a16="http://schemas.microsoft.com/office/drawing/2014/main" id="{3E812993-F13A-9DD9-F163-19ACF090FAEA}"/>
              </a:ext>
            </a:extLst>
          </p:cNvPr>
          <p:cNvSpPr txBox="1"/>
          <p:nvPr/>
        </p:nvSpPr>
        <p:spPr>
          <a:xfrm>
            <a:off x="173977" y="4084625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Producto punto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/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ad>
                        <m:radPr>
                          <m:degHide m:val="on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/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s-E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/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blipFill>
                <a:blip r:embed="rId5"/>
                <a:stretch>
                  <a:fillRect b="-563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963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f19d644e1e_1_16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algn="ctr">
              <a:lnSpc>
                <a:spcPct val="120000"/>
              </a:lnSpc>
              <a:buClr>
                <a:schemeClr val="dk1"/>
              </a:buClr>
              <a:buSzPts val="3000"/>
            </a:pPr>
            <a:r>
              <a:rPr lang="es-ES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</a:t>
            </a: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mbeddings - </a:t>
            </a:r>
            <a:r>
              <a:rPr lang="es-ES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Aprendizaje basado en contexto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2" name="Google Shape;272;g2f19d644e1e_1_164"/>
          <p:cNvSpPr txBox="1"/>
          <p:nvPr/>
        </p:nvSpPr>
        <p:spPr>
          <a:xfrm>
            <a:off x="413130" y="814403"/>
            <a:ext cx="8641496" cy="114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ES" dirty="0">
                <a:sym typeface="Twentieth Century"/>
              </a:rPr>
              <a:t>- Una tarea de predicción relaciona una palabra con las palabras de su entorno.</a:t>
            </a:r>
          </a:p>
          <a:p>
            <a:r>
              <a:rPr lang="es-ES" dirty="0">
                <a:sym typeface="Twentieth Century"/>
              </a:rPr>
              <a:t>- El entrenamiento ajusta los </a:t>
            </a:r>
            <a:r>
              <a:rPr lang="es-ES" dirty="0" err="1">
                <a:sym typeface="Twentieth Century"/>
              </a:rPr>
              <a:t>embeddings</a:t>
            </a:r>
            <a:r>
              <a:rPr lang="es-ES" dirty="0">
                <a:sym typeface="Twentieth Century"/>
              </a:rPr>
              <a:t> para resolver esa tarea.</a:t>
            </a:r>
          </a:p>
          <a:p>
            <a:r>
              <a:rPr lang="es-ES" dirty="0">
                <a:sym typeface="Twentieth Century"/>
              </a:rPr>
              <a:t>- Las relaciones entre </a:t>
            </a:r>
            <a:r>
              <a:rPr lang="es-ES" dirty="0" err="1">
                <a:sym typeface="Twentieth Century"/>
              </a:rPr>
              <a:t>embeddings</a:t>
            </a:r>
            <a:r>
              <a:rPr lang="es-ES" dirty="0">
                <a:sym typeface="Twentieth Century"/>
              </a:rPr>
              <a:t> reflejan los datos y el objetivo de aprendizaje.</a:t>
            </a:r>
            <a:endParaRPr dirty="0">
              <a:sym typeface="Twentieth Century"/>
            </a:endParaRPr>
          </a:p>
        </p:txBody>
      </p:sp>
      <p:pic>
        <p:nvPicPr>
          <p:cNvPr id="273" name="Google Shape;273;g2f19d644e1e_1_164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75094" y="2323854"/>
            <a:ext cx="3596709" cy="15379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2f19d644e1e_1_164"/>
          <p:cNvPicPr preferRelativeResize="0"/>
          <p:nvPr/>
        </p:nvPicPr>
        <p:blipFill rotWithShape="1">
          <a:blip r:embed="rId4">
            <a:alphaModFix/>
          </a:blip>
          <a:srcRect l="4402" t="13530" r="3300" b="17138"/>
          <a:stretch/>
        </p:blipFill>
        <p:spPr>
          <a:xfrm>
            <a:off x="321491" y="2435403"/>
            <a:ext cx="3701715" cy="11701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82;g2f19d644e1e_1_171">
            <a:extLst>
              <a:ext uri="{FF2B5EF4-FFF2-40B4-BE49-F238E27FC236}">
                <a16:creationId xmlns:a16="http://schemas.microsoft.com/office/drawing/2014/main" id="{4D3DB723-C316-6124-9A59-5643D438D70B}"/>
              </a:ext>
            </a:extLst>
          </p:cNvPr>
          <p:cNvSpPr/>
          <p:nvPr/>
        </p:nvSpPr>
        <p:spPr>
          <a:xfrm>
            <a:off x="698818" y="4118076"/>
            <a:ext cx="8051287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 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g2f19d644e1e_1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388" y="1457325"/>
            <a:ext cx="5229225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f19d644e1e_1_17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1" name="Google Shape;281;g2f19d644e1e_1_171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f19d644e1e_1_171"/>
          <p:cNvSpPr/>
          <p:nvPr/>
        </p:nvSpPr>
        <p:spPr>
          <a:xfrm>
            <a:off x="698818" y="4118076"/>
            <a:ext cx="749410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f19d644e1e_1_17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8" name="Google Shape;288;g2f19d644e1e_1_17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CBOW y skip-gram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9" name="Google Shape;289;g2f19d644e1e_1_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07349" y="1366093"/>
            <a:ext cx="5762671" cy="3532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BF2D2-C42F-D99B-6036-FEBB7FA07C62}"/>
              </a:ext>
            </a:extLst>
          </p:cNvPr>
          <p:cNvSpPr txBox="1"/>
          <p:nvPr/>
        </p:nvSpPr>
        <p:spPr>
          <a:xfrm>
            <a:off x="-1" y="1727233"/>
            <a:ext cx="32073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1600" dirty="0"/>
              <a:t>Aquí me pongo a cantar </a:t>
            </a:r>
            <a:br>
              <a:rPr lang="es-ES" sz="1600" dirty="0"/>
            </a:br>
            <a:r>
              <a:rPr lang="es-ES" sz="1600" dirty="0"/>
              <a:t>al compás de la </a:t>
            </a:r>
            <a:r>
              <a:rPr lang="es-ES" sz="1600" dirty="0" err="1"/>
              <a:t>vigüela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que el hombre que lo desvela </a:t>
            </a:r>
            <a:br>
              <a:rPr lang="es-ES" sz="1600" dirty="0"/>
            </a:br>
            <a:r>
              <a:rPr lang="es-ES" sz="1600" dirty="0"/>
              <a:t>una pena </a:t>
            </a:r>
            <a:r>
              <a:rPr lang="es-ES" sz="1600" dirty="0" err="1"/>
              <a:t>estraordinaria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como la ave solitaria con el cantar se consuela.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Pido a los Santos del Cielo </a:t>
            </a:r>
            <a:br>
              <a:rPr lang="es-ES" sz="1600" dirty="0"/>
            </a:br>
            <a:r>
              <a:rPr lang="es-ES" sz="1600" dirty="0"/>
              <a:t>que ayuden mi pensamiento, </a:t>
            </a:r>
            <a:br>
              <a:rPr lang="es-ES" sz="1600" dirty="0"/>
            </a:br>
            <a:r>
              <a:rPr lang="es-ES" sz="1600" dirty="0"/>
              <a:t>les pido en este momento que voy a cantar mi historia.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“Martín Fierro” J. </a:t>
            </a:r>
            <a:r>
              <a:rPr lang="es-ES" sz="1600" dirty="0" err="1"/>
              <a:t>Hernandez</a:t>
            </a:r>
            <a:endParaRPr lang="es-E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f19d644e1e_1_18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s-ES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</a:t>
            </a: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mbeddings 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f19d644e1e_1_18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solo se aplica a palabras….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f19d644e1e_1_184"/>
          <p:cNvSpPr/>
          <p:nvPr/>
        </p:nvSpPr>
        <p:spPr>
          <a:xfrm>
            <a:off x="3661676" y="1939493"/>
            <a:ext cx="1492235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4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1505</Words>
  <Application>Microsoft Office PowerPoint</Application>
  <PresentationFormat>On-screen Show (16:9)</PresentationFormat>
  <Paragraphs>223</Paragraphs>
  <Slides>33</Slides>
  <Notes>33</Notes>
  <HiddenSlides>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Twentieth Century</vt:lpstr>
      <vt:lpstr>Roboto</vt:lpstr>
      <vt:lpstr>Arial</vt:lpstr>
      <vt:lpstr>Cambria Math</vt:lpstr>
      <vt:lpstr>Times New Roman</vt:lpstr>
      <vt:lpstr>Material</vt:lpstr>
      <vt:lpstr>Aprendizaje Profundo</vt:lpstr>
      <vt:lpstr>REPRESENTATION LEARNING  AUTOENCODER /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8</cp:revision>
  <dcterms:modified xsi:type="dcterms:W3CDTF">2026-10-05T22:50:17Z</dcterms:modified>
</cp:coreProperties>
</file>