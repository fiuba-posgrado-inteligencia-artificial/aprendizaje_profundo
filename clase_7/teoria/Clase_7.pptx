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81" r:id="rId4"/>
    <p:sldId id="270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85" r:id="rId18"/>
    <p:sldId id="284" r:id="rId19"/>
    <p:sldId id="286" r:id="rId20"/>
    <p:sldId id="269" r:id="rId21"/>
    <p:sldId id="272" r:id="rId22"/>
    <p:sldId id="273" r:id="rId23"/>
    <p:sldId id="274" r:id="rId24"/>
    <p:sldId id="275" r:id="rId25"/>
    <p:sldId id="276" r:id="rId26"/>
    <p:sldId id="282" r:id="rId27"/>
    <p:sldId id="277" r:id="rId28"/>
    <p:sldId id="278" r:id="rId29"/>
    <p:sldId id="279" r:id="rId30"/>
    <p:sldId id="280" r:id="rId3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3"/>
    </p:embeddedFont>
    <p:embeddedFont>
      <p:font typeface="Roboto" panose="02000000000000000000" pitchFamily="2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jFLyGGbKtZ6MKWK8o6r1g77If8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A9A6CF-50A8-4C49-B3FC-C757393354D3}" v="3" dt="2025-06-11T00:43:36.6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C3C0A1FC-2EA7-4DA5-85B4-8CCFBB75DE9E}"/>
    <pc:docChg chg="undo custSel modSld">
      <pc:chgData name="Marcos Maillot" userId="fa14b39d-e966-4ebb-a436-4f96f84b9577" providerId="ADAL" clId="{C3C0A1FC-2EA7-4DA5-85B4-8CCFBB75DE9E}" dt="2024-08-09T21:00:09.387" v="82" actId="5793"/>
      <pc:docMkLst>
        <pc:docMk/>
      </pc:docMkLst>
      <pc:sldChg chg="modSp mod">
        <pc:chgData name="Marcos Maillot" userId="fa14b39d-e966-4ebb-a436-4f96f84b9577" providerId="ADAL" clId="{C3C0A1FC-2EA7-4DA5-85B4-8CCFBB75DE9E}" dt="2024-08-09T20:54:26.696" v="0" actId="14100"/>
        <pc:sldMkLst>
          <pc:docMk/>
          <pc:sldMk cId="0" sldId="258"/>
        </pc:sldMkLst>
      </pc:sldChg>
      <pc:sldChg chg="modSp mod">
        <pc:chgData name="Marcos Maillot" userId="fa14b39d-e966-4ebb-a436-4f96f84b9577" providerId="ADAL" clId="{C3C0A1FC-2EA7-4DA5-85B4-8CCFBB75DE9E}" dt="2024-08-09T20:54:39.343" v="8" actId="5793"/>
        <pc:sldMkLst>
          <pc:docMk/>
          <pc:sldMk cId="0" sldId="260"/>
        </pc:sldMkLst>
      </pc:sldChg>
      <pc:sldChg chg="modSp mod">
        <pc:chgData name="Marcos Maillot" userId="fa14b39d-e966-4ebb-a436-4f96f84b9577" providerId="ADAL" clId="{C3C0A1FC-2EA7-4DA5-85B4-8CCFBB75DE9E}" dt="2024-08-09T20:54:55.488" v="20" actId="5793"/>
        <pc:sldMkLst>
          <pc:docMk/>
          <pc:sldMk cId="0" sldId="261"/>
        </pc:sldMkLst>
      </pc:sldChg>
      <pc:sldChg chg="modSp mod">
        <pc:chgData name="Marcos Maillot" userId="fa14b39d-e966-4ebb-a436-4f96f84b9577" providerId="ADAL" clId="{C3C0A1FC-2EA7-4DA5-85B4-8CCFBB75DE9E}" dt="2024-08-09T20:58:40.545" v="25" actId="5793"/>
        <pc:sldMkLst>
          <pc:docMk/>
          <pc:sldMk cId="0" sldId="270"/>
        </pc:sldMkLst>
      </pc:sldChg>
      <pc:sldChg chg="modSp mod">
        <pc:chgData name="Marcos Maillot" userId="fa14b39d-e966-4ebb-a436-4f96f84b9577" providerId="ADAL" clId="{C3C0A1FC-2EA7-4DA5-85B4-8CCFBB75DE9E}" dt="2024-08-09T20:58:49.644" v="33" actId="5793"/>
        <pc:sldMkLst>
          <pc:docMk/>
          <pc:sldMk cId="0" sldId="272"/>
        </pc:sldMkLst>
      </pc:sldChg>
      <pc:sldChg chg="modSp mod">
        <pc:chgData name="Marcos Maillot" userId="fa14b39d-e966-4ebb-a436-4f96f84b9577" providerId="ADAL" clId="{C3C0A1FC-2EA7-4DA5-85B4-8CCFBB75DE9E}" dt="2024-08-09T20:59:33.349" v="54" actId="1076"/>
        <pc:sldMkLst>
          <pc:docMk/>
          <pc:sldMk cId="0" sldId="273"/>
        </pc:sldMkLst>
      </pc:sldChg>
      <pc:sldChg chg="modSp mod">
        <pc:chgData name="Marcos Maillot" userId="fa14b39d-e966-4ebb-a436-4f96f84b9577" providerId="ADAL" clId="{C3C0A1FC-2EA7-4DA5-85B4-8CCFBB75DE9E}" dt="2024-08-09T20:59:41.955" v="58" actId="5793"/>
        <pc:sldMkLst>
          <pc:docMk/>
          <pc:sldMk cId="0" sldId="275"/>
        </pc:sldMkLst>
      </pc:sldChg>
      <pc:sldChg chg="modSp mod">
        <pc:chgData name="Marcos Maillot" userId="fa14b39d-e966-4ebb-a436-4f96f84b9577" providerId="ADAL" clId="{C3C0A1FC-2EA7-4DA5-85B4-8CCFBB75DE9E}" dt="2024-08-09T20:59:52.295" v="64" actId="5793"/>
        <pc:sldMkLst>
          <pc:docMk/>
          <pc:sldMk cId="0" sldId="276"/>
        </pc:sldMkLst>
      </pc:sldChg>
      <pc:sldChg chg="modSp mod">
        <pc:chgData name="Marcos Maillot" userId="fa14b39d-e966-4ebb-a436-4f96f84b9577" providerId="ADAL" clId="{C3C0A1FC-2EA7-4DA5-85B4-8CCFBB75DE9E}" dt="2024-08-09T20:59:56.258" v="68" actId="5793"/>
        <pc:sldMkLst>
          <pc:docMk/>
          <pc:sldMk cId="0" sldId="277"/>
        </pc:sldMkLst>
      </pc:sldChg>
      <pc:sldChg chg="modSp mod">
        <pc:chgData name="Marcos Maillot" userId="fa14b39d-e966-4ebb-a436-4f96f84b9577" providerId="ADAL" clId="{C3C0A1FC-2EA7-4DA5-85B4-8CCFBB75DE9E}" dt="2024-08-09T21:00:00.516" v="72" actId="5793"/>
        <pc:sldMkLst>
          <pc:docMk/>
          <pc:sldMk cId="0" sldId="278"/>
        </pc:sldMkLst>
      </pc:sldChg>
      <pc:sldChg chg="modSp mod">
        <pc:chgData name="Marcos Maillot" userId="fa14b39d-e966-4ebb-a436-4f96f84b9577" providerId="ADAL" clId="{C3C0A1FC-2EA7-4DA5-85B4-8CCFBB75DE9E}" dt="2024-08-09T21:00:05.764" v="78" actId="5793"/>
        <pc:sldMkLst>
          <pc:docMk/>
          <pc:sldMk cId="0" sldId="279"/>
        </pc:sldMkLst>
      </pc:sldChg>
      <pc:sldChg chg="modSp mod">
        <pc:chgData name="Marcos Maillot" userId="fa14b39d-e966-4ebb-a436-4f96f84b9577" providerId="ADAL" clId="{C3C0A1FC-2EA7-4DA5-85B4-8CCFBB75DE9E}" dt="2024-08-09T21:00:09.387" v="82" actId="5793"/>
        <pc:sldMkLst>
          <pc:docMk/>
          <pc:sldMk cId="0" sldId="280"/>
        </pc:sldMkLst>
      </pc:sldChg>
    </pc:docChg>
  </pc:docChgLst>
  <pc:docChgLst>
    <pc:chgData name="Marcos Maillot" userId="fa14b39d-e966-4ebb-a436-4f96f84b9577" providerId="ADAL" clId="{105229BA-9AA1-47D4-847D-E03C0431CECE}"/>
    <pc:docChg chg="custSel modSld">
      <pc:chgData name="Marcos Maillot" userId="fa14b39d-e966-4ebb-a436-4f96f84b9577" providerId="ADAL" clId="{105229BA-9AA1-47D4-847D-E03C0431CECE}" dt="2024-10-04T17:13:09.539" v="106" actId="20577"/>
      <pc:docMkLst>
        <pc:docMk/>
      </pc:docMkLst>
      <pc:sldChg chg="modSp mod">
        <pc:chgData name="Marcos Maillot" userId="fa14b39d-e966-4ebb-a436-4f96f84b9577" providerId="ADAL" clId="{105229BA-9AA1-47D4-847D-E03C0431CECE}" dt="2024-10-04T17:13:09.539" v="106" actId="20577"/>
        <pc:sldMkLst>
          <pc:docMk/>
          <pc:sldMk cId="0" sldId="257"/>
        </pc:sldMkLst>
      </pc:sldChg>
      <pc:sldChg chg="modSp mod">
        <pc:chgData name="Marcos Maillot" userId="fa14b39d-e966-4ebb-a436-4f96f84b9577" providerId="ADAL" clId="{105229BA-9AA1-47D4-847D-E03C0431CECE}" dt="2024-10-04T17:11:34.288" v="40" actId="5793"/>
        <pc:sldMkLst>
          <pc:docMk/>
          <pc:sldMk cId="0" sldId="260"/>
        </pc:sldMkLst>
      </pc:sldChg>
      <pc:sldChg chg="modSp mod">
        <pc:chgData name="Marcos Maillot" userId="fa14b39d-e966-4ebb-a436-4f96f84b9577" providerId="ADAL" clId="{105229BA-9AA1-47D4-847D-E03C0431CECE}" dt="2024-10-04T17:12:03.614" v="63" actId="5793"/>
        <pc:sldMkLst>
          <pc:docMk/>
          <pc:sldMk cId="0" sldId="262"/>
        </pc:sldMkLst>
      </pc:sldChg>
    </pc:docChg>
  </pc:docChgLst>
  <pc:docChgLst>
    <pc:chgData name="Marcos Maillot" userId="fa14b39d-e966-4ebb-a436-4f96f84b9577" providerId="ADAL" clId="{43A9A6CF-50A8-4C49-B3FC-C757393354D3}"/>
    <pc:docChg chg="modSld">
      <pc:chgData name="Marcos Maillot" userId="fa14b39d-e966-4ebb-a436-4f96f84b9577" providerId="ADAL" clId="{43A9A6CF-50A8-4C49-B3FC-C757393354D3}" dt="2025-06-11T00:43:36.632" v="23"/>
      <pc:docMkLst>
        <pc:docMk/>
      </pc:docMkLst>
      <pc:sldChg chg="addSp delSp modSp mod">
        <pc:chgData name="Marcos Maillot" userId="fa14b39d-e966-4ebb-a436-4f96f84b9577" providerId="ADAL" clId="{43A9A6CF-50A8-4C49-B3FC-C757393354D3}" dt="2025-06-11T00:43:36.632" v="23"/>
        <pc:sldMkLst>
          <pc:docMk/>
          <pc:sldMk cId="0" sldId="273"/>
        </pc:sldMkLst>
        <pc:grpChg chg="mod">
          <ac:chgData name="Marcos Maillot" userId="fa14b39d-e966-4ebb-a436-4f96f84b9577" providerId="ADAL" clId="{43A9A6CF-50A8-4C49-B3FC-C757393354D3}" dt="2025-06-11T00:43:32.372" v="13"/>
          <ac:grpSpMkLst>
            <pc:docMk/>
            <pc:sldMk cId="0" sldId="273"/>
            <ac:grpSpMk id="11" creationId="{9F848F3A-48F5-CCA6-BC6E-EB35599213CF}"/>
          </ac:grpSpMkLst>
        </pc:grpChg>
        <pc:grpChg chg="del mod">
          <ac:chgData name="Marcos Maillot" userId="fa14b39d-e966-4ebb-a436-4f96f84b9577" providerId="ADAL" clId="{43A9A6CF-50A8-4C49-B3FC-C757393354D3}" dt="2025-06-11T00:43:36.632" v="23"/>
          <ac:grpSpMkLst>
            <pc:docMk/>
            <pc:sldMk cId="0" sldId="273"/>
            <ac:grpSpMk id="19" creationId="{747E5D74-5E95-110C-060A-D550342ECEE4}"/>
          </ac:grpSpMkLst>
        </pc:grpChg>
        <pc:grpChg chg="mod">
          <ac:chgData name="Marcos Maillot" userId="fa14b39d-e966-4ebb-a436-4f96f84b9577" providerId="ADAL" clId="{43A9A6CF-50A8-4C49-B3FC-C757393354D3}" dt="2025-06-11T00:43:36.632" v="23"/>
          <ac:grpSpMkLst>
            <pc:docMk/>
            <pc:sldMk cId="0" sldId="273"/>
            <ac:grpSpMk id="21" creationId="{093613DD-4AFD-D80A-9313-667DE20AC2C8}"/>
          </ac:grpSpMkLst>
        </pc:grpChg>
        <pc:inkChg chg="add">
          <ac:chgData name="Marcos Maillot" userId="fa14b39d-e966-4ebb-a436-4f96f84b9577" providerId="ADAL" clId="{43A9A6CF-50A8-4C49-B3FC-C757393354D3}" dt="2025-06-11T00:43:25.177" v="4" actId="9405"/>
          <ac:inkMkLst>
            <pc:docMk/>
            <pc:sldMk cId="0" sldId="273"/>
            <ac:inkMk id="2" creationId="{4D9FA1D6-1835-33D9-16E7-3827158B3994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3" creationId="{BC72456B-2051-D521-A06E-4E41FE19FB31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4" creationId="{BE06EFA0-1AAD-0834-6FDC-335D21B6B5BC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5" creationId="{E2EC51D4-2500-EF12-E9EA-C4A5CF151353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6" creationId="{981DD12F-FAD1-422C-7B8D-5A364A78EB13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7" creationId="{E4F5640B-B450-5BF7-C2EA-C33207B7E2E1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8" creationId="{DE1ED292-C0AE-89DC-8FB2-35F138F57625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9" creationId="{889C69DD-0C29-3F0D-9577-298E06A2C258}"/>
          </ac:inkMkLst>
        </pc:inkChg>
        <pc:inkChg chg="add mod">
          <ac:chgData name="Marcos Maillot" userId="fa14b39d-e966-4ebb-a436-4f96f84b9577" providerId="ADAL" clId="{43A9A6CF-50A8-4C49-B3FC-C757393354D3}" dt="2025-06-11T00:43:32.372" v="13"/>
          <ac:inkMkLst>
            <pc:docMk/>
            <pc:sldMk cId="0" sldId="273"/>
            <ac:inkMk id="10" creationId="{343AF7B7-3880-887E-E397-36893BC14E22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2" creationId="{69D8163F-1867-AF97-979C-E8F99AB9356E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3" creationId="{106369E5-C291-D0A6-7B93-F3FCBF68CF62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4" creationId="{7BD8A32C-24AD-753E-ED11-FD76BA20D5AF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5" creationId="{74CC715D-8AB5-858E-5BCE-7203DE58DE4D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6" creationId="{659AE97B-AA6F-1C85-ED78-5C18361C8888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7" creationId="{F4B00B80-5E0C-29EA-DB0E-F152B04FC0E5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18" creationId="{A6B49830-5580-A509-52D3-C028A0725562}"/>
          </ac:inkMkLst>
        </pc:inkChg>
        <pc:inkChg chg="add mod">
          <ac:chgData name="Marcos Maillot" userId="fa14b39d-e966-4ebb-a436-4f96f84b9577" providerId="ADAL" clId="{43A9A6CF-50A8-4C49-B3FC-C757393354D3}" dt="2025-06-11T00:43:36.632" v="23"/>
          <ac:inkMkLst>
            <pc:docMk/>
            <pc:sldMk cId="0" sldId="273"/>
            <ac:inkMk id="20" creationId="{A9E4511E-9A1B-CE02-D5AE-24AE6626BED3}"/>
          </ac:inkMkLst>
        </pc:inkChg>
      </pc:sldChg>
      <pc:sldChg chg="addSp mod">
        <pc:chgData name="Marcos Maillot" userId="fa14b39d-e966-4ebb-a436-4f96f84b9577" providerId="ADAL" clId="{43A9A6CF-50A8-4C49-B3FC-C757393354D3}" dt="2025-06-11T00:42:34.978" v="3" actId="9405"/>
        <pc:sldMkLst>
          <pc:docMk/>
          <pc:sldMk cId="0" sldId="279"/>
        </pc:sldMkLst>
        <pc:inkChg chg="add">
          <ac:chgData name="Marcos Maillot" userId="fa14b39d-e966-4ebb-a436-4f96f84b9577" providerId="ADAL" clId="{43A9A6CF-50A8-4C49-B3FC-C757393354D3}" dt="2025-06-11T00:42:29.497" v="0" actId="9405"/>
          <ac:inkMkLst>
            <pc:docMk/>
            <pc:sldMk cId="0" sldId="279"/>
            <ac:inkMk id="2" creationId="{61BEB62F-8CEC-9ABA-505E-4C8F9A4664D6}"/>
          </ac:inkMkLst>
        </pc:inkChg>
        <pc:inkChg chg="add">
          <ac:chgData name="Marcos Maillot" userId="fa14b39d-e966-4ebb-a436-4f96f84b9577" providerId="ADAL" clId="{43A9A6CF-50A8-4C49-B3FC-C757393354D3}" dt="2025-06-11T00:42:30.720" v="1" actId="9405"/>
          <ac:inkMkLst>
            <pc:docMk/>
            <pc:sldMk cId="0" sldId="279"/>
            <ac:inkMk id="3" creationId="{DB186C97-1C67-BBB1-E855-37DAB8A23615}"/>
          </ac:inkMkLst>
        </pc:inkChg>
        <pc:inkChg chg="add">
          <ac:chgData name="Marcos Maillot" userId="fa14b39d-e966-4ebb-a436-4f96f84b9577" providerId="ADAL" clId="{43A9A6CF-50A8-4C49-B3FC-C757393354D3}" dt="2025-06-11T00:42:33.886" v="2" actId="9405"/>
          <ac:inkMkLst>
            <pc:docMk/>
            <pc:sldMk cId="0" sldId="279"/>
            <ac:inkMk id="4" creationId="{6D57C7DB-EFB1-88F9-0EF2-A9980A5BF594}"/>
          </ac:inkMkLst>
        </pc:inkChg>
        <pc:inkChg chg="add">
          <ac:chgData name="Marcos Maillot" userId="fa14b39d-e966-4ebb-a436-4f96f84b9577" providerId="ADAL" clId="{43A9A6CF-50A8-4C49-B3FC-C757393354D3}" dt="2025-06-11T00:42:34.978" v="3" actId="9405"/>
          <ac:inkMkLst>
            <pc:docMk/>
            <pc:sldMk cId="0" sldId="279"/>
            <ac:inkMk id="5" creationId="{33F455F8-6173-F745-4E1C-4015D681A74E}"/>
          </ac:inkMkLst>
        </pc:ink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>
          <a:extLst>
            <a:ext uri="{FF2B5EF4-FFF2-40B4-BE49-F238E27FC236}">
              <a16:creationId xmlns:a16="http://schemas.microsoft.com/office/drawing/2014/main" id="{1E6AF8C4-1E52-79B0-B285-F03EEC9E9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>
            <a:extLst>
              <a:ext uri="{FF2B5EF4-FFF2-40B4-BE49-F238E27FC236}">
                <a16:creationId xmlns:a16="http://schemas.microsoft.com/office/drawing/2014/main" id="{DCD84084-0FA0-0C8A-DFE1-4834767EE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>
            <a:extLst>
              <a:ext uri="{FF2B5EF4-FFF2-40B4-BE49-F238E27FC236}">
                <a16:creationId xmlns:a16="http://schemas.microsoft.com/office/drawing/2014/main" id="{68478B48-37C1-3743-F09B-F6D4853267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7482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f19d644e1e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g2f19d644e1e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f19d644e1e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f19d644e1e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f19d644e1e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2f19d644e1e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f19d644e1e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2f19d644e1e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f19d644e1e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2f19d644e1e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f19d644e1e_1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2f19d644e1e_1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f19d644e1e_1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f19d644e1e_1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19d644e1e_1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2f19d644e1e_1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f19d644e1e_1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g2f19d644e1e_1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f19d644e1e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f19d644e1e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f19d644e1e_1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2f19d644e1e_1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538FC70F-713A-88E7-5065-A012C5238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2C6472A0-6274-8743-504A-65C695E953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BFF51063-C744-D9FA-C21B-8C236B0E9D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43868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E0AA8347-332A-298A-C584-8535D299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58AB3E9E-7EC9-7291-EEBE-044F34EEC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8910E96B-0BD4-204E-FC56-79D4C96ED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49545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75E045F2-A9F4-AEE8-7828-19BB0373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6EF6C27B-E787-6A26-FB8F-D87505A48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A0661EA6-909F-B66F-DA49-251D2FFF4D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60737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f19d644e1e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f19d644e1e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f19d644e1e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g2f19d644e1e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19d644e1e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19d644e1e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f19d644e1e_1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g2f19d644e1e_1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f19d644e1e_1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g2f19d644e1e_1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AE3337C4-64EA-56F1-0AC7-AFECD02B1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>
            <a:extLst>
              <a:ext uri="{FF2B5EF4-FFF2-40B4-BE49-F238E27FC236}">
                <a16:creationId xmlns:a16="http://schemas.microsoft.com/office/drawing/2014/main" id="{4EC2DE8D-99A9-E1D1-95D7-2DF5F02B8A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>
            <a:extLst>
              <a:ext uri="{FF2B5EF4-FFF2-40B4-BE49-F238E27FC236}">
                <a16:creationId xmlns:a16="http://schemas.microsoft.com/office/drawing/2014/main" id="{04F4F4E2-A8BA-534B-AF01-F26320563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11956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f19d644e1e_1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g2f19d644e1e_1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f19d644e1e_1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g2f19d644e1e_1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f19d644e1e_1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g2f19d644e1e_1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f19d644e1e_1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2f19d644e1e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45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rxiv.org/abs/1310.4546v1" TargetMode="Externa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</a:t>
            </a:r>
            <a:r>
              <a:rPr lang="pt-BR" sz="2600" dirty="0" err="1"/>
              <a:t>Vilcamiza</a:t>
            </a:r>
            <a:r>
              <a:rPr lang="en" sz="2600" dirty="0"/>
              <a:t>	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 dirty="0"/>
              <a:t>REPRESENTATION LEARNING </a:t>
            </a:r>
            <a:br>
              <a:rPr lang="en" sz="2100" dirty="0"/>
            </a:br>
            <a:r>
              <a:rPr lang="en" sz="2100" dirty="0"/>
              <a:t>AUTOENCODER / EMBEDDINGS</a:t>
            </a:r>
            <a:endParaRPr sz="2818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03148" y="2776300"/>
            <a:ext cx="3598950" cy="21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Autoencoders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-AR" dirty="0">
                <a:solidFill>
                  <a:schemeClr val="dk2"/>
                </a:solidFill>
              </a:rPr>
              <a:t>U</a:t>
            </a:r>
            <a:r>
              <a:rPr lang="en" dirty="0">
                <a:solidFill>
                  <a:schemeClr val="dk2"/>
                </a:solidFill>
              </a:rPr>
              <a:t>ndercomplete vs regularized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Manifold learning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Varational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72000" y="2712242"/>
            <a:ext cx="4302000" cy="2348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Embeddings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 err="1">
                <a:solidFill>
                  <a:schemeClr val="dk2"/>
                </a:solidFill>
              </a:rPr>
              <a:t>Embeddings</a:t>
            </a:r>
            <a:r>
              <a:rPr lang="es-ES" dirty="0">
                <a:solidFill>
                  <a:schemeClr val="dk2"/>
                </a:solidFill>
              </a:rPr>
              <a:t> vs </a:t>
            </a:r>
            <a:r>
              <a:rPr lang="es-ES" dirty="0" err="1">
                <a:solidFill>
                  <a:schemeClr val="dk2"/>
                </a:solidFill>
              </a:rPr>
              <a:t>one-hot.encoding</a:t>
            </a: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>
                <a:solidFill>
                  <a:schemeClr val="dk2"/>
                </a:solidFill>
              </a:rPr>
              <a:t>F</a:t>
            </a:r>
            <a:r>
              <a:rPr lang="en" dirty="0">
                <a:solidFill>
                  <a:schemeClr val="dk2"/>
                </a:solidFill>
              </a:rPr>
              <a:t>alse task training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4D6A6C-4882-7422-E750-B3F7E8634DD0}"/>
              </a:ext>
            </a:extLst>
          </p:cNvPr>
          <p:cNvSpPr txBox="1"/>
          <p:nvPr/>
        </p:nvSpPr>
        <p:spPr>
          <a:xfrm>
            <a:off x="2732887" y="1983377"/>
            <a:ext cx="3104147" cy="38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800" dirty="0">
                <a:solidFill>
                  <a:schemeClr val="dk2"/>
                </a:solidFill>
              </a:rPr>
              <a:t>Representation learning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>
          <a:extLst>
            <a:ext uri="{FF2B5EF4-FFF2-40B4-BE49-F238E27FC236}">
              <a16:creationId xmlns:a16="http://schemas.microsoft.com/office/drawing/2014/main" id="{44912406-6DFA-DCE3-557D-0F143ADF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>
            <a:extLst>
              <a:ext uri="{FF2B5EF4-FFF2-40B4-BE49-F238E27FC236}">
                <a16:creationId xmlns:a16="http://schemas.microsoft.com/office/drawing/2014/main" id="{BC1D470F-D7B0-7CCC-8DDE-746CEFACBEC0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2" name="Google Shape;202;g2f19d644e1e_1_101">
            <a:extLst>
              <a:ext uri="{FF2B5EF4-FFF2-40B4-BE49-F238E27FC236}">
                <a16:creationId xmlns:a16="http://schemas.microsoft.com/office/drawing/2014/main" id="{B03FFB50-A0E3-911B-80C4-8D35D952D00D}"/>
              </a:ext>
            </a:extLst>
          </p:cNvPr>
          <p:cNvSpPr/>
          <p:nvPr/>
        </p:nvSpPr>
        <p:spPr>
          <a:xfrm>
            <a:off x="725830" y="1246594"/>
            <a:ext cx="8088161" cy="47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2"/>
                </a:solidFill>
                <a:latin typeface="Twentieth Century"/>
                <a:sym typeface="Twentieth Century"/>
              </a:rPr>
              <a:t>¿Cuantos es 240 divido 6?			Y… ¿Cuánto es CCXL divido VI?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>
            <a:extLst>
              <a:ext uri="{FF2B5EF4-FFF2-40B4-BE49-F238E27FC236}">
                <a16:creationId xmlns:a16="http://schemas.microsoft.com/office/drawing/2014/main" id="{5C0311A7-6656-927A-9642-E4A7614CB47F}"/>
              </a:ext>
            </a:extLst>
          </p:cNvPr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>
            <a:extLst>
              <a:ext uri="{FF2B5EF4-FFF2-40B4-BE49-F238E27FC236}">
                <a16:creationId xmlns:a16="http://schemas.microsoft.com/office/drawing/2014/main" id="{8B93E0BA-8AA4-8C9D-01A2-A423154A6419}"/>
              </a:ext>
            </a:extLst>
          </p:cNvPr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>
            <a:extLst>
              <a:ext uri="{FF2B5EF4-FFF2-40B4-BE49-F238E27FC236}">
                <a16:creationId xmlns:a16="http://schemas.microsoft.com/office/drawing/2014/main" id="{7FE7E7FE-41A8-A56E-609D-CB2E0394C524}"/>
              </a:ext>
            </a:extLst>
          </p:cNvPr>
          <p:cNvSpPr/>
          <p:nvPr/>
        </p:nvSpPr>
        <p:spPr>
          <a:xfrm>
            <a:off x="725830" y="2052377"/>
            <a:ext cx="786128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Una misma información puede ser representada en distintas maneras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una representación será mejor que otras si la tarea que queremos realizar nos resulta mas facil empleando dicha representación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36984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1" name="Google Shape;201;g2f19d644e1e_1_101"/>
          <p:cNvSpPr txBox="1"/>
          <p:nvPr/>
        </p:nvSpPr>
        <p:spPr>
          <a:xfrm>
            <a:off x="836350" y="1001204"/>
            <a:ext cx="7471299" cy="39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 (featuring engineer automático)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2" name="Google Shape;202;g2f19d644e1e_1_101"/>
          <p:cNvSpPr/>
          <p:nvPr/>
        </p:nvSpPr>
        <p:spPr>
          <a:xfrm>
            <a:off x="242887" y="1758061"/>
            <a:ext cx="78611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features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unlabeled data siguiendo un entrenamiento supervisado bajo una NN secundaria (autoencoder o semejantes) siguiendo una false task.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Reducción de dimension del input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Encontrar latent variables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sym typeface="Twentieth Century"/>
              </a:rPr>
              <a:t>+ Semi supervised learning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3" name="Google Shape;203;g2f19d644e1e_1_101"/>
          <p:cNvSpPr/>
          <p:nvPr/>
        </p:nvSpPr>
        <p:spPr>
          <a:xfrm>
            <a:off x="4640975" y="3367300"/>
            <a:ext cx="3973500" cy="14541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Clustering maps 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Operdores lógicos (auto &gt; bicicleta?)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Medir distancias (manzana mas cerca que torta?)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Proyecciones o multiplicaciones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/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/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/>
          <p:cNvSpPr/>
          <p:nvPr/>
        </p:nvSpPr>
        <p:spPr>
          <a:xfrm>
            <a:off x="544133" y="3718268"/>
            <a:ext cx="3512713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complejidad del dataset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reducen las anomalias y el ruido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7" name="Google Shape;207;g2f19d644e1e_1_101"/>
          <p:cNvSpPr/>
          <p:nvPr/>
        </p:nvSpPr>
        <p:spPr>
          <a:xfrm>
            <a:off x="4640976" y="2912223"/>
            <a:ext cx="3365486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Hacemos operaciones sobre ellos</a:t>
            </a:r>
            <a:endParaRPr sz="15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f19d644e1e_1_11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f19d644e1e_1_112"/>
          <p:cNvSpPr txBox="1"/>
          <p:nvPr/>
        </p:nvSpPr>
        <p:spPr>
          <a:xfrm>
            <a:off x="165175" y="737146"/>
            <a:ext cx="86415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14" name="Google Shape;214;g2f19d644e1e_1_1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9603" y="1188666"/>
            <a:ext cx="7548535" cy="206082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g2f19d644e1e_1_112"/>
          <p:cNvSpPr/>
          <p:nvPr/>
        </p:nvSpPr>
        <p:spPr>
          <a:xfrm>
            <a:off x="264630" y="3501019"/>
            <a:ext cx="387998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Mas datos (de entrenamiento) no necesariamente garantiza llegar a un buen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 features correctos, las tarea de la red puede ser mejor alcanzada. 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16" name="Google Shape;216;g2f19d644e1e_1_112"/>
          <p:cNvSpPr/>
          <p:nvPr/>
        </p:nvSpPr>
        <p:spPr>
          <a:xfrm>
            <a:off x="4365195" y="3509733"/>
            <a:ext cx="4619683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When the learned features are passed into the supervised learning algorithm, it can improve the prediction accuracy up to 17%. 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[https://dl.acm.org/doi/10.1145/3303772.3303795].</a:t>
            </a: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5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f19d644e1e_1_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0" name="Google Shape;90;g2f19d644e1e_1_8"/>
          <p:cNvPicPr preferRelativeResize="0"/>
          <p:nvPr/>
        </p:nvPicPr>
        <p:blipFill rotWithShape="1">
          <a:blip r:embed="rId3">
            <a:alphaModFix/>
          </a:blip>
          <a:srcRect l="20812" r="6770"/>
          <a:stretch/>
        </p:blipFill>
        <p:spPr>
          <a:xfrm>
            <a:off x="4419197" y="902371"/>
            <a:ext cx="1996889" cy="1993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g2f19d644e1e_1_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81604" y="1832010"/>
            <a:ext cx="2499751" cy="70098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g2f19d644e1e_1_8"/>
          <p:cNvSpPr/>
          <p:nvPr/>
        </p:nvSpPr>
        <p:spPr>
          <a:xfrm>
            <a:off x="6017654" y="3487056"/>
            <a:ext cx="1512017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PCA??</a:t>
            </a:r>
            <a:endParaRPr sz="21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3" name="Google Shape;93;g2f19d644e1e_1_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7927" y="3810796"/>
            <a:ext cx="3191217" cy="78195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g2f19d644e1e_1_8"/>
          <p:cNvPicPr preferRelativeResize="0"/>
          <p:nvPr/>
        </p:nvPicPr>
        <p:blipFill rotWithShape="1">
          <a:blip r:embed="rId6">
            <a:alphaModFix/>
          </a:blip>
          <a:srcRect l="24706" t="1523" r="19883" b="12579"/>
          <a:stretch/>
        </p:blipFill>
        <p:spPr>
          <a:xfrm>
            <a:off x="660149" y="754946"/>
            <a:ext cx="3166782" cy="3055844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2f19d644e1e_1_8"/>
          <p:cNvSpPr txBox="1"/>
          <p:nvPr/>
        </p:nvSpPr>
        <p:spPr>
          <a:xfrm>
            <a:off x="3392945" y="1705744"/>
            <a:ext cx="736226" cy="53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g2f19d644e1e_1_8"/>
          <p:cNvSpPr txBox="1"/>
          <p:nvPr/>
        </p:nvSpPr>
        <p:spPr>
          <a:xfrm>
            <a:off x="1242722" y="4634235"/>
            <a:ext cx="7369650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autoencoders vs regularized autoencoders</a:t>
            </a:r>
            <a:endParaRPr sz="2100" b="0" i="0" u="none" strike="noStrike" cap="none" dirty="0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7" name="Google Shape;97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422187" y="1892658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3648196" y="1892645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2f19d644e1e_1_8"/>
          <p:cNvPicPr preferRelativeResize="0"/>
          <p:nvPr/>
        </p:nvPicPr>
        <p:blipFill rotWithShape="1">
          <a:blip r:embed="rId7">
            <a:alphaModFix/>
          </a:blip>
          <a:srcRect l="69947" t="15321" r="22128" b="40537"/>
          <a:stretch/>
        </p:blipFill>
        <p:spPr>
          <a:xfrm>
            <a:off x="5904783" y="2293144"/>
            <a:ext cx="225741" cy="3452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f19d644e1e_1_2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5" name="Google Shape;105;g2f19d644e1e_1_22"/>
          <p:cNvSpPr txBox="1"/>
          <p:nvPr/>
        </p:nvSpPr>
        <p:spPr>
          <a:xfrm>
            <a:off x="251252" y="884448"/>
            <a:ext cx="8641496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 vs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</a:t>
            </a: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6" name="Google Shape;106;g2f19d644e1e_1_22"/>
          <p:cNvSpPr/>
          <p:nvPr/>
        </p:nvSpPr>
        <p:spPr>
          <a:xfrm>
            <a:off x="251252" y="1681799"/>
            <a:ext cx="7505049" cy="256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en autoencoder tiene capacidad suficiente copiará la entrada (aprende la función identidad).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capacidad del autoencoder (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…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 para que aprenda los “aspectos relevantes” de la entrada. Aprenden la </a:t>
            </a:r>
            <a:r>
              <a:rPr lang="en" sz="1800" i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latent variable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del dataset.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Otra manera es “regularizar” sus pesos en el entrenamiento…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 …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que aprenda otras características del dataset.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07" name="Google Shape;107;g2f19d644e1e_1_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33453" y="4323200"/>
            <a:ext cx="3113222" cy="658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f19d644e1e_1_29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f19d644e1e_1_29"/>
          <p:cNvSpPr txBox="1"/>
          <p:nvPr/>
        </p:nvSpPr>
        <p:spPr>
          <a:xfrm>
            <a:off x="251252" y="814403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limitación de activación neuronas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f19d644e1e_1_29"/>
          <p:cNvSpPr/>
          <p:nvPr/>
        </p:nvSpPr>
        <p:spPr>
          <a:xfrm>
            <a:off x="328525" y="2055760"/>
            <a:ext cx="8641496" cy="237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activation 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– Para una entrada dada, la mayoría de los </a:t>
            </a:r>
            <a:r>
              <a:rPr lang="en" sz="2400" b="0" i="1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2400" b="0" i="1" u="none" strike="noStrike" cap="none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producirán una activación muy pequeña.</a:t>
            </a:r>
            <a:endParaRPr sz="110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una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dada, su activación promedio (sobre todas las muestras) será un valor cercano a cero.</a:t>
            </a:r>
            <a:endParaRPr sz="1100">
              <a:solidFill>
                <a:schemeClr val="dk2"/>
              </a:solidFill>
            </a:endParaRPr>
          </a:p>
          <a:p>
            <a:pPr marL="0" marR="0" lvl="0" indent="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Esto previene que el autoencoder use todas las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al mismo tiempo y fuerza a un uso reducido de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g2f19d644e1e_1_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23306" y="1256947"/>
            <a:ext cx="1885950" cy="6786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2f19d644e1e_1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2910" y="1237685"/>
            <a:ext cx="3113222" cy="65838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2f19d644e1e_1_29"/>
          <p:cNvSpPr txBox="1"/>
          <p:nvPr/>
        </p:nvSpPr>
        <p:spPr>
          <a:xfrm>
            <a:off x="328525" y="4553490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para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features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otra tarea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pre-training.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f19d644e1e_1_29"/>
          <p:cNvSpPr/>
          <p:nvPr/>
        </p:nvSpPr>
        <p:spPr>
          <a:xfrm>
            <a:off x="5796430" y="1416637"/>
            <a:ext cx="2133936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Regularización L1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f19d644e1e_1_39"/>
          <p:cNvSpPr txBox="1"/>
          <p:nvPr/>
        </p:nvSpPr>
        <p:spPr>
          <a:xfrm>
            <a:off x="-119743" y="1"/>
            <a:ext cx="9383486" cy="367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f19d644e1e_1_39"/>
          <p:cNvSpPr txBox="1"/>
          <p:nvPr/>
        </p:nvSpPr>
        <p:spPr>
          <a:xfrm>
            <a:off x="328526" y="722229"/>
            <a:ext cx="53277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Constractive autoencoders CAE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25" name="Google Shape;125;g2f19d644e1e_1_39"/>
          <p:cNvSpPr txBox="1"/>
          <p:nvPr/>
        </p:nvSpPr>
        <p:spPr>
          <a:xfrm>
            <a:off x="198782" y="4388380"/>
            <a:ext cx="8771239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Constractive autoencodes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hace que el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varie mucho ante pequeños cambios en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x</a:t>
            </a:r>
            <a:endParaRPr sz="1800" b="1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26" name="Google Shape;126;g2f19d644e1e_1_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8526" y="1260902"/>
            <a:ext cx="2000250" cy="73580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2f19d644e1e_1_39"/>
          <p:cNvSpPr/>
          <p:nvPr/>
        </p:nvSpPr>
        <p:spPr>
          <a:xfrm>
            <a:off x="328525" y="2287394"/>
            <a:ext cx="8364841" cy="200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Inputs similares tendrán similares representaciones. Se fuerza al modelo a aprender un vecindario reducido de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mapearlo a un vecindario reducido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1397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Undercomplete + constractive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aprenden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/dx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pequeñas. Solo un número pequeño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(que se corresponden con un número reducido de direcciones en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), pueden tener una derivada considerable.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8" name="Google Shape;128;g2f19d644e1e_1_39"/>
          <p:cNvSpPr/>
          <p:nvPr/>
        </p:nvSpPr>
        <p:spPr>
          <a:xfrm>
            <a:off x="2769371" y="1391131"/>
            <a:ext cx="5595884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objetivo es aprender un representación que sea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poco sensible a pequeñas variaciones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los datos de entrada.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f19d644e1e_1_4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34" name="Google Shape;134;g2f19d644e1e_1_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22208" y="1044523"/>
            <a:ext cx="3883068" cy="4008328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2f19d644e1e_1_48"/>
          <p:cNvSpPr txBox="1"/>
          <p:nvPr/>
        </p:nvSpPr>
        <p:spPr>
          <a:xfrm>
            <a:off x="405225" y="3810508"/>
            <a:ext cx="38832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TODAS LAS NN “ENCUENTRAN” EL MANIFOLD DE LOS DATOS</a:t>
            </a:r>
            <a:endParaRPr sz="1500" i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g2f19d644e1e_1_48"/>
          <p:cNvSpPr txBox="1"/>
          <p:nvPr/>
        </p:nvSpPr>
        <p:spPr>
          <a:xfrm>
            <a:off x="328526" y="637179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7" name="Google Shape;137;g2f19d644e1e_1_48"/>
          <p:cNvSpPr/>
          <p:nvPr/>
        </p:nvSpPr>
        <p:spPr>
          <a:xfrm>
            <a:off x="186614" y="1210480"/>
            <a:ext cx="4691400" cy="25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 un espacio N-dimensional, de menor dimensión del espacio original donde los datos se concentran.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desplazamos dentro del manifold del MNIST, siempre encontraremos un número MNIST.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salimos de dicho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no encontraremos un número MNIST.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38" name="Google Shape;138;g2f19d644e1e_1_48"/>
          <p:cNvSpPr txBox="1"/>
          <p:nvPr/>
        </p:nvSpPr>
        <p:spPr>
          <a:xfrm>
            <a:off x="230939" y="4521936"/>
            <a:ext cx="46914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https://www.youtube.com/watch?v=QHj9uVmwA_0&amp;t=12s&amp;ab_channel=ArtemKirsanov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f19d644e1e_1_5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44" name="Google Shape;144;g2f19d644e1e_1_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674" y="1264586"/>
            <a:ext cx="3970619" cy="2744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2f19d644e1e_1_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1993" y="1630546"/>
            <a:ext cx="4027870" cy="278396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2f19d644e1e_1_57"/>
          <p:cNvSpPr/>
          <p:nvPr/>
        </p:nvSpPr>
        <p:spPr>
          <a:xfrm>
            <a:off x="528033" y="4505045"/>
            <a:ext cx="4572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https://www.kaggle.com/apapiu/manifold-learning-and-autoencoders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7" name="Google Shape;147;g2f19d644e1e_1_57"/>
          <p:cNvSpPr txBox="1"/>
          <p:nvPr/>
        </p:nvSpPr>
        <p:spPr>
          <a:xfrm>
            <a:off x="338726" y="691266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f19d644e1e_1_6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3" name="Google Shape;153;g2f19d644e1e_1_65"/>
          <p:cNvSpPr txBox="1"/>
          <p:nvPr/>
        </p:nvSpPr>
        <p:spPr>
          <a:xfrm>
            <a:off x="218939" y="650065"/>
            <a:ext cx="5154935" cy="435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54" name="Google Shape;154;g2f19d644e1e_1_65"/>
          <p:cNvSpPr/>
          <p:nvPr/>
        </p:nvSpPr>
        <p:spPr>
          <a:xfrm>
            <a:off x="539800" y="1805582"/>
            <a:ext cx="2482800" cy="8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 genera el espacio latente bajo una función de densidad de probabilidad.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5" name="Google Shape;155;g2f19d644e1e_1_65"/>
          <p:cNvPicPr preferRelativeResize="0"/>
          <p:nvPr/>
        </p:nvPicPr>
        <p:blipFill rotWithShape="1">
          <a:blip r:embed="rId3">
            <a:alphaModFix/>
          </a:blip>
          <a:srcRect l="22571" b="46639"/>
          <a:stretch/>
        </p:blipFill>
        <p:spPr>
          <a:xfrm>
            <a:off x="3711014" y="1011386"/>
            <a:ext cx="5381934" cy="229426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g2f19d644e1e_1_65"/>
          <p:cNvSpPr/>
          <p:nvPr/>
        </p:nvSpPr>
        <p:spPr>
          <a:xfrm>
            <a:off x="407551" y="3327723"/>
            <a:ext cx="7904409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Otorga control sobre cómo se distribuye el espacio latent de nuestro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Luego de entrenar, se toma una muesta aleatoria de dicha función de densidad de probabilidad para alimentar al decoder.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VAE el espacio latente Z se ve como una variable latent con una probabilidad P(Z) de que dicha variable z pertencezca al manifold de los datos de entrada. 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f19d644e1e_1_7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2" name="Google Shape;162;g2f19d644e1e_1_74"/>
          <p:cNvSpPr txBox="1"/>
          <p:nvPr/>
        </p:nvSpPr>
        <p:spPr>
          <a:xfrm>
            <a:off x="218939" y="759640"/>
            <a:ext cx="5154900" cy="4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63" name="Google Shape;163;g2f19d644e1e_1_7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1774" y="1946405"/>
            <a:ext cx="2501378" cy="12506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g2f19d644e1e_1_7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66680" y="759660"/>
            <a:ext cx="4815547" cy="3725234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g2f19d644e1e_1_74"/>
          <p:cNvSpPr txBox="1"/>
          <p:nvPr/>
        </p:nvSpPr>
        <p:spPr>
          <a:xfrm>
            <a:off x="218951" y="4725575"/>
            <a:ext cx="60108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https://towardsdatascience.com/what-the-heck-are-vae-gans-17b86023588a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f19d644e1e_0_2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1" name="Google Shape;171;g2f19d644e1e_0_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2025" y="1351825"/>
            <a:ext cx="5003075" cy="3010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2f19d644e1e_0_28"/>
          <p:cNvSpPr txBox="1"/>
          <p:nvPr/>
        </p:nvSpPr>
        <p:spPr>
          <a:xfrm>
            <a:off x="229075" y="4692725"/>
            <a:ext cx="3059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https://lilianweng.github.io/posts/2018-08-12-vae/</a:t>
            </a:r>
            <a:endParaRPr sz="100"/>
          </a:p>
        </p:txBody>
      </p:sp>
      <p:sp>
        <p:nvSpPr>
          <p:cNvPr id="173" name="Google Shape;173;g2f19d644e1e_0_28"/>
          <p:cNvSpPr txBox="1"/>
          <p:nvPr/>
        </p:nvSpPr>
        <p:spPr>
          <a:xfrm>
            <a:off x="169975" y="1271100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n" sz="1700" b="1"/>
              <a:t>Reparameterization Trick</a:t>
            </a:r>
            <a:endParaRPr sz="1700" b="1"/>
          </a:p>
        </p:txBody>
      </p:sp>
      <p:pic>
        <p:nvPicPr>
          <p:cNvPr id="174" name="Google Shape;174;g2f19d644e1e_0_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8086" y="2174105"/>
            <a:ext cx="2501378" cy="12506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f19d644e1e_1_8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0" name="Google Shape;180;g2f19d644e1e_1_82"/>
          <p:cNvSpPr txBox="1"/>
          <p:nvPr/>
        </p:nvSpPr>
        <p:spPr>
          <a:xfrm>
            <a:off x="318866" y="782346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Denoising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81" name="Google Shape;181;g2f19d644e1e_1_82"/>
          <p:cNvPicPr preferRelativeResize="0"/>
          <p:nvPr/>
        </p:nvPicPr>
        <p:blipFill rotWithShape="1">
          <a:blip r:embed="rId3">
            <a:alphaModFix/>
          </a:blip>
          <a:srcRect l="6202" r="8682"/>
          <a:stretch/>
        </p:blipFill>
        <p:spPr>
          <a:xfrm>
            <a:off x="453981" y="1309306"/>
            <a:ext cx="1854558" cy="24645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g2f19d644e1e_1_82"/>
          <p:cNvPicPr preferRelativeResize="0"/>
          <p:nvPr/>
        </p:nvPicPr>
        <p:blipFill rotWithShape="1">
          <a:blip r:embed="rId4">
            <a:alphaModFix/>
          </a:blip>
          <a:srcRect l="8987" r="6948" b="25887"/>
          <a:stretch/>
        </p:blipFill>
        <p:spPr>
          <a:xfrm>
            <a:off x="231820" y="4027868"/>
            <a:ext cx="2849451" cy="689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2f19d644e1e_1_8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4014" y="1456315"/>
            <a:ext cx="4986337" cy="3386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/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9" name="Google Shape;189;g2f19d644e1e_1_90"/>
          <p:cNvSpPr txBox="1"/>
          <p:nvPr/>
        </p:nvSpPr>
        <p:spPr>
          <a:xfrm>
            <a:off x="612588" y="2049328"/>
            <a:ext cx="532779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ver github autoencoder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54E0B96-BAAA-9C8B-425E-DD2784314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6C18E871-786D-B36B-D070-C9CEA13EC787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" name="Google Shape;189;g2f19d644e1e_1_90">
            <a:extLst>
              <a:ext uri="{FF2B5EF4-FFF2-40B4-BE49-F238E27FC236}">
                <a16:creationId xmlns:a16="http://schemas.microsoft.com/office/drawing/2014/main" id="{19A1861C-CD1E-F9FC-BD14-3DCE37591AA8}"/>
              </a:ext>
            </a:extLst>
          </p:cNvPr>
          <p:cNvSpPr txBox="1"/>
          <p:nvPr/>
        </p:nvSpPr>
        <p:spPr>
          <a:xfrm>
            <a:off x="1148853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3337770-E30F-A72E-6F53-1C496080E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205" y="1926692"/>
            <a:ext cx="2880000" cy="26496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362ACDD-A284-08D5-5D33-8B49629A67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99" y="1926691"/>
            <a:ext cx="2880000" cy="262415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EAFBA3A-FAA1-2705-1BE6-952330CA59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7825" y="1915559"/>
            <a:ext cx="2880000" cy="2649600"/>
          </a:xfrm>
          <a:prstGeom prst="rect">
            <a:avLst/>
          </a:prstGeom>
        </p:spPr>
      </p:pic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B3BF4D1C-C310-7879-287A-7B7A6B50BFBF}"/>
              </a:ext>
            </a:extLst>
          </p:cNvPr>
          <p:cNvSpPr txBox="1"/>
          <p:nvPr/>
        </p:nvSpPr>
        <p:spPr>
          <a:xfrm>
            <a:off x="4319461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l=0.25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" name="Google Shape;189;g2f19d644e1e_1_90">
            <a:extLst>
              <a:ext uri="{FF2B5EF4-FFF2-40B4-BE49-F238E27FC236}">
                <a16:creationId xmlns:a16="http://schemas.microsoft.com/office/drawing/2014/main" id="{C2CF6083-D58F-AA54-214B-2B53926AE02C}"/>
              </a:ext>
            </a:extLst>
          </p:cNvPr>
          <p:cNvSpPr txBox="1"/>
          <p:nvPr/>
        </p:nvSpPr>
        <p:spPr>
          <a:xfrm>
            <a:off x="7015659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l=0.75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" name="Google Shape;189;g2f19d644e1e_1_90">
            <a:extLst>
              <a:ext uri="{FF2B5EF4-FFF2-40B4-BE49-F238E27FC236}">
                <a16:creationId xmlns:a16="http://schemas.microsoft.com/office/drawing/2014/main" id="{590DA479-56F1-E6F3-42AA-DE5EA4F3E0A4}"/>
              </a:ext>
            </a:extLst>
          </p:cNvPr>
          <p:cNvSpPr txBox="1"/>
          <p:nvPr/>
        </p:nvSpPr>
        <p:spPr>
          <a:xfrm>
            <a:off x="2880704" y="814500"/>
            <a:ext cx="367135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</a:t>
            </a: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convolucional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2893755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29405F6-7F81-E61D-806A-10C7D85E7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B3615DAB-FC99-EF45-D3B3-785FFD7D348B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BB7FF96-0A4A-881B-92F2-2CDAE022A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2298" y="2077947"/>
            <a:ext cx="2880000" cy="2519999"/>
          </a:xfrm>
          <a:prstGeom prst="rect">
            <a:avLst/>
          </a:prstGeom>
        </p:spPr>
      </p:pic>
      <p:sp>
        <p:nvSpPr>
          <p:cNvPr id="4" name="Google Shape;189;g2f19d644e1e_1_90">
            <a:extLst>
              <a:ext uri="{FF2B5EF4-FFF2-40B4-BE49-F238E27FC236}">
                <a16:creationId xmlns:a16="http://schemas.microsoft.com/office/drawing/2014/main" id="{5B839E1E-554B-65AC-A7C3-85FFDAB7A83F}"/>
              </a:ext>
            </a:extLst>
          </p:cNvPr>
          <p:cNvSpPr txBox="1"/>
          <p:nvPr/>
        </p:nvSpPr>
        <p:spPr>
          <a:xfrm>
            <a:off x="3711382" y="91916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L1: 5e-4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6236D8-E150-6244-93D2-BC1EEA48D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298" y="2112833"/>
            <a:ext cx="2880000" cy="2520000"/>
          </a:xfrm>
          <a:prstGeom prst="rect">
            <a:avLst/>
          </a:prstGeom>
        </p:spPr>
      </p:pic>
      <p:sp>
        <p:nvSpPr>
          <p:cNvPr id="7" name="Google Shape;189;g2f19d644e1e_1_90">
            <a:extLst>
              <a:ext uri="{FF2B5EF4-FFF2-40B4-BE49-F238E27FC236}">
                <a16:creationId xmlns:a16="http://schemas.microsoft.com/office/drawing/2014/main" id="{BEE56B23-341F-DBD7-E8DA-372DDE715C9E}"/>
              </a:ext>
            </a:extLst>
          </p:cNvPr>
          <p:cNvSpPr txBox="1"/>
          <p:nvPr/>
        </p:nvSpPr>
        <p:spPr>
          <a:xfrm>
            <a:off x="6850727" y="996318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Kl: 1e-4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1DD52B7-6D92-C044-AFBB-50DB345461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816" y="2112833"/>
            <a:ext cx="2880000" cy="2520000"/>
          </a:xfrm>
          <a:prstGeom prst="rect">
            <a:avLst/>
          </a:prstGeom>
        </p:spPr>
      </p:pic>
      <p:sp>
        <p:nvSpPr>
          <p:cNvPr id="10" name="Google Shape;189;g2f19d644e1e_1_90">
            <a:extLst>
              <a:ext uri="{FF2B5EF4-FFF2-40B4-BE49-F238E27FC236}">
                <a16:creationId xmlns:a16="http://schemas.microsoft.com/office/drawing/2014/main" id="{5C64B54E-77D2-53F4-ED48-4839DF7770D9}"/>
              </a:ext>
            </a:extLst>
          </p:cNvPr>
          <p:cNvSpPr txBox="1"/>
          <p:nvPr/>
        </p:nvSpPr>
        <p:spPr>
          <a:xfrm>
            <a:off x="694321" y="970474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</p:txBody>
      </p:sp>
      <p:sp>
        <p:nvSpPr>
          <p:cNvPr id="11" name="Google Shape;189;g2f19d644e1e_1_90">
            <a:extLst>
              <a:ext uri="{FF2B5EF4-FFF2-40B4-BE49-F238E27FC236}">
                <a16:creationId xmlns:a16="http://schemas.microsoft.com/office/drawing/2014/main" id="{245BCB9B-BC5E-A8D9-B15C-291C94FEC326}"/>
              </a:ext>
            </a:extLst>
          </p:cNvPr>
          <p:cNvSpPr txBox="1"/>
          <p:nvPr/>
        </p:nvSpPr>
        <p:spPr>
          <a:xfrm>
            <a:off x="788340" y="469109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0.0431</a:t>
            </a:r>
          </a:p>
        </p:txBody>
      </p:sp>
      <p:sp>
        <p:nvSpPr>
          <p:cNvPr id="12" name="Google Shape;189;g2f19d644e1e_1_90">
            <a:extLst>
              <a:ext uri="{FF2B5EF4-FFF2-40B4-BE49-F238E27FC236}">
                <a16:creationId xmlns:a16="http://schemas.microsoft.com/office/drawing/2014/main" id="{B9315433-840C-5FED-1729-50367699B95C}"/>
              </a:ext>
            </a:extLst>
          </p:cNvPr>
          <p:cNvSpPr txBox="1"/>
          <p:nvPr/>
        </p:nvSpPr>
        <p:spPr>
          <a:xfrm>
            <a:off x="3772524" y="4656130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0.0457</a:t>
            </a:r>
          </a:p>
        </p:txBody>
      </p:sp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3AECCDD5-CA7D-1C2A-6F6E-498E4B0AFE57}"/>
              </a:ext>
            </a:extLst>
          </p:cNvPr>
          <p:cNvSpPr txBox="1"/>
          <p:nvPr/>
        </p:nvSpPr>
        <p:spPr>
          <a:xfrm>
            <a:off x="6588054" y="459794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0.0440</a:t>
            </a:r>
          </a:p>
        </p:txBody>
      </p:sp>
    </p:spTree>
    <p:extLst>
      <p:ext uri="{BB962C8B-B14F-4D97-AF65-F5344CB8AC3E}">
        <p14:creationId xmlns:p14="http://schemas.microsoft.com/office/powerpoint/2010/main" val="36366835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3EADC6E9-5E89-A1DB-7334-3B54724C7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43D4DF03-0E23-2525-8250-9AE1FF4979A7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189;g2f19d644e1e_1_90">
            <a:extLst>
              <a:ext uri="{FF2B5EF4-FFF2-40B4-BE49-F238E27FC236}">
                <a16:creationId xmlns:a16="http://schemas.microsoft.com/office/drawing/2014/main" id="{C0AD1CD5-313C-8345-35E1-EE490B62DE69}"/>
              </a:ext>
            </a:extLst>
          </p:cNvPr>
          <p:cNvSpPr txBox="1"/>
          <p:nvPr/>
        </p:nvSpPr>
        <p:spPr>
          <a:xfrm>
            <a:off x="3711382" y="91916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L1: 5e-4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" name="Google Shape;189;g2f19d644e1e_1_90">
            <a:extLst>
              <a:ext uri="{FF2B5EF4-FFF2-40B4-BE49-F238E27FC236}">
                <a16:creationId xmlns:a16="http://schemas.microsoft.com/office/drawing/2014/main" id="{157AADA2-0864-34B0-682A-FC33B129A56A}"/>
              </a:ext>
            </a:extLst>
          </p:cNvPr>
          <p:cNvSpPr txBox="1"/>
          <p:nvPr/>
        </p:nvSpPr>
        <p:spPr>
          <a:xfrm>
            <a:off x="6850727" y="996318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Kl: 1e-4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" name="Google Shape;189;g2f19d644e1e_1_90">
            <a:extLst>
              <a:ext uri="{FF2B5EF4-FFF2-40B4-BE49-F238E27FC236}">
                <a16:creationId xmlns:a16="http://schemas.microsoft.com/office/drawing/2014/main" id="{38743EAC-28CD-9FA0-BECC-C083B56EC437}"/>
              </a:ext>
            </a:extLst>
          </p:cNvPr>
          <p:cNvSpPr txBox="1"/>
          <p:nvPr/>
        </p:nvSpPr>
        <p:spPr>
          <a:xfrm>
            <a:off x="694321" y="970474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</p:txBody>
      </p:sp>
      <p:sp>
        <p:nvSpPr>
          <p:cNvPr id="11" name="Google Shape;189;g2f19d644e1e_1_90">
            <a:extLst>
              <a:ext uri="{FF2B5EF4-FFF2-40B4-BE49-F238E27FC236}">
                <a16:creationId xmlns:a16="http://schemas.microsoft.com/office/drawing/2014/main" id="{720055BD-D7D0-FC30-865A-55AA61DE09DC}"/>
              </a:ext>
            </a:extLst>
          </p:cNvPr>
          <p:cNvSpPr txBox="1"/>
          <p:nvPr/>
        </p:nvSpPr>
        <p:spPr>
          <a:xfrm>
            <a:off x="788340" y="469109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0.0431</a:t>
            </a:r>
          </a:p>
        </p:txBody>
      </p:sp>
      <p:sp>
        <p:nvSpPr>
          <p:cNvPr id="12" name="Google Shape;189;g2f19d644e1e_1_90">
            <a:extLst>
              <a:ext uri="{FF2B5EF4-FFF2-40B4-BE49-F238E27FC236}">
                <a16:creationId xmlns:a16="http://schemas.microsoft.com/office/drawing/2014/main" id="{E6D49E6B-AA33-2ECE-16AF-4FEA9DD67BB2}"/>
              </a:ext>
            </a:extLst>
          </p:cNvPr>
          <p:cNvSpPr txBox="1"/>
          <p:nvPr/>
        </p:nvSpPr>
        <p:spPr>
          <a:xfrm>
            <a:off x="3772524" y="4656130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0.0457</a:t>
            </a:r>
          </a:p>
        </p:txBody>
      </p:sp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44954AE5-4D2C-BC9E-5B16-45CEAD3F25CD}"/>
              </a:ext>
            </a:extLst>
          </p:cNvPr>
          <p:cNvSpPr txBox="1"/>
          <p:nvPr/>
        </p:nvSpPr>
        <p:spPr>
          <a:xfrm>
            <a:off x="6588054" y="459794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0.0440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D46FC77-5229-22CA-AB3E-65B9588C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7" y="2269368"/>
            <a:ext cx="2880000" cy="14400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15E41EE-6008-E7F4-8976-B6C2188F68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298" y="2269368"/>
            <a:ext cx="2880000" cy="144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00191610-9F0D-9904-AF50-B51EF8BB15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8917" y="2269368"/>
            <a:ext cx="288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0285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f19d644e1e_1_96"/>
          <p:cNvSpPr txBox="1"/>
          <p:nvPr/>
        </p:nvSpPr>
        <p:spPr>
          <a:xfrm>
            <a:off x="2188593" y="14216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195" name="Google Shape;195;g2f19d644e1e_1_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2f19d644e1e_1_1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f19d644e1e_1_120"/>
          <p:cNvSpPr txBox="1"/>
          <p:nvPr/>
        </p:nvSpPr>
        <p:spPr>
          <a:xfrm>
            <a:off x="173979" y="781835"/>
            <a:ext cx="8641496" cy="4157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trata de crear espacio continuo de representación de los inputs.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crean ad-hoc o dentro del frame de la NN.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palabra es representada por un vector N-dimensional en un sub-espacio contínuo (en el embedding)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 posición que toma el vector N-dimensional se entrena a partir de su entorno.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3" name="Google Shape;223;g2f19d644e1e_1_120"/>
          <p:cNvSpPr txBox="1"/>
          <p:nvPr/>
        </p:nvSpPr>
        <p:spPr>
          <a:xfrm>
            <a:off x="2183084" y="3429405"/>
            <a:ext cx="3660707" cy="356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[e1, e2, e3, … eN]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f19d644e1e_1_126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g2f19d644e1e_1_126"/>
          <p:cNvSpPr txBox="1"/>
          <p:nvPr/>
        </p:nvSpPr>
        <p:spPr>
          <a:xfrm>
            <a:off x="423857" y="635911"/>
            <a:ext cx="8391617" cy="171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Ejemplo: vocabulario 4 palabra, embedding dimensión 2: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[ 0.123, 0.541]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[e10, e11] = [ 0.287, 0.459]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[ 0.594, 0.180]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[ 0.251, 0.328]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0" name="Google Shape;230;g2f19d644e1e_1_126"/>
          <p:cNvSpPr/>
          <p:nvPr/>
        </p:nvSpPr>
        <p:spPr>
          <a:xfrm rot="10800000" flipH="1">
            <a:off x="1868554" y="2845883"/>
            <a:ext cx="824950" cy="143956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1"/>
          </a:solidFill>
          <a:ln w="158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1" name="Google Shape;231;g2f19d644e1e_1_126"/>
          <p:cNvSpPr txBox="1"/>
          <p:nvPr/>
        </p:nvSpPr>
        <p:spPr>
          <a:xfrm>
            <a:off x="553064" y="3136463"/>
            <a:ext cx="1454639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supervisado siguiendo una false task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2" name="Google Shape;232;g2f19d644e1e_1_126"/>
          <p:cNvSpPr txBox="1"/>
          <p:nvPr/>
        </p:nvSpPr>
        <p:spPr>
          <a:xfrm>
            <a:off x="2987225" y="3565663"/>
            <a:ext cx="4805618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[ 0.873, 0.241]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[e10, e11] = [ 0.921, 0.147]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[ 0.723, 0.541]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[ 0.003, 0.981]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233" name="Google Shape;233;g2f19d644e1e_1_126"/>
          <p:cNvCxnSpPr/>
          <p:nvPr/>
        </p:nvCxnSpPr>
        <p:spPr>
          <a:xfrm rot="10800000" flipH="1">
            <a:off x="6165499" y="3377803"/>
            <a:ext cx="904460" cy="1298624"/>
          </a:xfrm>
          <a:prstGeom prst="straightConnector1">
            <a:avLst/>
          </a:prstGeom>
          <a:noFill/>
          <a:ln w="57150" cap="flat" cmpd="sng">
            <a:solidFill>
              <a:srgbClr val="FF0000">
                <a:alpha val="49803"/>
              </a:srgbClr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34" name="Google Shape;234;g2f19d644e1e_1_126"/>
          <p:cNvSpPr txBox="1"/>
          <p:nvPr/>
        </p:nvSpPr>
        <p:spPr>
          <a:xfrm>
            <a:off x="5995652" y="3109577"/>
            <a:ext cx="214861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entrenados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5" name="Google Shape;235;g2f19d644e1e_1_126"/>
          <p:cNvSpPr txBox="1"/>
          <p:nvPr/>
        </p:nvSpPr>
        <p:spPr>
          <a:xfrm>
            <a:off x="4315726" y="1116385"/>
            <a:ext cx="2625311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inicializados “rand”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6" name="Google Shape;236;g2f19d644e1e_1_126"/>
          <p:cNvSpPr/>
          <p:nvPr/>
        </p:nvSpPr>
        <p:spPr>
          <a:xfrm>
            <a:off x="3151580" y="1266426"/>
            <a:ext cx="1779104" cy="1576476"/>
          </a:xfrm>
          <a:prstGeom prst="cloud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f19d644e1e_1_13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2" name="Google Shape;242;g2f19d644e1e_1_138"/>
          <p:cNvSpPr txBox="1"/>
          <p:nvPr/>
        </p:nvSpPr>
        <p:spPr>
          <a:xfrm>
            <a:off x="127118" y="983612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3" name="Google Shape;243;g2f19d644e1e_1_138"/>
          <p:cNvSpPr/>
          <p:nvPr/>
        </p:nvSpPr>
        <p:spPr>
          <a:xfrm>
            <a:off x="200950" y="1798027"/>
            <a:ext cx="3069600" cy="10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One-hot-encoding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!=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Word embedding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pic>
        <p:nvPicPr>
          <p:cNvPr id="244" name="Google Shape;244;g2f19d644e1e_1_138"/>
          <p:cNvPicPr preferRelativeResize="0"/>
          <p:nvPr/>
        </p:nvPicPr>
        <p:blipFill rotWithShape="1">
          <a:blip r:embed="rId3">
            <a:alphaModFix/>
          </a:blip>
          <a:srcRect t="5432" r="20504" b="6596"/>
          <a:stretch/>
        </p:blipFill>
        <p:spPr>
          <a:xfrm>
            <a:off x="4066416" y="743525"/>
            <a:ext cx="4591357" cy="1828226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g2f19d644e1e_1_138"/>
          <p:cNvSpPr/>
          <p:nvPr/>
        </p:nvSpPr>
        <p:spPr>
          <a:xfrm>
            <a:off x="270571" y="4776341"/>
            <a:ext cx="819084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https://www.shanelynn.ie/get-busy-with-word-embeddings-introduction/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46" name="Google Shape;246;g2f19d644e1e_1_138"/>
          <p:cNvPicPr preferRelativeResize="0"/>
          <p:nvPr/>
        </p:nvPicPr>
        <p:blipFill rotWithShape="1">
          <a:blip r:embed="rId4">
            <a:alphaModFix/>
          </a:blip>
          <a:srcRect t="12665" r="26123" b="6713"/>
          <a:stretch/>
        </p:blipFill>
        <p:spPr>
          <a:xfrm>
            <a:off x="4537105" y="2571750"/>
            <a:ext cx="4190445" cy="21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2f19d644e1e_1_138"/>
          <p:cNvSpPr/>
          <p:nvPr/>
        </p:nvSpPr>
        <p:spPr>
          <a:xfrm>
            <a:off x="537127" y="3159945"/>
            <a:ext cx="3042520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aprenden propiedades intrínsecas de palabas que pertenecen al mismo grupo.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f19d644e1e_1_14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3" name="Google Shape;253;g2f19d644e1e_1_14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54" name="Google Shape;254;g2f19d644e1e_1_148"/>
          <p:cNvPicPr preferRelativeResize="0"/>
          <p:nvPr/>
        </p:nvPicPr>
        <p:blipFill rotWithShape="1">
          <a:blip r:embed="rId3">
            <a:alphaModFix/>
          </a:blip>
          <a:srcRect l="340" t="-1621" r="70116" b="1620"/>
          <a:stretch/>
        </p:blipFill>
        <p:spPr>
          <a:xfrm>
            <a:off x="370290" y="1272474"/>
            <a:ext cx="2515807" cy="2978944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2f19d644e1e_1_148"/>
          <p:cNvSpPr/>
          <p:nvPr/>
        </p:nvSpPr>
        <p:spPr>
          <a:xfrm>
            <a:off x="3488841" y="2838935"/>
            <a:ext cx="4723889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[king] – [man] + [woman] = [queen]</a:t>
            </a:r>
            <a:endParaRPr sz="1100" dirty="0">
              <a:solidFill>
                <a:schemeClr val="dk2"/>
              </a:solidFill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FEF88716-F229-8744-D6A5-DE56D2742278}"/>
              </a:ext>
            </a:extLst>
          </p:cNvPr>
          <p:cNvCxnSpPr/>
          <p:nvPr/>
        </p:nvCxnSpPr>
        <p:spPr>
          <a:xfrm flipH="1" flipV="1">
            <a:off x="882650" y="2571750"/>
            <a:ext cx="266700" cy="54610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9C6985B-7AC7-099D-43B8-2A56ED109CC5}"/>
              </a:ext>
            </a:extLst>
          </p:cNvPr>
          <p:cNvCxnSpPr/>
          <p:nvPr/>
        </p:nvCxnSpPr>
        <p:spPr>
          <a:xfrm flipV="1">
            <a:off x="1143000" y="2362200"/>
            <a:ext cx="368300" cy="768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47F2E51-7CFF-0C51-7F57-7328F32A898E}"/>
              </a:ext>
            </a:extLst>
          </p:cNvPr>
          <p:cNvCxnSpPr/>
          <p:nvPr/>
        </p:nvCxnSpPr>
        <p:spPr>
          <a:xfrm flipV="1">
            <a:off x="492395" y="2571750"/>
            <a:ext cx="368300" cy="76835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3766B4A-2686-A4ED-6A12-085B2A710C05}"/>
              </a:ext>
            </a:extLst>
          </p:cNvPr>
          <p:cNvCxnSpPr/>
          <p:nvPr/>
        </p:nvCxnSpPr>
        <p:spPr>
          <a:xfrm flipV="1">
            <a:off x="1149350" y="2679700"/>
            <a:ext cx="1054100" cy="4445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8A270E86-FE07-9BEE-7CAE-188A9E366ED5}"/>
              </a:ext>
            </a:extLst>
          </p:cNvPr>
          <p:cNvCxnSpPr/>
          <p:nvPr/>
        </p:nvCxnSpPr>
        <p:spPr>
          <a:xfrm flipV="1">
            <a:off x="488950" y="2901950"/>
            <a:ext cx="1054100" cy="44450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/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62" name="Google Shape;262;g2f19d644e1e_1_1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3919" y="1050538"/>
            <a:ext cx="5102504" cy="3527902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f19d644e1e_1_155"/>
          <p:cNvSpPr/>
          <p:nvPr/>
        </p:nvSpPr>
        <p:spPr>
          <a:xfrm>
            <a:off x="359609" y="3903898"/>
            <a:ext cx="39099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[Italy] – [Rome] + [Berlín] = [Germany]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65" name="Google Shape;265;g2f19d644e1e_1_15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6807" y="1655260"/>
            <a:ext cx="2714625" cy="1800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g2f19d644e1e_1_155"/>
          <p:cNvSpPr txBox="1"/>
          <p:nvPr/>
        </p:nvSpPr>
        <p:spPr>
          <a:xfrm>
            <a:off x="4012825" y="4578450"/>
            <a:ext cx="5054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https://arxiv.org/abs/1310.4546v1</a:t>
            </a:r>
            <a:r>
              <a:rPr lang="en" sz="1100"/>
              <a:t>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" sz="1100"/>
              <a:t>Distributed Representations of Words and Phrases and their Compositionality</a:t>
            </a:r>
            <a:endParaRPr sz="110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7EF9B6D-6751-82C5-5C36-88C1704C4DCC}"/>
              </a:ext>
            </a:extLst>
          </p:cNvPr>
          <p:cNvCxnSpPr>
            <a:cxnSpLocks/>
          </p:cNvCxnSpPr>
          <p:nvPr/>
        </p:nvCxnSpPr>
        <p:spPr>
          <a:xfrm>
            <a:off x="4269509" y="2832567"/>
            <a:ext cx="4302991" cy="1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5FA09B14-8071-6395-9CD8-A822CD255FCC}"/>
              </a:ext>
            </a:extLst>
          </p:cNvPr>
          <p:cNvCxnSpPr/>
          <p:nvPr/>
        </p:nvCxnSpPr>
        <p:spPr>
          <a:xfrm>
            <a:off x="6338923" y="935026"/>
            <a:ext cx="0" cy="3795103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8657898-21BA-D773-B87F-A70150F076C9}"/>
              </a:ext>
            </a:extLst>
          </p:cNvPr>
          <p:cNvCxnSpPr/>
          <p:nvPr/>
        </p:nvCxnSpPr>
        <p:spPr>
          <a:xfrm flipH="1">
            <a:off x="4654502" y="2832577"/>
            <a:ext cx="1698172" cy="35063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28C978D-6F61-62D2-B9F3-7D10C328F839}"/>
              </a:ext>
            </a:extLst>
          </p:cNvPr>
          <p:cNvCxnSpPr>
            <a:cxnSpLocks/>
          </p:cNvCxnSpPr>
          <p:nvPr/>
        </p:nvCxnSpPr>
        <p:spPr>
          <a:xfrm>
            <a:off x="6335171" y="2832567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FD0FBF5F-F20B-37A1-4A7B-3F98512C4B6D}"/>
              </a:ext>
            </a:extLst>
          </p:cNvPr>
          <p:cNvCxnSpPr/>
          <p:nvPr/>
        </p:nvCxnSpPr>
        <p:spPr>
          <a:xfrm>
            <a:off x="6338923" y="2832577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0BAA040C-3C61-9255-8E6A-8E0570FE9603}"/>
              </a:ext>
            </a:extLst>
          </p:cNvPr>
          <p:cNvCxnSpPr>
            <a:cxnSpLocks/>
          </p:cNvCxnSpPr>
          <p:nvPr/>
        </p:nvCxnSpPr>
        <p:spPr>
          <a:xfrm>
            <a:off x="3569879" y="2596432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FFDA6DC1-772A-7E15-5362-E1C8050D8EE3}"/>
              </a:ext>
            </a:extLst>
          </p:cNvPr>
          <p:cNvCxnSpPr/>
          <p:nvPr/>
        </p:nvCxnSpPr>
        <p:spPr>
          <a:xfrm>
            <a:off x="3577378" y="2591982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>
          <a:extLst>
            <a:ext uri="{FF2B5EF4-FFF2-40B4-BE49-F238E27FC236}">
              <a16:creationId xmlns:a16="http://schemas.microsoft.com/office/drawing/2014/main" id="{507C970C-12AA-A108-ADCB-9AA0D456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>
            <a:extLst>
              <a:ext uri="{FF2B5EF4-FFF2-40B4-BE49-F238E27FC236}">
                <a16:creationId xmlns:a16="http://schemas.microsoft.com/office/drawing/2014/main" id="{E5D0292D-44F9-7EC8-39F2-5EB9B1CEA9A7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>
            <a:extLst>
              <a:ext uri="{FF2B5EF4-FFF2-40B4-BE49-F238E27FC236}">
                <a16:creationId xmlns:a16="http://schemas.microsoft.com/office/drawing/2014/main" id="{B099A186-CC06-00D9-1DAA-4BCF0F5B2B97}"/>
              </a:ext>
            </a:extLst>
          </p:cNvPr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metricas de similitud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61;g2f19d644e1e_1_155">
            <a:extLst>
              <a:ext uri="{FF2B5EF4-FFF2-40B4-BE49-F238E27FC236}">
                <a16:creationId xmlns:a16="http://schemas.microsoft.com/office/drawing/2014/main" id="{FFA1A8F4-5F24-EB3E-C77B-1BFCF13D2D0A}"/>
              </a:ext>
            </a:extLst>
          </p:cNvPr>
          <p:cNvSpPr txBox="1"/>
          <p:nvPr/>
        </p:nvSpPr>
        <p:spPr>
          <a:xfrm>
            <a:off x="272075" y="1797933"/>
            <a:ext cx="2211711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Distancia euclidea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61;g2f19d644e1e_1_155">
            <a:extLst>
              <a:ext uri="{FF2B5EF4-FFF2-40B4-BE49-F238E27FC236}">
                <a16:creationId xmlns:a16="http://schemas.microsoft.com/office/drawing/2014/main" id="{597CEB4E-0671-FD57-0623-8DA3B7214C67}"/>
              </a:ext>
            </a:extLst>
          </p:cNvPr>
          <p:cNvSpPr txBox="1"/>
          <p:nvPr/>
        </p:nvSpPr>
        <p:spPr>
          <a:xfrm>
            <a:off x="173978" y="2720407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imilitud del coseno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61;g2f19d644e1e_1_155">
            <a:extLst>
              <a:ext uri="{FF2B5EF4-FFF2-40B4-BE49-F238E27FC236}">
                <a16:creationId xmlns:a16="http://schemas.microsoft.com/office/drawing/2014/main" id="{3E812993-F13A-9DD9-F163-19ACF090FAEA}"/>
              </a:ext>
            </a:extLst>
          </p:cNvPr>
          <p:cNvSpPr txBox="1"/>
          <p:nvPr/>
        </p:nvSpPr>
        <p:spPr>
          <a:xfrm>
            <a:off x="173977" y="4084625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Producto punto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/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es-E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/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/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s-E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blipFill>
                <a:blip r:embed="rId5"/>
                <a:stretch>
                  <a:fillRect b="-563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5963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2f19d644e1e_1_16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2" name="Google Shape;272;g2f19d644e1e_1_16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entrenamiento en base del contexto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73" name="Google Shape;273;g2f19d644e1e_1_1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33488" y="3071373"/>
            <a:ext cx="4681987" cy="2001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2f19d644e1e_1_164"/>
          <p:cNvPicPr preferRelativeResize="0"/>
          <p:nvPr/>
        </p:nvPicPr>
        <p:blipFill rotWithShape="1">
          <a:blip r:embed="rId4">
            <a:alphaModFix/>
          </a:blip>
          <a:srcRect l="4402" t="13530" r="3300" b="17138"/>
          <a:stretch/>
        </p:blipFill>
        <p:spPr>
          <a:xfrm>
            <a:off x="196517" y="1311839"/>
            <a:ext cx="5130621" cy="16221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g2f19d644e1e_1_1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7388" y="1457325"/>
            <a:ext cx="5229225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f19d644e1e_1_17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1" name="Google Shape;281;g2f19d644e1e_1_171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entrenamiento en base del contexto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f19d644e1e_1_171"/>
          <p:cNvSpPr/>
          <p:nvPr/>
        </p:nvSpPr>
        <p:spPr>
          <a:xfrm>
            <a:off x="698818" y="4118076"/>
            <a:ext cx="7494105" cy="90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con predictores, usando esquemas tales como: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Skip Gram o Continuous Bag of Words (CBOW)…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siguiendo una false task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2f19d644e1e_1_17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8" name="Google Shape;288;g2f19d644e1e_1_17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CBOW y skip-gram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89" name="Google Shape;289;g2f19d644e1e_1_17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07349" y="1366093"/>
            <a:ext cx="5762671" cy="35322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EBF2D2-C42F-D99B-6036-FEBB7FA07C62}"/>
              </a:ext>
            </a:extLst>
          </p:cNvPr>
          <p:cNvSpPr txBox="1"/>
          <p:nvPr/>
        </p:nvSpPr>
        <p:spPr>
          <a:xfrm>
            <a:off x="-1" y="1727233"/>
            <a:ext cx="3207351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1600" dirty="0"/>
              <a:t>Aquí me pongo a cantar </a:t>
            </a:r>
            <a:br>
              <a:rPr lang="es-ES" sz="1600" dirty="0"/>
            </a:br>
            <a:r>
              <a:rPr lang="es-ES" sz="1600" dirty="0"/>
              <a:t>al compás de la </a:t>
            </a:r>
            <a:r>
              <a:rPr lang="es-ES" sz="1600" dirty="0" err="1"/>
              <a:t>vigüela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que el hombre que lo desvela </a:t>
            </a:r>
            <a:br>
              <a:rPr lang="es-ES" sz="1600" dirty="0"/>
            </a:br>
            <a:r>
              <a:rPr lang="es-ES" sz="1600" dirty="0"/>
              <a:t>una pena </a:t>
            </a:r>
            <a:r>
              <a:rPr lang="es-ES" sz="1600" dirty="0" err="1"/>
              <a:t>estraordinaria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como la ave solitaria con el cantar se consuela.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Pido a los Santos del Cielo </a:t>
            </a:r>
            <a:br>
              <a:rPr lang="es-ES" sz="1600" dirty="0"/>
            </a:br>
            <a:r>
              <a:rPr lang="es-ES" sz="1600" dirty="0"/>
              <a:t>que ayuden mi pensamiento, </a:t>
            </a:r>
            <a:br>
              <a:rPr lang="es-ES" sz="1600" dirty="0"/>
            </a:br>
            <a:r>
              <a:rPr lang="es-ES" sz="1600" dirty="0"/>
              <a:t>les pido en este momento que voy a cantar mi historia.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“Martín Fierro” J. </a:t>
            </a:r>
            <a:r>
              <a:rPr lang="es-ES" sz="1600" dirty="0" err="1"/>
              <a:t>Hernandez</a:t>
            </a:r>
            <a:endParaRPr lang="es-E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f19d644e1e_1_18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f19d644e1e_1_18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solo se aplica a palabras….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f19d644e1e_1_184"/>
          <p:cNvSpPr/>
          <p:nvPr/>
        </p:nvSpPr>
        <p:spPr>
          <a:xfrm>
            <a:off x="3661676" y="1939493"/>
            <a:ext cx="1492235" cy="438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</a:t>
            </a:r>
            <a:endParaRPr sz="2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1281</Words>
  <Application>Microsoft Office PowerPoint</Application>
  <PresentationFormat>Presentación en pantalla (16:9)</PresentationFormat>
  <Paragraphs>200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Times New Roman</vt:lpstr>
      <vt:lpstr>Cambria Math</vt:lpstr>
      <vt:lpstr>Roboto</vt:lpstr>
      <vt:lpstr>Arial</vt:lpstr>
      <vt:lpstr>Twentieth Century</vt:lpstr>
      <vt:lpstr>Material</vt:lpstr>
      <vt:lpstr>Aprendizaje Profundo</vt:lpstr>
      <vt:lpstr>REPRESENTATION LEARNING  AUTOENCODER / EMBEDDINGS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8</cp:revision>
  <dcterms:modified xsi:type="dcterms:W3CDTF">2026-06-08T21:59:49Z</dcterms:modified>
</cp:coreProperties>
</file>