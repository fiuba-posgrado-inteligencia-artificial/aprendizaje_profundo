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1" r:id="rId4"/>
    <p:sldId id="270" r:id="rId5"/>
    <p:sldId id="258" r:id="rId6"/>
    <p:sldId id="260" r:id="rId7"/>
    <p:sldId id="262" r:id="rId8"/>
    <p:sldId id="264" r:id="rId9"/>
    <p:sldId id="266" r:id="rId10"/>
    <p:sldId id="289" r:id="rId11"/>
    <p:sldId id="290" r:id="rId12"/>
    <p:sldId id="268" r:id="rId13"/>
    <p:sldId id="285" r:id="rId14"/>
    <p:sldId id="284" r:id="rId15"/>
    <p:sldId id="286" r:id="rId16"/>
    <p:sldId id="287" r:id="rId17"/>
    <p:sldId id="269" r:id="rId18"/>
    <p:sldId id="272" r:id="rId19"/>
    <p:sldId id="274" r:id="rId20"/>
    <p:sldId id="273" r:id="rId21"/>
    <p:sldId id="282" r:id="rId22"/>
    <p:sldId id="277" r:id="rId23"/>
    <p:sldId id="279" r:id="rId24"/>
    <p:sldId id="280" r:id="rId2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jFLyGGbKtZ6MKWK8o6r1g77If8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BE5CE-8B26-408D-B50F-FC0A92A9D305}" v="9" dt="2026-10-05T21:55:41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7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illot" userId="fa14b39d-e966-4ebb-a436-4f96f84b9577" providerId="ADAL" clId="{152A8D8E-FC9A-4326-9172-4A160D290924}"/>
    <pc:docChg chg="undo custSel addSld delSld modSld sldOrd">
      <pc:chgData name="Marcos Maillot" userId="fa14b39d-e966-4ebb-a436-4f96f84b9577" providerId="ADAL" clId="{152A8D8E-FC9A-4326-9172-4A160D290924}" dt="2026-10-05T22:50:12.693" v="1215" actId="20577"/>
      <pc:docMkLst>
        <pc:docMk/>
      </pc:docMkLst>
      <pc:sldChg chg="modSp mod modShow">
        <pc:chgData name="Marcos Maillot" userId="fa14b39d-e966-4ebb-a436-4f96f84b9577" providerId="ADAL" clId="{152A8D8E-FC9A-4326-9172-4A160D290924}" dt="2026-10-05T21:21:25.955" v="1077" actId="729"/>
        <pc:sldMkLst>
          <pc:docMk/>
          <pc:sldMk cId="0" sldId="261"/>
        </pc:sldMkLst>
        <pc:spChg chg="mod">
          <ac:chgData name="Marcos Maillot" userId="fa14b39d-e966-4ebb-a436-4f96f84b9577" providerId="ADAL" clId="{152A8D8E-FC9A-4326-9172-4A160D290924}" dt="2026-10-05T21:21:19.553" v="1076" actId="6549"/>
          <ac:spMkLst>
            <pc:docMk/>
            <pc:sldMk cId="0" sldId="261"/>
            <ac:spMk id="124" creationId="{00000000-0000-0000-0000-000000000000}"/>
          </ac:spMkLst>
        </pc:spChg>
      </pc:sldChg>
      <pc:sldChg chg="modSp mod">
        <pc:chgData name="Marcos Maillot" userId="fa14b39d-e966-4ebb-a436-4f96f84b9577" providerId="ADAL" clId="{152A8D8E-FC9A-4326-9172-4A160D290924}" dt="2026-10-05T21:32:33.105" v="1110" actId="1076"/>
        <pc:sldMkLst>
          <pc:docMk/>
          <pc:sldMk cId="0" sldId="262"/>
        </pc:sldMkLst>
        <pc:spChg chg="mod">
          <ac:chgData name="Marcos Maillot" userId="fa14b39d-e966-4ebb-a436-4f96f84b9577" providerId="ADAL" clId="{152A8D8E-FC9A-4326-9172-4A160D290924}" dt="2026-10-05T21:32:33.105" v="1110" actId="1076"/>
          <ac:spMkLst>
            <pc:docMk/>
            <pc:sldMk cId="0" sldId="262"/>
            <ac:spMk id="135" creationId="{00000000-0000-0000-0000-000000000000}"/>
          </ac:spMkLst>
        </pc:spChg>
      </pc:sldChg>
      <pc:sldChg chg="mod modShow">
        <pc:chgData name="Marcos Maillot" userId="fa14b39d-e966-4ebb-a436-4f96f84b9577" providerId="ADAL" clId="{152A8D8E-FC9A-4326-9172-4A160D290924}" dt="2026-10-05T21:21:38.489" v="1078" actId="729"/>
        <pc:sldMkLst>
          <pc:docMk/>
          <pc:sldMk cId="0" sldId="263"/>
        </pc:sldMkLst>
      </pc:sldChg>
      <pc:sldChg chg="mod modShow">
        <pc:chgData name="Marcos Maillot" userId="fa14b39d-e966-4ebb-a436-4f96f84b9577" providerId="ADAL" clId="{152A8D8E-FC9A-4326-9172-4A160D290924}" dt="2026-10-05T21:22:18.994" v="1079" actId="729"/>
        <pc:sldMkLst>
          <pc:docMk/>
          <pc:sldMk cId="0" sldId="265"/>
        </pc:sldMkLst>
      </pc:sldChg>
      <pc:sldChg chg="addSp modSp mod">
        <pc:chgData name="Marcos Maillot" userId="fa14b39d-e966-4ebb-a436-4f96f84b9577" providerId="ADAL" clId="{152A8D8E-FC9A-4326-9172-4A160D290924}" dt="2026-10-05T21:55:12.270" v="1194" actId="1076"/>
        <pc:sldMkLst>
          <pc:docMk/>
          <pc:sldMk cId="0" sldId="266"/>
        </pc:sldMkLst>
        <pc:spChg chg="mod">
          <ac:chgData name="Marcos Maillot" userId="fa14b39d-e966-4ebb-a436-4f96f84b9577" providerId="ADAL" clId="{152A8D8E-FC9A-4326-9172-4A160D290924}" dt="2026-10-05T21:54:29.905" v="1191" actId="1076"/>
          <ac:spMkLst>
            <pc:docMk/>
            <pc:sldMk cId="0" sldId="266"/>
            <ac:spMk id="173" creationId="{00000000-0000-0000-0000-000000000000}"/>
          </ac:spMkLst>
        </pc:spChg>
        <pc:picChg chg="add mod">
          <ac:chgData name="Marcos Maillot" userId="fa14b39d-e966-4ebb-a436-4f96f84b9577" providerId="ADAL" clId="{152A8D8E-FC9A-4326-9172-4A160D290924}" dt="2026-10-05T21:54:31.201" v="1192" actId="1076"/>
          <ac:picMkLst>
            <pc:docMk/>
            <pc:sldMk cId="0" sldId="266"/>
            <ac:picMk id="3" creationId="{3B7C6167-564C-E459-7EB2-0E3964BED632}"/>
          </ac:picMkLst>
        </pc:picChg>
        <pc:picChg chg="add mod">
          <ac:chgData name="Marcos Maillot" userId="fa14b39d-e966-4ebb-a436-4f96f84b9577" providerId="ADAL" clId="{152A8D8E-FC9A-4326-9172-4A160D290924}" dt="2026-10-05T21:55:12.270" v="1194" actId="1076"/>
          <ac:picMkLst>
            <pc:docMk/>
            <pc:sldMk cId="0" sldId="266"/>
            <ac:picMk id="5" creationId="{460ECF69-737F-4211-7295-E54C0A727D55}"/>
          </ac:picMkLst>
        </pc:picChg>
        <pc:picChg chg="mod">
          <ac:chgData name="Marcos Maillot" userId="fa14b39d-e966-4ebb-a436-4f96f84b9577" providerId="ADAL" clId="{152A8D8E-FC9A-4326-9172-4A160D290924}" dt="2026-10-05T21:54:25.885" v="1190" actId="1076"/>
          <ac:picMkLst>
            <pc:docMk/>
            <pc:sldMk cId="0" sldId="266"/>
            <ac:picMk id="174" creationId="{00000000-0000-0000-0000-000000000000}"/>
          </ac:picMkLst>
        </pc:picChg>
      </pc:sldChg>
      <pc:sldChg chg="mod modShow">
        <pc:chgData name="Marcos Maillot" userId="fa14b39d-e966-4ebb-a436-4f96f84b9577" providerId="ADAL" clId="{152A8D8E-FC9A-4326-9172-4A160D290924}" dt="2026-10-05T21:41:56.646" v="1164" actId="729"/>
        <pc:sldMkLst>
          <pc:docMk/>
          <pc:sldMk cId="0" sldId="267"/>
        </pc:sldMkLst>
      </pc:sldChg>
      <pc:sldChg chg="ord modNotes">
        <pc:chgData name="Marcos Maillot" userId="fa14b39d-e966-4ebb-a436-4f96f84b9577" providerId="ADAL" clId="{152A8D8E-FC9A-4326-9172-4A160D290924}" dt="2026-10-05T21:35:06.090" v="1112"/>
        <pc:sldMkLst>
          <pc:docMk/>
          <pc:sldMk cId="0" sldId="268"/>
        </pc:sldMkLst>
      </pc:sldChg>
      <pc:sldChg chg="mod modShow">
        <pc:chgData name="Marcos Maillot" userId="fa14b39d-e966-4ebb-a436-4f96f84b9577" providerId="ADAL" clId="{152A8D8E-FC9A-4326-9172-4A160D290924}" dt="2026-10-05T21:20:23.235" v="1075" actId="729"/>
        <pc:sldMkLst>
          <pc:docMk/>
          <pc:sldMk cId="0" sldId="271"/>
        </pc:sldMkLst>
      </pc:sldChg>
      <pc:sldChg chg="modSp mod">
        <pc:chgData name="Marcos Maillot" userId="fa14b39d-e966-4ebb-a436-4f96f84b9577" providerId="ADAL" clId="{152A8D8E-FC9A-4326-9172-4A160D290924}" dt="2026-10-05T21:43:09.562" v="1170" actId="6549"/>
        <pc:sldMkLst>
          <pc:docMk/>
          <pc:sldMk cId="0" sldId="272"/>
        </pc:sldMkLst>
        <pc:spChg chg="mod">
          <ac:chgData name="Marcos Maillot" userId="fa14b39d-e966-4ebb-a436-4f96f84b9577" providerId="ADAL" clId="{152A8D8E-FC9A-4326-9172-4A160D290924}" dt="2026-10-05T21:43:09.562" v="1170" actId="6549"/>
          <ac:spMkLst>
            <pc:docMk/>
            <pc:sldMk cId="0" sldId="272"/>
            <ac:spMk id="222" creationId="{00000000-0000-0000-0000-000000000000}"/>
          </ac:spMkLst>
        </pc:spChg>
        <pc:spChg chg="mod">
          <ac:chgData name="Marcos Maillot" userId="fa14b39d-e966-4ebb-a436-4f96f84b9577" providerId="ADAL" clId="{152A8D8E-FC9A-4326-9172-4A160D290924}" dt="2026-10-05T21:43:08.861" v="1168" actId="1076"/>
          <ac:spMkLst>
            <pc:docMk/>
            <pc:sldMk cId="0" sldId="272"/>
            <ac:spMk id="223" creationId="{00000000-0000-0000-0000-000000000000}"/>
          </ac:spMkLst>
        </pc:spChg>
      </pc:sldChg>
      <pc:sldChg chg="ord">
        <pc:chgData name="Marcos Maillot" userId="fa14b39d-e966-4ebb-a436-4f96f84b9577" providerId="ADAL" clId="{152A8D8E-FC9A-4326-9172-4A160D290924}" dt="2026-10-05T21:24:37.063" v="1082"/>
        <pc:sldMkLst>
          <pc:docMk/>
          <pc:sldMk cId="0" sldId="274"/>
        </pc:sldMkLst>
      </pc:sldChg>
      <pc:sldChg chg="mod modShow">
        <pc:chgData name="Marcos Maillot" userId="fa14b39d-e966-4ebb-a436-4f96f84b9577" providerId="ADAL" clId="{152A8D8E-FC9A-4326-9172-4A160D290924}" dt="2026-10-05T21:25:17.755" v="1083" actId="729"/>
        <pc:sldMkLst>
          <pc:docMk/>
          <pc:sldMk cId="0" sldId="275"/>
        </pc:sldMkLst>
      </pc:sldChg>
      <pc:sldChg chg="mod modShow">
        <pc:chgData name="Marcos Maillot" userId="fa14b39d-e966-4ebb-a436-4f96f84b9577" providerId="ADAL" clId="{152A8D8E-FC9A-4326-9172-4A160D290924}" dt="2026-10-05T21:25:20.761" v="1084" actId="729"/>
        <pc:sldMkLst>
          <pc:docMk/>
          <pc:sldMk cId="0" sldId="276"/>
        </pc:sldMkLst>
      </pc:sldChg>
      <pc:sldChg chg="addSp modSp mod">
        <pc:chgData name="Marcos Maillot" userId="fa14b39d-e966-4ebb-a436-4f96f84b9577" providerId="ADAL" clId="{152A8D8E-FC9A-4326-9172-4A160D290924}" dt="2026-10-05T21:40:30.762" v="1163" actId="20577"/>
        <pc:sldMkLst>
          <pc:docMk/>
          <pc:sldMk cId="0" sldId="277"/>
        </pc:sldMkLst>
        <pc:spChg chg="add mod">
          <ac:chgData name="Marcos Maillot" userId="fa14b39d-e966-4ebb-a436-4f96f84b9577" providerId="ADAL" clId="{152A8D8E-FC9A-4326-9172-4A160D290924}" dt="2026-10-05T21:40:15.380" v="1143" actId="6549"/>
          <ac:spMkLst>
            <pc:docMk/>
            <pc:sldMk cId="0" sldId="277"/>
            <ac:spMk id="3" creationId="{4D3DB723-C316-6124-9A59-5643D438D70B}"/>
          </ac:spMkLst>
        </pc:spChg>
        <pc:spChg chg="mod">
          <ac:chgData name="Marcos Maillot" userId="fa14b39d-e966-4ebb-a436-4f96f84b9577" providerId="ADAL" clId="{152A8D8E-FC9A-4326-9172-4A160D290924}" dt="2026-10-05T21:38:20.320" v="1122" actId="20577"/>
          <ac:spMkLst>
            <pc:docMk/>
            <pc:sldMk cId="0" sldId="277"/>
            <ac:spMk id="271" creationId="{00000000-0000-0000-0000-000000000000}"/>
          </ac:spMkLst>
        </pc:spChg>
        <pc:spChg chg="mod">
          <ac:chgData name="Marcos Maillot" userId="fa14b39d-e966-4ebb-a436-4f96f84b9577" providerId="ADAL" clId="{152A8D8E-FC9A-4326-9172-4A160D290924}" dt="2026-10-05T21:40:30.762" v="1163" actId="20577"/>
          <ac:spMkLst>
            <pc:docMk/>
            <pc:sldMk cId="0" sldId="277"/>
            <ac:spMk id="272" creationId="{00000000-0000-0000-0000-000000000000}"/>
          </ac:spMkLst>
        </pc:spChg>
        <pc:picChg chg="mod">
          <ac:chgData name="Marcos Maillot" userId="fa14b39d-e966-4ebb-a436-4f96f84b9577" providerId="ADAL" clId="{152A8D8E-FC9A-4326-9172-4A160D290924}" dt="2026-10-05T21:39:49.584" v="1132" actId="1076"/>
          <ac:picMkLst>
            <pc:docMk/>
            <pc:sldMk cId="0" sldId="277"/>
            <ac:picMk id="273" creationId="{00000000-0000-0000-0000-000000000000}"/>
          </ac:picMkLst>
        </pc:picChg>
        <pc:picChg chg="mod">
          <ac:chgData name="Marcos Maillot" userId="fa14b39d-e966-4ebb-a436-4f96f84b9577" providerId="ADAL" clId="{152A8D8E-FC9A-4326-9172-4A160D290924}" dt="2026-10-05T21:39:48.456" v="1131" actId="1076"/>
          <ac:picMkLst>
            <pc:docMk/>
            <pc:sldMk cId="0" sldId="277"/>
            <ac:picMk id="274" creationId="{00000000-0000-0000-0000-000000000000}"/>
          </ac:picMkLst>
        </pc:picChg>
      </pc:sldChg>
      <pc:sldChg chg="mod modShow">
        <pc:chgData name="Marcos Maillot" userId="fa14b39d-e966-4ebb-a436-4f96f84b9577" providerId="ADAL" clId="{152A8D8E-FC9A-4326-9172-4A160D290924}" dt="2026-10-05T21:25:48.620" v="1089" actId="729"/>
        <pc:sldMkLst>
          <pc:docMk/>
          <pc:sldMk cId="0" sldId="278"/>
        </pc:sldMkLst>
      </pc:sldChg>
      <pc:sldChg chg="modSp mod">
        <pc:chgData name="Marcos Maillot" userId="fa14b39d-e966-4ebb-a436-4f96f84b9577" providerId="ADAL" clId="{152A8D8E-FC9A-4326-9172-4A160D290924}" dt="2026-10-05T21:27:37.965" v="1104" actId="20577"/>
        <pc:sldMkLst>
          <pc:docMk/>
          <pc:sldMk cId="0" sldId="280"/>
        </pc:sldMkLst>
        <pc:spChg chg="mod">
          <ac:chgData name="Marcos Maillot" userId="fa14b39d-e966-4ebb-a436-4f96f84b9577" providerId="ADAL" clId="{152A8D8E-FC9A-4326-9172-4A160D290924}" dt="2026-10-05T21:27:37.965" v="1104" actId="20577"/>
          <ac:spMkLst>
            <pc:docMk/>
            <pc:sldMk cId="0" sldId="280"/>
            <ac:spMk id="294" creationId="{00000000-0000-0000-0000-000000000000}"/>
          </ac:spMkLst>
        </pc:spChg>
        <pc:spChg chg="mod">
          <ac:chgData name="Marcos Maillot" userId="fa14b39d-e966-4ebb-a436-4f96f84b9577" providerId="ADAL" clId="{152A8D8E-FC9A-4326-9172-4A160D290924}" dt="2026-10-05T21:27:37.395" v="1103" actId="20577"/>
          <ac:spMkLst>
            <pc:docMk/>
            <pc:sldMk cId="0" sldId="280"/>
            <ac:spMk id="295" creationId="{00000000-0000-0000-0000-000000000000}"/>
          </ac:spMkLst>
        </pc:spChg>
        <pc:spChg chg="mod">
          <ac:chgData name="Marcos Maillot" userId="fa14b39d-e966-4ebb-a436-4f96f84b9577" providerId="ADAL" clId="{152A8D8E-FC9A-4326-9172-4A160D290924}" dt="2026-10-05T21:27:36.723" v="1100" actId="1076"/>
          <ac:spMkLst>
            <pc:docMk/>
            <pc:sldMk cId="0" sldId="280"/>
            <ac:spMk id="296" creationId="{00000000-0000-0000-0000-000000000000}"/>
          </ac:spMkLst>
        </pc:spChg>
      </pc:sldChg>
      <pc:sldChg chg="mod modShow">
        <pc:chgData name="Marcos Maillot" userId="fa14b39d-e966-4ebb-a436-4f96f84b9577" providerId="ADAL" clId="{152A8D8E-FC9A-4326-9172-4A160D290924}" dt="2026-10-05T21:23:32.056" v="1080" actId="729"/>
        <pc:sldMkLst>
          <pc:docMk/>
          <pc:sldMk cId="1791952568" sldId="288"/>
        </pc:sldMkLst>
      </pc:sldChg>
      <pc:sldChg chg="addSp delSp modSp add mod">
        <pc:chgData name="Marcos Maillot" userId="fa14b39d-e966-4ebb-a436-4f96f84b9577" providerId="ADAL" clId="{152A8D8E-FC9A-4326-9172-4A160D290924}" dt="2026-10-05T22:50:12.693" v="1215" actId="20577"/>
        <pc:sldMkLst>
          <pc:docMk/>
          <pc:sldMk cId="2834631516" sldId="289"/>
        </pc:sldMkLst>
        <pc:spChg chg="add mod">
          <ac:chgData name="Marcos Maillot" userId="fa14b39d-e966-4ebb-a436-4f96f84b9577" providerId="ADAL" clId="{152A8D8E-FC9A-4326-9172-4A160D290924}" dt="2026-10-05T21:56:52.710" v="1211" actId="1076"/>
          <ac:spMkLst>
            <pc:docMk/>
            <pc:sldMk cId="2834631516" sldId="289"/>
            <ac:spMk id="5" creationId="{33AEF044-62D8-E50E-0883-1A21C38BB4D5}"/>
          </ac:spMkLst>
        </pc:spChg>
        <pc:spChg chg="del">
          <ac:chgData name="Marcos Maillot" userId="fa14b39d-e966-4ebb-a436-4f96f84b9577" providerId="ADAL" clId="{152A8D8E-FC9A-4326-9172-4A160D290924}" dt="2026-10-05T21:56:51.061" v="1210" actId="478"/>
          <ac:spMkLst>
            <pc:docMk/>
            <pc:sldMk cId="2834631516" sldId="289"/>
            <ac:spMk id="172" creationId="{0154D684-4FC9-AAD3-B11F-5EE33921FBC1}"/>
          </ac:spMkLst>
        </pc:spChg>
        <pc:spChg chg="mod">
          <ac:chgData name="Marcos Maillot" userId="fa14b39d-e966-4ebb-a436-4f96f84b9577" providerId="ADAL" clId="{152A8D8E-FC9A-4326-9172-4A160D290924}" dt="2026-10-05T22:50:12.693" v="1215" actId="20577"/>
          <ac:spMkLst>
            <pc:docMk/>
            <pc:sldMk cId="2834631516" sldId="289"/>
            <ac:spMk id="173" creationId="{338C066C-9615-F67C-B539-A7A8CF759DB6}"/>
          </ac:spMkLst>
        </pc:spChg>
        <pc:picChg chg="add mod">
          <ac:chgData name="Marcos Maillot" userId="fa14b39d-e966-4ebb-a436-4f96f84b9577" providerId="ADAL" clId="{152A8D8E-FC9A-4326-9172-4A160D290924}" dt="2026-10-05T22:13:56.364" v="1214" actId="1076"/>
          <ac:picMkLst>
            <pc:docMk/>
            <pc:sldMk cId="2834631516" sldId="289"/>
            <ac:picMk id="3" creationId="{99643DE5-D2E2-54FB-EBBA-35C4A2E7164B}"/>
          </ac:picMkLst>
        </pc:picChg>
        <pc:picChg chg="add mod">
          <ac:chgData name="Marcos Maillot" userId="fa14b39d-e966-4ebb-a436-4f96f84b9577" providerId="ADAL" clId="{152A8D8E-FC9A-4326-9172-4A160D290924}" dt="2026-10-05T21:56:54.933" v="1213" actId="1076"/>
          <ac:picMkLst>
            <pc:docMk/>
            <pc:sldMk cId="2834631516" sldId="289"/>
            <ac:picMk id="7" creationId="{F03D4E4D-DD9A-00AF-51A5-99D8581D7F45}"/>
          </ac:picMkLst>
        </pc:picChg>
        <pc:picChg chg="del">
          <ac:chgData name="Marcos Maillot" userId="fa14b39d-e966-4ebb-a436-4f96f84b9577" providerId="ADAL" clId="{152A8D8E-FC9A-4326-9172-4A160D290924}" dt="2026-10-05T21:55:44.661" v="1199" actId="478"/>
          <ac:picMkLst>
            <pc:docMk/>
            <pc:sldMk cId="2834631516" sldId="289"/>
            <ac:picMk id="171" creationId="{5A467618-5FF7-4400-D1BA-1B9A66E012F0}"/>
          </ac:picMkLst>
        </pc:picChg>
        <pc:picChg chg="del">
          <ac:chgData name="Marcos Maillot" userId="fa14b39d-e966-4ebb-a436-4f96f84b9577" providerId="ADAL" clId="{152A8D8E-FC9A-4326-9172-4A160D290924}" dt="2026-10-05T21:55:42.851" v="1198" actId="478"/>
          <ac:picMkLst>
            <pc:docMk/>
            <pc:sldMk cId="2834631516" sldId="289"/>
            <ac:picMk id="174" creationId="{B416FA87-6251-7B71-988E-0AB2104FD86B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19:24:38.6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145 259 24575,'6'-7'0,"-1"-1"0,0 0 0,-1 0 0,1 0 0,-2-1 0,1 0 0,-1 0 0,2-12 0,14-32 0,-16 45 0,1 1 0,1-1 0,-1 1 0,1 0 0,0 0 0,1 1 0,-1 0 0,1 0 0,1 0 0,-1 0 0,1 1 0,0 0 0,0 1 0,10-5 0,-6 4 0,1 1 0,0 1 0,1 0 0,-1 1 0,1 0 0,-1 0 0,1 2 0,24 1 0,196 3 0,-230-4 0,0 0 0,0 1 0,0-1 0,0 1 0,0-1 0,0 1 0,0 0 0,0 0 0,0 1 0,-1-1 0,1 1 0,0-1 0,-1 1 0,1 0 0,-1 0 0,0 0 0,1 0 0,-1 0 0,0 0 0,0 1 0,-1-1 0,1 1 0,0-1 0,-1 1 0,1 0 0,-1 0 0,0 0 0,0 0 0,0-1 0,-1 1 0,2 4 0,0 10 0,-1 0 0,0 0 0,-2 0 0,-3 29 0,1 0 0,3 74 0,2-53 0,-4 1 0,-11 78 0,10-133 0,0 0 0,-2 0 0,1 0 0,-1 0 0,-1-1 0,0 0 0,-1 0 0,0-1 0,-9 11 0,-10 9 0,-50 47 0,59-61 0,-26 38 0,34-42 0,0-1 0,0 0 0,-2 0 0,1-1 0,-1 0 0,-1-1 0,-15 11 0,19-18 0,1 1 0,-1-1 0,0-1 0,0 1 0,0-1 0,0-1 0,0 1 0,-1-2 0,1 1 0,0-1 0,-1 0 0,1-1 0,0 0 0,0 0 0,-1-1 0,1 0 0,0 0 0,-9-4 0,-1-2 0,1 0 0,-1 0 0,2-2 0,-1 0 0,1-1 0,-24-22 0,29 23 0,0-1 0,1-1 0,0 0 0,1 0 0,-14-25 0,20 33 0,1 0 0,0 0 0,0 0 0,0-1 0,1 1 0,-1-1 0,1 1 0,0-1 0,0 1 0,1-1 0,-1 0 0,1 1 0,0-1 0,1 0 0,-1 1 0,1-1 0,0 0 0,0 1 0,0-1 0,0 1 0,1-1 0,0 1 0,3-6 0,-3 8 0,1-1 0,0 0 0,-1 1 0,1 0 0,0 0 0,0 0 0,1 0 0,-1 0 0,0 1 0,0-1 0,1 1 0,-1 0 0,1 0 0,0 0 0,-1 0 0,1 1 0,-1-1 0,1 1 0,0 0 0,-1 0 0,1 1 0,0-1 0,6 2 0,2 0 0,0 1 0,-1 0 0,1 1 0,-1 0 0,0 1 0,11 6 0,-9-2 0,0 1 0,-1 0 0,-1 0 0,0 1 0,0 1 0,-1 0 0,15 23 0,-19-25 0,1 1 0,1-1 0,0 0 0,0-1 0,1 0 0,0 0 0,1-1 0,0 0 0,0 0 0,0-1 0,1-1 0,16 8 0,1-4 0,7 4 0,1-2 0,0-1 0,0-2 0,52 7 0,-58-12-128,-1 2-1,0 2 0,0 1 0,0 0 1,-1 3-1,43 23 0,-55-28-335,11 6-6362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1T19:26:05.1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1 120 24575,'13'-13'0,"2"1"0,-1 1 0,1 0 0,1 1 0,0 0 0,0 2 0,1 0 0,0 1 0,0 0 0,1 1 0,0 2 0,0-1 0,36-2 0,-49 7 0,0 0 0,1 0 0,-1 1 0,0-1 0,0 1 0,0 0 0,0 1 0,0-1 0,0 1 0,0 0 0,0 1 0,0-1 0,-1 1 0,0 0 0,1 0 0,-1 0 0,0 0 0,0 1 0,-1 0 0,1 0 0,-1 0 0,5 7 0,-2-1 0,0 0 0,-1 0 0,0 0 0,-1 1 0,0 0 0,0 0 0,-2 0 0,1 0 0,1 16 0,-4-24 0,0 0 0,0 1 0,1-1 0,0 0 0,0 1 0,0-1 0,0 0 0,0 0 0,1 1 0,-1-1 0,1 0 0,0-1 0,0 1 0,0 0 0,0 0 0,0-1 0,1 1 0,-1-1 0,1 0 0,-1 0 0,4 2 0,1-1 0,-1-1 0,0 1 0,1-1 0,-1-1 0,1 1 0,-1-1 0,1 0 0,0-1 0,0 1 0,6-2 0,2 0 0,0-1 0,0-1 0,0 0 0,0-1 0,-1 0 0,0-1 0,0-1 0,0-1 0,12-7 0,36-15 0,-55 26 0,0 0 0,0 1 0,0 1 0,0-1 0,1 1 0,-1 0 0,0 1 0,1-1 0,-1 1 0,0 1 0,1 0 0,-1 0 0,0 0 0,0 1 0,0 0 0,0 0 0,0 1 0,0 0 0,-1 0 0,1 0 0,-1 1 0,0 0 0,0 0 0,0 1 0,-1 0 0,1 0 0,-1 0 0,0 0 0,-1 1 0,1 0 0,-1 0 0,0 0 0,-1 1 0,1-1 0,-1 1 0,-1 0 0,1 0 0,-1 0 0,0 0 0,-1 0 0,0 0 0,0 0 0,0 1 0,-1 10 0,-17 161 0,6-93 0,11-82 0,0 1 0,-1-1 0,0 0 0,0 1 0,0-1 0,0 0 0,-1 0 0,1 1 0,-1-1 0,0-1 0,0 1 0,-1 0 0,1 0 0,-1-1 0,0 1 0,1-1 0,-2 0 0,1 0 0,-4 3 0,1-3 0,0 0 0,-1 0 0,1-1 0,-1 0 0,0 0 0,1-1 0,-1 1 0,0-1 0,0-1 0,0 1 0,-10-2 0,-78-2 0,-83 2 0,176 1 0,-1 0 0,1 1 0,-1-1 0,1 1 0,0 0 0,-1 0 0,1 0 0,0 0 0,0 0 0,0 0 0,0 0 0,-1 1 0,2 0 0,-1-1 0,0 1 0,0 0 0,1-1 0,-1 1 0,0 0 0,1 0 0,0 1 0,0-1 0,-1 0 0,1 0 0,1 1 0,-1-1 0,0 0 0,0 1 0,1-1 0,0 1 0,-1-1 0,1 4 0,-1 12 0,0-1 0,2 1 0,3 30 0,-1-10 0,-1-27 0,-2 0 0,0 0 0,0 0 0,-1 0 0,0 0 0,-1 0 0,0 0 0,0-1 0,-2 1 0,1-1 0,-1 1 0,-1-1 0,-7 12 0,8-14 0,0 0 0,1 0 0,0 0 0,0 0 0,-2 14 0,4-18 0,1 0 0,-1 0 0,1 0 0,-1 0 0,-1 0 0,1-1 0,0 1 0,-1 0 0,0-1 0,0 1 0,0-1 0,0 1 0,0-1 0,-1 0 0,0 0 0,1 0 0,-1 0 0,0-1 0,-1 1 0,1-1 0,0 0 0,-1 1 0,1-2 0,-1 1 0,0 0 0,-3 1 0,-3 0 0,1-1 0,0 0 0,-1 0 0,1-1 0,-1 0 0,0 0 0,1-1 0,-1-1 0,1 1 0,-1-2 0,1 1 0,-1-1 0,1-1 0,0 0 0,0 0 0,0 0 0,0-2 0,0 1 0,1-1 0,0 0 0,0 0 0,0-1 0,1 0 0,0-1 0,0 1 0,0-2 0,1 1 0,0-1 0,1 1 0,0-1 0,0-1 0,0 1 0,1-1 0,0 0 0,1 0 0,0 0 0,1 0 0,-1-1 0,2 1 0,-1-1 0,2 1 0,-1-1 0,2-18 0,0 26 0,-1-1 0,1 1 0,-1 0 0,1 0 0,0 0 0,0 0 0,0-1 0,1 1 0,-1 0 0,0 1 0,1-1 0,-1 0 0,1 0 0,0 1 0,0-1 0,-1 1 0,1-1 0,0 1 0,0 0 0,0 0 0,0-1 0,1 2 0,-1-1 0,0 0 0,0 0 0,1 1 0,-1-1 0,0 1 0,1 0 0,2-1 0,12 0 0,1 1 0,-1 0 0,22 3 0,-9-1 0,-22-1 0,12-2 0,1 1 0,-1 1 0,1 1 0,-1 1 0,0 1 0,0 1 0,0 0 0,37 17 0,-47-17 0,-1 0 0,1 1 0,-1 0 0,1 1 0,-2 0 0,1 0 0,-1 1 0,0 0 0,-1 0 0,0 1 0,0 0 0,-1 1 0,0-1 0,-1 1 0,0 0 0,0 0 0,-1 1 0,0-1 0,-1 1 0,2 15 0,-4-25 0,2 13 0,0-1 0,1 0 0,1 0 0,0 0 0,8 14 0,-11-23 0,1-1 0,0 1 0,0-1 0,0 1 0,0-1 0,0 0 0,1 0 0,-1-1 0,1 1 0,0-1 0,0 0 0,0 0 0,0 0 0,0 0 0,0-1 0,1 1 0,-1-1 0,0 0 0,9 0 0,-1 1 0,-1-1 0,1-1 0,-1 0 0,1 0 0,-1-1 0,1-1 0,-1 0 0,12-3 0,-14 1 0,-1 1 0,0-1 0,0-1 0,0 0 0,-1 0 0,0 0 0,0-1 0,0 0 0,0 0 0,9-13 0,31-53 0,-38 55 0,1 1 0,0 0 0,1 1 0,19-21 0,-26 32 0,0 1 0,-1 0 0,1 0 0,0 0 0,0 0 0,1 1 0,-1 0 0,1 0 0,-1 0 0,1 0 0,-1 1 0,1-1 0,0 1 0,0 0 0,0 1 0,0-1 0,0 1 0,-1 0 0,1 0 0,0 1 0,9 2 0,-11-3 0,0 2 0,0-1 0,-1 0 0,1 0 0,-1 1 0,1 0 0,-1-1 0,0 1 0,0 0 0,0 0 0,0 0 0,0 0 0,0 1 0,0-1 0,0 0 0,-1 1 0,0-1 0,1 1 0,-1 0 0,0-1 0,0 1 0,0 0 0,-1 0 0,1 0 0,-1 0 0,1 4 0,1 12 0,-2-1 0,1 1 0,-4 20 0,2-17 0,0-16 0,1 0 0,0-1 0,0 1 0,1 0 0,-1 0 0,1-1 0,1 1 0,-1 0 0,1-1 0,0 0 0,0 1 0,1-1 0,-1 0 0,4 5 0,-3-7 0,0 0 0,0 0 0,0 0 0,0-1 0,1 0 0,-1 1 0,1-1 0,0 0 0,-1-1 0,1 1 0,0-1 0,0 1 0,0-1 0,0 0 0,0-1 0,0 1 0,0-1 0,1 0 0,-1 0 0,6 0 0,38-5 0,-1-2 0,51-14 0,-80 17 0,4-2-1365,-4-1-5461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2T01:00:1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3 4 0 0,'0'-2'9485'0'0,"0"2"-9384"0"0,-40 46 109 0 0,-56 78-610 0 0,63-76 205 0 0,25-36 147 0 0,0 0 0 0 0,-1 0 0 0 0,-19 19 0 0 0,-13 30 48 0 0,35-53-1338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2T01:00:15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96 0 0,'-2'0'11874'0'0,"71"60"-9665"0"0,62 58 607 0 0,-109-97-2189 0 0,1 0 0 0 0,43 28 1 0 0,20 17 1286 0 0,-77-59-1721 0 0,0 0-1 0 0,0 0 0 0 0,19 9 1 0 0,-25-14 977 0 0,-9-3-6570 0 0,-6-2-2677 0 0,7 2 5746 0 0,-6-3-4201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1E6AF8C4-1E52-79B0-B285-F03EEC9E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19d644e1e_1_101:notes">
            <a:extLst>
              <a:ext uri="{FF2B5EF4-FFF2-40B4-BE49-F238E27FC236}">
                <a16:creationId xmlns:a16="http://schemas.microsoft.com/office/drawing/2014/main" id="{DCD84084-0FA0-0C8A-DFE1-4834767EE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2f19d644e1e_1_101:notes">
            <a:extLst>
              <a:ext uri="{FF2B5EF4-FFF2-40B4-BE49-F238E27FC236}">
                <a16:creationId xmlns:a16="http://schemas.microsoft.com/office/drawing/2014/main" id="{68478B48-37C1-3743-F09B-F6D485326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482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19d644e1e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2f19d644e1e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19d644e1e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2f19d644e1e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19d644e1e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f19d644e1e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19d644e1e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19d644e1e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19d644e1e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2f19d644e1e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19d644e1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19d644e1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6EED4D60-AC61-BFFA-BD3A-B36FC577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19d644e1e_0_28:notes">
            <a:extLst>
              <a:ext uri="{FF2B5EF4-FFF2-40B4-BE49-F238E27FC236}">
                <a16:creationId xmlns:a16="http://schemas.microsoft.com/office/drawing/2014/main" id="{678C6CA7-4A7E-CE7B-1374-E99FE1213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19d644e1e_0_28:notes">
            <a:extLst>
              <a:ext uri="{FF2B5EF4-FFF2-40B4-BE49-F238E27FC236}">
                <a16:creationId xmlns:a16="http://schemas.microsoft.com/office/drawing/2014/main" id="{7509892E-E05D-B0DB-C704-D99F3DB48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464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87813ED-5D2D-9270-D600-9B918595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19d644e1e_0_28:notes">
            <a:extLst>
              <a:ext uri="{FF2B5EF4-FFF2-40B4-BE49-F238E27FC236}">
                <a16:creationId xmlns:a16="http://schemas.microsoft.com/office/drawing/2014/main" id="{DCC4EE24-2340-D291-E9F3-B6B863236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19d644e1e_0_28:notes">
            <a:extLst>
              <a:ext uri="{FF2B5EF4-FFF2-40B4-BE49-F238E27FC236}">
                <a16:creationId xmlns:a16="http://schemas.microsoft.com/office/drawing/2014/main" id="{2ADDE298-3C2C-0081-4466-FB28B324E6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791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19d644e1e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2f19d644e1e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538FC70F-713A-88E7-5065-A012C523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19d644e1e_1_90:notes">
            <a:extLst>
              <a:ext uri="{FF2B5EF4-FFF2-40B4-BE49-F238E27FC236}">
                <a16:creationId xmlns:a16="http://schemas.microsoft.com/office/drawing/2014/main" id="{2C6472A0-6274-8743-504A-65C695E95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2f19d644e1e_1_90:notes">
            <a:extLst>
              <a:ext uri="{FF2B5EF4-FFF2-40B4-BE49-F238E27FC236}">
                <a16:creationId xmlns:a16="http://schemas.microsoft.com/office/drawing/2014/main" id="{BFF51063-C744-D9FA-C21B-8C236B0E9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4386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E0AA8347-332A-298A-C584-8535D299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19d644e1e_1_90:notes">
            <a:extLst>
              <a:ext uri="{FF2B5EF4-FFF2-40B4-BE49-F238E27FC236}">
                <a16:creationId xmlns:a16="http://schemas.microsoft.com/office/drawing/2014/main" id="{58AB3E9E-7EC9-7291-EEBE-044F34EEC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2f19d644e1e_1_90:notes">
            <a:extLst>
              <a:ext uri="{FF2B5EF4-FFF2-40B4-BE49-F238E27FC236}">
                <a16:creationId xmlns:a16="http://schemas.microsoft.com/office/drawing/2014/main" id="{8910E96B-0BD4-204E-FC56-79D4C96ED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4954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75E045F2-A9F4-AEE8-7828-19BB037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19d644e1e_1_90:notes">
            <a:extLst>
              <a:ext uri="{FF2B5EF4-FFF2-40B4-BE49-F238E27FC236}">
                <a16:creationId xmlns:a16="http://schemas.microsoft.com/office/drawing/2014/main" id="{6EF6C27B-E787-6A26-FB8F-D87505A48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2f19d644e1e_1_90:notes">
            <a:extLst>
              <a:ext uri="{FF2B5EF4-FFF2-40B4-BE49-F238E27FC236}">
                <a16:creationId xmlns:a16="http://schemas.microsoft.com/office/drawing/2014/main" id="{A0661EA6-909F-B66F-DA49-251D2FFF4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60737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A148A57E-066B-1149-3CA9-8F25862E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19d644e1e_1_90:notes">
            <a:extLst>
              <a:ext uri="{FF2B5EF4-FFF2-40B4-BE49-F238E27FC236}">
                <a16:creationId xmlns:a16="http://schemas.microsoft.com/office/drawing/2014/main" id="{870D84E5-D55C-C7E5-1DB6-E2B215794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2f19d644e1e_1_90:notes">
            <a:extLst>
              <a:ext uri="{FF2B5EF4-FFF2-40B4-BE49-F238E27FC236}">
                <a16:creationId xmlns:a16="http://schemas.microsoft.com/office/drawing/2014/main" id="{25026067-EE5F-4553-405E-68348AD956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0239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19d644e1e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19d644e1e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19d644e1e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2f19d644e1e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19d644e1e_1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f19d644e1e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19d644e1e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19d644e1e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>
          <a:extLst>
            <a:ext uri="{FF2B5EF4-FFF2-40B4-BE49-F238E27FC236}">
              <a16:creationId xmlns:a16="http://schemas.microsoft.com/office/drawing/2014/main" id="{AE3337C4-64EA-56F1-0AC7-AFECD02B1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19d644e1e_1_155:notes">
            <a:extLst>
              <a:ext uri="{FF2B5EF4-FFF2-40B4-BE49-F238E27FC236}">
                <a16:creationId xmlns:a16="http://schemas.microsoft.com/office/drawing/2014/main" id="{4EC2DE8D-99A9-E1D1-95D7-2DF5F02B8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2f19d644e1e_1_155:notes">
            <a:extLst>
              <a:ext uri="{FF2B5EF4-FFF2-40B4-BE49-F238E27FC236}">
                <a16:creationId xmlns:a16="http://schemas.microsoft.com/office/drawing/2014/main" id="{04F4F4E2-A8BA-534B-AF01-F26320563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195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f19d644e1e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f19d644e1e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f19d644e1e_1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f19d644e1e_1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19d644e1e_1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f19d644e1e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c03c1d1e6_1_13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g21c03c1d1e6_1_13"/>
          <p:cNvSpPr txBox="1">
            <a:spLocks noGrp="1"/>
          </p:cNvSpPr>
          <p:nvPr>
            <p:ph type="body" idx="1"/>
          </p:nvPr>
        </p:nvSpPr>
        <p:spPr>
          <a:xfrm>
            <a:off x="856059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1pPr>
            <a:lvl2pPr marL="914400" lvl="1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2pPr>
            <a:lvl3pPr marL="1371600" lvl="2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3pPr>
            <a:lvl4pPr marL="1828800" lvl="3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4pPr>
            <a:lvl5pPr marL="2286000" lvl="4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5pPr>
            <a:lvl6pPr marL="2743200" lvl="5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6pPr>
            <a:lvl7pPr marL="3200400" lvl="6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7pPr>
            <a:lvl8pPr marL="3657600" lvl="7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8pPr>
            <a:lvl9pPr marL="4114800" lvl="8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g21c03c1d1e6_1_1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21c03c1d1e6_1_13"/>
          <p:cNvSpPr txBox="1">
            <a:spLocks noGrp="1"/>
          </p:cNvSpPr>
          <p:nvPr>
            <p:ph type="ftr" idx="11"/>
          </p:nvPr>
        </p:nvSpPr>
        <p:spPr>
          <a:xfrm>
            <a:off x="856058" y="4412456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g21c03c1d1e6_1_1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0.png"/><Relationship Id="rId11" Type="http://schemas.openxmlformats.org/officeDocument/2006/relationships/image" Target="../media/image33.png"/><Relationship Id="rId5" Type="http://schemas.openxmlformats.org/officeDocument/2006/relationships/customXml" Target="../ink/ink1.xml"/><Relationship Id="rId10" Type="http://schemas.openxmlformats.org/officeDocument/2006/relationships/customXml" Target="../ink/ink3.xml"/><Relationship Id="rId4" Type="http://schemas.openxmlformats.org/officeDocument/2006/relationships/image" Target="../media/image29.jpe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2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465500" y="372650"/>
            <a:ext cx="6213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Aprendizaje Profundo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460950" y="1379610"/>
            <a:ext cx="82221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Facultad de Ingeniería</a:t>
            </a:r>
            <a:endParaRPr sz="29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Universidad de Buenos Aires</a:t>
            </a:r>
            <a:endParaRPr sz="290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98125" y="3661752"/>
            <a:ext cx="82221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 dirty="0"/>
              <a:t>Profesores: 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</a:t>
            </a:r>
            <a:r>
              <a:rPr lang="pt-BR" sz="2600" dirty="0"/>
              <a:t>Marcos Maillot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Gerardo </a:t>
            </a:r>
            <a:r>
              <a:rPr lang="pt-BR" sz="2600" dirty="0" err="1"/>
              <a:t>Vilcamiza</a:t>
            </a:r>
            <a:r>
              <a:rPr lang="en" sz="2600" dirty="0"/>
              <a:t>	</a:t>
            </a:r>
            <a:endParaRPr sz="2600" dirty="0"/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900" y="2437800"/>
            <a:ext cx="1500200" cy="15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460950" y="303000"/>
            <a:ext cx="82221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" sz="2100" dirty="0"/>
              <a:t>REPRESENTATION LEARNING </a:t>
            </a:r>
            <a:br>
              <a:rPr lang="en" sz="2100" dirty="0"/>
            </a:br>
            <a:r>
              <a:rPr lang="en" sz="2100" dirty="0"/>
              <a:t>AUTOENCODER / EMBEDDINGS</a:t>
            </a:r>
            <a:endParaRPr sz="2818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403148" y="2776300"/>
            <a:ext cx="3598950" cy="215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Autoencoders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lang="en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-AR" dirty="0">
                <a:solidFill>
                  <a:schemeClr val="dk2"/>
                </a:solidFill>
              </a:rPr>
              <a:t>U</a:t>
            </a:r>
            <a:r>
              <a:rPr lang="en" dirty="0">
                <a:solidFill>
                  <a:schemeClr val="dk2"/>
                </a:solidFill>
              </a:rPr>
              <a:t>ndercomplete vs regularized AE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lang="en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Manifold learning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lang="en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Varational AE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lang="en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dirty="0">
              <a:solidFill>
                <a:schemeClr val="dk2"/>
              </a:solidFill>
            </a:endParaRPr>
          </a:p>
        </p:txBody>
      </p:sp>
      <p:pic>
        <p:nvPicPr>
          <p:cNvPr id="83" name="Google Shape;8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>
            <a:spLocks noGrp="1"/>
          </p:cNvSpPr>
          <p:nvPr>
            <p:ph type="body" idx="1"/>
          </p:nvPr>
        </p:nvSpPr>
        <p:spPr>
          <a:xfrm>
            <a:off x="4572000" y="2712242"/>
            <a:ext cx="4302000" cy="2348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Embeddings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 err="1">
                <a:solidFill>
                  <a:schemeClr val="dk2"/>
                </a:solidFill>
              </a:rPr>
              <a:t>Embeddings</a:t>
            </a:r>
            <a:r>
              <a:rPr lang="es-ES" dirty="0">
                <a:solidFill>
                  <a:schemeClr val="dk2"/>
                </a:solidFill>
              </a:rPr>
              <a:t> vs </a:t>
            </a:r>
            <a:r>
              <a:rPr lang="es-ES" dirty="0" err="1">
                <a:solidFill>
                  <a:schemeClr val="dk2"/>
                </a:solidFill>
              </a:rPr>
              <a:t>one-hot.encoding</a:t>
            </a:r>
            <a:endParaRPr lang="es-ES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s-ES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>
                <a:solidFill>
                  <a:schemeClr val="dk2"/>
                </a:solidFill>
              </a:rPr>
              <a:t>F</a:t>
            </a:r>
            <a:r>
              <a:rPr lang="en" dirty="0">
                <a:solidFill>
                  <a:schemeClr val="dk2"/>
                </a:solidFill>
              </a:rPr>
              <a:t>alse task training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4D6A6C-4882-7422-E750-B3F7E8634DD0}"/>
              </a:ext>
            </a:extLst>
          </p:cNvPr>
          <p:cNvSpPr txBox="1"/>
          <p:nvPr/>
        </p:nvSpPr>
        <p:spPr>
          <a:xfrm>
            <a:off x="2732887" y="1983377"/>
            <a:ext cx="3104147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 dirty="0">
                <a:solidFill>
                  <a:schemeClr val="dk2"/>
                </a:solidFill>
              </a:rPr>
              <a:t>Representation learning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44912406-6DFA-DCE3-557D-0F143ADF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19d644e1e_1_101">
            <a:extLst>
              <a:ext uri="{FF2B5EF4-FFF2-40B4-BE49-F238E27FC236}">
                <a16:creationId xmlns:a16="http://schemas.microsoft.com/office/drawing/2014/main" id="{BC1D470F-D7B0-7CCC-8DDE-746CEFACBEC0}"/>
              </a:ext>
            </a:extLst>
          </p:cNvPr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Representation learning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2" name="Google Shape;202;g2f19d644e1e_1_101">
            <a:extLst>
              <a:ext uri="{FF2B5EF4-FFF2-40B4-BE49-F238E27FC236}">
                <a16:creationId xmlns:a16="http://schemas.microsoft.com/office/drawing/2014/main" id="{B03FFB50-A0E3-911B-80C4-8D35D952D00D}"/>
              </a:ext>
            </a:extLst>
          </p:cNvPr>
          <p:cNvSpPr/>
          <p:nvPr/>
        </p:nvSpPr>
        <p:spPr>
          <a:xfrm>
            <a:off x="725830" y="1246594"/>
            <a:ext cx="8088161" cy="47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2"/>
                </a:solidFill>
                <a:latin typeface="Twentieth Century"/>
                <a:sym typeface="Twentieth Century"/>
              </a:rPr>
              <a:t>¿Cuantos es 240 divido 6?			Y… ¿Cuánto es CCXL divido VI?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04" name="Google Shape;204;g2f19d644e1e_1_101" descr="L_p">
            <a:extLst>
              <a:ext uri="{FF2B5EF4-FFF2-40B4-BE49-F238E27FC236}">
                <a16:creationId xmlns:a16="http://schemas.microsoft.com/office/drawing/2014/main" id="{5C0311A7-6656-927A-9642-E4A7614CB47F}"/>
              </a:ext>
            </a:extLst>
          </p:cNvPr>
          <p:cNvSpPr/>
          <p:nvPr/>
        </p:nvSpPr>
        <p:spPr>
          <a:xfrm>
            <a:off x="107156" y="-617935"/>
            <a:ext cx="13573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5" name="Google Shape;205;g2f19d644e1e_1_101" descr="L_p">
            <a:extLst>
              <a:ext uri="{FF2B5EF4-FFF2-40B4-BE49-F238E27FC236}">
                <a16:creationId xmlns:a16="http://schemas.microsoft.com/office/drawing/2014/main" id="{8B93E0BA-8AA4-8C9D-01A2-A423154A6419}"/>
              </a:ext>
            </a:extLst>
          </p:cNvPr>
          <p:cNvSpPr/>
          <p:nvPr/>
        </p:nvSpPr>
        <p:spPr>
          <a:xfrm>
            <a:off x="6439926" y="3200088"/>
            <a:ext cx="1093935" cy="103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6" name="Google Shape;206;g2f19d644e1e_1_101">
            <a:extLst>
              <a:ext uri="{FF2B5EF4-FFF2-40B4-BE49-F238E27FC236}">
                <a16:creationId xmlns:a16="http://schemas.microsoft.com/office/drawing/2014/main" id="{7FE7E7FE-41A8-A56E-609D-CB2E0394C524}"/>
              </a:ext>
            </a:extLst>
          </p:cNvPr>
          <p:cNvSpPr/>
          <p:nvPr/>
        </p:nvSpPr>
        <p:spPr>
          <a:xfrm>
            <a:off x="725830" y="2052377"/>
            <a:ext cx="786128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Una misma información puede ser representada en distintas maneras </a:t>
            </a: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una representación será mejor que otras si la tarea que queremos realizar nos resulta mas facil empleando dicha representación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69841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19d644e1e_1_101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Representation learning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1" name="Google Shape;201;g2f19d644e1e_1_101"/>
          <p:cNvSpPr txBox="1"/>
          <p:nvPr/>
        </p:nvSpPr>
        <p:spPr>
          <a:xfrm>
            <a:off x="836350" y="1001204"/>
            <a:ext cx="7471299" cy="39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Representation learning (featuring engineer automático)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02" name="Google Shape;202;g2f19d644e1e_1_101"/>
          <p:cNvSpPr/>
          <p:nvPr/>
        </p:nvSpPr>
        <p:spPr>
          <a:xfrm>
            <a:off x="242887" y="1758061"/>
            <a:ext cx="7861144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Obtener </a:t>
            </a:r>
            <a:r>
              <a:rPr lang="en" sz="18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features</a:t>
            </a: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 unlabeled data siguiendo un entrenamiento supervisado bajo una NN secundaria (autoencoder o semejantes) siguiendo una false task.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 Reducción de dimension del input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+ Encontrar latent variables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sym typeface="Twentieth Century"/>
              </a:rPr>
              <a:t>+ Semi supervised learning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03" name="Google Shape;203;g2f19d644e1e_1_101"/>
          <p:cNvSpPr/>
          <p:nvPr/>
        </p:nvSpPr>
        <p:spPr>
          <a:xfrm>
            <a:off x="4640975" y="3367300"/>
            <a:ext cx="3973500" cy="1454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wentieth Century"/>
              <a:buChar char="•"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Clustering maps </a:t>
            </a:r>
            <a:endParaRPr sz="1100">
              <a:solidFill>
                <a:schemeClr val="dk2"/>
              </a:solidFill>
            </a:endParaRPr>
          </a:p>
          <a:p>
            <a:pPr marL="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wentieth Century"/>
              <a:buChar char="•"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Reducción de dimensiones</a:t>
            </a:r>
            <a:endParaRPr sz="1100">
              <a:solidFill>
                <a:schemeClr val="dk2"/>
              </a:solidFill>
            </a:endParaRPr>
          </a:p>
          <a:p>
            <a:pPr marL="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wentieth Century"/>
              <a:buChar char="•"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Operdores lógicos (auto &gt; bicicleta?)</a:t>
            </a:r>
            <a:endParaRPr sz="1100">
              <a:solidFill>
                <a:schemeClr val="dk2"/>
              </a:solidFill>
            </a:endParaRPr>
          </a:p>
          <a:p>
            <a:pPr marL="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wentieth Century"/>
              <a:buChar char="•"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Medir distancias (manzana mas cerca que torta?)</a:t>
            </a:r>
            <a:endParaRPr sz="1100">
              <a:solidFill>
                <a:schemeClr val="dk2"/>
              </a:solidFill>
            </a:endParaRPr>
          </a:p>
          <a:p>
            <a:pPr marL="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wentieth Century"/>
              <a:buChar char="•"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Proyecciones o multiplicaciones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04" name="Google Shape;204;g2f19d644e1e_1_101" descr="L_p"/>
          <p:cNvSpPr/>
          <p:nvPr/>
        </p:nvSpPr>
        <p:spPr>
          <a:xfrm>
            <a:off x="107156" y="-617935"/>
            <a:ext cx="135731" cy="12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5" name="Google Shape;205;g2f19d644e1e_1_101" descr="L_p"/>
          <p:cNvSpPr/>
          <p:nvPr/>
        </p:nvSpPr>
        <p:spPr>
          <a:xfrm>
            <a:off x="6439926" y="3200088"/>
            <a:ext cx="1093935" cy="103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6" name="Google Shape;206;g2f19d644e1e_1_101"/>
          <p:cNvSpPr/>
          <p:nvPr/>
        </p:nvSpPr>
        <p:spPr>
          <a:xfrm>
            <a:off x="544133" y="3718268"/>
            <a:ext cx="3512713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reduce la complejidad del dataset </a:t>
            </a: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reducen las anomalias y el ruido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7" name="Google Shape;207;g2f19d644e1e_1_101"/>
          <p:cNvSpPr/>
          <p:nvPr/>
        </p:nvSpPr>
        <p:spPr>
          <a:xfrm>
            <a:off x="4640976" y="2912223"/>
            <a:ext cx="3365486" cy="3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Hacemos operaciones sobre ellos</a:t>
            </a:r>
            <a:endParaRPr sz="1500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19d644e1e_1_8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b="0" i="0" u="none" strike="noStrike" cap="none">
                <a:solidFill>
                  <a:srgbClr val="43434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 b="0" i="0" u="none" strike="noStrike" cap="none">
              <a:solidFill>
                <a:srgbClr val="43434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0" name="Google Shape;90;g2f19d644e1e_1_8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20812" r="6770"/>
          <a:stretch/>
        </p:blipFill>
        <p:spPr>
          <a:xfrm>
            <a:off x="4512593" y="814403"/>
            <a:ext cx="1228981" cy="1226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2f19d644e1e_1_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927" y="3810796"/>
            <a:ext cx="3191217" cy="781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2f19d644e1e_1_8"/>
          <p:cNvPicPr preferRelativeResize="0"/>
          <p:nvPr/>
        </p:nvPicPr>
        <p:blipFill rotWithShape="1">
          <a:blip r:embed="rId5">
            <a:alphaModFix/>
          </a:blip>
          <a:srcRect l="24706" t="1523" r="19883" b="12579"/>
          <a:stretch/>
        </p:blipFill>
        <p:spPr>
          <a:xfrm>
            <a:off x="660149" y="754946"/>
            <a:ext cx="3166782" cy="305584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2f19d644e1e_1_8"/>
          <p:cNvSpPr txBox="1"/>
          <p:nvPr/>
        </p:nvSpPr>
        <p:spPr>
          <a:xfrm>
            <a:off x="3392945" y="1705744"/>
            <a:ext cx="736226" cy="5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endParaRPr sz="3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g2f19d644e1e_1_8"/>
          <p:cNvPicPr preferRelativeResize="0"/>
          <p:nvPr/>
        </p:nvPicPr>
        <p:blipFill rotWithShape="1">
          <a:blip r:embed="rId6">
            <a:alphaModFix/>
          </a:blip>
          <a:srcRect l="69947" t="928" r="22128" b="24959"/>
          <a:stretch/>
        </p:blipFill>
        <p:spPr>
          <a:xfrm>
            <a:off x="422187" y="1892658"/>
            <a:ext cx="225741" cy="57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2f19d644e1e_1_8"/>
          <p:cNvPicPr preferRelativeResize="0"/>
          <p:nvPr/>
        </p:nvPicPr>
        <p:blipFill rotWithShape="1">
          <a:blip r:embed="rId6">
            <a:alphaModFix/>
          </a:blip>
          <a:srcRect l="69947" t="928" r="22128" b="24959"/>
          <a:stretch/>
        </p:blipFill>
        <p:spPr>
          <a:xfrm>
            <a:off x="3648196" y="1892645"/>
            <a:ext cx="225741" cy="57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f19d644e1e_1_8"/>
          <p:cNvPicPr preferRelativeResize="0"/>
          <p:nvPr/>
        </p:nvPicPr>
        <p:blipFill rotWithShape="1">
          <a:blip r:embed="rId6">
            <a:alphaModFix/>
          </a:blip>
          <a:srcRect l="69947" t="15321" r="22128" b="40537"/>
          <a:stretch/>
        </p:blipFill>
        <p:spPr>
          <a:xfrm>
            <a:off x="5384201" y="1654992"/>
            <a:ext cx="158469" cy="2376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06;g2f19d644e1e_1_22">
            <a:extLst>
              <a:ext uri="{FF2B5EF4-FFF2-40B4-BE49-F238E27FC236}">
                <a16:creationId xmlns:a16="http://schemas.microsoft.com/office/drawing/2014/main" id="{D9CD5758-E068-FA50-5342-36594F96C412}"/>
              </a:ext>
            </a:extLst>
          </p:cNvPr>
          <p:cNvSpPr/>
          <p:nvPr/>
        </p:nvSpPr>
        <p:spPr>
          <a:xfrm>
            <a:off x="4334999" y="2182505"/>
            <a:ext cx="4612053" cy="2316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 en autoencoder tiene capacidad suficiente copiará la entrada (aprende la función identidad).</a:t>
            </a:r>
            <a:endParaRPr sz="10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reduce la capacidad del autoencoder (</a:t>
            </a:r>
            <a:r>
              <a:rPr lang="en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undercomplete …</a:t>
            </a:r>
            <a:r>
              <a:rPr lang="en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 para que aprenda los “aspectos relevantes” de la entrada. Aprenden la </a:t>
            </a:r>
            <a:r>
              <a:rPr lang="en" i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latent variable </a:t>
            </a:r>
            <a:r>
              <a:rPr lang="en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del dataset.</a:t>
            </a:r>
            <a:endParaRPr sz="10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Otra manera es “regularizar” sus pesos en el entrenamiento… </a:t>
            </a:r>
            <a:r>
              <a:rPr lang="en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regularized … </a:t>
            </a:r>
            <a:r>
              <a:rPr lang="en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 que aprenda otras características del dataset.</a:t>
            </a:r>
            <a:endParaRPr b="1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" name="Google Shape;107;g2f19d644e1e_1_22">
            <a:extLst>
              <a:ext uri="{FF2B5EF4-FFF2-40B4-BE49-F238E27FC236}">
                <a16:creationId xmlns:a16="http://schemas.microsoft.com/office/drawing/2014/main" id="{E28BBBA1-7439-5AC4-417A-E0E42E259FA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28942" y="4414640"/>
            <a:ext cx="3113222" cy="65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F3C4A6-A164-4919-5781-2F29522B63E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657" t="-1" r="30605" b="68204"/>
          <a:stretch>
            <a:fillRect/>
          </a:stretch>
        </p:blipFill>
        <p:spPr>
          <a:xfrm>
            <a:off x="6182860" y="1078243"/>
            <a:ext cx="2440883" cy="814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19d644e1e_1_29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3" name="Google Shape;113;g2f19d644e1e_1_29"/>
          <p:cNvSpPr txBox="1"/>
          <p:nvPr/>
        </p:nvSpPr>
        <p:spPr>
          <a:xfrm>
            <a:off x="251252" y="814403"/>
            <a:ext cx="8641496" cy="44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autoencodes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limitación de activación neuronas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4" name="Google Shape;114;g2f19d644e1e_1_29"/>
          <p:cNvSpPr/>
          <p:nvPr/>
        </p:nvSpPr>
        <p:spPr>
          <a:xfrm>
            <a:off x="328525" y="2055760"/>
            <a:ext cx="8641496" cy="237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activation </a:t>
            </a:r>
            <a:r>
              <a:rPr lang="en" sz="18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– Para una entrada dada, la mayoría de los </a:t>
            </a:r>
            <a:r>
              <a:rPr lang="en" sz="2400" b="0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2400" b="0" i="1" u="none" strike="noStrike" cap="none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8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producirán una activación muy pequeña.</a:t>
            </a:r>
            <a:endParaRPr sz="1100">
              <a:solidFill>
                <a:schemeClr val="dk2"/>
              </a:solidFill>
            </a:endParaRPr>
          </a:p>
          <a:p>
            <a:pPr marL="0" marR="0" lvl="6" indent="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 una </a:t>
            </a:r>
            <a:r>
              <a:rPr lang="en" sz="18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800" i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dada, su activación promedio (sobre todas las muestras) será un valor cercano a cero.</a:t>
            </a:r>
            <a:endParaRPr sz="1100">
              <a:solidFill>
                <a:schemeClr val="dk2"/>
              </a:solidFill>
            </a:endParaRPr>
          </a:p>
          <a:p>
            <a:pPr marL="0" marR="0" lvl="0" indent="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Esto previene que el autoencoder use todas las </a:t>
            </a:r>
            <a:r>
              <a:rPr lang="en" sz="18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800" i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al mismo tiempo y fuerza a un uso reducido de </a:t>
            </a:r>
            <a:r>
              <a:rPr lang="en" sz="18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800" i="1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2f19d644e1e_1_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3306" y="1256947"/>
            <a:ext cx="1885950" cy="678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f19d644e1e_1_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910" y="1237685"/>
            <a:ext cx="3113222" cy="65838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2f19d644e1e_1_29"/>
          <p:cNvSpPr txBox="1"/>
          <p:nvPr/>
        </p:nvSpPr>
        <p:spPr>
          <a:xfrm>
            <a:off x="328525" y="4553490"/>
            <a:ext cx="8641496" cy="44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 autoencodes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para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obtener features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 otra tarea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pre-training.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8" name="Google Shape;118;g2f19d644e1e_1_29"/>
          <p:cNvSpPr/>
          <p:nvPr/>
        </p:nvSpPr>
        <p:spPr>
          <a:xfrm>
            <a:off x="5796430" y="1416637"/>
            <a:ext cx="213393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Regularización L1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19d644e1e_1_48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4" name="Google Shape;134;g2f19d644e1e_1_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2208" y="1044523"/>
            <a:ext cx="3883068" cy="400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f19d644e1e_1_48"/>
          <p:cNvSpPr txBox="1"/>
          <p:nvPr/>
        </p:nvSpPr>
        <p:spPr>
          <a:xfrm>
            <a:off x="405225" y="3960121"/>
            <a:ext cx="38832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TODAS LAS NN “ENCUENTRAN” EL MANIFOLD DE LOS DATOS</a:t>
            </a:r>
            <a:endParaRPr sz="1500" i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6" name="Google Shape;136;g2f19d644e1e_1_48"/>
          <p:cNvSpPr txBox="1"/>
          <p:nvPr/>
        </p:nvSpPr>
        <p:spPr>
          <a:xfrm>
            <a:off x="328526" y="637179"/>
            <a:ext cx="42435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Manifold learning con autoencoders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7" name="Google Shape;137;g2f19d644e1e_1_48"/>
          <p:cNvSpPr/>
          <p:nvPr/>
        </p:nvSpPr>
        <p:spPr>
          <a:xfrm>
            <a:off x="186614" y="1210480"/>
            <a:ext cx="4691400" cy="2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Manifold </a:t>
            </a:r>
            <a:r>
              <a:rPr lang="en" sz="18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8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18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 un espacio N-dimensional, de menor dimensión del espacio original donde los datos se concentran.</a:t>
            </a:r>
            <a:endParaRPr sz="1100" dirty="0">
              <a:solidFill>
                <a:schemeClr val="dk2"/>
              </a:solidFill>
            </a:endParaRPr>
          </a:p>
          <a:p>
            <a:pPr marL="0" marR="0" lvl="6" indent="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 nos desplazamos dentro del manifold del MNIST, siempre encontraremos un número MNIST.</a:t>
            </a:r>
            <a:endParaRPr sz="1100" dirty="0">
              <a:solidFill>
                <a:schemeClr val="dk2"/>
              </a:solidFill>
            </a:endParaRPr>
          </a:p>
          <a:p>
            <a:pPr marL="0" marR="0" lvl="6" indent="114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 nos salimos de dicho </a:t>
            </a:r>
            <a:r>
              <a:rPr lang="en" sz="18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manifold</a:t>
            </a:r>
            <a:r>
              <a:rPr lang="en" sz="18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no encontraremos un número MNIST.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38" name="Google Shape;138;g2f19d644e1e_1_48"/>
          <p:cNvSpPr txBox="1"/>
          <p:nvPr/>
        </p:nvSpPr>
        <p:spPr>
          <a:xfrm>
            <a:off x="230939" y="4521936"/>
            <a:ext cx="46914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https://www.youtube.com/watch?v=QHj9uVmwA_0&amp;t=12s&amp;ab_channel=ArtemKirsanov</a:t>
            </a:r>
            <a:endParaRPr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19d644e1e_1_65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3" name="Google Shape;153;g2f19d644e1e_1_65"/>
          <p:cNvSpPr txBox="1"/>
          <p:nvPr/>
        </p:nvSpPr>
        <p:spPr>
          <a:xfrm>
            <a:off x="218939" y="650065"/>
            <a:ext cx="5154935" cy="43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Varationals autoencoder - VAE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54" name="Google Shape;154;g2f19d644e1e_1_65"/>
          <p:cNvSpPr/>
          <p:nvPr/>
        </p:nvSpPr>
        <p:spPr>
          <a:xfrm>
            <a:off x="407551" y="1663836"/>
            <a:ext cx="2968695" cy="1120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Encoder genera el espacio latente organizado bajo la forma de una función de densidad de probabilidad específica.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5" name="Google Shape;155;g2f19d644e1e_1_65"/>
          <p:cNvPicPr preferRelativeResize="0"/>
          <p:nvPr/>
        </p:nvPicPr>
        <p:blipFill rotWithShape="1">
          <a:blip r:embed="rId3">
            <a:alphaModFix/>
          </a:blip>
          <a:srcRect l="22571" b="46639"/>
          <a:stretch/>
        </p:blipFill>
        <p:spPr>
          <a:xfrm>
            <a:off x="3711014" y="1011386"/>
            <a:ext cx="5381934" cy="229426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2f19d644e1e_1_65"/>
          <p:cNvSpPr/>
          <p:nvPr/>
        </p:nvSpPr>
        <p:spPr>
          <a:xfrm>
            <a:off x="407551" y="3327723"/>
            <a:ext cx="7904409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lang="en" sz="15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Otorga control sobre cómo se distribuye el espacio latent de nuestro modelo.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lang="en" sz="15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Luego de entrenar, se toma una muesta aleatoria de dicha función de densidad de probabilidad para alimentar al decoder y generar una muestra nueva.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-95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lang="en" sz="15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 VAE el espacio latente Z se ve como una variable latent con una probabilidad P(Z) de que dicha variable z pertencezca al manifold de los datos de entrada. </a:t>
            </a:r>
            <a:endParaRPr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19d644e1e_0_28"/>
          <p:cNvSpPr txBox="1"/>
          <p:nvPr/>
        </p:nvSpPr>
        <p:spPr>
          <a:xfrm>
            <a:off x="-119743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1" name="Google Shape;171;g2f19d644e1e_0_28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683" y="1007669"/>
            <a:ext cx="3901660" cy="234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2f19d644e1e_0_28"/>
          <p:cNvSpPr txBox="1"/>
          <p:nvPr/>
        </p:nvSpPr>
        <p:spPr>
          <a:xfrm>
            <a:off x="5511180" y="4804800"/>
            <a:ext cx="3059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https://lilianweng.github.io/posts/2018-08-12-vae/</a:t>
            </a:r>
            <a:endParaRPr sz="100" dirty="0"/>
          </a:p>
        </p:txBody>
      </p:sp>
      <p:sp>
        <p:nvSpPr>
          <p:cNvPr id="173" name="Google Shape;173;g2f19d644e1e_0_28"/>
          <p:cNvSpPr txBox="1"/>
          <p:nvPr/>
        </p:nvSpPr>
        <p:spPr>
          <a:xfrm>
            <a:off x="280670" y="657940"/>
            <a:ext cx="6760210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buNone/>
            </a:pPr>
            <a:r>
              <a:rPr lang="en" sz="1200" b="1" dirty="0"/>
              <a:t>Para poder entrenarlo, debemos aplicar un “Reparameterization Trick”</a:t>
            </a:r>
            <a:endParaRPr sz="1200" b="1" dirty="0"/>
          </a:p>
        </p:txBody>
      </p:sp>
      <p:pic>
        <p:nvPicPr>
          <p:cNvPr id="174" name="Google Shape;174;g2f19d644e1e_0_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2824" y="3510486"/>
            <a:ext cx="2501378" cy="12506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2;g2f19d644e1e_0_28">
            <a:extLst>
              <a:ext uri="{FF2B5EF4-FFF2-40B4-BE49-F238E27FC236}">
                <a16:creationId xmlns:a16="http://schemas.microsoft.com/office/drawing/2014/main" id="{4A5FD18B-64E0-9079-5467-3F76EF2E0C9A}"/>
              </a:ext>
            </a:extLst>
          </p:cNvPr>
          <p:cNvSpPr txBox="1"/>
          <p:nvPr/>
        </p:nvSpPr>
        <p:spPr>
          <a:xfrm>
            <a:off x="229075" y="1042103"/>
            <a:ext cx="4291330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/>
              <a:t>El encoder genera las varibles latentes y producimos mu y sigma: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5E06991-29CF-802F-C947-7401A0CC8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70" y="1312314"/>
            <a:ext cx="3421136" cy="894648"/>
          </a:xfrm>
          <a:prstGeom prst="rect">
            <a:avLst/>
          </a:prstGeom>
        </p:spPr>
      </p:pic>
      <p:sp>
        <p:nvSpPr>
          <p:cNvPr id="9" name="Google Shape;172;g2f19d644e1e_0_28">
            <a:extLst>
              <a:ext uri="{FF2B5EF4-FFF2-40B4-BE49-F238E27FC236}">
                <a16:creationId xmlns:a16="http://schemas.microsoft.com/office/drawing/2014/main" id="{0D671443-3608-F708-F26A-C517D50DA813}"/>
              </a:ext>
            </a:extLst>
          </p:cNvPr>
          <p:cNvSpPr txBox="1"/>
          <p:nvPr/>
        </p:nvSpPr>
        <p:spPr>
          <a:xfrm>
            <a:off x="229075" y="2235439"/>
            <a:ext cx="429133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50" dirty="0"/>
              <a:t>E</a:t>
            </a:r>
            <a:r>
              <a:rPr lang="en" sz="1050" dirty="0"/>
              <a:t>l truco de log_sigma, es para poder aplicar exp() y que sigma sea positivo: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98AF8E2-6033-BAE8-B47E-09782FBAA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71" y="2682545"/>
            <a:ext cx="3401735" cy="310593"/>
          </a:xfrm>
          <a:prstGeom prst="rect">
            <a:avLst/>
          </a:prstGeom>
        </p:spPr>
      </p:pic>
      <p:sp>
        <p:nvSpPr>
          <p:cNvPr id="13" name="Google Shape;172;g2f19d644e1e_0_28">
            <a:extLst>
              <a:ext uri="{FF2B5EF4-FFF2-40B4-BE49-F238E27FC236}">
                <a16:creationId xmlns:a16="http://schemas.microsoft.com/office/drawing/2014/main" id="{27C170BB-B489-9741-0FFF-61B191C2B1FB}"/>
              </a:ext>
            </a:extLst>
          </p:cNvPr>
          <p:cNvSpPr txBox="1"/>
          <p:nvPr/>
        </p:nvSpPr>
        <p:spPr>
          <a:xfrm>
            <a:off x="229075" y="3009286"/>
            <a:ext cx="4291330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/>
              <a:t>Generamos la muestra:</a:t>
            </a:r>
            <a:endParaRPr lang="en"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70E3770-1CA6-6D72-7E5E-B78840472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071" y="3321710"/>
            <a:ext cx="3746129" cy="735041"/>
          </a:xfrm>
          <a:prstGeom prst="rect">
            <a:avLst/>
          </a:prstGeom>
        </p:spPr>
      </p:pic>
      <p:sp>
        <p:nvSpPr>
          <p:cNvPr id="19" name="Google Shape;172;g2f19d644e1e_0_28">
            <a:extLst>
              <a:ext uri="{FF2B5EF4-FFF2-40B4-BE49-F238E27FC236}">
                <a16:creationId xmlns:a16="http://schemas.microsoft.com/office/drawing/2014/main" id="{04E72234-69C7-41C8-104C-BCA86338F4BF}"/>
              </a:ext>
            </a:extLst>
          </p:cNvPr>
          <p:cNvSpPr txBox="1"/>
          <p:nvPr/>
        </p:nvSpPr>
        <p:spPr>
          <a:xfrm>
            <a:off x="229075" y="4047190"/>
            <a:ext cx="4291330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 dirty="0"/>
              <a:t>Reconstrucción de la imagen</a:t>
            </a:r>
            <a:endParaRPr lang="en" sz="105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1EA0B565-21B8-B004-AA14-8D3B3008F4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24" y="4344251"/>
            <a:ext cx="4089432" cy="341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C301F015-5982-E3AE-6FB6-E3B81679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19d644e1e_0_28">
            <a:extLst>
              <a:ext uri="{FF2B5EF4-FFF2-40B4-BE49-F238E27FC236}">
                <a16:creationId xmlns:a16="http://schemas.microsoft.com/office/drawing/2014/main" id="{0DC5E0BF-AB5C-5DEB-47EE-38694941929F}"/>
              </a:ext>
            </a:extLst>
          </p:cNvPr>
          <p:cNvSpPr txBox="1"/>
          <p:nvPr/>
        </p:nvSpPr>
        <p:spPr>
          <a:xfrm>
            <a:off x="-119743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3" name="Google Shape;173;g2f19d644e1e_0_28">
            <a:extLst>
              <a:ext uri="{FF2B5EF4-FFF2-40B4-BE49-F238E27FC236}">
                <a16:creationId xmlns:a16="http://schemas.microsoft.com/office/drawing/2014/main" id="{338C066C-9615-F67C-B539-A7A8CF759DB6}"/>
              </a:ext>
            </a:extLst>
          </p:cNvPr>
          <p:cNvSpPr txBox="1"/>
          <p:nvPr/>
        </p:nvSpPr>
        <p:spPr>
          <a:xfrm>
            <a:off x="229074" y="833041"/>
            <a:ext cx="8012717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buNone/>
            </a:pPr>
            <a:r>
              <a:rPr lang="es-ES" sz="1200" b="1" dirty="0"/>
              <a:t>Los VAE incorporan una regularización adicional –&gt; </a:t>
            </a:r>
            <a:r>
              <a:rPr lang="es-ES" sz="1200" dirty="0"/>
              <a:t>Penalizamos si la distribución se aleja de N(0,1)</a:t>
            </a:r>
            <a:endParaRPr sz="1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43DE5-D2E2-54FB-EBBA-35C4A2E71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48" b="46676"/>
          <a:stretch>
            <a:fillRect/>
          </a:stretch>
        </p:blipFill>
        <p:spPr>
          <a:xfrm>
            <a:off x="393895" y="1556314"/>
            <a:ext cx="3959638" cy="523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AEF044-62D8-E50E-0883-1A21C38BB4D5}"/>
              </a:ext>
            </a:extLst>
          </p:cNvPr>
          <p:cNvSpPr txBox="1"/>
          <p:nvPr/>
        </p:nvSpPr>
        <p:spPr>
          <a:xfrm>
            <a:off x="229074" y="4427467"/>
            <a:ext cx="55405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β controla cuánto pesa la regularización frente a la reconstrucción. Si β &gt;1 se llaman beta VAE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3D4E4D-DD9A-00AF-51A5-99D8581D7F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187" t="45989" r="34098" b="29183"/>
          <a:stretch>
            <a:fillRect/>
          </a:stretch>
        </p:blipFill>
        <p:spPr>
          <a:xfrm>
            <a:off x="1786597" y="3842146"/>
            <a:ext cx="1463040" cy="4683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6371A91-45B8-C7A8-AFE7-50AD803DE626}"/>
              </a:ext>
            </a:extLst>
          </p:cNvPr>
          <p:cNvSpPr txBox="1"/>
          <p:nvPr/>
        </p:nvSpPr>
        <p:spPr>
          <a:xfrm>
            <a:off x="229074" y="1303924"/>
            <a:ext cx="4693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Se utiliza la KL </a:t>
            </a:r>
            <a:r>
              <a:rPr lang="es-ES" sz="1200" dirty="0" err="1"/>
              <a:t>divergence</a:t>
            </a:r>
            <a:r>
              <a:rPr lang="es-ES" sz="1200" dirty="0"/>
              <a:t>: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5D37918-4229-9EB6-0DC5-6D7327B8B3A1}"/>
              </a:ext>
            </a:extLst>
          </p:cNvPr>
          <p:cNvSpPr txBox="1"/>
          <p:nvPr/>
        </p:nvSpPr>
        <p:spPr>
          <a:xfrm>
            <a:off x="229074" y="3201919"/>
            <a:ext cx="4693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pérdida total será la de reconstrucción + la KL con un peso adicional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5E6E3FD-D79F-509D-531B-E646F5B59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43" y="2229437"/>
            <a:ext cx="5820587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3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63D6CBB-A4C1-ABFC-DC31-B24D82A55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19d644e1e_0_28">
            <a:extLst>
              <a:ext uri="{FF2B5EF4-FFF2-40B4-BE49-F238E27FC236}">
                <a16:creationId xmlns:a16="http://schemas.microsoft.com/office/drawing/2014/main" id="{9E3CCE84-8626-726A-847D-9B2696F7787A}"/>
              </a:ext>
            </a:extLst>
          </p:cNvPr>
          <p:cNvSpPr txBox="1"/>
          <p:nvPr/>
        </p:nvSpPr>
        <p:spPr>
          <a:xfrm>
            <a:off x="-119743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AABE4-A20B-3D8B-40F4-10C92428844C}"/>
              </a:ext>
            </a:extLst>
          </p:cNvPr>
          <p:cNvSpPr txBox="1"/>
          <p:nvPr/>
        </p:nvSpPr>
        <p:spPr>
          <a:xfrm>
            <a:off x="5833305" y="1270805"/>
            <a:ext cx="304918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Los beta-VAE busca hacer una representación </a:t>
            </a:r>
            <a:r>
              <a:rPr lang="es-ES" dirty="0" err="1"/>
              <a:t>desentrelazada</a:t>
            </a:r>
            <a:r>
              <a:rPr lang="es-ES" dirty="0"/>
              <a:t> (</a:t>
            </a:r>
            <a:r>
              <a:rPr lang="es-ES" dirty="0" err="1"/>
              <a:t>desentanglement</a:t>
            </a:r>
            <a:r>
              <a:rPr lang="es-ES" dirty="0"/>
              <a:t>).</a:t>
            </a:r>
          </a:p>
          <a:p>
            <a:endParaRPr lang="es-ES" dirty="0"/>
          </a:p>
          <a:p>
            <a:r>
              <a:rPr lang="es-ES" dirty="0"/>
              <a:t>La idea es que cada variable latente logra captura 1 única característica que describa al </a:t>
            </a:r>
            <a:r>
              <a:rPr lang="es-ES" dirty="0" err="1"/>
              <a:t>dataset</a:t>
            </a:r>
            <a:r>
              <a:rPr lang="es-ES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FC8141-1557-7AC7-3D2F-50276F182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1" y="723060"/>
            <a:ext cx="5368500" cy="39554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3A0E947-E250-61D5-EEDD-5DB25C4258E2}"/>
              </a:ext>
            </a:extLst>
          </p:cNvPr>
          <p:cNvSpPr txBox="1"/>
          <p:nvPr/>
        </p:nvSpPr>
        <p:spPr>
          <a:xfrm>
            <a:off x="5833304" y="3481754"/>
            <a:ext cx="304918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100" b="1" dirty="0"/>
              <a:t>beta-VAE: </a:t>
            </a:r>
            <a:r>
              <a:rPr lang="es-AR" sz="1100" b="1" dirty="0" err="1"/>
              <a:t>Learning</a:t>
            </a:r>
            <a:r>
              <a:rPr lang="es-AR" sz="1100" b="1" dirty="0"/>
              <a:t> Basic Visual </a:t>
            </a:r>
            <a:r>
              <a:rPr lang="es-AR" sz="1100" b="1" dirty="0" err="1"/>
              <a:t>Concepts</a:t>
            </a:r>
            <a:r>
              <a:rPr lang="es-AR" sz="1100" b="1" dirty="0"/>
              <a:t> </a:t>
            </a:r>
            <a:r>
              <a:rPr lang="es-AR" sz="1100" b="1" dirty="0" err="1"/>
              <a:t>with</a:t>
            </a:r>
            <a:r>
              <a:rPr lang="es-AR" sz="1100" b="1" dirty="0"/>
              <a:t> a </a:t>
            </a:r>
            <a:r>
              <a:rPr lang="es-AR" sz="1100" b="1" dirty="0" err="1"/>
              <a:t>Constrained</a:t>
            </a:r>
            <a:r>
              <a:rPr lang="es-AR" sz="1100" b="1" dirty="0"/>
              <a:t> </a:t>
            </a:r>
            <a:r>
              <a:rPr lang="es-AR" sz="1100" b="1" dirty="0" err="1"/>
              <a:t>Variational</a:t>
            </a:r>
            <a:r>
              <a:rPr lang="es-AR" sz="1100" b="1" dirty="0"/>
              <a:t> Framework. </a:t>
            </a:r>
          </a:p>
          <a:p>
            <a:r>
              <a:rPr lang="es-AR" sz="1100" dirty="0"/>
              <a:t>Higgins, I., Matthey, L., Pal, A., Burgess, C.P., </a:t>
            </a:r>
            <a:r>
              <a:rPr lang="es-AR" sz="1100" dirty="0" err="1"/>
              <a:t>Glorot</a:t>
            </a:r>
            <a:r>
              <a:rPr lang="es-AR" sz="1100" dirty="0"/>
              <a:t>, X., </a:t>
            </a:r>
            <a:r>
              <a:rPr lang="es-AR" sz="1100" dirty="0" err="1"/>
              <a:t>Botvinick</a:t>
            </a:r>
            <a:r>
              <a:rPr lang="es-AR" sz="1100" dirty="0"/>
              <a:t>, M.M., Mohamed, S., &amp; </a:t>
            </a:r>
            <a:r>
              <a:rPr lang="es-AR" sz="1100" dirty="0" err="1"/>
              <a:t>Lerchner</a:t>
            </a:r>
            <a:r>
              <a:rPr lang="es-AR" sz="1100" dirty="0"/>
              <a:t>, A. (2016).</a:t>
            </a:r>
          </a:p>
          <a:p>
            <a:r>
              <a:rPr lang="es-AR" sz="1100" dirty="0"/>
              <a:t>International </a:t>
            </a:r>
            <a:r>
              <a:rPr lang="es-AR" sz="1100" dirty="0" err="1"/>
              <a:t>Conference</a:t>
            </a:r>
            <a:r>
              <a:rPr lang="es-AR" sz="1100" dirty="0"/>
              <a:t> </a:t>
            </a:r>
            <a:r>
              <a:rPr lang="es-AR" sz="1100" dirty="0" err="1"/>
              <a:t>on</a:t>
            </a:r>
            <a:r>
              <a:rPr lang="es-AR" sz="1100" dirty="0"/>
              <a:t> </a:t>
            </a:r>
            <a:r>
              <a:rPr lang="es-AR" sz="1100" dirty="0" err="1"/>
              <a:t>Learning</a:t>
            </a:r>
            <a:r>
              <a:rPr lang="es-AR" sz="1100" dirty="0"/>
              <a:t> </a:t>
            </a:r>
            <a:r>
              <a:rPr lang="es-AR" sz="1100" dirty="0" err="1"/>
              <a:t>Representations</a:t>
            </a:r>
            <a:r>
              <a:rPr lang="es-AR" sz="1100" dirty="0"/>
              <a:t>.</a:t>
            </a:r>
            <a:endParaRPr lang="es-AR" sz="10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AB031EB-9809-1B93-78A4-1EFFBC9FDBDE}"/>
              </a:ext>
            </a:extLst>
          </p:cNvPr>
          <p:cNvSpPr txBox="1"/>
          <p:nvPr/>
        </p:nvSpPr>
        <p:spPr>
          <a:xfrm>
            <a:off x="1244990" y="4759027"/>
            <a:ext cx="30846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200" b="0" i="0" u="none" strike="noStrike" baseline="0" dirty="0">
                <a:solidFill>
                  <a:srgbClr val="FF0000"/>
                </a:solidFill>
                <a:latin typeface="NimbusRomNo9L-ReguItal"/>
              </a:rPr>
              <a:t>Square</a:t>
            </a:r>
            <a:r>
              <a:rPr lang="es-AR" sz="1200" b="0" i="0" u="none" strike="noStrike" baseline="0" dirty="0">
                <a:latin typeface="NimbusRomNo9L-ReguItal"/>
              </a:rPr>
              <a:t> </a:t>
            </a:r>
            <a:r>
              <a:rPr lang="en-US" sz="1200" b="0" i="0" u="none" strike="noStrike" baseline="0" dirty="0">
                <a:latin typeface="NimbusRomNo9L-Regu"/>
              </a:rPr>
              <a:t>is </a:t>
            </a:r>
            <a:r>
              <a:rPr lang="en-US" sz="1200" b="0" i="0" u="none" strike="noStrike" baseline="0" dirty="0">
                <a:solidFill>
                  <a:schemeClr val="bg2"/>
                </a:solidFill>
                <a:latin typeface="NimbusRomNo9L-Regu"/>
              </a:rPr>
              <a:t>red</a:t>
            </a:r>
            <a:r>
              <a:rPr lang="en-US" sz="1200" b="0" i="0" u="none" strike="noStrike" baseline="0" dirty="0">
                <a:latin typeface="NimbusRomNo9L-Regu"/>
              </a:rPr>
              <a:t>, </a:t>
            </a:r>
            <a:r>
              <a:rPr lang="en-US" sz="1200" b="0" i="0" u="none" strike="noStrike" baseline="0" dirty="0">
                <a:solidFill>
                  <a:srgbClr val="00B050"/>
                </a:solidFill>
                <a:latin typeface="NimbusRomNo9L-ReguItal"/>
              </a:rPr>
              <a:t>oval</a:t>
            </a:r>
            <a:r>
              <a:rPr lang="en-US" sz="1200" b="0" i="0" u="none" strike="noStrike" baseline="0" dirty="0">
                <a:latin typeface="NimbusRomNo9L-ReguItal"/>
              </a:rPr>
              <a:t> </a:t>
            </a:r>
            <a:r>
              <a:rPr lang="en-US" sz="1200" b="0" i="0" u="none" strike="noStrike" baseline="0" dirty="0">
                <a:latin typeface="NimbusRomNo9L-Regu"/>
              </a:rPr>
              <a:t>is green and </a:t>
            </a:r>
            <a:r>
              <a:rPr lang="en-US" sz="1200" b="0" i="0" u="none" strike="noStrike" baseline="0" dirty="0">
                <a:solidFill>
                  <a:srgbClr val="0070C0"/>
                </a:solidFill>
                <a:latin typeface="NimbusRomNo9L-ReguItal"/>
              </a:rPr>
              <a:t>heart</a:t>
            </a:r>
            <a:r>
              <a:rPr lang="en-US" sz="1200" b="0" i="0" u="none" strike="noStrike" baseline="0" dirty="0">
                <a:latin typeface="NimbusRomNo9L-ReguItal"/>
              </a:rPr>
              <a:t> </a:t>
            </a:r>
            <a:r>
              <a:rPr lang="en-US" sz="1200" b="0" i="0" u="none" strike="noStrike" baseline="0" dirty="0">
                <a:latin typeface="NimbusRomNo9L-Regu"/>
              </a:rPr>
              <a:t>is blue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51066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19d644e1e_1_90"/>
          <p:cNvSpPr txBox="1"/>
          <p:nvPr/>
        </p:nvSpPr>
        <p:spPr>
          <a:xfrm>
            <a:off x="-129402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g2f19d644e1e_1_90"/>
          <p:cNvSpPr txBox="1"/>
          <p:nvPr/>
        </p:nvSpPr>
        <p:spPr>
          <a:xfrm>
            <a:off x="612588" y="2049328"/>
            <a:ext cx="532779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ver colab autoencoder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854E0B96-BAAA-9C8B-425E-DD278431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19d644e1e_1_90">
            <a:extLst>
              <a:ext uri="{FF2B5EF4-FFF2-40B4-BE49-F238E27FC236}">
                <a16:creationId xmlns:a16="http://schemas.microsoft.com/office/drawing/2014/main" id="{6C18E871-786D-B36B-D070-C9CEA13EC787}"/>
              </a:ext>
            </a:extLst>
          </p:cNvPr>
          <p:cNvSpPr txBox="1"/>
          <p:nvPr/>
        </p:nvSpPr>
        <p:spPr>
          <a:xfrm>
            <a:off x="-129402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" name="Google Shape;189;g2f19d644e1e_1_90">
            <a:extLst>
              <a:ext uri="{FF2B5EF4-FFF2-40B4-BE49-F238E27FC236}">
                <a16:creationId xmlns:a16="http://schemas.microsoft.com/office/drawing/2014/main" id="{19A1861C-CD1E-F9FC-BD14-3DCE37591AA8}"/>
              </a:ext>
            </a:extLst>
          </p:cNvPr>
          <p:cNvSpPr txBox="1"/>
          <p:nvPr/>
        </p:nvSpPr>
        <p:spPr>
          <a:xfrm>
            <a:off x="1148853" y="1314320"/>
            <a:ext cx="104433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</a:t>
            </a: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l=0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3337770-E30F-A72E-6F53-1C496080E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205" y="1926692"/>
            <a:ext cx="2880000" cy="26496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362ACDD-A284-08D5-5D33-8B49629A6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9" y="1926691"/>
            <a:ext cx="2880000" cy="262415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EAFBA3A-FAA1-2705-1BE6-952330CA5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825" y="1915559"/>
            <a:ext cx="2880000" cy="2649600"/>
          </a:xfrm>
          <a:prstGeom prst="rect">
            <a:avLst/>
          </a:prstGeom>
        </p:spPr>
      </p:pic>
      <p:sp>
        <p:nvSpPr>
          <p:cNvPr id="13" name="Google Shape;189;g2f19d644e1e_1_90">
            <a:extLst>
              <a:ext uri="{FF2B5EF4-FFF2-40B4-BE49-F238E27FC236}">
                <a16:creationId xmlns:a16="http://schemas.microsoft.com/office/drawing/2014/main" id="{B3BF4D1C-C310-7879-287A-7B7A6B50BFBF}"/>
              </a:ext>
            </a:extLst>
          </p:cNvPr>
          <p:cNvSpPr txBox="1"/>
          <p:nvPr/>
        </p:nvSpPr>
        <p:spPr>
          <a:xfrm>
            <a:off x="4319461" y="1314320"/>
            <a:ext cx="104433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</a:t>
            </a: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l=0.25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" name="Google Shape;189;g2f19d644e1e_1_90">
            <a:extLst>
              <a:ext uri="{FF2B5EF4-FFF2-40B4-BE49-F238E27FC236}">
                <a16:creationId xmlns:a16="http://schemas.microsoft.com/office/drawing/2014/main" id="{C2CF6083-D58F-AA54-214B-2B53926AE02C}"/>
              </a:ext>
            </a:extLst>
          </p:cNvPr>
          <p:cNvSpPr txBox="1"/>
          <p:nvPr/>
        </p:nvSpPr>
        <p:spPr>
          <a:xfrm>
            <a:off x="7015659" y="1314320"/>
            <a:ext cx="104433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</a:t>
            </a: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l=0.75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189;g2f19d644e1e_1_90">
            <a:extLst>
              <a:ext uri="{FF2B5EF4-FFF2-40B4-BE49-F238E27FC236}">
                <a16:creationId xmlns:a16="http://schemas.microsoft.com/office/drawing/2014/main" id="{590DA479-56F1-E6F3-42AA-DE5EA4F3E0A4}"/>
              </a:ext>
            </a:extLst>
          </p:cNvPr>
          <p:cNvSpPr txBox="1"/>
          <p:nvPr/>
        </p:nvSpPr>
        <p:spPr>
          <a:xfrm>
            <a:off x="2880704" y="814500"/>
            <a:ext cx="3671350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VAE </a:t>
            </a: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convolucional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89375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D29405F6-7F81-E61D-806A-10C7D85E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19d644e1e_1_90">
            <a:extLst>
              <a:ext uri="{FF2B5EF4-FFF2-40B4-BE49-F238E27FC236}">
                <a16:creationId xmlns:a16="http://schemas.microsoft.com/office/drawing/2014/main" id="{B3615DAB-FC99-EF45-D3B3-785FFD7D348B}"/>
              </a:ext>
            </a:extLst>
          </p:cNvPr>
          <p:cNvSpPr txBox="1"/>
          <p:nvPr/>
        </p:nvSpPr>
        <p:spPr>
          <a:xfrm>
            <a:off x="-129402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BB7FF96-0A4A-881B-92F2-2CDAE022A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298" y="2077947"/>
            <a:ext cx="2880000" cy="2519999"/>
          </a:xfrm>
          <a:prstGeom prst="rect">
            <a:avLst/>
          </a:prstGeom>
        </p:spPr>
      </p:pic>
      <p:sp>
        <p:nvSpPr>
          <p:cNvPr id="4" name="Google Shape;189;g2f19d644e1e_1_90">
            <a:extLst>
              <a:ext uri="{FF2B5EF4-FFF2-40B4-BE49-F238E27FC236}">
                <a16:creationId xmlns:a16="http://schemas.microsoft.com/office/drawing/2014/main" id="{5B839E1E-554B-65AC-A7C3-85FFDAB7A83F}"/>
              </a:ext>
            </a:extLst>
          </p:cNvPr>
          <p:cNvSpPr txBox="1"/>
          <p:nvPr/>
        </p:nvSpPr>
        <p:spPr>
          <a:xfrm>
            <a:off x="3711382" y="919166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MLP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Zdim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L1: 5e-4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6236D8-E150-6244-93D2-BC1EEA48D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8" y="2112833"/>
            <a:ext cx="2880000" cy="2520000"/>
          </a:xfrm>
          <a:prstGeom prst="rect">
            <a:avLst/>
          </a:prstGeom>
        </p:spPr>
      </p:pic>
      <p:sp>
        <p:nvSpPr>
          <p:cNvPr id="7" name="Google Shape;189;g2f19d644e1e_1_90">
            <a:extLst>
              <a:ext uri="{FF2B5EF4-FFF2-40B4-BE49-F238E27FC236}">
                <a16:creationId xmlns:a16="http://schemas.microsoft.com/office/drawing/2014/main" id="{BEE56B23-341F-DBD7-E8DA-372DDE715C9E}"/>
              </a:ext>
            </a:extLst>
          </p:cNvPr>
          <p:cNvSpPr txBox="1"/>
          <p:nvPr/>
        </p:nvSpPr>
        <p:spPr>
          <a:xfrm>
            <a:off x="6850727" y="996318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VAE MLP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Zdim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Kl: 1e-4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1DD52B7-6D92-C044-AFBB-50DB34546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816" y="2112833"/>
            <a:ext cx="2880000" cy="2520000"/>
          </a:xfrm>
          <a:prstGeom prst="rect">
            <a:avLst/>
          </a:prstGeom>
        </p:spPr>
      </p:pic>
      <p:sp>
        <p:nvSpPr>
          <p:cNvPr id="10" name="Google Shape;189;g2f19d644e1e_1_90">
            <a:extLst>
              <a:ext uri="{FF2B5EF4-FFF2-40B4-BE49-F238E27FC236}">
                <a16:creationId xmlns:a16="http://schemas.microsoft.com/office/drawing/2014/main" id="{5C64B54E-77D2-53F4-ED48-4839DF7770D9}"/>
              </a:ext>
            </a:extLst>
          </p:cNvPr>
          <p:cNvSpPr txBox="1"/>
          <p:nvPr/>
        </p:nvSpPr>
        <p:spPr>
          <a:xfrm>
            <a:off x="694321" y="970474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MLP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Zdim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32</a:t>
            </a:r>
          </a:p>
        </p:txBody>
      </p:sp>
      <p:sp>
        <p:nvSpPr>
          <p:cNvPr id="11" name="Google Shape;189;g2f19d644e1e_1_90">
            <a:extLst>
              <a:ext uri="{FF2B5EF4-FFF2-40B4-BE49-F238E27FC236}">
                <a16:creationId xmlns:a16="http://schemas.microsoft.com/office/drawing/2014/main" id="{245BCB9B-BC5E-A8D9-B15C-291C94FEC326}"/>
              </a:ext>
            </a:extLst>
          </p:cNvPr>
          <p:cNvSpPr txBox="1"/>
          <p:nvPr/>
        </p:nvSpPr>
        <p:spPr>
          <a:xfrm>
            <a:off x="788340" y="4691096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MSE: 0.0431</a:t>
            </a:r>
          </a:p>
        </p:txBody>
      </p:sp>
      <p:sp>
        <p:nvSpPr>
          <p:cNvPr id="12" name="Google Shape;189;g2f19d644e1e_1_90">
            <a:extLst>
              <a:ext uri="{FF2B5EF4-FFF2-40B4-BE49-F238E27FC236}">
                <a16:creationId xmlns:a16="http://schemas.microsoft.com/office/drawing/2014/main" id="{B9315433-840C-5FED-1729-50367699B95C}"/>
              </a:ext>
            </a:extLst>
          </p:cNvPr>
          <p:cNvSpPr txBox="1"/>
          <p:nvPr/>
        </p:nvSpPr>
        <p:spPr>
          <a:xfrm>
            <a:off x="3772524" y="4656130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MSE: 0.0457</a:t>
            </a:r>
          </a:p>
        </p:txBody>
      </p:sp>
      <p:sp>
        <p:nvSpPr>
          <p:cNvPr id="13" name="Google Shape;189;g2f19d644e1e_1_90">
            <a:extLst>
              <a:ext uri="{FF2B5EF4-FFF2-40B4-BE49-F238E27FC236}">
                <a16:creationId xmlns:a16="http://schemas.microsoft.com/office/drawing/2014/main" id="{3AECCDD5-CA7D-1C2A-6F6E-498E4B0AFE57}"/>
              </a:ext>
            </a:extLst>
          </p:cNvPr>
          <p:cNvSpPr txBox="1"/>
          <p:nvPr/>
        </p:nvSpPr>
        <p:spPr>
          <a:xfrm>
            <a:off x="6588054" y="4597946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MSE: 0.0440</a:t>
            </a:r>
          </a:p>
        </p:txBody>
      </p:sp>
    </p:spTree>
    <p:extLst>
      <p:ext uri="{BB962C8B-B14F-4D97-AF65-F5344CB8AC3E}">
        <p14:creationId xmlns:p14="http://schemas.microsoft.com/office/powerpoint/2010/main" val="363668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3EADC6E9-5E89-A1DB-7334-3B54724C7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19d644e1e_1_90">
            <a:extLst>
              <a:ext uri="{FF2B5EF4-FFF2-40B4-BE49-F238E27FC236}">
                <a16:creationId xmlns:a16="http://schemas.microsoft.com/office/drawing/2014/main" id="{43D4DF03-0E23-2525-8250-9AE1FF4979A7}"/>
              </a:ext>
            </a:extLst>
          </p:cNvPr>
          <p:cNvSpPr txBox="1"/>
          <p:nvPr/>
        </p:nvSpPr>
        <p:spPr>
          <a:xfrm>
            <a:off x="-129402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Google Shape;189;g2f19d644e1e_1_90">
            <a:extLst>
              <a:ext uri="{FF2B5EF4-FFF2-40B4-BE49-F238E27FC236}">
                <a16:creationId xmlns:a16="http://schemas.microsoft.com/office/drawing/2014/main" id="{C0AD1CD5-313C-8345-35E1-EE490B62DE69}"/>
              </a:ext>
            </a:extLst>
          </p:cNvPr>
          <p:cNvSpPr txBox="1"/>
          <p:nvPr/>
        </p:nvSpPr>
        <p:spPr>
          <a:xfrm>
            <a:off x="3711382" y="919166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sparse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MLP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Zdim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L1: 5e-4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189;g2f19d644e1e_1_90">
            <a:extLst>
              <a:ext uri="{FF2B5EF4-FFF2-40B4-BE49-F238E27FC236}">
                <a16:creationId xmlns:a16="http://schemas.microsoft.com/office/drawing/2014/main" id="{157AADA2-0864-34B0-682A-FC33B129A56A}"/>
              </a:ext>
            </a:extLst>
          </p:cNvPr>
          <p:cNvSpPr txBox="1"/>
          <p:nvPr/>
        </p:nvSpPr>
        <p:spPr>
          <a:xfrm>
            <a:off x="6850727" y="996318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VAE MLP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Zdim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Kl: 1e-4</a:t>
            </a:r>
            <a:endParaRPr sz="21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" name="Google Shape;189;g2f19d644e1e_1_90">
            <a:extLst>
              <a:ext uri="{FF2B5EF4-FFF2-40B4-BE49-F238E27FC236}">
                <a16:creationId xmlns:a16="http://schemas.microsoft.com/office/drawing/2014/main" id="{38743EAC-28CD-9FA0-BECC-C083B56EC437}"/>
              </a:ext>
            </a:extLst>
          </p:cNvPr>
          <p:cNvSpPr txBox="1"/>
          <p:nvPr/>
        </p:nvSpPr>
        <p:spPr>
          <a:xfrm>
            <a:off x="694321" y="970474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MLP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Zdim</a:t>
            </a: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32</a:t>
            </a:r>
          </a:p>
        </p:txBody>
      </p:sp>
      <p:sp>
        <p:nvSpPr>
          <p:cNvPr id="11" name="Google Shape;189;g2f19d644e1e_1_90">
            <a:extLst>
              <a:ext uri="{FF2B5EF4-FFF2-40B4-BE49-F238E27FC236}">
                <a16:creationId xmlns:a16="http://schemas.microsoft.com/office/drawing/2014/main" id="{720055BD-D7D0-FC30-865A-55AA61DE09DC}"/>
              </a:ext>
            </a:extLst>
          </p:cNvPr>
          <p:cNvSpPr txBox="1"/>
          <p:nvPr/>
        </p:nvSpPr>
        <p:spPr>
          <a:xfrm>
            <a:off x="788340" y="4691096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MSE: 0.0431</a:t>
            </a:r>
          </a:p>
        </p:txBody>
      </p:sp>
      <p:sp>
        <p:nvSpPr>
          <p:cNvPr id="12" name="Google Shape;189;g2f19d644e1e_1_90">
            <a:extLst>
              <a:ext uri="{FF2B5EF4-FFF2-40B4-BE49-F238E27FC236}">
                <a16:creationId xmlns:a16="http://schemas.microsoft.com/office/drawing/2014/main" id="{E6D49E6B-AA33-2ECE-16AF-4FEA9DD67BB2}"/>
              </a:ext>
            </a:extLst>
          </p:cNvPr>
          <p:cNvSpPr txBox="1"/>
          <p:nvPr/>
        </p:nvSpPr>
        <p:spPr>
          <a:xfrm>
            <a:off x="3772524" y="4656130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MSE: 0.0457</a:t>
            </a:r>
          </a:p>
        </p:txBody>
      </p:sp>
      <p:sp>
        <p:nvSpPr>
          <p:cNvPr id="13" name="Google Shape;189;g2f19d644e1e_1_90">
            <a:extLst>
              <a:ext uri="{FF2B5EF4-FFF2-40B4-BE49-F238E27FC236}">
                <a16:creationId xmlns:a16="http://schemas.microsoft.com/office/drawing/2014/main" id="{44954AE5-4D2C-BC9E-5B16-45CEAD3F25CD}"/>
              </a:ext>
            </a:extLst>
          </p:cNvPr>
          <p:cNvSpPr txBox="1"/>
          <p:nvPr/>
        </p:nvSpPr>
        <p:spPr>
          <a:xfrm>
            <a:off x="6588054" y="4597946"/>
            <a:ext cx="159895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MSE: 0.0440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46FC77-5229-22CA-AB3E-65B9588CE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7" y="2269368"/>
            <a:ext cx="2880000" cy="144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15E41EE-6008-E7F4-8976-B6C2188F6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8" y="2269368"/>
            <a:ext cx="2880000" cy="144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0191610-9F0D-9904-AF50-B51EF8BB1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917" y="2269368"/>
            <a:ext cx="288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2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92621C82-C11D-8353-A345-4F496A4E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19d644e1e_1_90">
            <a:extLst>
              <a:ext uri="{FF2B5EF4-FFF2-40B4-BE49-F238E27FC236}">
                <a16:creationId xmlns:a16="http://schemas.microsoft.com/office/drawing/2014/main" id="{3B14C33E-1DF6-1A2C-DB2B-10F0C94664DC}"/>
              </a:ext>
            </a:extLst>
          </p:cNvPr>
          <p:cNvSpPr txBox="1"/>
          <p:nvPr/>
        </p:nvSpPr>
        <p:spPr>
          <a:xfrm>
            <a:off x="-129402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Autoencoders – Anomaly detection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" name="Google Shape;94;g2f19d644e1e_1_8">
            <a:extLst>
              <a:ext uri="{FF2B5EF4-FFF2-40B4-BE49-F238E27FC236}">
                <a16:creationId xmlns:a16="http://schemas.microsoft.com/office/drawing/2014/main" id="{16F9A3B7-E590-1E87-E98E-1DB5C2743DF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24706" t="1523" r="19883" b="12579"/>
          <a:stretch/>
        </p:blipFill>
        <p:spPr>
          <a:xfrm>
            <a:off x="2169997" y="973083"/>
            <a:ext cx="1885589" cy="181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MNIST handwritten digits">
            <a:extLst>
              <a:ext uri="{FF2B5EF4-FFF2-40B4-BE49-F238E27FC236}">
                <a16:creationId xmlns:a16="http://schemas.microsoft.com/office/drawing/2014/main" id="{BA09B1A1-1AA9-E4CC-5E57-E3BDECA62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30" y="1083738"/>
            <a:ext cx="1411872" cy="1411872"/>
          </a:xfrm>
          <a:prstGeom prst="rect">
            <a:avLst/>
          </a:prstGeom>
        </p:spPr>
      </p:pic>
      <p:pic>
        <p:nvPicPr>
          <p:cNvPr id="9" name="Picture 8" descr="MNIST handwritten digits">
            <a:extLst>
              <a:ext uri="{FF2B5EF4-FFF2-40B4-BE49-F238E27FC236}">
                <a16:creationId xmlns:a16="http://schemas.microsoft.com/office/drawing/2014/main" id="{59467FE4-BA9A-B951-8632-21BEDED40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289" y="1083738"/>
            <a:ext cx="1411872" cy="1411872"/>
          </a:xfrm>
          <a:prstGeom prst="rect">
            <a:avLst/>
          </a:prstGeom>
        </p:spPr>
      </p:pic>
      <p:sp>
        <p:nvSpPr>
          <p:cNvPr id="17" name="Google Shape;189;g2f19d644e1e_1_90">
            <a:extLst>
              <a:ext uri="{FF2B5EF4-FFF2-40B4-BE49-F238E27FC236}">
                <a16:creationId xmlns:a16="http://schemas.microsoft.com/office/drawing/2014/main" id="{21EB2BD7-8939-50C7-265F-A3FEBA09751D}"/>
              </a:ext>
            </a:extLst>
          </p:cNvPr>
          <p:cNvSpPr txBox="1"/>
          <p:nvPr/>
        </p:nvSpPr>
        <p:spPr>
          <a:xfrm>
            <a:off x="1909594" y="655917"/>
            <a:ext cx="2852320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16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Entreno sobre datos normales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D70EE2-C075-ADD4-1CEA-43A56078A0F7}"/>
              </a:ext>
            </a:extLst>
          </p:cNvPr>
          <p:cNvSpPr/>
          <p:nvPr/>
        </p:nvSpPr>
        <p:spPr>
          <a:xfrm>
            <a:off x="658135" y="3879415"/>
            <a:ext cx="808892" cy="75262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D761C1A-5545-5C8F-AB9C-98703149AF00}"/>
                  </a:ext>
                </a:extLst>
              </p14:cNvPr>
              <p14:cNvContentPartPr/>
              <p14:nvPr/>
            </p14:nvContentPartPr>
            <p14:xfrm>
              <a:off x="895246" y="4045665"/>
              <a:ext cx="352080" cy="420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D761C1A-5545-5C8F-AB9C-98703149AF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7246" y="4028025"/>
                <a:ext cx="387720" cy="45576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Google Shape;94;g2f19d644e1e_1_8">
            <a:extLst>
              <a:ext uri="{FF2B5EF4-FFF2-40B4-BE49-F238E27FC236}">
                <a16:creationId xmlns:a16="http://schemas.microsoft.com/office/drawing/2014/main" id="{FF4C98FB-9EEC-8D85-7B34-53E17DBFF04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24706" t="1523" r="19883" b="12579"/>
          <a:stretch/>
        </p:blipFill>
        <p:spPr>
          <a:xfrm>
            <a:off x="2258591" y="3549789"/>
            <a:ext cx="1463128" cy="141187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89;g2f19d644e1e_1_90">
            <a:extLst>
              <a:ext uri="{FF2B5EF4-FFF2-40B4-BE49-F238E27FC236}">
                <a16:creationId xmlns:a16="http://schemas.microsoft.com/office/drawing/2014/main" id="{11A3FE02-B278-F5C5-C801-B399B362B5D1}"/>
              </a:ext>
            </a:extLst>
          </p:cNvPr>
          <p:cNvSpPr txBox="1"/>
          <p:nvPr/>
        </p:nvSpPr>
        <p:spPr>
          <a:xfrm>
            <a:off x="221460" y="4644495"/>
            <a:ext cx="1793412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16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Nueva muestra!</a:t>
            </a:r>
          </a:p>
        </p:txBody>
      </p:sp>
      <p:sp>
        <p:nvSpPr>
          <p:cNvPr id="28" name="Google Shape;189;g2f19d644e1e_1_90">
            <a:extLst>
              <a:ext uri="{FF2B5EF4-FFF2-40B4-BE49-F238E27FC236}">
                <a16:creationId xmlns:a16="http://schemas.microsoft.com/office/drawing/2014/main" id="{F77F96F2-B320-ED41-3FF2-B88FD18C8B3B}"/>
              </a:ext>
            </a:extLst>
          </p:cNvPr>
          <p:cNvSpPr txBox="1"/>
          <p:nvPr/>
        </p:nvSpPr>
        <p:spPr>
          <a:xfrm>
            <a:off x="4937261" y="3901179"/>
            <a:ext cx="2852320" cy="31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16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Mido error de reconstrucción (respecto de un error medio de reconstrucción de muestras normales)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4688E1-7A41-7685-65A4-EF9CA938ACD5}"/>
              </a:ext>
            </a:extLst>
          </p:cNvPr>
          <p:cNvSpPr/>
          <p:nvPr/>
        </p:nvSpPr>
        <p:spPr>
          <a:xfrm>
            <a:off x="4055586" y="3879414"/>
            <a:ext cx="808892" cy="75262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4910DB6-8790-8EDB-9EEF-F8FF3B5AE3AE}"/>
                  </a:ext>
                </a:extLst>
              </p14:cNvPr>
              <p14:cNvContentPartPr/>
              <p14:nvPr/>
            </p14:nvContentPartPr>
            <p14:xfrm>
              <a:off x="4128369" y="4036569"/>
              <a:ext cx="572760" cy="480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4910DB6-8790-8EDB-9EEF-F8FF3B5AE3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10729" y="4018929"/>
                <a:ext cx="608400" cy="5166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Google Shape;189;g2f19d644e1e_1_90">
            <a:extLst>
              <a:ext uri="{FF2B5EF4-FFF2-40B4-BE49-F238E27FC236}">
                <a16:creationId xmlns:a16="http://schemas.microsoft.com/office/drawing/2014/main" id="{651452F9-CB63-A9AE-D9CB-EB8925FCC70D}"/>
              </a:ext>
            </a:extLst>
          </p:cNvPr>
          <p:cNvSpPr txBox="1"/>
          <p:nvPr/>
        </p:nvSpPr>
        <p:spPr>
          <a:xfrm>
            <a:off x="5331656" y="2952362"/>
            <a:ext cx="2852320" cy="53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s-AR" sz="16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Mido distancia respecto de </a:t>
            </a:r>
            <a:r>
              <a:rPr lang="es-AR" sz="1600" dirty="0" err="1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manifold</a:t>
            </a:r>
            <a:r>
              <a:rPr lang="es-AR" sz="16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 dato normal</a:t>
            </a:r>
          </a:p>
        </p:txBody>
      </p:sp>
      <p:pic>
        <p:nvPicPr>
          <p:cNvPr id="4" name="Imagen 8">
            <a:extLst>
              <a:ext uri="{FF2B5EF4-FFF2-40B4-BE49-F238E27FC236}">
                <a16:creationId xmlns:a16="http://schemas.microsoft.com/office/drawing/2014/main" id="{C595757D-9648-F075-84DE-13376035B8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152" y="1535225"/>
            <a:ext cx="1499228" cy="1311825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97814F-9133-85F2-0884-71693722582C}"/>
              </a:ext>
            </a:extLst>
          </p:cNvPr>
          <p:cNvCxnSpPr>
            <a:cxnSpLocks/>
            <a:endCxn id="35" idx="0"/>
          </p:cNvCxnSpPr>
          <p:nvPr/>
        </p:nvCxnSpPr>
        <p:spPr>
          <a:xfrm flipH="1">
            <a:off x="6757816" y="1834478"/>
            <a:ext cx="106079" cy="1117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2CE82E-B670-1AFC-293C-2432729E305C}"/>
              </a:ext>
            </a:extLst>
          </p:cNvPr>
          <p:cNvGrpSpPr/>
          <p:nvPr/>
        </p:nvGrpSpPr>
        <p:grpSpPr>
          <a:xfrm>
            <a:off x="6784573" y="1665638"/>
            <a:ext cx="164520" cy="151920"/>
            <a:chOff x="6784573" y="1665638"/>
            <a:chExt cx="16452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E9576E-EDAF-E6BA-6AD8-29E215259B38}"/>
                    </a:ext>
                  </a:extLst>
                </p14:cNvPr>
                <p14:cNvContentPartPr/>
                <p14:nvPr/>
              </p14:nvContentPartPr>
              <p14:xfrm>
                <a:off x="6805453" y="1665638"/>
                <a:ext cx="97560" cy="127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E9576E-EDAF-E6BA-6AD8-29E215259B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99333" y="1659518"/>
                  <a:ext cx="109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C60630-6602-0EAD-7B9C-4069D2E8A273}"/>
                    </a:ext>
                  </a:extLst>
                </p14:cNvPr>
                <p14:cNvContentPartPr/>
                <p14:nvPr/>
              </p14:nvContentPartPr>
              <p14:xfrm>
                <a:off x="6784573" y="1682558"/>
                <a:ext cx="164520" cy="13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C60630-6602-0EAD-7B9C-4069D2E8A2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78453" y="1676438"/>
                  <a:ext cx="176760" cy="1472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2472F9-FE7E-485E-24E0-71D7EE734D21}"/>
              </a:ext>
            </a:extLst>
          </p:cNvPr>
          <p:cNvCxnSpPr>
            <a:cxnSpLocks/>
          </p:cNvCxnSpPr>
          <p:nvPr/>
        </p:nvCxnSpPr>
        <p:spPr>
          <a:xfrm flipV="1">
            <a:off x="2990155" y="1789674"/>
            <a:ext cx="3767661" cy="2428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4406FDB-1C34-98FE-31D2-634302308289}"/>
              </a:ext>
            </a:extLst>
          </p:cNvPr>
          <p:cNvCxnSpPr>
            <a:cxnSpLocks/>
          </p:cNvCxnSpPr>
          <p:nvPr/>
        </p:nvCxnSpPr>
        <p:spPr>
          <a:xfrm>
            <a:off x="6854233" y="1728686"/>
            <a:ext cx="69660" cy="248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39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19d644e1e_1_96"/>
          <p:cNvSpPr txBox="1"/>
          <p:nvPr/>
        </p:nvSpPr>
        <p:spPr>
          <a:xfrm>
            <a:off x="2188593" y="142162"/>
            <a:ext cx="43152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¡Un merecido descanso!</a:t>
            </a:r>
            <a:endParaRPr sz="1100"/>
          </a:p>
        </p:txBody>
      </p:sp>
      <p:pic>
        <p:nvPicPr>
          <p:cNvPr id="195" name="Google Shape;195;g2f19d644e1e_1_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867" y="1043643"/>
            <a:ext cx="8080892" cy="3674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19d644e1e_1_120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2" name="Google Shape;222;g2f19d644e1e_1_120"/>
          <p:cNvSpPr txBox="1"/>
          <p:nvPr/>
        </p:nvSpPr>
        <p:spPr>
          <a:xfrm>
            <a:off x="173979" y="781835"/>
            <a:ext cx="8641496" cy="415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trata de crear espacio continuo de representación de los inputs.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crean ad-hoc o dentro del frame de la NN.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Cada palabra es representada por un vector N-dimensional en un sub-espacio contínuo (en el embedding)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 posición que toma el vector N-dimensional se entrena a partir de su entorno.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3" name="Google Shape;223;g2f19d644e1e_1_120"/>
          <p:cNvSpPr txBox="1"/>
          <p:nvPr/>
        </p:nvSpPr>
        <p:spPr>
          <a:xfrm>
            <a:off x="2183084" y="3429405"/>
            <a:ext cx="3660707" cy="356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Perro </a:t>
            </a:r>
            <a:r>
              <a:rPr lang="en" sz="21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[e1, e2, e3, … eN]</a:t>
            </a:r>
            <a:endParaRPr sz="21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19d644e1e_1_138"/>
          <p:cNvSpPr txBox="1"/>
          <p:nvPr/>
        </p:nvSpPr>
        <p:spPr>
          <a:xfrm>
            <a:off x="-119743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2" name="Google Shape;242;g2f19d644e1e_1_138"/>
          <p:cNvSpPr txBox="1"/>
          <p:nvPr/>
        </p:nvSpPr>
        <p:spPr>
          <a:xfrm>
            <a:off x="127118" y="983612"/>
            <a:ext cx="8641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3" name="Google Shape;243;g2f19d644e1e_1_138"/>
          <p:cNvSpPr/>
          <p:nvPr/>
        </p:nvSpPr>
        <p:spPr>
          <a:xfrm>
            <a:off x="200950" y="1798027"/>
            <a:ext cx="306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One-hot-encoding 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!=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Word embedding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</p:txBody>
      </p:sp>
      <p:pic>
        <p:nvPicPr>
          <p:cNvPr id="244" name="Google Shape;244;g2f19d644e1e_1_138"/>
          <p:cNvPicPr preferRelativeResize="0"/>
          <p:nvPr/>
        </p:nvPicPr>
        <p:blipFill rotWithShape="1">
          <a:blip r:embed="rId3">
            <a:alphaModFix/>
          </a:blip>
          <a:srcRect t="5432" r="20504" b="6596"/>
          <a:stretch/>
        </p:blipFill>
        <p:spPr>
          <a:xfrm>
            <a:off x="4066416" y="743525"/>
            <a:ext cx="4591357" cy="182822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2f19d644e1e_1_138"/>
          <p:cNvSpPr/>
          <p:nvPr/>
        </p:nvSpPr>
        <p:spPr>
          <a:xfrm>
            <a:off x="270571" y="4776341"/>
            <a:ext cx="81908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https://www.shanelynn.ie/get-busy-with-word-embeddings-introduction/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46" name="Google Shape;246;g2f19d644e1e_1_138"/>
          <p:cNvPicPr preferRelativeResize="0"/>
          <p:nvPr/>
        </p:nvPicPr>
        <p:blipFill rotWithShape="1">
          <a:blip r:embed="rId4">
            <a:alphaModFix/>
          </a:blip>
          <a:srcRect t="12665" r="26123" b="6713"/>
          <a:stretch/>
        </p:blipFill>
        <p:spPr>
          <a:xfrm>
            <a:off x="4537105" y="2571750"/>
            <a:ext cx="4190445" cy="21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2f19d644e1e_1_138"/>
          <p:cNvSpPr/>
          <p:nvPr/>
        </p:nvSpPr>
        <p:spPr>
          <a:xfrm>
            <a:off x="537127" y="3159945"/>
            <a:ext cx="304252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Reducción de dimensiones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aprenden propiedades intrínsecas de palabas que pertenecen al mismo grupo.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19d644e1e_1_126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9" name="Google Shape;229;g2f19d644e1e_1_126"/>
          <p:cNvSpPr txBox="1"/>
          <p:nvPr/>
        </p:nvSpPr>
        <p:spPr>
          <a:xfrm>
            <a:off x="423857" y="635911"/>
            <a:ext cx="8391617" cy="1719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Ejemplo: vocabulario 4 palabra, embedding dimensión 2: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Perro 	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 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[e00, e01] = [ 0.123, 0.541]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Gato 	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[e10, e11] = [ 0.287, 0.459]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Caballo 	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 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[e20, e21] = [ 0.594, 0.180]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Árbol de levas 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 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[e30, e31] = [ 0.251, 0.328]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0" name="Google Shape;230;g2f19d644e1e_1_126"/>
          <p:cNvSpPr/>
          <p:nvPr/>
        </p:nvSpPr>
        <p:spPr>
          <a:xfrm rot="10800000" flipH="1">
            <a:off x="1868554" y="2845883"/>
            <a:ext cx="824950" cy="143956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1"/>
          </a:solidFill>
          <a:ln w="158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1" name="Google Shape;231;g2f19d644e1e_1_126"/>
          <p:cNvSpPr txBox="1"/>
          <p:nvPr/>
        </p:nvSpPr>
        <p:spPr>
          <a:xfrm>
            <a:off x="553064" y="3136463"/>
            <a:ext cx="1454639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Entrenamiento supervisado siguiendo una false task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2" name="Google Shape;232;g2f19d644e1e_1_126"/>
          <p:cNvSpPr txBox="1"/>
          <p:nvPr/>
        </p:nvSpPr>
        <p:spPr>
          <a:xfrm>
            <a:off x="2987225" y="3565663"/>
            <a:ext cx="4805618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Perro 	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 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[e00, e01] = [ 0.873, 0.241]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Gato 	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 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[e10, e11] = [ 0.921, 0.147]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Caballo 	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 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[e20, e21] = [ 0.723, 0.541]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Árbol de levas 	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 </a:t>
            </a:r>
            <a:r>
              <a:rPr lang="en" sz="15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[e30, e31] = [ 0.003, 0.981]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33" name="Google Shape;233;g2f19d644e1e_1_126"/>
          <p:cNvCxnSpPr/>
          <p:nvPr/>
        </p:nvCxnSpPr>
        <p:spPr>
          <a:xfrm rot="10800000" flipH="1">
            <a:off x="6165499" y="3377803"/>
            <a:ext cx="904460" cy="1298624"/>
          </a:xfrm>
          <a:prstGeom prst="straightConnector1">
            <a:avLst/>
          </a:prstGeom>
          <a:noFill/>
          <a:ln w="57150" cap="flat" cmpd="sng">
            <a:solidFill>
              <a:srgbClr val="FF0000">
                <a:alpha val="49803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4" name="Google Shape;234;g2f19d644e1e_1_126"/>
          <p:cNvSpPr txBox="1"/>
          <p:nvPr/>
        </p:nvSpPr>
        <p:spPr>
          <a:xfrm>
            <a:off x="5995652" y="3109577"/>
            <a:ext cx="214861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“pesos” entrenados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5" name="Google Shape;235;g2f19d644e1e_1_126"/>
          <p:cNvSpPr txBox="1"/>
          <p:nvPr/>
        </p:nvSpPr>
        <p:spPr>
          <a:xfrm>
            <a:off x="4682996" y="1110422"/>
            <a:ext cx="2625311" cy="3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“pesos” inicializados “rand”</a:t>
            </a:r>
            <a:endParaRPr sz="15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6" name="Google Shape;236;g2f19d644e1e_1_126"/>
          <p:cNvSpPr/>
          <p:nvPr/>
        </p:nvSpPr>
        <p:spPr>
          <a:xfrm>
            <a:off x="3151580" y="1266426"/>
            <a:ext cx="1779104" cy="1576476"/>
          </a:xfrm>
          <a:prstGeom prst="cloud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507C970C-12AA-A108-ADCB-9AA0D456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f19d644e1e_1_155">
            <a:extLst>
              <a:ext uri="{FF2B5EF4-FFF2-40B4-BE49-F238E27FC236}">
                <a16:creationId xmlns:a16="http://schemas.microsoft.com/office/drawing/2014/main" id="{E5D0292D-44F9-7EC8-39F2-5EB9B1CEA9A7}"/>
              </a:ext>
            </a:extLst>
          </p:cNvPr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1" name="Google Shape;261;g2f19d644e1e_1_155">
            <a:extLst>
              <a:ext uri="{FF2B5EF4-FFF2-40B4-BE49-F238E27FC236}">
                <a16:creationId xmlns:a16="http://schemas.microsoft.com/office/drawing/2014/main" id="{B099A186-CC06-00D9-1DAA-4BCF0F5B2B97}"/>
              </a:ext>
            </a:extLst>
          </p:cNvPr>
          <p:cNvSpPr txBox="1"/>
          <p:nvPr/>
        </p:nvSpPr>
        <p:spPr>
          <a:xfrm>
            <a:off x="203554" y="746323"/>
            <a:ext cx="8641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metricas de similitud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Google Shape;261;g2f19d644e1e_1_155">
            <a:extLst>
              <a:ext uri="{FF2B5EF4-FFF2-40B4-BE49-F238E27FC236}">
                <a16:creationId xmlns:a16="http://schemas.microsoft.com/office/drawing/2014/main" id="{FFA1A8F4-5F24-EB3E-C77B-1BFCF13D2D0A}"/>
              </a:ext>
            </a:extLst>
          </p:cNvPr>
          <p:cNvSpPr txBox="1"/>
          <p:nvPr/>
        </p:nvSpPr>
        <p:spPr>
          <a:xfrm>
            <a:off x="272075" y="1797933"/>
            <a:ext cx="2211711" cy="409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Distancia euclidea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" name="Google Shape;261;g2f19d644e1e_1_155">
            <a:extLst>
              <a:ext uri="{FF2B5EF4-FFF2-40B4-BE49-F238E27FC236}">
                <a16:creationId xmlns:a16="http://schemas.microsoft.com/office/drawing/2014/main" id="{597CEB4E-0671-FD57-0623-8DA3B7214C67}"/>
              </a:ext>
            </a:extLst>
          </p:cNvPr>
          <p:cNvSpPr txBox="1"/>
          <p:nvPr/>
        </p:nvSpPr>
        <p:spPr>
          <a:xfrm>
            <a:off x="173978" y="2720407"/>
            <a:ext cx="2407909" cy="409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imilitud del coseno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Google Shape;261;g2f19d644e1e_1_155">
            <a:extLst>
              <a:ext uri="{FF2B5EF4-FFF2-40B4-BE49-F238E27FC236}">
                <a16:creationId xmlns:a16="http://schemas.microsoft.com/office/drawing/2014/main" id="{3E812993-F13A-9DD9-F163-19ACF090FAEA}"/>
              </a:ext>
            </a:extLst>
          </p:cNvPr>
          <p:cNvSpPr txBox="1"/>
          <p:nvPr/>
        </p:nvSpPr>
        <p:spPr>
          <a:xfrm>
            <a:off x="173977" y="4084625"/>
            <a:ext cx="2407909" cy="409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Producto punto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CBCE2D1-F48B-0AB4-2AB8-1FFFC9FD8C44}"/>
                  </a:ext>
                </a:extLst>
              </p:cNvPr>
              <p:cNvSpPr txBox="1"/>
              <p:nvPr/>
            </p:nvSpPr>
            <p:spPr>
              <a:xfrm>
                <a:off x="3738376" y="1568966"/>
                <a:ext cx="1213088" cy="838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s-E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CBCE2D1-F48B-0AB4-2AB8-1FFFC9FD8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376" y="1568966"/>
                <a:ext cx="1213088" cy="8381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E6E4A45-14A2-3BA1-9886-622B2F663931}"/>
                  </a:ext>
                </a:extLst>
              </p:cNvPr>
              <p:cNvSpPr txBox="1"/>
              <p:nvPr/>
            </p:nvSpPr>
            <p:spPr>
              <a:xfrm>
                <a:off x="3738376" y="3911844"/>
                <a:ext cx="944426" cy="58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E6E4A45-14A2-3BA1-9886-622B2F663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376" y="3911844"/>
                <a:ext cx="944426" cy="588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1525B25-E873-2D45-DC8D-F79E0DC1B452}"/>
                  </a:ext>
                </a:extLst>
              </p:cNvPr>
              <p:cNvSpPr txBox="1"/>
              <p:nvPr/>
            </p:nvSpPr>
            <p:spPr>
              <a:xfrm>
                <a:off x="3872707" y="2865311"/>
                <a:ext cx="834844" cy="433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1525B25-E873-2D45-DC8D-F79E0DC1B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07" y="2865311"/>
                <a:ext cx="834844" cy="433580"/>
              </a:xfrm>
              <a:prstGeom prst="rect">
                <a:avLst/>
              </a:prstGeom>
              <a:blipFill>
                <a:blip r:embed="rId5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596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19d644e1e_1_164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algn="ctr">
              <a:lnSpc>
                <a:spcPct val="120000"/>
              </a:lnSpc>
              <a:buClr>
                <a:schemeClr val="dk1"/>
              </a:buClr>
              <a:buSzPts val="3000"/>
            </a:pPr>
            <a:r>
              <a:rPr lang="es-ES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</a:t>
            </a: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mbeddings - </a:t>
            </a:r>
            <a:r>
              <a:rPr lang="es-ES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Aprendizaje basado en contexto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2" name="Google Shape;272;g2f19d644e1e_1_164"/>
          <p:cNvSpPr txBox="1"/>
          <p:nvPr/>
        </p:nvSpPr>
        <p:spPr>
          <a:xfrm>
            <a:off x="413130" y="814403"/>
            <a:ext cx="8641496" cy="114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ES" dirty="0">
                <a:sym typeface="Twentieth Century"/>
              </a:rPr>
              <a:t>- Una tarea de predicción relaciona una palabra con las palabras de su entorno.</a:t>
            </a:r>
          </a:p>
          <a:p>
            <a:r>
              <a:rPr lang="es-ES" dirty="0">
                <a:sym typeface="Twentieth Century"/>
              </a:rPr>
              <a:t>- El entrenamiento ajusta los </a:t>
            </a:r>
            <a:r>
              <a:rPr lang="es-ES" dirty="0" err="1">
                <a:sym typeface="Twentieth Century"/>
              </a:rPr>
              <a:t>embeddings</a:t>
            </a:r>
            <a:r>
              <a:rPr lang="es-ES" dirty="0">
                <a:sym typeface="Twentieth Century"/>
              </a:rPr>
              <a:t> para resolver esa tarea.</a:t>
            </a:r>
          </a:p>
          <a:p>
            <a:r>
              <a:rPr lang="es-ES" dirty="0">
                <a:sym typeface="Twentieth Century"/>
              </a:rPr>
              <a:t>- Las relaciones entre </a:t>
            </a:r>
            <a:r>
              <a:rPr lang="es-ES" dirty="0" err="1">
                <a:sym typeface="Twentieth Century"/>
              </a:rPr>
              <a:t>embeddings</a:t>
            </a:r>
            <a:r>
              <a:rPr lang="es-ES" dirty="0">
                <a:sym typeface="Twentieth Century"/>
              </a:rPr>
              <a:t> reflejan los datos y el objetivo de aprendizaje.</a:t>
            </a:r>
            <a:endParaRPr dirty="0">
              <a:sym typeface="Twentieth Century"/>
            </a:endParaRPr>
          </a:p>
        </p:txBody>
      </p:sp>
      <p:pic>
        <p:nvPicPr>
          <p:cNvPr id="273" name="Google Shape;273;g2f19d644e1e_1_16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094" y="2323854"/>
            <a:ext cx="3596709" cy="1537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2f19d644e1e_1_164"/>
          <p:cNvPicPr preferRelativeResize="0"/>
          <p:nvPr/>
        </p:nvPicPr>
        <p:blipFill rotWithShape="1">
          <a:blip r:embed="rId4">
            <a:alphaModFix/>
          </a:blip>
          <a:srcRect l="4402" t="13530" r="3300" b="17138"/>
          <a:stretch/>
        </p:blipFill>
        <p:spPr>
          <a:xfrm>
            <a:off x="321491" y="2435403"/>
            <a:ext cx="3701715" cy="11701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82;g2f19d644e1e_1_171">
            <a:extLst>
              <a:ext uri="{FF2B5EF4-FFF2-40B4-BE49-F238E27FC236}">
                <a16:creationId xmlns:a16="http://schemas.microsoft.com/office/drawing/2014/main" id="{4D3DB723-C316-6124-9A59-5643D438D70B}"/>
              </a:ext>
            </a:extLst>
          </p:cNvPr>
          <p:cNvSpPr/>
          <p:nvPr/>
        </p:nvSpPr>
        <p:spPr>
          <a:xfrm>
            <a:off x="698818" y="4118076"/>
            <a:ext cx="8051287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Entrenamiento con predictores, usando esquemas tales como: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Skip Gram o Continuous Bag of Words (CBOW)… siguiendo una false task</a:t>
            </a:r>
            <a:endParaRPr sz="18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19d644e1e_1_178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8" name="Google Shape;288;g2f19d644e1e_1_178"/>
          <p:cNvSpPr txBox="1"/>
          <p:nvPr/>
        </p:nvSpPr>
        <p:spPr>
          <a:xfrm>
            <a:off x="173979" y="781835"/>
            <a:ext cx="864149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CBOW y skip-gram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89" name="Google Shape;289;g2f19d644e1e_1_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7349" y="1366093"/>
            <a:ext cx="5762671" cy="3532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EBF2D2-C42F-D99B-6036-FEBB7FA07C62}"/>
              </a:ext>
            </a:extLst>
          </p:cNvPr>
          <p:cNvSpPr txBox="1"/>
          <p:nvPr/>
        </p:nvSpPr>
        <p:spPr>
          <a:xfrm>
            <a:off x="-1" y="1727233"/>
            <a:ext cx="320735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1600" dirty="0"/>
              <a:t>Aquí me pongo a cantar </a:t>
            </a:r>
            <a:br>
              <a:rPr lang="es-ES" sz="1600" dirty="0"/>
            </a:br>
            <a:r>
              <a:rPr lang="es-ES" sz="1600" dirty="0"/>
              <a:t>al compás de la </a:t>
            </a:r>
            <a:r>
              <a:rPr lang="es-ES" sz="1600" dirty="0" err="1"/>
              <a:t>vigüela</a:t>
            </a:r>
            <a:r>
              <a:rPr lang="es-ES" sz="1600" dirty="0"/>
              <a:t>, </a:t>
            </a:r>
            <a:br>
              <a:rPr lang="es-ES" sz="1600" dirty="0"/>
            </a:br>
            <a:r>
              <a:rPr lang="es-ES" sz="1600" dirty="0"/>
              <a:t>que el hombre que lo desvela </a:t>
            </a:r>
            <a:br>
              <a:rPr lang="es-ES" sz="1600" dirty="0"/>
            </a:br>
            <a:r>
              <a:rPr lang="es-ES" sz="1600" dirty="0"/>
              <a:t>una pena </a:t>
            </a:r>
            <a:r>
              <a:rPr lang="es-ES" sz="1600" dirty="0" err="1"/>
              <a:t>estraordinaria</a:t>
            </a:r>
            <a:r>
              <a:rPr lang="es-ES" sz="1600" dirty="0"/>
              <a:t>, </a:t>
            </a:r>
            <a:br>
              <a:rPr lang="es-ES" sz="1600" dirty="0"/>
            </a:br>
            <a:r>
              <a:rPr lang="es-ES" sz="1600" dirty="0"/>
              <a:t>como la ave solitaria con el cantar se consuela.</a:t>
            </a:r>
          </a:p>
          <a:p>
            <a:pPr algn="ctr">
              <a:buNone/>
            </a:pPr>
            <a:endParaRPr lang="es-ES" sz="1600" dirty="0"/>
          </a:p>
          <a:p>
            <a:pPr algn="ctr">
              <a:buNone/>
            </a:pPr>
            <a:r>
              <a:rPr lang="es-ES" sz="1600" dirty="0"/>
              <a:t>“Martín Fierro” J. </a:t>
            </a:r>
            <a:r>
              <a:rPr lang="es-ES" sz="1600" dirty="0" err="1"/>
              <a:t>Hernandez</a:t>
            </a:r>
            <a:endParaRPr lang="es-E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19d644e1e_1_184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s-ES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</a:t>
            </a: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mbeddings </a:t>
            </a:r>
            <a:endParaRPr sz="24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5" name="Google Shape;295;g2f19d644e1e_1_184"/>
          <p:cNvSpPr txBox="1"/>
          <p:nvPr/>
        </p:nvSpPr>
        <p:spPr>
          <a:xfrm>
            <a:off x="173979" y="781835"/>
            <a:ext cx="864149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Logran capturar “conceptos” en base al entrenamiento aplicado.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6" name="Google Shape;296;g2f19d644e1e_1_184"/>
          <p:cNvSpPr/>
          <p:nvPr/>
        </p:nvSpPr>
        <p:spPr>
          <a:xfrm>
            <a:off x="189080" y="1424795"/>
            <a:ext cx="8157427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/>
            <a:r>
              <a:rPr lang="en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bike_embedding y bike_embedding_extensiones</a:t>
            </a:r>
            <a:endParaRPr sz="18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96E57D-EB9F-B724-A178-964276263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59" y="2206630"/>
            <a:ext cx="8048587" cy="1210474"/>
          </a:xfrm>
          <a:prstGeom prst="rect">
            <a:avLst/>
          </a:prstGeom>
        </p:spPr>
      </p:pic>
      <p:sp>
        <p:nvSpPr>
          <p:cNvPr id="5" name="Google Shape;296;g2f19d644e1e_1_184">
            <a:extLst>
              <a:ext uri="{FF2B5EF4-FFF2-40B4-BE49-F238E27FC236}">
                <a16:creationId xmlns:a16="http://schemas.microsoft.com/office/drawing/2014/main" id="{9180AFCE-6FFA-62C2-8CF1-87050B606500}"/>
              </a:ext>
            </a:extLst>
          </p:cNvPr>
          <p:cNvSpPr/>
          <p:nvPr/>
        </p:nvSpPr>
        <p:spPr>
          <a:xfrm>
            <a:off x="2282823" y="3709931"/>
            <a:ext cx="559884" cy="30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/>
            <a:r>
              <a:rPr lang="en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Mes</a:t>
            </a:r>
            <a:endParaRPr sz="1800" dirty="0">
              <a:solidFill>
                <a:schemeClr val="bg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" name="Google Shape;296;g2f19d644e1e_1_184">
            <a:extLst>
              <a:ext uri="{FF2B5EF4-FFF2-40B4-BE49-F238E27FC236}">
                <a16:creationId xmlns:a16="http://schemas.microsoft.com/office/drawing/2014/main" id="{D9C747FB-9906-973A-2DFD-84769C143C54}"/>
              </a:ext>
            </a:extLst>
          </p:cNvPr>
          <p:cNvSpPr/>
          <p:nvPr/>
        </p:nvSpPr>
        <p:spPr>
          <a:xfrm>
            <a:off x="1344810" y="3722852"/>
            <a:ext cx="998326" cy="30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/>
            <a:r>
              <a:rPr lang="en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Estación</a:t>
            </a:r>
            <a:endParaRPr sz="1800" dirty="0">
              <a:solidFill>
                <a:schemeClr val="bg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" name="Google Shape;296;g2f19d644e1e_1_184">
            <a:extLst>
              <a:ext uri="{FF2B5EF4-FFF2-40B4-BE49-F238E27FC236}">
                <a16:creationId xmlns:a16="http://schemas.microsoft.com/office/drawing/2014/main" id="{94224B71-E4F8-18EC-406B-0794EABEBAA9}"/>
              </a:ext>
            </a:extLst>
          </p:cNvPr>
          <p:cNvSpPr/>
          <p:nvPr/>
        </p:nvSpPr>
        <p:spPr>
          <a:xfrm>
            <a:off x="5284503" y="3688887"/>
            <a:ext cx="1399735" cy="30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algn="ctr"/>
            <a:r>
              <a:rPr lang="es-AR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atos ambientales</a:t>
            </a:r>
            <a:endParaRPr sz="1800" dirty="0">
              <a:solidFill>
                <a:schemeClr val="bg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296;g2f19d644e1e_1_184">
            <a:extLst>
              <a:ext uri="{FF2B5EF4-FFF2-40B4-BE49-F238E27FC236}">
                <a16:creationId xmlns:a16="http://schemas.microsoft.com/office/drawing/2014/main" id="{2549DAE5-92E8-B867-7707-B4D5F4E7DF81}"/>
              </a:ext>
            </a:extLst>
          </p:cNvPr>
          <p:cNvSpPr/>
          <p:nvPr/>
        </p:nvSpPr>
        <p:spPr>
          <a:xfrm>
            <a:off x="7123495" y="3657266"/>
            <a:ext cx="1399735" cy="30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 algn="ctr"/>
            <a:r>
              <a:rPr lang="es-ES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Uso de bicicleta</a:t>
            </a:r>
            <a:endParaRPr sz="1800" dirty="0">
              <a:solidFill>
                <a:schemeClr val="bg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8BF99C25-E029-2A99-B2DA-22D5C0040B5A}"/>
              </a:ext>
            </a:extLst>
          </p:cNvPr>
          <p:cNvSpPr/>
          <p:nvPr/>
        </p:nvSpPr>
        <p:spPr>
          <a:xfrm rot="5400000">
            <a:off x="7697201" y="3048744"/>
            <a:ext cx="201698" cy="1146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Cerrar llave 13">
            <a:extLst>
              <a:ext uri="{FF2B5EF4-FFF2-40B4-BE49-F238E27FC236}">
                <a16:creationId xmlns:a16="http://schemas.microsoft.com/office/drawing/2014/main" id="{82A83D1E-258A-7843-DA1C-7F6EF1FDC191}"/>
              </a:ext>
            </a:extLst>
          </p:cNvPr>
          <p:cNvSpPr/>
          <p:nvPr/>
        </p:nvSpPr>
        <p:spPr>
          <a:xfrm rot="5400000">
            <a:off x="5883521" y="2591063"/>
            <a:ext cx="201698" cy="210522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Cerrar llave 15">
            <a:extLst>
              <a:ext uri="{FF2B5EF4-FFF2-40B4-BE49-F238E27FC236}">
                <a16:creationId xmlns:a16="http://schemas.microsoft.com/office/drawing/2014/main" id="{FECCDD54-D455-1975-1F61-853E8565A26B}"/>
              </a:ext>
            </a:extLst>
          </p:cNvPr>
          <p:cNvSpPr/>
          <p:nvPr/>
        </p:nvSpPr>
        <p:spPr>
          <a:xfrm rot="5400000">
            <a:off x="1757885" y="3433762"/>
            <a:ext cx="201698" cy="35063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Cerrar llave 17">
            <a:extLst>
              <a:ext uri="{FF2B5EF4-FFF2-40B4-BE49-F238E27FC236}">
                <a16:creationId xmlns:a16="http://schemas.microsoft.com/office/drawing/2014/main" id="{2674279A-C800-88B1-1EC4-F9F665EDEC6D}"/>
              </a:ext>
            </a:extLst>
          </p:cNvPr>
          <p:cNvSpPr/>
          <p:nvPr/>
        </p:nvSpPr>
        <p:spPr>
          <a:xfrm rot="5400000">
            <a:off x="2430094" y="3446683"/>
            <a:ext cx="201698" cy="35063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Google Shape;296;g2f19d644e1e_1_184">
            <a:extLst>
              <a:ext uri="{FF2B5EF4-FFF2-40B4-BE49-F238E27FC236}">
                <a16:creationId xmlns:a16="http://schemas.microsoft.com/office/drawing/2014/main" id="{3101039B-0F12-A74B-A362-4964149A948E}"/>
              </a:ext>
            </a:extLst>
          </p:cNvPr>
          <p:cNvSpPr/>
          <p:nvPr/>
        </p:nvSpPr>
        <p:spPr>
          <a:xfrm>
            <a:off x="955769" y="1814046"/>
            <a:ext cx="2014110" cy="30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/>
            <a:r>
              <a:rPr lang="es-AR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atos disponibles</a:t>
            </a:r>
            <a:endParaRPr sz="1800" dirty="0">
              <a:solidFill>
                <a:schemeClr val="bg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DAF5809-A36D-3911-2B02-E1446D9CB6E8}"/>
              </a:ext>
            </a:extLst>
          </p:cNvPr>
          <p:cNvCxnSpPr>
            <a:cxnSpLocks/>
          </p:cNvCxnSpPr>
          <p:nvPr/>
        </p:nvCxnSpPr>
        <p:spPr>
          <a:xfrm flipH="1">
            <a:off x="618978" y="1957334"/>
            <a:ext cx="321690" cy="3553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Google Shape;296;g2f19d644e1e_1_184">
            <a:extLst>
              <a:ext uri="{FF2B5EF4-FFF2-40B4-BE49-F238E27FC236}">
                <a16:creationId xmlns:a16="http://schemas.microsoft.com/office/drawing/2014/main" id="{285D0804-809D-3072-CF7F-7A56F968C863}"/>
              </a:ext>
            </a:extLst>
          </p:cNvPr>
          <p:cNvSpPr/>
          <p:nvPr/>
        </p:nvSpPr>
        <p:spPr>
          <a:xfrm>
            <a:off x="189079" y="4519733"/>
            <a:ext cx="4073431" cy="30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/>
            <a:r>
              <a:rPr lang="es-ES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Objetivo: Aprender </a:t>
            </a:r>
            <a:r>
              <a:rPr lang="es-ES" sz="1800" dirty="0" err="1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embeddings</a:t>
            </a:r>
            <a:r>
              <a:rPr lang="es-ES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 mes</a:t>
            </a:r>
            <a:endParaRPr sz="1800" dirty="0">
              <a:solidFill>
                <a:schemeClr val="bg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" name="Google Shape;296;g2f19d644e1e_1_184">
            <a:extLst>
              <a:ext uri="{FF2B5EF4-FFF2-40B4-BE49-F238E27FC236}">
                <a16:creationId xmlns:a16="http://schemas.microsoft.com/office/drawing/2014/main" id="{97649FC7-1B71-045E-AA51-D88E38F4E0B7}"/>
              </a:ext>
            </a:extLst>
          </p:cNvPr>
          <p:cNvSpPr/>
          <p:nvPr/>
        </p:nvSpPr>
        <p:spPr>
          <a:xfrm>
            <a:off x="4800937" y="4519732"/>
            <a:ext cx="4073431" cy="30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/>
            <a:r>
              <a:rPr lang="es-ES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False </a:t>
            </a:r>
            <a:r>
              <a:rPr lang="es-ES" sz="1800" dirty="0" err="1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task</a:t>
            </a:r>
            <a:r>
              <a:rPr lang="es-ES" sz="18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Predecir uso de bicicletas</a:t>
            </a:r>
            <a:endParaRPr sz="1800" dirty="0">
              <a:solidFill>
                <a:schemeClr val="bg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1304</Words>
  <Application>Microsoft Office PowerPoint</Application>
  <PresentationFormat>Presentación en pantalla (16:9)</PresentationFormat>
  <Paragraphs>190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Twentieth Century</vt:lpstr>
      <vt:lpstr>Roboto</vt:lpstr>
      <vt:lpstr>NimbusRomNo9L-Regu</vt:lpstr>
      <vt:lpstr>NimbusRomNo9L-ReguItal</vt:lpstr>
      <vt:lpstr>Arial</vt:lpstr>
      <vt:lpstr>Times New Roman</vt:lpstr>
      <vt:lpstr>Cambria Math</vt:lpstr>
      <vt:lpstr>Material</vt:lpstr>
      <vt:lpstr>Aprendizaje Profundo</vt:lpstr>
      <vt:lpstr>REPRESENTATION LEARNING  AUTOENCODER / EMBEDDINGS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Maillot</cp:lastModifiedBy>
  <cp:revision>10</cp:revision>
  <dcterms:modified xsi:type="dcterms:W3CDTF">2026-10-06T19:25:59Z</dcterms:modified>
</cp:coreProperties>
</file>