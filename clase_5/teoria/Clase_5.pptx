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7" r:id="rId40"/>
    <p:sldId id="298" r:id="rId41"/>
    <p:sldId id="301" r:id="rId42"/>
    <p:sldId id="300" r:id="rId43"/>
    <p:sldId id="295" r:id="rId44"/>
    <p:sldId id="296" r:id="rId4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7"/>
    </p:embeddedFont>
    <p:embeddedFont>
      <p:font typeface="Consolas" panose="020B0609020204030204" pitchFamily="49" charset="0"/>
      <p:regular r:id="rId48"/>
      <p:bold r:id="rId49"/>
      <p:italic r:id="rId50"/>
      <p:boldItalic r:id="rId51"/>
    </p:embeddedFont>
    <p:embeddedFont>
      <p:font typeface="Roboto" panose="02000000000000000000" pitchFamily="2" charset="0"/>
      <p:regular r:id="rId52"/>
      <p:bold r:id="rId53"/>
      <p:italic r:id="rId54"/>
      <p:boldItalic r:id="rId55"/>
    </p:embeddedFont>
    <p:embeddedFont>
      <p:font typeface="Roboto Mono" panose="00000009000000000000" pitchFamily="49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CE306D-661A-46BB-B96B-D656D7E1CA4C}" v="42" dt="2025-04-01T18:41:15.373"/>
  </p1510:revLst>
</p1510:revInfo>
</file>

<file path=ppt/tableStyles.xml><?xml version="1.0" encoding="utf-8"?>
<a:tblStyleLst xmlns:a="http://schemas.openxmlformats.org/drawingml/2006/main" def="{785B5045-CBB6-46CF-AA46-B7B1FD946A01}">
  <a:tblStyle styleId="{785B5045-CBB6-46CF-AA46-B7B1FD946A01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6E8"/>
          </a:solidFill>
        </a:fill>
      </a:tcStyle>
    </a:wholeTbl>
    <a:band1H>
      <a:tcTxStyle/>
      <a:tcStyle>
        <a:tcBdr/>
        <a:fill>
          <a:solidFill>
            <a:srgbClr val="DDED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DED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illot" userId="fa14b39d-e966-4ebb-a436-4f96f84b9577" providerId="ADAL" clId="{3CD77F36-27AF-416A-955F-DB2ACA7CE52E}"/>
    <pc:docChg chg="undo custSel modSld">
      <pc:chgData name="Marcos Maillot" userId="fa14b39d-e966-4ebb-a436-4f96f84b9577" providerId="ADAL" clId="{3CD77F36-27AF-416A-955F-DB2ACA7CE52E}" dt="2024-09-27T18:30:31.989" v="9" actId="5793"/>
      <pc:docMkLst>
        <pc:docMk/>
      </pc:docMkLst>
      <pc:sldChg chg="modSp mod">
        <pc:chgData name="Marcos Maillot" userId="fa14b39d-e966-4ebb-a436-4f96f84b9577" providerId="ADAL" clId="{3CD77F36-27AF-416A-955F-DB2ACA7CE52E}" dt="2024-09-27T18:30:00.891" v="3" actId="5793"/>
        <pc:sldMkLst>
          <pc:docMk/>
          <pc:sldMk cId="0" sldId="271"/>
        </pc:sldMkLst>
      </pc:sldChg>
      <pc:sldChg chg="modSp mod">
        <pc:chgData name="Marcos Maillot" userId="fa14b39d-e966-4ebb-a436-4f96f84b9577" providerId="ADAL" clId="{3CD77F36-27AF-416A-955F-DB2ACA7CE52E}" dt="2024-09-27T18:30:25.408" v="5" actId="1076"/>
        <pc:sldMkLst>
          <pc:docMk/>
          <pc:sldMk cId="0" sldId="285"/>
        </pc:sldMkLst>
      </pc:sldChg>
      <pc:sldChg chg="modSp mod">
        <pc:chgData name="Marcos Maillot" userId="fa14b39d-e966-4ebb-a436-4f96f84b9577" providerId="ADAL" clId="{3CD77F36-27AF-416A-955F-DB2ACA7CE52E}" dt="2024-09-27T18:30:31.989" v="9" actId="5793"/>
        <pc:sldMkLst>
          <pc:docMk/>
          <pc:sldMk cId="0" sldId="286"/>
        </pc:sldMkLst>
      </pc:sldChg>
    </pc:docChg>
  </pc:docChgLst>
  <pc:docChgLst>
    <pc:chgData name="Marcos Maillot" userId="fa14b39d-e966-4ebb-a436-4f96f84b9577" providerId="ADAL" clId="{54CE306D-661A-46BB-B96B-D656D7E1CA4C}"/>
    <pc:docChg chg="undo custSel delSld modSld">
      <pc:chgData name="Marcos Maillot" userId="fa14b39d-e966-4ebb-a436-4f96f84b9577" providerId="ADAL" clId="{54CE306D-661A-46BB-B96B-D656D7E1CA4C}" dt="2025-04-01T18:42:27.704" v="318" actId="20577"/>
      <pc:docMkLst>
        <pc:docMk/>
      </pc:docMkLst>
      <pc:sldChg chg="modSp mod">
        <pc:chgData name="Marcos Maillot" userId="fa14b39d-e966-4ebb-a436-4f96f84b9577" providerId="ADAL" clId="{54CE306D-661A-46BB-B96B-D656D7E1CA4C}" dt="2025-04-01T17:35:22.185" v="51" actId="20577"/>
        <pc:sldMkLst>
          <pc:docMk/>
          <pc:sldMk cId="0" sldId="256"/>
        </pc:sldMkLst>
        <pc:spChg chg="mod">
          <ac:chgData name="Marcos Maillot" userId="fa14b39d-e966-4ebb-a436-4f96f84b9577" providerId="ADAL" clId="{54CE306D-661A-46BB-B96B-D656D7E1CA4C}" dt="2025-04-01T17:35:22.185" v="51" actId="20577"/>
          <ac:spMkLst>
            <pc:docMk/>
            <pc:sldMk cId="0" sldId="256"/>
            <ac:spMk id="69" creationId="{00000000-0000-0000-0000-000000000000}"/>
          </ac:spMkLst>
        </pc:spChg>
      </pc:sldChg>
      <pc:sldChg chg="modSp mod">
        <pc:chgData name="Marcos Maillot" userId="fa14b39d-e966-4ebb-a436-4f96f84b9577" providerId="ADAL" clId="{54CE306D-661A-46BB-B96B-D656D7E1CA4C}" dt="2025-04-01T17:37:30.146" v="92" actId="20577"/>
        <pc:sldMkLst>
          <pc:docMk/>
          <pc:sldMk cId="0" sldId="257"/>
        </pc:sldMkLst>
        <pc:spChg chg="mod">
          <ac:chgData name="Marcos Maillot" userId="fa14b39d-e966-4ebb-a436-4f96f84b9577" providerId="ADAL" clId="{54CE306D-661A-46BB-B96B-D656D7E1CA4C}" dt="2025-04-01T17:37:17.221" v="79" actId="20577"/>
          <ac:spMkLst>
            <pc:docMk/>
            <pc:sldMk cId="0" sldId="257"/>
            <ac:spMk id="76" creationId="{00000000-0000-0000-0000-000000000000}"/>
          </ac:spMkLst>
        </pc:spChg>
        <pc:spChg chg="mod">
          <ac:chgData name="Marcos Maillot" userId="fa14b39d-e966-4ebb-a436-4f96f84b9577" providerId="ADAL" clId="{54CE306D-661A-46BB-B96B-D656D7E1CA4C}" dt="2025-04-01T17:37:30.146" v="92" actId="20577"/>
          <ac:spMkLst>
            <pc:docMk/>
            <pc:sldMk cId="0" sldId="257"/>
            <ac:spMk id="78" creationId="{00000000-0000-0000-0000-000000000000}"/>
          </ac:spMkLst>
        </pc:spChg>
      </pc:sldChg>
      <pc:sldChg chg="modSp mod">
        <pc:chgData name="Marcos Maillot" userId="fa14b39d-e966-4ebb-a436-4f96f84b9577" providerId="ADAL" clId="{54CE306D-661A-46BB-B96B-D656D7E1CA4C}" dt="2025-04-01T18:35:22.118" v="247" actId="1076"/>
        <pc:sldMkLst>
          <pc:docMk/>
          <pc:sldMk cId="0" sldId="260"/>
        </pc:sldMkLst>
        <pc:spChg chg="mod">
          <ac:chgData name="Marcos Maillot" userId="fa14b39d-e966-4ebb-a436-4f96f84b9577" providerId="ADAL" clId="{54CE306D-661A-46BB-B96B-D656D7E1CA4C}" dt="2025-04-01T18:35:22.118" v="247" actId="1076"/>
          <ac:spMkLst>
            <pc:docMk/>
            <pc:sldMk cId="0" sldId="260"/>
            <ac:spMk id="109" creationId="{00000000-0000-0000-0000-000000000000}"/>
          </ac:spMkLst>
        </pc:spChg>
      </pc:sldChg>
      <pc:sldChg chg="addSp delSp modSp mod modNotes">
        <pc:chgData name="Marcos Maillot" userId="fa14b39d-e966-4ebb-a436-4f96f84b9577" providerId="ADAL" clId="{54CE306D-661A-46BB-B96B-D656D7E1CA4C}" dt="2025-04-01T18:41:43.823" v="316" actId="1076"/>
        <pc:sldMkLst>
          <pc:docMk/>
          <pc:sldMk cId="0" sldId="262"/>
        </pc:sldMkLst>
        <pc:spChg chg="add del mod">
          <ac:chgData name="Marcos Maillot" userId="fa14b39d-e966-4ebb-a436-4f96f84b9577" providerId="ADAL" clId="{54CE306D-661A-46BB-B96B-D656D7E1CA4C}" dt="2025-04-01T18:37:00.916" v="252" actId="478"/>
          <ac:spMkLst>
            <pc:docMk/>
            <pc:sldMk cId="0" sldId="262"/>
            <ac:spMk id="2" creationId="{6693E42F-83CA-C82B-1452-C003D5D03E4E}"/>
          </ac:spMkLst>
        </pc:spChg>
        <pc:spChg chg="add mod">
          <ac:chgData name="Marcos Maillot" userId="fa14b39d-e966-4ebb-a436-4f96f84b9577" providerId="ADAL" clId="{54CE306D-661A-46BB-B96B-D656D7E1CA4C}" dt="2025-04-01T18:38:23.749" v="268" actId="1076"/>
          <ac:spMkLst>
            <pc:docMk/>
            <pc:sldMk cId="0" sldId="262"/>
            <ac:spMk id="3" creationId="{0EAA9081-D69F-A26D-BD04-416D6C414E5C}"/>
          </ac:spMkLst>
        </pc:spChg>
        <pc:spChg chg="add mod">
          <ac:chgData name="Marcos Maillot" userId="fa14b39d-e966-4ebb-a436-4f96f84b9577" providerId="ADAL" clId="{54CE306D-661A-46BB-B96B-D656D7E1CA4C}" dt="2025-04-01T18:40:49.914" v="303" actId="16959"/>
          <ac:spMkLst>
            <pc:docMk/>
            <pc:sldMk cId="0" sldId="262"/>
            <ac:spMk id="4" creationId="{278EDEDD-5260-75D0-7FED-1A3633378D21}"/>
          </ac:spMkLst>
        </pc:spChg>
        <pc:spChg chg="add mod">
          <ac:chgData name="Marcos Maillot" userId="fa14b39d-e966-4ebb-a436-4f96f84b9577" providerId="ADAL" clId="{54CE306D-661A-46BB-B96B-D656D7E1CA4C}" dt="2025-04-01T18:41:43.823" v="316" actId="1076"/>
          <ac:spMkLst>
            <pc:docMk/>
            <pc:sldMk cId="0" sldId="262"/>
            <ac:spMk id="5" creationId="{757B1B14-E9BA-A97A-9DEE-BC53D1ADA90D}"/>
          </ac:spMkLst>
        </pc:spChg>
        <pc:spChg chg="add mod">
          <ac:chgData name="Marcos Maillot" userId="fa14b39d-e966-4ebb-a436-4f96f84b9577" providerId="ADAL" clId="{54CE306D-661A-46BB-B96B-D656D7E1CA4C}" dt="2025-04-01T18:41:18.383" v="313" actId="1076"/>
          <ac:spMkLst>
            <pc:docMk/>
            <pc:sldMk cId="0" sldId="262"/>
            <ac:spMk id="6" creationId="{042890E4-FCD5-80B8-5936-57D0BAC021AB}"/>
          </ac:spMkLst>
        </pc:spChg>
        <pc:picChg chg="mod">
          <ac:chgData name="Marcos Maillot" userId="fa14b39d-e966-4ebb-a436-4f96f84b9577" providerId="ADAL" clId="{54CE306D-661A-46BB-B96B-D656D7E1CA4C}" dt="2025-04-01T18:41:29.891" v="315" actId="1076"/>
          <ac:picMkLst>
            <pc:docMk/>
            <pc:sldMk cId="0" sldId="262"/>
            <ac:picMk id="132" creationId="{00000000-0000-0000-0000-000000000000}"/>
          </ac:picMkLst>
        </pc:picChg>
      </pc:sldChg>
      <pc:sldChg chg="modSp mod">
        <pc:chgData name="Marcos Maillot" userId="fa14b39d-e966-4ebb-a436-4f96f84b9577" providerId="ADAL" clId="{54CE306D-661A-46BB-B96B-D656D7E1CA4C}" dt="2025-04-01T18:38:14.413" v="265" actId="14100"/>
        <pc:sldMkLst>
          <pc:docMk/>
          <pc:sldMk cId="0" sldId="263"/>
        </pc:sldMkLst>
        <pc:spChg chg="mod">
          <ac:chgData name="Marcos Maillot" userId="fa14b39d-e966-4ebb-a436-4f96f84b9577" providerId="ADAL" clId="{54CE306D-661A-46BB-B96B-D656D7E1CA4C}" dt="2025-04-01T18:38:14.413" v="265" actId="14100"/>
          <ac:spMkLst>
            <pc:docMk/>
            <pc:sldMk cId="0" sldId="263"/>
            <ac:spMk id="142" creationId="{00000000-0000-0000-0000-000000000000}"/>
          </ac:spMkLst>
        </pc:spChg>
        <pc:spChg chg="mod">
          <ac:chgData name="Marcos Maillot" userId="fa14b39d-e966-4ebb-a436-4f96f84b9577" providerId="ADAL" clId="{54CE306D-661A-46BB-B96B-D656D7E1CA4C}" dt="2025-04-01T17:38:07.535" v="99" actId="20577"/>
          <ac:spMkLst>
            <pc:docMk/>
            <pc:sldMk cId="0" sldId="263"/>
            <ac:spMk id="145" creationId="{00000000-0000-0000-0000-000000000000}"/>
          </ac:spMkLst>
        </pc:spChg>
      </pc:sldChg>
      <pc:sldChg chg="modSp mod">
        <pc:chgData name="Marcos Maillot" userId="fa14b39d-e966-4ebb-a436-4f96f84b9577" providerId="ADAL" clId="{54CE306D-661A-46BB-B96B-D656D7E1CA4C}" dt="2025-04-01T17:38:30.311" v="107" actId="1038"/>
        <pc:sldMkLst>
          <pc:docMk/>
          <pc:sldMk cId="0" sldId="264"/>
        </pc:sldMkLst>
        <pc:spChg chg="mod">
          <ac:chgData name="Marcos Maillot" userId="fa14b39d-e966-4ebb-a436-4f96f84b9577" providerId="ADAL" clId="{54CE306D-661A-46BB-B96B-D656D7E1CA4C}" dt="2025-04-01T17:38:20.843" v="100" actId="14100"/>
          <ac:spMkLst>
            <pc:docMk/>
            <pc:sldMk cId="0" sldId="264"/>
            <ac:spMk id="152" creationId="{00000000-0000-0000-0000-000000000000}"/>
          </ac:spMkLst>
        </pc:spChg>
        <pc:picChg chg="mod">
          <ac:chgData name="Marcos Maillot" userId="fa14b39d-e966-4ebb-a436-4f96f84b9577" providerId="ADAL" clId="{54CE306D-661A-46BB-B96B-D656D7E1CA4C}" dt="2025-04-01T17:38:30.311" v="107" actId="1038"/>
          <ac:picMkLst>
            <pc:docMk/>
            <pc:sldMk cId="0" sldId="264"/>
            <ac:picMk id="154" creationId="{00000000-0000-0000-0000-000000000000}"/>
          </ac:picMkLst>
        </pc:picChg>
      </pc:sldChg>
      <pc:sldChg chg="modSp mod">
        <pc:chgData name="Marcos Maillot" userId="fa14b39d-e966-4ebb-a436-4f96f84b9577" providerId="ADAL" clId="{54CE306D-661A-46BB-B96B-D656D7E1CA4C}" dt="2025-04-01T18:42:27.704" v="318" actId="20577"/>
        <pc:sldMkLst>
          <pc:docMk/>
          <pc:sldMk cId="0" sldId="266"/>
        </pc:sldMkLst>
        <pc:spChg chg="mod">
          <ac:chgData name="Marcos Maillot" userId="fa14b39d-e966-4ebb-a436-4f96f84b9577" providerId="ADAL" clId="{54CE306D-661A-46BB-B96B-D656D7E1CA4C}" dt="2025-04-01T18:42:27.704" v="318" actId="20577"/>
          <ac:spMkLst>
            <pc:docMk/>
            <pc:sldMk cId="0" sldId="266"/>
            <ac:spMk id="175" creationId="{00000000-0000-0000-0000-000000000000}"/>
          </ac:spMkLst>
        </pc:spChg>
      </pc:sldChg>
      <pc:sldChg chg="del">
        <pc:chgData name="Marcos Maillot" userId="fa14b39d-e966-4ebb-a436-4f96f84b9577" providerId="ADAL" clId="{54CE306D-661A-46BB-B96B-D656D7E1CA4C}" dt="2025-04-01T17:40:40.362" v="173" actId="47"/>
        <pc:sldMkLst>
          <pc:docMk/>
          <pc:sldMk cId="0" sldId="267"/>
        </pc:sldMkLst>
      </pc:sldChg>
      <pc:sldChg chg="modSp mod">
        <pc:chgData name="Marcos Maillot" userId="fa14b39d-e966-4ebb-a436-4f96f84b9577" providerId="ADAL" clId="{54CE306D-661A-46BB-B96B-D656D7E1CA4C}" dt="2025-04-01T18:24:12.179" v="179" actId="27636"/>
        <pc:sldMkLst>
          <pc:docMk/>
          <pc:sldMk cId="0" sldId="268"/>
        </pc:sldMkLst>
        <pc:spChg chg="mod">
          <ac:chgData name="Marcos Maillot" userId="fa14b39d-e966-4ebb-a436-4f96f84b9577" providerId="ADAL" clId="{54CE306D-661A-46BB-B96B-D656D7E1CA4C}" dt="2025-04-01T18:24:12.179" v="179" actId="27636"/>
          <ac:spMkLst>
            <pc:docMk/>
            <pc:sldMk cId="0" sldId="268"/>
            <ac:spMk id="206" creationId="{00000000-0000-0000-0000-000000000000}"/>
          </ac:spMkLst>
        </pc:spChg>
      </pc:sldChg>
      <pc:sldChg chg="addSp modSp mod">
        <pc:chgData name="Marcos Maillot" userId="fa14b39d-e966-4ebb-a436-4f96f84b9577" providerId="ADAL" clId="{54CE306D-661A-46BB-B96B-D656D7E1CA4C}" dt="2025-04-01T18:25:52.022" v="243" actId="1076"/>
        <pc:sldMkLst>
          <pc:docMk/>
          <pc:sldMk cId="0" sldId="289"/>
        </pc:sldMkLst>
        <pc:spChg chg="add mod">
          <ac:chgData name="Marcos Maillot" userId="fa14b39d-e966-4ebb-a436-4f96f84b9577" providerId="ADAL" clId="{54CE306D-661A-46BB-B96B-D656D7E1CA4C}" dt="2025-04-01T18:25:34.877" v="241" actId="20577"/>
          <ac:spMkLst>
            <pc:docMk/>
            <pc:sldMk cId="0" sldId="289"/>
            <ac:spMk id="2" creationId="{64B58A87-8C72-32A0-6E49-FAFCDC257E4A}"/>
          </ac:spMkLst>
        </pc:spChg>
        <pc:spChg chg="add mod">
          <ac:chgData name="Marcos Maillot" userId="fa14b39d-e966-4ebb-a436-4f96f84b9577" providerId="ADAL" clId="{54CE306D-661A-46BB-B96B-D656D7E1CA4C}" dt="2025-04-01T18:25:29.385" v="240" actId="20577"/>
          <ac:spMkLst>
            <pc:docMk/>
            <pc:sldMk cId="0" sldId="289"/>
            <ac:spMk id="4" creationId="{AA318A74-A79B-5253-5DAE-D2DC094A1B33}"/>
          </ac:spMkLst>
        </pc:spChg>
        <pc:spChg chg="mod ord">
          <ac:chgData name="Marcos Maillot" userId="fa14b39d-e966-4ebb-a436-4f96f84b9577" providerId="ADAL" clId="{54CE306D-661A-46BB-B96B-D656D7E1CA4C}" dt="2025-04-01T18:25:52.022" v="243" actId="1076"/>
          <ac:spMkLst>
            <pc:docMk/>
            <pc:sldMk cId="0" sldId="289"/>
            <ac:spMk id="424" creationId="{00000000-0000-0000-0000-000000000000}"/>
          </ac:spMkLst>
        </pc:spChg>
        <pc:picChg chg="mod">
          <ac:chgData name="Marcos Maillot" userId="fa14b39d-e966-4ebb-a436-4f96f84b9577" providerId="ADAL" clId="{54CE306D-661A-46BB-B96B-D656D7E1CA4C}" dt="2025-04-01T18:25:49.479" v="242" actId="1076"/>
          <ac:picMkLst>
            <pc:docMk/>
            <pc:sldMk cId="0" sldId="289"/>
            <ac:picMk id="42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ebcf47669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ebcf47669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ebcf4766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eebcf4766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ebcf47669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ebcf47669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ec0ad376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2eec0ad376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ec0ad376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2eec0ad376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ec0ad3768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eec0ad376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c0ad3768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2eec0ad376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ec0ad3768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2eec0ad3768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ec0ad3768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2eec0ad3768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eec0ad376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eec0ad376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eec0ad3768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2eec0ad3768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ec0ad3768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2eec0ad3768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ec0ad3768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eec0ad3768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eec0ad3768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eec0ad3768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ec0ad3768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2eec0ad3768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eec0ad3768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eec0ad3768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eec0ad3768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2eec0ad3768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eec0ad3768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2eec0ad3768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ec0ad3768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2eec0ad3768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eec0ad3768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eec0ad3768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eec0ad3768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2eec0ad3768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eec0ad3768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2eec0ad3768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eec0ad376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2eec0ad376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eec0ad3768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eec0ad3768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eec0ad3768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eec0ad3768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eec0ad3768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2eec0ad3768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eec0ad3768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2eec0ad3768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eec0ad3768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2eec0ad3768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eec0ad3768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2eec0ad376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eec0ad3768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2eec0ad3768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eec0ad3768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2eec0ad3768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eec0ad3768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2eec0ad3768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eec0ad3768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g2eec0ad376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eec0ad3768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2eec0ad3768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eec0ad3768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g2eec0ad3768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eec0ad3768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g2eec0ad3768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eec0ad3768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g2eec0ad3768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>
          <a:extLst>
            <a:ext uri="{FF2B5EF4-FFF2-40B4-BE49-F238E27FC236}">
              <a16:creationId xmlns:a16="http://schemas.microsoft.com/office/drawing/2014/main" id="{62F92DA9-C3C2-148A-094E-775FD5A3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eec0ad3768_0_292:notes">
            <a:extLst>
              <a:ext uri="{FF2B5EF4-FFF2-40B4-BE49-F238E27FC236}">
                <a16:creationId xmlns:a16="http://schemas.microsoft.com/office/drawing/2014/main" id="{4A60B3AF-42D7-B7F9-F4E2-F204BFA254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2eec0ad3768_0_292:notes">
            <a:extLst>
              <a:ext uri="{FF2B5EF4-FFF2-40B4-BE49-F238E27FC236}">
                <a16:creationId xmlns:a16="http://schemas.microsoft.com/office/drawing/2014/main" id="{ECB38E02-691B-A4BA-C7AD-A584A2908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12468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>
          <a:extLst>
            <a:ext uri="{FF2B5EF4-FFF2-40B4-BE49-F238E27FC236}">
              <a16:creationId xmlns:a16="http://schemas.microsoft.com/office/drawing/2014/main" id="{83EA68BB-12B4-3706-0A26-95E5F8C1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eec0ad3768_0_292:notes">
            <a:extLst>
              <a:ext uri="{FF2B5EF4-FFF2-40B4-BE49-F238E27FC236}">
                <a16:creationId xmlns:a16="http://schemas.microsoft.com/office/drawing/2014/main" id="{46EE2F7B-AC18-18ED-6483-78B98697F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2eec0ad3768_0_292:notes">
            <a:extLst>
              <a:ext uri="{FF2B5EF4-FFF2-40B4-BE49-F238E27FC236}">
                <a16:creationId xmlns:a16="http://schemas.microsoft.com/office/drawing/2014/main" id="{CD91B530-A902-CB10-F8E6-03A0A7ED5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5838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>
          <a:extLst>
            <a:ext uri="{FF2B5EF4-FFF2-40B4-BE49-F238E27FC236}">
              <a16:creationId xmlns:a16="http://schemas.microsoft.com/office/drawing/2014/main" id="{2C030E5A-5C04-5118-9809-C57424541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eec0ad3768_0_292:notes">
            <a:extLst>
              <a:ext uri="{FF2B5EF4-FFF2-40B4-BE49-F238E27FC236}">
                <a16:creationId xmlns:a16="http://schemas.microsoft.com/office/drawing/2014/main" id="{7E4BA6AA-6991-C677-C293-19777C91F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2eec0ad3768_0_292:notes">
            <a:extLst>
              <a:ext uri="{FF2B5EF4-FFF2-40B4-BE49-F238E27FC236}">
                <a16:creationId xmlns:a16="http://schemas.microsoft.com/office/drawing/2014/main" id="{FE8C7809-CC02-634F-4551-A28FC56C3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729972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>
          <a:extLst>
            <a:ext uri="{FF2B5EF4-FFF2-40B4-BE49-F238E27FC236}">
              <a16:creationId xmlns:a16="http://schemas.microsoft.com/office/drawing/2014/main" id="{DA847920-2565-25C9-3DA6-349E14E6E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eec0ad3768_0_292:notes">
            <a:extLst>
              <a:ext uri="{FF2B5EF4-FFF2-40B4-BE49-F238E27FC236}">
                <a16:creationId xmlns:a16="http://schemas.microsoft.com/office/drawing/2014/main" id="{8A75FC2F-9ACC-90BC-3B7B-9C7DFB0F1E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2eec0ad3768_0_292:notes">
            <a:extLst>
              <a:ext uri="{FF2B5EF4-FFF2-40B4-BE49-F238E27FC236}">
                <a16:creationId xmlns:a16="http://schemas.microsoft.com/office/drawing/2014/main" id="{026A56F0-7E12-88D0-A3CD-F058D3368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39313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eec0ad3768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2eec0ad3768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eec0ad3768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g2eec0ad3768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gi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stackoverflow.com/questions/46562612/pytorch-maxpooling-over-channels-dimension" TargetMode="Externa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1465500" y="372650"/>
            <a:ext cx="62130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Profundo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460950" y="1379610"/>
            <a:ext cx="8222100" cy="1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Facultad de Ingeniería</a:t>
            </a:r>
            <a:endParaRPr sz="2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Universidad de Buenos Aires</a:t>
            </a:r>
            <a:endParaRPr sz="2900"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198125" y="3661752"/>
            <a:ext cx="8222100" cy="13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Profesores: </a:t>
            </a: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		Marcos Maillot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		Gerardo Vilcamiza</a:t>
            </a:r>
            <a:endParaRPr sz="2600" dirty="0"/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900" y="2437800"/>
            <a:ext cx="1500200" cy="15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471900" y="174125"/>
            <a:ext cx="8222100" cy="133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818">
                <a:latin typeface="Arial"/>
                <a:ea typeface="Arial"/>
                <a:cs typeface="Arial"/>
                <a:sym typeface="Arial"/>
              </a:rPr>
              <a:t>Redes Neuronales Convolucionales  Convolutional Neural Network (CNN)</a:t>
            </a:r>
            <a:endParaRPr sz="2208"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471900" y="1986025"/>
            <a:ext cx="3358800" cy="30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Introducción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Kernel, limites y padding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Arquitectura base de ejemplo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¿Ventajas?</a:t>
            </a:r>
            <a:endParaRPr dirty="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dirty="0">
                <a:solidFill>
                  <a:schemeClr val="dk2"/>
                </a:solidFill>
              </a:rPr>
              <a:t>Sparse interaction</a:t>
            </a:r>
            <a:endParaRPr dirty="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dirty="0">
                <a:solidFill>
                  <a:schemeClr val="dk2"/>
                </a:solidFill>
              </a:rPr>
              <a:t>Parameter sharing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Capa Pooling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dirty="0">
              <a:solidFill>
                <a:schemeClr val="dk2"/>
              </a:solidFill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>
            <a:off x="4070850" y="1928300"/>
            <a:ext cx="4100100" cy="30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. Resumen de capas CNN. 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. Práctica con capas CNN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. Back propagation en CNN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. Implementación y práctica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. ¿Que hay en los kernels?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Introducción</a:t>
            </a:r>
            <a:endParaRPr sz="1120"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334850" y="964950"/>
            <a:ext cx="87066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Arquitectura de red neuronal </a:t>
            </a:r>
            <a:r>
              <a:rPr lang="en" sz="2300" b="1"/>
              <a:t>favorita</a:t>
            </a:r>
            <a:r>
              <a:rPr lang="en" sz="2300"/>
              <a:t> para el trabajo con imágenes (o datos que tengan </a:t>
            </a:r>
            <a:r>
              <a:rPr lang="en" sz="2300" b="1"/>
              <a:t>relación espacial</a:t>
            </a:r>
            <a:r>
              <a:rPr lang="en" sz="2300"/>
              <a:t>)</a:t>
            </a:r>
            <a:endParaRPr sz="2300"/>
          </a:p>
        </p:txBody>
      </p:sp>
      <p:pic>
        <p:nvPicPr>
          <p:cNvPr id="86" name="Google Shape;86;p15"/>
          <p:cNvPicPr preferRelativeResize="0"/>
          <p:nvPr/>
        </p:nvPicPr>
        <p:blipFill rotWithShape="1">
          <a:blip r:embed="rId4">
            <a:alphaModFix/>
          </a:blip>
          <a:srcRect l="29425" r="26701"/>
          <a:stretch/>
        </p:blipFill>
        <p:spPr>
          <a:xfrm>
            <a:off x="562575" y="2071675"/>
            <a:ext cx="20895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2897875" y="4248450"/>
            <a:ext cx="39870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Array de 2d [m+1 x n+1]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Ejemplo: imagen de m+1 x n+1 pixeles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 3 canales (RGB)</a:t>
            </a:r>
            <a:endParaRPr sz="1600"/>
          </a:p>
        </p:txBody>
      </p:sp>
      <p:graphicFrame>
        <p:nvGraphicFramePr>
          <p:cNvPr id="88" name="Google Shape;88;p15"/>
          <p:cNvGraphicFramePr/>
          <p:nvPr/>
        </p:nvGraphicFramePr>
        <p:xfrm>
          <a:off x="4910818" y="1936906"/>
          <a:ext cx="3672000" cy="1836000"/>
        </p:xfrm>
        <a:graphic>
          <a:graphicData uri="http://schemas.openxmlformats.org/drawingml/2006/table">
            <a:tbl>
              <a:tblPr>
                <a:noFill/>
                <a:tableStyleId>{785B5045-CBB6-46CF-AA46-B7B1FD946A01}</a:tableStyleId>
              </a:tblPr>
              <a:tblGrid>
                <a:gridCol w="4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x05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x0n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x10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x05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x0n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xm5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xmn</a:t>
                      </a:r>
                      <a:endParaRPr sz="13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7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9" name="Google Shape;89;p15"/>
          <p:cNvGraphicFramePr/>
          <p:nvPr/>
        </p:nvGraphicFramePr>
        <p:xfrm>
          <a:off x="4701836" y="2161640"/>
          <a:ext cx="3672000" cy="1836000"/>
        </p:xfrm>
        <a:graphic>
          <a:graphicData uri="http://schemas.openxmlformats.org/drawingml/2006/table">
            <a:tbl>
              <a:tblPr>
                <a:noFill/>
                <a:tableStyleId>{785B5045-CBB6-46CF-AA46-B7B1FD946A01}</a:tableStyleId>
              </a:tblPr>
              <a:tblGrid>
                <a:gridCol w="4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x05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x0n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x10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x05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x0n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xm5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xmn</a:t>
                      </a:r>
                      <a:endParaRPr sz="13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B0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0" name="Google Shape;90;p15"/>
          <p:cNvGraphicFramePr/>
          <p:nvPr/>
        </p:nvGraphicFramePr>
        <p:xfrm>
          <a:off x="4480006" y="2435935"/>
          <a:ext cx="3672000" cy="1836000"/>
        </p:xfrm>
        <a:graphic>
          <a:graphicData uri="http://schemas.openxmlformats.org/drawingml/2006/table">
            <a:tbl>
              <a:tblPr>
                <a:noFill/>
                <a:tableStyleId>{785B5045-CBB6-46CF-AA46-B7B1FD946A01}</a:tableStyleId>
              </a:tblPr>
              <a:tblGrid>
                <a:gridCol w="4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x05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x0n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x10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x11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x12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x13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x14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x15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x1n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xm5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2"/>
                          </a:solidFill>
                        </a:rPr>
                        <a:t>xmn</a:t>
                      </a:r>
                      <a:endParaRPr sz="13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Introducción</a:t>
            </a:r>
            <a:endParaRPr sz="1120"/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334850" y="964950"/>
            <a:ext cx="8706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… o datos que tengan </a:t>
            </a:r>
            <a:r>
              <a:rPr lang="en" sz="2300" b="1"/>
              <a:t>relación espacial</a:t>
            </a:r>
            <a:r>
              <a:rPr lang="en" sz="2300"/>
              <a:t>…</a:t>
            </a:r>
            <a:endParaRPr sz="2300"/>
          </a:p>
        </p:txBody>
      </p:sp>
      <p:graphicFrame>
        <p:nvGraphicFramePr>
          <p:cNvPr id="98" name="Google Shape;98;p16"/>
          <p:cNvGraphicFramePr/>
          <p:nvPr/>
        </p:nvGraphicFramePr>
        <p:xfrm>
          <a:off x="435372" y="2491281"/>
          <a:ext cx="3456000" cy="432000"/>
        </p:xfrm>
        <a:graphic>
          <a:graphicData uri="http://schemas.openxmlformats.org/drawingml/2006/table">
            <a:tbl>
              <a:tblPr>
                <a:noFill/>
                <a:tableStyleId>{785B5045-CBB6-46CF-AA46-B7B1FD946A01}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dk2"/>
                          </a:solidFill>
                        </a:rPr>
                        <a:t>x0</a:t>
                      </a:r>
                      <a:endParaRPr sz="11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dk2"/>
                          </a:solidFill>
                        </a:rPr>
                        <a:t>x1</a:t>
                      </a:r>
                      <a:endParaRPr sz="11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dk2"/>
                          </a:solidFill>
                        </a:rPr>
                        <a:t>x2</a:t>
                      </a:r>
                      <a:endParaRPr sz="11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dk2"/>
                          </a:solidFill>
                        </a:rPr>
                        <a:t>x3</a:t>
                      </a:r>
                      <a:endParaRPr sz="11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dk2"/>
                          </a:solidFill>
                        </a:rPr>
                        <a:t>x4</a:t>
                      </a:r>
                      <a:endParaRPr sz="11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dk2"/>
                          </a:solidFill>
                        </a:rPr>
                        <a:t>x5</a:t>
                      </a:r>
                      <a:endParaRPr sz="11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dk2"/>
                          </a:solidFill>
                        </a:rPr>
                        <a:t>…</a:t>
                      </a:r>
                      <a:endParaRPr sz="1100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dk2"/>
                          </a:solidFill>
                        </a:rPr>
                        <a:t>xn</a:t>
                      </a:r>
                      <a:endParaRPr sz="14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9" name="Google Shape;99;p16"/>
          <p:cNvSpPr txBox="1"/>
          <p:nvPr/>
        </p:nvSpPr>
        <p:spPr>
          <a:xfrm>
            <a:off x="435375" y="1611500"/>
            <a:ext cx="4125600" cy="1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900"/>
              <a:t>Array de 1d [1 x n+1]</a:t>
            </a:r>
            <a:endParaRPr sz="19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900"/>
              <a:t>Ejemplo: señal temporal muestreada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6144000" y="1551788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https://medium.com/@saba99/3d-cnn-4ccfab119cc2</a:t>
            </a:r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 rotWithShape="1">
          <a:blip r:embed="rId4">
            <a:alphaModFix/>
          </a:blip>
          <a:srcRect l="4747" t="3744" r="51658"/>
          <a:stretch/>
        </p:blipFill>
        <p:spPr>
          <a:xfrm>
            <a:off x="5096450" y="2096455"/>
            <a:ext cx="3034026" cy="283272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1299375" y="4138900"/>
            <a:ext cx="446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“…medical volumetric images (e.g., CT scans, MRI scans) or video sequences [...] to capture spatial and temporal dependencies “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542521" y="865485"/>
            <a:ext cx="5967749" cy="40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Otros ejemplos de array 2d: espectrograma</a:t>
            </a:r>
            <a:endParaRPr sz="2300"/>
          </a:p>
        </p:txBody>
      </p:sp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7454" y="1435944"/>
            <a:ext cx="3600450" cy="279320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680746" y="4390085"/>
            <a:ext cx="6893865" cy="56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DEBE EXISTIR INFORMACIÓN CON RELACIÓN ESPACIAL EN LAS DIMENSIONES DEL ARRAY</a:t>
            </a:r>
            <a:endParaRPr sz="2300" dirty="0"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Introducción</a:t>
            </a:r>
            <a:endParaRPr sz="11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211388" y="2631781"/>
            <a:ext cx="20094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54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" sz="18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Conv. continua</a:t>
            </a:r>
            <a:endParaRPr sz="1100"/>
          </a:p>
        </p:txBody>
      </p:sp>
      <p:sp>
        <p:nvSpPr>
          <p:cNvPr id="117" name="Google Shape;117;p18"/>
          <p:cNvSpPr/>
          <p:nvPr/>
        </p:nvSpPr>
        <p:spPr>
          <a:xfrm>
            <a:off x="2220682" y="2310818"/>
            <a:ext cx="5301300" cy="766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 dirty="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 dirty="0"/>
          </a:p>
        </p:txBody>
      </p:sp>
      <p:sp>
        <p:nvSpPr>
          <p:cNvPr id="118" name="Google Shape;118;p18"/>
          <p:cNvSpPr/>
          <p:nvPr/>
        </p:nvSpPr>
        <p:spPr>
          <a:xfrm>
            <a:off x="2286000" y="3584909"/>
            <a:ext cx="5235900" cy="950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 dirty="0"/>
          </a:p>
        </p:txBody>
      </p:sp>
      <p:sp>
        <p:nvSpPr>
          <p:cNvPr id="119" name="Google Shape;119;p18"/>
          <p:cNvSpPr txBox="1"/>
          <p:nvPr/>
        </p:nvSpPr>
        <p:spPr>
          <a:xfrm>
            <a:off x="581500" y="829969"/>
            <a:ext cx="7959221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200" b="0" u="none">
                <a:latin typeface="Twentieth Century"/>
                <a:ea typeface="Twentieth Century"/>
                <a:cs typeface="Twentieth Century"/>
                <a:sym typeface="Twentieth Century"/>
              </a:rPr>
              <a:t>Su nombre “CONVOLUCIONALES” provienen de que en su interior realizan operaciones de convolución.</a:t>
            </a:r>
            <a:endParaRPr sz="1500"/>
          </a:p>
        </p:txBody>
      </p:sp>
      <p:sp>
        <p:nvSpPr>
          <p:cNvPr id="120" name="Google Shape;120;p18"/>
          <p:cNvSpPr txBox="1"/>
          <p:nvPr/>
        </p:nvSpPr>
        <p:spPr>
          <a:xfrm>
            <a:off x="211388" y="3891680"/>
            <a:ext cx="20094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54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" sz="1800" b="0" u="none">
                <a:latin typeface="Twentieth Century"/>
                <a:ea typeface="Twentieth Century"/>
                <a:cs typeface="Twentieth Century"/>
                <a:sym typeface="Twentieth Century"/>
              </a:rPr>
              <a:t>Conv. discreta</a:t>
            </a:r>
            <a:endParaRPr sz="1100"/>
          </a:p>
        </p:txBody>
      </p:sp>
      <p:sp>
        <p:nvSpPr>
          <p:cNvPr id="121" name="Google Shape;121;p18"/>
          <p:cNvSpPr txBox="1"/>
          <p:nvPr/>
        </p:nvSpPr>
        <p:spPr>
          <a:xfrm>
            <a:off x="-130628" y="51081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b="0" u="non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CONVOLUTIONAL NEURAL NETWORK (CNN)</a:t>
            </a:r>
            <a:endParaRPr sz="2400" b="0" u="non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/>
        </p:nvSpPr>
        <p:spPr>
          <a:xfrm>
            <a:off x="218691" y="1820725"/>
            <a:ext cx="2473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Operación en 1D</a:t>
            </a:r>
            <a:endParaRPr sz="2000"/>
          </a:p>
        </p:txBody>
      </p:sp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Introducción</a:t>
            </a:r>
            <a:endParaRPr sz="11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581500" y="829970"/>
            <a:ext cx="7959221" cy="367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latin typeface="Twentieth Century"/>
                <a:ea typeface="Twentieth Century"/>
                <a:cs typeface="Twentieth Century"/>
                <a:sym typeface="Twentieth Century"/>
              </a:rPr>
              <a:t>Convolución (ejemplo gráfico 1d)</a:t>
            </a:r>
            <a:endParaRPr sz="1100"/>
          </a:p>
        </p:txBody>
      </p:sp>
      <p:sp>
        <p:nvSpPr>
          <p:cNvPr id="130" name="Google Shape;130;p19"/>
          <p:cNvSpPr txBox="1"/>
          <p:nvPr/>
        </p:nvSpPr>
        <p:spPr>
          <a:xfrm>
            <a:off x="-130628" y="51081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CONVOLUTIONAL NEURAL NETWORK (CNN)</a:t>
            </a:r>
            <a:endParaRPr sz="2400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581500" y="4645412"/>
            <a:ext cx="7959221" cy="367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 b="1">
                <a:latin typeface="Twentieth Century"/>
                <a:ea typeface="Twentieth Century"/>
                <a:cs typeface="Twentieth Century"/>
                <a:sym typeface="Twentieth Century"/>
              </a:rPr>
              <a:t>Conv. está ampliamente usado en el análisis de señales y sistemas</a:t>
            </a:r>
            <a:endParaRPr sz="1100"/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678" y="1266228"/>
            <a:ext cx="6872288" cy="302180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1754746" y="4344394"/>
            <a:ext cx="579871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http://amber.feld.cvut.cz/vyu/eo2/english/lectures.htm</a:t>
            </a:r>
            <a:endParaRPr sz="1100"/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Introducción</a:t>
            </a:r>
            <a:endParaRPr sz="1120"/>
          </a:p>
        </p:txBody>
      </p:sp>
      <p:sp>
        <p:nvSpPr>
          <p:cNvPr id="3" name="Google Shape;118;p18">
            <a:extLst>
              <a:ext uri="{FF2B5EF4-FFF2-40B4-BE49-F238E27FC236}">
                <a16:creationId xmlns:a16="http://schemas.microsoft.com/office/drawing/2014/main" id="{0EAA9081-D69F-A26D-BD04-416D6C414E5C}"/>
              </a:ext>
            </a:extLst>
          </p:cNvPr>
          <p:cNvSpPr/>
          <p:nvPr/>
        </p:nvSpPr>
        <p:spPr>
          <a:xfrm>
            <a:off x="158700" y="1169441"/>
            <a:ext cx="3102293" cy="55761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8EDEDD-5260-75D0-7FED-1A3633378D21}"/>
                  </a:ext>
                </a:extLst>
              </p:cNvPr>
              <p:cNvSpPr txBox="1"/>
              <p:nvPr/>
            </p:nvSpPr>
            <p:spPr>
              <a:xfrm>
                <a:off x="4082903" y="1804416"/>
                <a:ext cx="64583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E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s-E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AR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8EDEDD-5260-75D0-7FED-1A3633378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903" y="1804416"/>
                <a:ext cx="645839" cy="215444"/>
              </a:xfrm>
              <a:prstGeom prst="rect">
                <a:avLst/>
              </a:prstGeom>
              <a:blipFill>
                <a:blip r:embed="rId6"/>
                <a:stretch>
                  <a:fillRect b="-3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7B1B14-E9BA-A97A-9DEE-BC53D1ADA90D}"/>
                  </a:ext>
                </a:extLst>
              </p:cNvPr>
              <p:cNvSpPr txBox="1"/>
              <p:nvPr/>
            </p:nvSpPr>
            <p:spPr>
              <a:xfrm>
                <a:off x="3260993" y="3467484"/>
                <a:ext cx="64583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E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AR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7B1B14-E9BA-A97A-9DEE-BC53D1ADA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993" y="3467484"/>
                <a:ext cx="645839" cy="215444"/>
              </a:xfrm>
              <a:prstGeom prst="rect">
                <a:avLst/>
              </a:prstGeom>
              <a:blipFill>
                <a:blip r:embed="rId7"/>
                <a:stretch>
                  <a:fillRect b="-3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2890E4-FCD5-80B8-5936-57D0BAC021AB}"/>
                  </a:ext>
                </a:extLst>
              </p:cNvPr>
              <p:cNvSpPr txBox="1"/>
              <p:nvPr/>
            </p:nvSpPr>
            <p:spPr>
              <a:xfrm>
                <a:off x="5838943" y="1322568"/>
                <a:ext cx="64583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𝝉</m:t>
                      </m:r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AR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2890E4-FCD5-80B8-5936-57D0BAC02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943" y="1322568"/>
                <a:ext cx="645839" cy="215444"/>
              </a:xfrm>
              <a:prstGeom prst="rect">
                <a:avLst/>
              </a:prstGeom>
              <a:blipFill>
                <a:blip r:embed="rId8"/>
                <a:stretch>
                  <a:fillRect r="-943" b="-3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/>
        </p:nvSpPr>
        <p:spPr>
          <a:xfrm>
            <a:off x="581500" y="829971"/>
            <a:ext cx="7959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latin typeface="Twentieth Century"/>
                <a:ea typeface="Twentieth Century"/>
                <a:cs typeface="Twentieth Century"/>
                <a:sym typeface="Twentieth Century"/>
              </a:rPr>
              <a:t>CONVOLUCION 2d – INPUT – KERNEL – OUTPUT - LIMITES</a:t>
            </a:r>
            <a:endParaRPr sz="1100"/>
          </a:p>
        </p:txBody>
      </p:sp>
      <p:sp>
        <p:nvSpPr>
          <p:cNvPr id="141" name="Google Shape;141;p20"/>
          <p:cNvSpPr txBox="1"/>
          <p:nvPr/>
        </p:nvSpPr>
        <p:spPr>
          <a:xfrm>
            <a:off x="-130628" y="51081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CONVOLUTIONAL NEURAL NETWORK (CNN)</a:t>
            </a:r>
            <a:endParaRPr sz="2400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1048493" y="1405760"/>
            <a:ext cx="6577800" cy="1116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 dirty="0"/>
          </a:p>
        </p:txBody>
      </p:sp>
      <p:sp>
        <p:nvSpPr>
          <p:cNvPr id="143" name="Google Shape;143;p20"/>
          <p:cNvSpPr/>
          <p:nvPr/>
        </p:nvSpPr>
        <p:spPr>
          <a:xfrm>
            <a:off x="1006043" y="3094752"/>
            <a:ext cx="6662700" cy="1116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144" name="Google Shape;144;p20"/>
          <p:cNvSpPr/>
          <p:nvPr/>
        </p:nvSpPr>
        <p:spPr>
          <a:xfrm>
            <a:off x="3281793" y="2672303"/>
            <a:ext cx="2558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wentieth Century"/>
                <a:ea typeface="Twentieth Century"/>
                <a:cs typeface="Twentieth Century"/>
                <a:sym typeface="Twentieth Century"/>
              </a:rPr>
              <a:t>PROP. CONMUTATIVA</a:t>
            </a:r>
            <a:endParaRPr sz="1100"/>
          </a:p>
        </p:txBody>
      </p:sp>
      <p:sp>
        <p:nvSpPr>
          <p:cNvPr id="145" name="Google Shape;145;p20"/>
          <p:cNvSpPr txBox="1"/>
          <p:nvPr/>
        </p:nvSpPr>
        <p:spPr>
          <a:xfrm>
            <a:off x="1891756" y="4240137"/>
            <a:ext cx="5338717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 kernel es entrenado por la red!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(son sus parámetros o pesos sinápticos)</a:t>
            </a:r>
            <a:endParaRPr sz="1100" dirty="0"/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Introducción</a:t>
            </a:r>
            <a:endParaRPr sz="11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/>
        </p:nvSpPr>
        <p:spPr>
          <a:xfrm>
            <a:off x="158700" y="1819342"/>
            <a:ext cx="4007239" cy="196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Convolución (ejemplo gráfico 2d)</a:t>
            </a:r>
            <a:endParaRPr sz="1500" dirty="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2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El kernel suele tener dimensión impar para definir bien su centro</a:t>
            </a:r>
            <a:endParaRPr sz="1500" dirty="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2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CONVOLUTIONAL NEURAL NETWORK (CNN)</a:t>
            </a:r>
            <a:endParaRPr sz="2400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54" name="Google Shape;154;p21" descr="Imagen que contiene Form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0403" y="745670"/>
            <a:ext cx="3536156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/>
        </p:nvSpPr>
        <p:spPr>
          <a:xfrm>
            <a:off x="439475" y="4739359"/>
            <a:ext cx="4691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Twentieth Century"/>
                <a:ea typeface="Twentieth Century"/>
                <a:cs typeface="Twentieth Century"/>
                <a:sym typeface="Twentieth Century"/>
              </a:rPr>
              <a:t>A guide to convolution arithmetic for deep learning</a:t>
            </a:r>
            <a:endParaRPr sz="1200"/>
          </a:p>
        </p:txBody>
      </p:sp>
      <p:sp>
        <p:nvSpPr>
          <p:cNvPr id="156" name="Google Shape;156;p21"/>
          <p:cNvSpPr txBox="1"/>
          <p:nvPr/>
        </p:nvSpPr>
        <p:spPr>
          <a:xfrm>
            <a:off x="4799700" y="4739344"/>
            <a:ext cx="4691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https://arxiv.org/abs/1603.07285</a:t>
            </a:r>
            <a:endParaRPr sz="1200"/>
          </a:p>
        </p:txBody>
      </p:sp>
      <p:pic>
        <p:nvPicPr>
          <p:cNvPr id="157" name="Google Shape;15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Introducción</a:t>
            </a:r>
            <a:endParaRPr sz="11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/>
        </p:nvSpPr>
        <p:spPr>
          <a:xfrm>
            <a:off x="581500" y="829969"/>
            <a:ext cx="7959221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latin typeface="Twentieth Century"/>
                <a:ea typeface="Twentieth Century"/>
                <a:cs typeface="Twentieth Century"/>
                <a:sym typeface="Twentieth Century"/>
              </a:rPr>
              <a:t>FLIPPED CONVOLUTION or CROSS-CORRELATION</a:t>
            </a:r>
            <a:endParaRPr sz="1100"/>
          </a:p>
        </p:txBody>
      </p:sp>
      <p:sp>
        <p:nvSpPr>
          <p:cNvPr id="164" name="Google Shape;164;p22"/>
          <p:cNvSpPr txBox="1"/>
          <p:nvPr/>
        </p:nvSpPr>
        <p:spPr>
          <a:xfrm>
            <a:off x="-130628" y="51081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CONVOLUTIONAL NEURAL NETWORK (CNN)</a:t>
            </a:r>
            <a:endParaRPr sz="2400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1038700" y="1384232"/>
            <a:ext cx="6577715" cy="11164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cxnSp>
        <p:nvCxnSpPr>
          <p:cNvPr id="166" name="Google Shape;166;p22"/>
          <p:cNvCxnSpPr/>
          <p:nvPr/>
        </p:nvCxnSpPr>
        <p:spPr>
          <a:xfrm rot="10800000" flipH="1">
            <a:off x="5377543" y="2279164"/>
            <a:ext cx="1" cy="812379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7" name="Google Shape;167;p22"/>
          <p:cNvCxnSpPr/>
          <p:nvPr/>
        </p:nvCxnSpPr>
        <p:spPr>
          <a:xfrm rot="10800000">
            <a:off x="6112330" y="2279163"/>
            <a:ext cx="5442" cy="81238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168" name="Google Shape;16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Introducción</a:t>
            </a:r>
            <a:endParaRPr sz="11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CONVOLUTIONAL NEURAL NETWORK (CNN)</a:t>
            </a:r>
            <a:endParaRPr sz="2400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284675" y="944623"/>
            <a:ext cx="3683400" cy="3386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8"/>
              <a:buFont typeface="Arial"/>
              <a:buNone/>
            </a:pPr>
            <a:r>
              <a:rPr lang="en" sz="1827" u="sng" dirty="0"/>
              <a:t>Convolución y número de canales</a:t>
            </a:r>
            <a:endParaRPr sz="1052" u="sng" dirty="0"/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28"/>
              <a:buFont typeface="Arial"/>
              <a:buNone/>
            </a:pPr>
            <a:endParaRPr sz="1827" dirty="0"/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Font typeface="Arial"/>
              <a:buNone/>
            </a:pPr>
            <a:r>
              <a:rPr lang="en" sz="1827" dirty="0"/>
              <a:t>Se aplica 1 kernel x canal y se </a:t>
            </a:r>
            <a:r>
              <a:rPr lang="en" sz="1827"/>
              <a:t>suma todo.</a:t>
            </a:r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Font typeface="Arial"/>
              <a:buNone/>
            </a:pPr>
            <a:endParaRPr sz="1827" dirty="0"/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Font typeface="Arial"/>
              <a:buNone/>
            </a:pPr>
            <a:r>
              <a:rPr lang="en" sz="1827" dirty="0"/>
              <a:t>Se suelen emplear varios kernels por capa, para poder “aprender” varias cosas.</a:t>
            </a:r>
            <a:endParaRPr sz="1827" dirty="0"/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Font typeface="Arial"/>
              <a:buNone/>
            </a:pPr>
            <a:endParaRPr sz="1827" dirty="0"/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Font typeface="Arial"/>
              <a:buNone/>
            </a:pPr>
            <a:r>
              <a:rPr lang="en" sz="1827" dirty="0"/>
              <a:t>Cada kernel podrá “aprender” un feature, que expresará en su salida si lo detecta.</a:t>
            </a:r>
            <a:endParaRPr sz="1052" dirty="0"/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28"/>
              <a:buFont typeface="Arial"/>
              <a:buNone/>
            </a:pPr>
            <a:endParaRPr sz="1827" dirty="0"/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3946" y="532796"/>
            <a:ext cx="4691270" cy="397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86245" y="4590244"/>
            <a:ext cx="46914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https://medium.com/apache-mxnet/multi-channel-convolutions-explained-with-ms-excel-9bbf8eb77108</a:t>
            </a:r>
            <a:endParaRPr sz="1100"/>
          </a:p>
        </p:txBody>
      </p:sp>
      <p:cxnSp>
        <p:nvCxnSpPr>
          <p:cNvPr id="178" name="Google Shape;178;p23"/>
          <p:cNvCxnSpPr/>
          <p:nvPr/>
        </p:nvCxnSpPr>
        <p:spPr>
          <a:xfrm rot="10800000">
            <a:off x="6361518" y="4331121"/>
            <a:ext cx="0" cy="27958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9" name="Google Shape;179;p23"/>
          <p:cNvSpPr txBox="1"/>
          <p:nvPr/>
        </p:nvSpPr>
        <p:spPr>
          <a:xfrm>
            <a:off x="5452088" y="4654073"/>
            <a:ext cx="1818861" cy="313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PARAMETROS</a:t>
            </a:r>
            <a:endParaRPr sz="1100"/>
          </a:p>
        </p:txBody>
      </p:sp>
      <p:cxnSp>
        <p:nvCxnSpPr>
          <p:cNvPr id="180" name="Google Shape;180;p23"/>
          <p:cNvCxnSpPr/>
          <p:nvPr/>
        </p:nvCxnSpPr>
        <p:spPr>
          <a:xfrm rot="10800000">
            <a:off x="8443766" y="3222907"/>
            <a:ext cx="0" cy="27958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1" name="Google Shape;181;p23"/>
          <p:cNvSpPr txBox="1"/>
          <p:nvPr/>
        </p:nvSpPr>
        <p:spPr>
          <a:xfrm>
            <a:off x="7987703" y="3537914"/>
            <a:ext cx="916766" cy="313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SALIDA</a:t>
            </a:r>
            <a:endParaRPr sz="1100"/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Introducción</a:t>
            </a:r>
            <a:endParaRPr sz="11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CONVOLUTIONAL NEURAL NETWORK (CNN)</a:t>
            </a:r>
            <a:endParaRPr sz="2400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03" name="Google Shape;203;p25"/>
          <p:cNvPicPr preferRelativeResize="0"/>
          <p:nvPr/>
        </p:nvPicPr>
        <p:blipFill rotWithShape="1">
          <a:blip r:embed="rId3">
            <a:alphaModFix/>
          </a:blip>
          <a:srcRect t="52409"/>
          <a:stretch/>
        </p:blipFill>
        <p:spPr>
          <a:xfrm>
            <a:off x="1960858" y="2673140"/>
            <a:ext cx="6169605" cy="218293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/>
          <p:nvPr/>
        </p:nvSpPr>
        <p:spPr>
          <a:xfrm>
            <a:off x="21772" y="4866501"/>
            <a:ext cx="674499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Twentieth Century"/>
                <a:ea typeface="Twentieth Century"/>
                <a:cs typeface="Twentieth Century"/>
                <a:sym typeface="Twentieth Century"/>
              </a:rPr>
              <a:t>https://numbersmithy.com/2d-and-3d-convolutions-using-numpy/</a:t>
            </a:r>
            <a:endParaRPr sz="1100"/>
          </a:p>
        </p:txBody>
      </p:sp>
      <p:pic>
        <p:nvPicPr>
          <p:cNvPr id="205" name="Google Shape;205;p25"/>
          <p:cNvPicPr preferRelativeResize="0"/>
          <p:nvPr/>
        </p:nvPicPr>
        <p:blipFill rotWithShape="1">
          <a:blip r:embed="rId3">
            <a:alphaModFix/>
          </a:blip>
          <a:srcRect l="386" t="-293" r="-385" b="53953"/>
          <a:stretch/>
        </p:blipFill>
        <p:spPr>
          <a:xfrm>
            <a:off x="1960858" y="701531"/>
            <a:ext cx="6169605" cy="212564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 txBox="1"/>
          <p:nvPr/>
        </p:nvSpPr>
        <p:spPr>
          <a:xfrm>
            <a:off x="158700" y="1166879"/>
            <a:ext cx="1583400" cy="1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900">
                <a:latin typeface="Twentieth Century"/>
                <a:ea typeface="Twentieth Century"/>
                <a:cs typeface="Twentieth Century"/>
                <a:sym typeface="Twentieth Century"/>
              </a:rPr>
              <a:t>padding:</a:t>
            </a:r>
            <a:endParaRPr sz="19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'valid'</a:t>
            </a:r>
            <a:r>
              <a:rPr lang="en" sz="1600"/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'same'</a:t>
            </a:r>
            <a:r>
              <a:rPr lang="en" sz="1600"/>
              <a:t> or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tuple</a:t>
            </a:r>
            <a:endParaRPr sz="19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9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07" name="Google Shape;20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/>
        </p:nvSpPr>
        <p:spPr>
          <a:xfrm>
            <a:off x="158700" y="3039538"/>
            <a:ext cx="20514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wentieth Century"/>
                <a:ea typeface="Twentieth Century"/>
                <a:cs typeface="Twentieth Century"/>
                <a:sym typeface="Twentieth Century"/>
              </a:rPr>
              <a:t>padding_mode: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'zeros'</a:t>
            </a:r>
            <a:r>
              <a:rPr lang="en" sz="1600"/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'reflect'</a:t>
            </a:r>
            <a:r>
              <a:rPr lang="en" sz="1600"/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'replicate'</a:t>
            </a:r>
            <a:r>
              <a:rPr lang="en" sz="1600"/>
              <a:t> or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'circular'</a:t>
            </a:r>
            <a:endParaRPr sz="1200"/>
          </a:p>
        </p:txBody>
      </p:sp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Bordes (límites) y padding</a:t>
            </a:r>
            <a:endParaRPr sz="11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CONVOLUTIONAL NEURAL NETWORK (CNN)</a:t>
            </a:r>
            <a:endParaRPr sz="2400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383940" y="1394362"/>
            <a:ext cx="7981731" cy="440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16665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216" name="Google Shape;216;p26"/>
          <p:cNvSpPr txBox="1"/>
          <p:nvPr/>
        </p:nvSpPr>
        <p:spPr>
          <a:xfrm>
            <a:off x="383940" y="2902550"/>
            <a:ext cx="8340959" cy="43633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684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217" name="Google Shape;217;p26"/>
          <p:cNvSpPr txBox="1"/>
          <p:nvPr/>
        </p:nvSpPr>
        <p:spPr>
          <a:xfrm>
            <a:off x="180131" y="4076949"/>
            <a:ext cx="8187692" cy="4013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18179" b="-7952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218" name="Google Shape;218;p26"/>
          <p:cNvSpPr/>
          <p:nvPr/>
        </p:nvSpPr>
        <p:spPr>
          <a:xfrm>
            <a:off x="2818150" y="1834390"/>
            <a:ext cx="3594638" cy="43858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219" name="Google Shape;219;p26"/>
          <p:cNvSpPr/>
          <p:nvPr/>
        </p:nvSpPr>
        <p:spPr>
          <a:xfrm>
            <a:off x="2818150" y="3270459"/>
            <a:ext cx="1378406" cy="43858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220" name="Google Shape;220;p26"/>
          <p:cNvSpPr/>
          <p:nvPr/>
        </p:nvSpPr>
        <p:spPr>
          <a:xfrm>
            <a:off x="2577486" y="4478324"/>
            <a:ext cx="3554963" cy="43858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pic>
        <p:nvPicPr>
          <p:cNvPr id="221" name="Google Shape;221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Bordes (límites) y padding</a:t>
            </a:r>
            <a:endParaRPr sz="11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CONVOLUTIONAL NEURAL NETWORK (CNN)</a:t>
            </a:r>
            <a:endParaRPr sz="2400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401150" y="2662163"/>
            <a:ext cx="28398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400">
                <a:latin typeface="Twentieth Century"/>
                <a:ea typeface="Twentieth Century"/>
                <a:cs typeface="Twentieth Century"/>
                <a:sym typeface="Twentieth Century"/>
              </a:rPr>
              <a:t>Arquitectura típica</a:t>
            </a:r>
            <a:endParaRPr sz="1700"/>
          </a:p>
        </p:txBody>
      </p:sp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0962" y="709426"/>
            <a:ext cx="2409005" cy="435786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Arquitectura base de ejemplo</a:t>
            </a:r>
            <a:endParaRPr sz="1120"/>
          </a:p>
        </p:txBody>
      </p:sp>
      <p:pic>
        <p:nvPicPr>
          <p:cNvPr id="231" name="Google Shape;23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CAPA DE CONVOLUCIÓN</a:t>
            </a:r>
            <a:endParaRPr sz="1100"/>
          </a:p>
        </p:txBody>
      </p:sp>
      <p:sp>
        <p:nvSpPr>
          <p:cNvPr id="237" name="Google Shape;237;p28"/>
          <p:cNvSpPr txBox="1"/>
          <p:nvPr/>
        </p:nvSpPr>
        <p:spPr>
          <a:xfrm>
            <a:off x="-36283" y="797704"/>
            <a:ext cx="9180284" cy="33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Entonces… 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¿Dónde está la ventaja de usar CNN?</a:t>
            </a:r>
            <a:endParaRPr sz="1100"/>
          </a:p>
        </p:txBody>
      </p:sp>
      <p:sp>
        <p:nvSpPr>
          <p:cNvPr id="238" name="Google Shape;238;p28"/>
          <p:cNvSpPr/>
          <p:nvPr/>
        </p:nvSpPr>
        <p:spPr>
          <a:xfrm>
            <a:off x="292475" y="1750275"/>
            <a:ext cx="80925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latin typeface="Twentieth Century"/>
                <a:ea typeface="Twentieth Century"/>
                <a:cs typeface="Twentieth Century"/>
                <a:sym typeface="Twentieth Century"/>
              </a:rPr>
              <a:t>sparse interaction / sparse conectivity o sparse weight </a:t>
            </a:r>
            <a:endParaRPr sz="12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latin typeface="Twentieth Century"/>
                <a:ea typeface="Twentieth Century"/>
                <a:cs typeface="Twentieth Century"/>
                <a:sym typeface="Twentieth Century"/>
              </a:rPr>
              <a:t>sparse </a:t>
            </a:r>
            <a:r>
              <a:rPr lang="en" sz="1900" dirty="0"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1900" dirty="0">
                <a:latin typeface="Twentieth Century"/>
                <a:ea typeface="Twentieth Century"/>
                <a:cs typeface="Twentieth Century"/>
                <a:sym typeface="Twentieth Century"/>
              </a:rPr>
              <a:t>escaso</a:t>
            </a:r>
            <a:endParaRPr sz="19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900" dirty="0">
                <a:latin typeface="Twentieth Century"/>
                <a:ea typeface="Twentieth Century"/>
                <a:cs typeface="Twentieth Century"/>
                <a:sym typeface="Twentieth Century"/>
              </a:rPr>
              <a:t>El KERNEL es de dimensiones muy inferiores al tamaño de la imagen (INPUT) a procesar.</a:t>
            </a:r>
            <a:endParaRPr sz="1200" dirty="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9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900" dirty="0">
                <a:latin typeface="Twentieth Century"/>
                <a:ea typeface="Twentieth Century"/>
                <a:cs typeface="Twentieth Century"/>
                <a:sym typeface="Twentieth Century"/>
              </a:rPr>
              <a:t>El uso de un KERNEL permite tener interacciones locales de entradas con sus respectivas salidas.</a:t>
            </a:r>
            <a:endParaRPr sz="1200" dirty="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9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900" dirty="0">
                <a:latin typeface="Twentieth Century"/>
                <a:ea typeface="Twentieth Century"/>
                <a:cs typeface="Twentieth Century"/>
                <a:sym typeface="Twentieth Century"/>
              </a:rPr>
              <a:t>Las dimensiones del KERNEL indicarán cuanta “vecindad” analizan en cada posición donde sea evaluado.</a:t>
            </a:r>
            <a:endParaRPr sz="1200" dirty="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endParaRPr sz="19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9" name="Google Shape;239;p28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¿Ventajas? Sparse interaction</a:t>
            </a:r>
            <a:endParaRPr sz="1120"/>
          </a:p>
        </p:txBody>
      </p:sp>
      <p:pic>
        <p:nvPicPr>
          <p:cNvPr id="240" name="Google Shape;24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/>
          <p:nvPr/>
        </p:nvSpPr>
        <p:spPr>
          <a:xfrm>
            <a:off x="-36283" y="797704"/>
            <a:ext cx="9180284" cy="33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 interaction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46" name="Google Shape;24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6270" y="1612107"/>
            <a:ext cx="5666812" cy="266384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9"/>
          <p:cNvSpPr/>
          <p:nvPr/>
        </p:nvSpPr>
        <p:spPr>
          <a:xfrm>
            <a:off x="5186945" y="1265858"/>
            <a:ext cx="150546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Times New Roman"/>
                <a:ea typeface="Times New Roman"/>
                <a:cs typeface="Times New Roman"/>
                <a:sym typeface="Times New Roman"/>
              </a:rPr>
              <a:t>S[i] </a:t>
            </a:r>
            <a:r>
              <a:rPr lang="en" sz="1800" b="1">
                <a:latin typeface="Twentieth Century"/>
                <a:ea typeface="Twentieth Century"/>
                <a:cs typeface="Twentieth Century"/>
                <a:sym typeface="Twentieth Century"/>
              </a:rPr>
              <a:t>- output</a:t>
            </a:r>
            <a:endParaRPr sz="18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5186945" y="4412494"/>
            <a:ext cx="1362392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Times New Roman"/>
                <a:ea typeface="Times New Roman"/>
                <a:cs typeface="Times New Roman"/>
                <a:sym typeface="Times New Roman"/>
              </a:rPr>
              <a:t>x[i]</a:t>
            </a:r>
            <a:r>
              <a:rPr lang="en" sz="1800" b="1">
                <a:latin typeface="Twentieth Century"/>
                <a:ea typeface="Twentieth Century"/>
                <a:cs typeface="Twentieth Century"/>
                <a:sym typeface="Twentieth Century"/>
              </a:rPr>
              <a:t> - input</a:t>
            </a:r>
            <a:endParaRPr sz="18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689708" y="1478880"/>
            <a:ext cx="1497044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Times New Roman"/>
                <a:ea typeface="Times New Roman"/>
                <a:cs typeface="Times New Roman"/>
                <a:sym typeface="Times New Roman"/>
              </a:rPr>
              <a:t>K[i] </a:t>
            </a:r>
            <a:r>
              <a:rPr lang="en" sz="1800" b="1">
                <a:latin typeface="Twentieth Century"/>
                <a:ea typeface="Twentieth Century"/>
                <a:cs typeface="Twentieth Century"/>
                <a:sym typeface="Twentieth Century"/>
              </a:rPr>
              <a:t>- kernel</a:t>
            </a:r>
            <a:endParaRPr sz="18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1197592" y="2014050"/>
            <a:ext cx="615203" cy="584947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1197593" y="3190043"/>
            <a:ext cx="615203" cy="584947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2060285" y="3190043"/>
            <a:ext cx="615203" cy="584947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334900" y="3190043"/>
            <a:ext cx="615203" cy="584947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54" name="Google Shape;254;p29"/>
          <p:cNvCxnSpPr>
            <a:stCxn id="251" idx="0"/>
            <a:endCxn id="250" idx="4"/>
          </p:cNvCxnSpPr>
          <p:nvPr/>
        </p:nvCxnSpPr>
        <p:spPr>
          <a:xfrm rot="10800000">
            <a:off x="1505194" y="2599043"/>
            <a:ext cx="0" cy="591000"/>
          </a:xfrm>
          <a:prstGeom prst="straightConnector1">
            <a:avLst/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5" name="Google Shape;255;p29"/>
          <p:cNvCxnSpPr>
            <a:stCxn id="252" idx="0"/>
            <a:endCxn id="250" idx="5"/>
          </p:cNvCxnSpPr>
          <p:nvPr/>
        </p:nvCxnSpPr>
        <p:spPr>
          <a:xfrm rot="10800000">
            <a:off x="1722587" y="2513243"/>
            <a:ext cx="645300" cy="676800"/>
          </a:xfrm>
          <a:prstGeom prst="straightConnector1">
            <a:avLst/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6" name="Google Shape;256;p29"/>
          <p:cNvCxnSpPr>
            <a:stCxn id="253" idx="0"/>
            <a:endCxn id="250" idx="3"/>
          </p:cNvCxnSpPr>
          <p:nvPr/>
        </p:nvCxnSpPr>
        <p:spPr>
          <a:xfrm rot="10800000" flipH="1">
            <a:off x="642501" y="2513243"/>
            <a:ext cx="645300" cy="676800"/>
          </a:xfrm>
          <a:prstGeom prst="straightConnector1">
            <a:avLst/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7" name="Google Shape;257;p29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CAPA DE CONVOLUCIÓN</a:t>
            </a:r>
            <a:endParaRPr sz="1100"/>
          </a:p>
        </p:txBody>
      </p:sp>
      <p:pic>
        <p:nvPicPr>
          <p:cNvPr id="258" name="Google Shape;2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9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¿Ventajas? Sparse interaction</a:t>
            </a:r>
            <a:endParaRPr sz="11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 txBox="1"/>
          <p:nvPr/>
        </p:nvSpPr>
        <p:spPr>
          <a:xfrm>
            <a:off x="205764" y="1700576"/>
            <a:ext cx="3404771" cy="22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 interaction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vs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fully conected layer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65" name="Google Shape;26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7224" y="797704"/>
            <a:ext cx="3841374" cy="1805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7224" y="3007751"/>
            <a:ext cx="3841374" cy="191056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0"/>
          <p:cNvSpPr txBox="1"/>
          <p:nvPr/>
        </p:nvSpPr>
        <p:spPr>
          <a:xfrm>
            <a:off x="205763" y="4512257"/>
            <a:ext cx="3404771" cy="54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Visto desde la salida</a:t>
            </a:r>
            <a:endParaRPr sz="1100"/>
          </a:p>
        </p:txBody>
      </p:sp>
      <p:sp>
        <p:nvSpPr>
          <p:cNvPr id="268" name="Google Shape;268;p30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CAPA DE CONVOLUCIÓN</a:t>
            </a:r>
            <a:endParaRPr sz="1100"/>
          </a:p>
        </p:txBody>
      </p:sp>
      <p:pic>
        <p:nvPicPr>
          <p:cNvPr id="269" name="Google Shape;26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0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¿Ventajas? Sparse interaction</a:t>
            </a:r>
            <a:endParaRPr sz="11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/>
        </p:nvSpPr>
        <p:spPr>
          <a:xfrm>
            <a:off x="205764" y="1700576"/>
            <a:ext cx="3404771" cy="22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 interaction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vs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fully conected layer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205763" y="4512257"/>
            <a:ext cx="3556052" cy="54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Visto desde la entrada</a:t>
            </a:r>
            <a:endParaRPr sz="1100"/>
          </a:p>
        </p:txBody>
      </p:sp>
      <p:pic>
        <p:nvPicPr>
          <p:cNvPr id="277" name="Google Shape;27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88109" y="866810"/>
            <a:ext cx="4071937" cy="192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88110" y="3035451"/>
            <a:ext cx="4071937" cy="187881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1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CAPA DE CONVOLUCIÓN</a:t>
            </a:r>
            <a:endParaRPr sz="1100"/>
          </a:p>
        </p:txBody>
      </p:sp>
      <p:pic>
        <p:nvPicPr>
          <p:cNvPr id="280" name="Google Shape;28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1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¿Ventajas? Sparse interaction</a:t>
            </a:r>
            <a:endParaRPr sz="112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 txBox="1"/>
          <p:nvPr/>
        </p:nvSpPr>
        <p:spPr>
          <a:xfrm>
            <a:off x="-99036" y="1700576"/>
            <a:ext cx="3404700" cy="22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 interaction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 deep CNN</a:t>
            </a:r>
            <a:endParaRPr sz="1100"/>
          </a:p>
        </p:txBody>
      </p:sp>
      <p:pic>
        <p:nvPicPr>
          <p:cNvPr id="287" name="Google Shape;28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5241" y="1385484"/>
            <a:ext cx="5170814" cy="302704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2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CAPA DE CONVOLUCIÓN</a:t>
            </a:r>
            <a:endParaRPr sz="1100"/>
          </a:p>
        </p:txBody>
      </p:sp>
      <p:pic>
        <p:nvPicPr>
          <p:cNvPr id="289" name="Google Shape;28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2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¿Ventajas? Sparse interaction</a:t>
            </a:r>
            <a:endParaRPr sz="112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/>
          <p:nvPr/>
        </p:nvSpPr>
        <p:spPr>
          <a:xfrm>
            <a:off x="2842000" y="866810"/>
            <a:ext cx="3394687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parameter sharing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359925" y="1305100"/>
            <a:ext cx="77037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15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" sz="2100">
                <a:latin typeface="Twentieth Century"/>
                <a:ea typeface="Twentieth Century"/>
                <a:cs typeface="Twentieth Century"/>
                <a:sym typeface="Twentieth Century"/>
              </a:rPr>
              <a:t>El uso de un mismo KERNEL para una capa dada, implica que los parámetros (pesos sinápticos </a:t>
            </a:r>
            <a:r>
              <a:rPr lang="en" sz="27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2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" sz="2100">
                <a:latin typeface="Twentieth Century"/>
                <a:ea typeface="Twentieth Century"/>
                <a:cs typeface="Twentieth Century"/>
                <a:sym typeface="Twentieth Century"/>
              </a:rPr>
              <a:t>) se comparten.</a:t>
            </a:r>
            <a:endParaRPr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1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34950" algn="l" rtl="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Twentieth Century"/>
                <a:ea typeface="Twentieth Century"/>
                <a:cs typeface="Twentieth Century"/>
                <a:sym typeface="Twentieth Century"/>
              </a:rPr>
              <a:t>Esto permite optimizar dicho KERNEL para que sea capaz de detectar </a:t>
            </a:r>
            <a:r>
              <a:rPr lang="en" sz="2100" b="1">
                <a:latin typeface="Twentieth Century"/>
                <a:ea typeface="Twentieth Century"/>
                <a:cs typeface="Twentieth Century"/>
                <a:sym typeface="Twentieth Century"/>
              </a:rPr>
              <a:t>algo específico</a:t>
            </a:r>
            <a:r>
              <a:rPr lang="en" sz="2100">
                <a:latin typeface="Twentieth Century"/>
                <a:ea typeface="Twentieth Century"/>
                <a:cs typeface="Twentieth Century"/>
                <a:sym typeface="Twentieth Century"/>
              </a:rPr>
              <a:t> (un borde por ejemplo).</a:t>
            </a:r>
            <a:endParaRPr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1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34950" algn="l" rtl="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Twentieth Century"/>
                <a:ea typeface="Twentieth Century"/>
                <a:cs typeface="Twentieth Century"/>
                <a:sym typeface="Twentieth Century"/>
              </a:rPr>
              <a:t>De esta manera, el KERNEL entrenado, será capaz de detectar </a:t>
            </a:r>
            <a:r>
              <a:rPr lang="en" sz="2100" b="1">
                <a:latin typeface="Twentieth Century"/>
                <a:ea typeface="Twentieth Century"/>
                <a:cs typeface="Twentieth Century"/>
                <a:sym typeface="Twentieth Century"/>
              </a:rPr>
              <a:t>algo específico</a:t>
            </a:r>
            <a:r>
              <a:rPr lang="en" sz="2100">
                <a:latin typeface="Twentieth Century"/>
                <a:ea typeface="Twentieth Century"/>
                <a:cs typeface="Twentieth Century"/>
                <a:sym typeface="Twentieth Century"/>
              </a:rPr>
              <a:t> en cualquier lugar donde se aplique el KERNEL en la foto de entrada (INPUT).</a:t>
            </a:r>
            <a:endParaRPr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97" name="Google Shape;2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3"/>
          <p:cNvSpPr txBox="1">
            <a:spLocks noGrp="1"/>
          </p:cNvSpPr>
          <p:nvPr>
            <p:ph type="title"/>
          </p:nvPr>
        </p:nvSpPr>
        <p:spPr>
          <a:xfrm>
            <a:off x="158700" y="52400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¿Ventajas? Parameter sharing</a:t>
            </a:r>
            <a:endParaRPr sz="112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/>
          <p:nvPr/>
        </p:nvSpPr>
        <p:spPr>
          <a:xfrm>
            <a:off x="241100" y="676575"/>
            <a:ext cx="8646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6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parameter sharing</a:t>
            </a:r>
            <a:endParaRPr sz="26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600"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r>
              <a:rPr lang="en" sz="2300" i="1">
                <a:latin typeface="Twentieth Century"/>
                <a:ea typeface="Twentieth Century"/>
                <a:cs typeface="Twentieth Century"/>
                <a:sym typeface="Twentieth Century"/>
              </a:rPr>
              <a:t>…detectar </a:t>
            </a:r>
            <a:r>
              <a:rPr lang="en" sz="2300" b="1" i="1">
                <a:latin typeface="Twentieth Century"/>
                <a:ea typeface="Twentieth Century"/>
                <a:cs typeface="Twentieth Century"/>
                <a:sym typeface="Twentieth Century"/>
              </a:rPr>
              <a:t>algo específico</a:t>
            </a:r>
            <a:r>
              <a:rPr lang="en" sz="2300" i="1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300">
                <a:latin typeface="Twentieth Century"/>
                <a:ea typeface="Twentieth Century"/>
                <a:cs typeface="Twentieth Century"/>
                <a:sym typeface="Twentieth Century"/>
              </a:rPr>
              <a:t>en cualquier lugar donde se aplique el KERNEL </a:t>
            </a:r>
            <a:r>
              <a:rPr lang="en" sz="2300" i="1">
                <a:latin typeface="Twentieth Century"/>
                <a:ea typeface="Twentieth Century"/>
                <a:cs typeface="Twentieth Century"/>
                <a:sym typeface="Twentieth Century"/>
              </a:rPr>
              <a:t>…”</a:t>
            </a:r>
            <a:endParaRPr sz="2600" b="1" i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4" name="Google Shape;304;p34"/>
          <p:cNvSpPr/>
          <p:nvPr/>
        </p:nvSpPr>
        <p:spPr>
          <a:xfrm>
            <a:off x="241100" y="1718525"/>
            <a:ext cx="86796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8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Esa propiedad se llama </a:t>
            </a:r>
            <a:r>
              <a:rPr lang="en" sz="2000" b="1">
                <a:latin typeface="Twentieth Century"/>
                <a:ea typeface="Twentieth Century"/>
                <a:cs typeface="Twentieth Century"/>
                <a:sym typeface="Twentieth Century"/>
              </a:rPr>
              <a:t>equivariancia a la traslación</a:t>
            </a: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 (</a:t>
            </a:r>
            <a:r>
              <a:rPr lang="en" sz="2000" b="1">
                <a:latin typeface="Twentieth Century"/>
                <a:ea typeface="Twentieth Century"/>
                <a:cs typeface="Twentieth Century"/>
                <a:sym typeface="Twentieth Century"/>
              </a:rPr>
              <a:t>translation</a:t>
            </a: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000" b="1">
                <a:latin typeface="Twentieth Century"/>
                <a:ea typeface="Twentieth Century"/>
                <a:cs typeface="Twentieth Century"/>
                <a:sym typeface="Twentieth Century"/>
              </a:rPr>
              <a:t>equivariance</a:t>
            </a: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) y es natural de la convolución.</a:t>
            </a:r>
            <a:endParaRPr sz="130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05" name="Google Shape;30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1296" y="2665204"/>
            <a:ext cx="6858000" cy="216455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4"/>
          <p:cNvSpPr/>
          <p:nvPr/>
        </p:nvSpPr>
        <p:spPr>
          <a:xfrm>
            <a:off x="132622" y="4857025"/>
            <a:ext cx="911824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https://towardsdatascience.com/translational-invariance-vs-translational-equivariance-f9fbc8fca63a</a:t>
            </a:r>
            <a:endParaRPr sz="1100"/>
          </a:p>
        </p:txBody>
      </p:sp>
      <p:sp>
        <p:nvSpPr>
          <p:cNvPr id="307" name="Google Shape;307;p34"/>
          <p:cNvSpPr/>
          <p:nvPr/>
        </p:nvSpPr>
        <p:spPr>
          <a:xfrm>
            <a:off x="7373899" y="2468104"/>
            <a:ext cx="995100" cy="28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900" b="1" cap="non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!</a:t>
            </a:r>
            <a:endParaRPr sz="1100"/>
          </a:p>
        </p:txBody>
      </p:sp>
      <p:pic>
        <p:nvPicPr>
          <p:cNvPr id="308" name="Google Shape;30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58700" y="52400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¿Ventajas? Parameter sharing</a:t>
            </a:r>
            <a:endParaRPr sz="112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/>
          <p:nvPr/>
        </p:nvSpPr>
        <p:spPr>
          <a:xfrm>
            <a:off x="601035" y="676577"/>
            <a:ext cx="7846359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parameter sharing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66975" y="1188575"/>
            <a:ext cx="89184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Compartir parámetros permite utilizar más de 1 vez un mismo pámetro…</a:t>
            </a:r>
            <a:endParaRPr sz="1300"/>
          </a:p>
        </p:txBody>
      </p:sp>
      <p:pic>
        <p:nvPicPr>
          <p:cNvPr id="316" name="Google Shape;31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2563" y="1748990"/>
            <a:ext cx="4136231" cy="324326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5"/>
          <p:cNvSpPr txBox="1"/>
          <p:nvPr/>
        </p:nvSpPr>
        <p:spPr>
          <a:xfrm>
            <a:off x="738586" y="2323807"/>
            <a:ext cx="3404771" cy="22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 layer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vs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fully conected layer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8" name="Google Shape;318;p35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CAPA DE CONVOLUCIÓN</a:t>
            </a:r>
            <a:endParaRPr sz="1100"/>
          </a:p>
        </p:txBody>
      </p:sp>
      <p:pic>
        <p:nvPicPr>
          <p:cNvPr id="319" name="Google Shape;31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5"/>
          <p:cNvSpPr txBox="1">
            <a:spLocks noGrp="1"/>
          </p:cNvSpPr>
          <p:nvPr>
            <p:ph type="title"/>
          </p:nvPr>
        </p:nvSpPr>
        <p:spPr>
          <a:xfrm>
            <a:off x="158700" y="52400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¿Ventajas? Parameter sharing</a:t>
            </a:r>
            <a:endParaRPr sz="112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/>
          <p:nvPr/>
        </p:nvSpPr>
        <p:spPr>
          <a:xfrm>
            <a:off x="601035" y="676577"/>
            <a:ext cx="7846359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 interaction + parameter sharing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6" name="Google Shape;326;p36"/>
          <p:cNvSpPr/>
          <p:nvPr/>
        </p:nvSpPr>
        <p:spPr>
          <a:xfrm>
            <a:off x="601035" y="1288089"/>
            <a:ext cx="7876615" cy="90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8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Hay una reducción drástica de los parámetros a entrenar y a almacenar.</a:t>
            </a:r>
            <a:endParaRPr sz="1300"/>
          </a:p>
        </p:txBody>
      </p:sp>
      <p:sp>
        <p:nvSpPr>
          <p:cNvPr id="327" name="Google Shape;327;p36"/>
          <p:cNvSpPr txBox="1"/>
          <p:nvPr/>
        </p:nvSpPr>
        <p:spPr>
          <a:xfrm>
            <a:off x="678308" y="3163328"/>
            <a:ext cx="3404771" cy="76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 layer con KERNEL de tamaño </a:t>
            </a:r>
            <a:r>
              <a:rPr lang="en" sz="24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100"/>
          </a:p>
        </p:txBody>
      </p:sp>
      <p:sp>
        <p:nvSpPr>
          <p:cNvPr id="328" name="Google Shape;328;p36"/>
          <p:cNvSpPr/>
          <p:nvPr/>
        </p:nvSpPr>
        <p:spPr>
          <a:xfrm>
            <a:off x="4924305" y="3339852"/>
            <a:ext cx="3043142" cy="41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fully conected layer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9" name="Google Shape;329;p36"/>
          <p:cNvSpPr/>
          <p:nvPr/>
        </p:nvSpPr>
        <p:spPr>
          <a:xfrm>
            <a:off x="678308" y="2018327"/>
            <a:ext cx="787661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8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Supongamos una capa de </a:t>
            </a:r>
            <a:r>
              <a:rPr lang="en" sz="2000" i="1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 entradas y </a:t>
            </a:r>
            <a:r>
              <a:rPr lang="en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 salidas…</a:t>
            </a:r>
            <a:endParaRPr sz="1300"/>
          </a:p>
        </p:txBody>
      </p:sp>
      <p:sp>
        <p:nvSpPr>
          <p:cNvPr id="330" name="Google Shape;330;p36"/>
          <p:cNvSpPr txBox="1"/>
          <p:nvPr/>
        </p:nvSpPr>
        <p:spPr>
          <a:xfrm>
            <a:off x="5637409" y="4033512"/>
            <a:ext cx="1616933" cy="4154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31" name="Google Shape;331;p36"/>
          <p:cNvSpPr txBox="1"/>
          <p:nvPr/>
        </p:nvSpPr>
        <p:spPr>
          <a:xfrm>
            <a:off x="1572226" y="4033512"/>
            <a:ext cx="1522581" cy="4154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32" name="Google Shape;332;p36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CAPA DE CONVOLUCIÓN</a:t>
            </a:r>
            <a:endParaRPr sz="1100"/>
          </a:p>
        </p:txBody>
      </p:sp>
      <p:sp>
        <p:nvSpPr>
          <p:cNvPr id="333" name="Google Shape;333;p36"/>
          <p:cNvSpPr txBox="1"/>
          <p:nvPr/>
        </p:nvSpPr>
        <p:spPr>
          <a:xfrm>
            <a:off x="601035" y="4555265"/>
            <a:ext cx="3802000" cy="4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n" sz="21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(cada kernel tendrá 1 salida)</a:t>
            </a:r>
            <a:r>
              <a:rPr lang="en" sz="2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100"/>
          </a:p>
        </p:txBody>
      </p:sp>
      <p:pic>
        <p:nvPicPr>
          <p:cNvPr id="334" name="Google Shape;33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158700" y="52400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¿Ventajas?</a:t>
            </a:r>
            <a:endParaRPr sz="112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 txBox="1"/>
          <p:nvPr/>
        </p:nvSpPr>
        <p:spPr>
          <a:xfrm>
            <a:off x="139836" y="655709"/>
            <a:ext cx="9103814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 interaction + parameter sharing (edge detecting)</a:t>
            </a:r>
            <a:endParaRPr sz="1100"/>
          </a:p>
        </p:txBody>
      </p:sp>
      <p:sp>
        <p:nvSpPr>
          <p:cNvPr id="341" name="Google Shape;341;p37"/>
          <p:cNvSpPr txBox="1"/>
          <p:nvPr/>
        </p:nvSpPr>
        <p:spPr>
          <a:xfrm>
            <a:off x="0" y="4035820"/>
            <a:ext cx="3849093" cy="76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Conv layer.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Aprox 267960 float op. </a:t>
            </a:r>
            <a:endParaRPr sz="1100"/>
          </a:p>
        </p:txBody>
      </p:sp>
      <p:sp>
        <p:nvSpPr>
          <p:cNvPr id="342" name="Google Shape;342;p37"/>
          <p:cNvSpPr/>
          <p:nvPr/>
        </p:nvSpPr>
        <p:spPr>
          <a:xfrm>
            <a:off x="3849093" y="4032388"/>
            <a:ext cx="4639800" cy="8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fully connected layer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Aprox 16000000000 float op.</a:t>
            </a:r>
            <a:endParaRPr sz="1100"/>
          </a:p>
        </p:txBody>
      </p:sp>
      <p:pic>
        <p:nvPicPr>
          <p:cNvPr id="343" name="Google Shape;34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8227" y="1202450"/>
            <a:ext cx="6136481" cy="261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7"/>
          <p:cNvSpPr txBox="1">
            <a:spLocks noGrp="1"/>
          </p:cNvSpPr>
          <p:nvPr>
            <p:ph type="title"/>
          </p:nvPr>
        </p:nvSpPr>
        <p:spPr>
          <a:xfrm>
            <a:off x="158700" y="52400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¿Ventajas?</a:t>
            </a:r>
            <a:endParaRPr sz="112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 txBox="1"/>
          <p:nvPr/>
        </p:nvSpPr>
        <p:spPr>
          <a:xfrm>
            <a:off x="620400" y="797697"/>
            <a:ext cx="7588800" cy="6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3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stride</a:t>
            </a:r>
            <a:endParaRPr sz="31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1" name="Google Shape;351;p38"/>
          <p:cNvSpPr/>
          <p:nvPr/>
        </p:nvSpPr>
        <p:spPr>
          <a:xfrm>
            <a:off x="601035" y="1288089"/>
            <a:ext cx="7876500" cy="14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8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Regula los pasos en que avanza la convolución.</a:t>
            </a:r>
            <a:endParaRPr sz="130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8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Es como hacer un downsampling de la salida.</a:t>
            </a:r>
            <a:endParaRPr sz="130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52" name="Google Shape;35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2824" y="2901322"/>
            <a:ext cx="6373037" cy="18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8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Stride</a:t>
            </a:r>
            <a:endParaRPr sz="1120"/>
          </a:p>
        </p:txBody>
      </p:sp>
      <p:pic>
        <p:nvPicPr>
          <p:cNvPr id="354" name="Google Shape;35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9"/>
          <p:cNvSpPr txBox="1"/>
          <p:nvPr/>
        </p:nvSpPr>
        <p:spPr>
          <a:xfrm>
            <a:off x="215175" y="886700"/>
            <a:ext cx="48480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latin typeface="Twentieth Century"/>
                <a:ea typeface="Twentieth Century"/>
                <a:cs typeface="Twentieth Century"/>
                <a:sym typeface="Twentieth Century"/>
              </a:rPr>
              <a:t>CAPA DE ACTIVACIÓN/DETECCIÓN</a:t>
            </a:r>
            <a:endParaRPr sz="1100"/>
          </a:p>
        </p:txBody>
      </p:sp>
      <p:sp>
        <p:nvSpPr>
          <p:cNvPr id="360" name="Google Shape;360;p39"/>
          <p:cNvSpPr/>
          <p:nvPr/>
        </p:nvSpPr>
        <p:spPr>
          <a:xfrm>
            <a:off x="601035" y="1288089"/>
            <a:ext cx="4392748" cy="200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41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Twentieth Century"/>
                <a:ea typeface="Twentieth Century"/>
                <a:cs typeface="Twentieth Century"/>
                <a:sym typeface="Twentieth Century"/>
              </a:rPr>
              <a:t>Es una capa NO LINEAL como las ya conocidas.</a:t>
            </a:r>
            <a:endParaRPr sz="150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2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41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Twentieth Century"/>
                <a:ea typeface="Twentieth Century"/>
                <a:cs typeface="Twentieth Century"/>
                <a:sym typeface="Twentieth Century"/>
              </a:rPr>
              <a:t>Relación entrada/salida 1/1.</a:t>
            </a:r>
            <a:endParaRPr sz="150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2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41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Twentieth Century"/>
                <a:ea typeface="Twentieth Century"/>
                <a:cs typeface="Twentieth Century"/>
                <a:sym typeface="Twentieth Century"/>
              </a:rPr>
              <a:t>No se optimizan pesos sinápticos.</a:t>
            </a:r>
            <a:endParaRPr sz="1500"/>
          </a:p>
        </p:txBody>
      </p:sp>
      <p:pic>
        <p:nvPicPr>
          <p:cNvPr id="361" name="Google Shape;36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8973" y="785642"/>
            <a:ext cx="2409005" cy="435786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9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Capa de activación</a:t>
            </a:r>
            <a:endParaRPr sz="1120"/>
          </a:p>
        </p:txBody>
      </p:sp>
      <p:pic>
        <p:nvPicPr>
          <p:cNvPr id="363" name="Google Shape;36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0"/>
          <p:cNvSpPr txBox="1"/>
          <p:nvPr/>
        </p:nvSpPr>
        <p:spPr>
          <a:xfrm>
            <a:off x="-119700" y="925142"/>
            <a:ext cx="93834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" sz="1800" cap="none">
                <a:latin typeface="Twentieth Century"/>
                <a:ea typeface="Twentieth Century"/>
                <a:cs typeface="Twentieth Century"/>
                <a:sym typeface="Twentieth Century"/>
              </a:rPr>
              <a:t>(POOLING = GROUPING OF ASSETS)</a:t>
            </a:r>
            <a:endParaRPr sz="1100"/>
          </a:p>
        </p:txBody>
      </p:sp>
      <p:sp>
        <p:nvSpPr>
          <p:cNvPr id="369" name="Google Shape;369;p40"/>
          <p:cNvSpPr/>
          <p:nvPr/>
        </p:nvSpPr>
        <p:spPr>
          <a:xfrm>
            <a:off x="253980" y="1445483"/>
            <a:ext cx="78765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15900" marR="0" lvl="0" indent="-228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Es similar a la CONV (tiene size y stride), pero aplica un operador matemático específico en lugar de un KERNEL.</a:t>
            </a:r>
            <a:endParaRPr sz="130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8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Se busca una reducción de dimensiones de la entrada con operadores que permitan detectar features.</a:t>
            </a:r>
            <a:endParaRPr sz="130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8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Como salida, da un valor característico de todos los features de entrada de la entrada.</a:t>
            </a:r>
            <a:endParaRPr sz="130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28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se optimizan pesos sinápticos </a:t>
            </a:r>
            <a:r>
              <a:rPr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(solo tiene hiper-parámetros)</a:t>
            </a:r>
            <a:endParaRPr sz="130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0" name="Google Shape;370;p40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Capa de pooling</a:t>
            </a:r>
            <a:endParaRPr sz="1120"/>
          </a:p>
        </p:txBody>
      </p:sp>
      <p:pic>
        <p:nvPicPr>
          <p:cNvPr id="371" name="Google Shape;3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CAPA DE POOLING (GROUPING OF ASSETS)</a:t>
            </a:r>
            <a:endParaRPr sz="1100"/>
          </a:p>
        </p:txBody>
      </p:sp>
      <p:pic>
        <p:nvPicPr>
          <p:cNvPr id="377" name="Google Shape;37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82" y="925636"/>
            <a:ext cx="5155617" cy="3741127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1"/>
          <p:cNvSpPr/>
          <p:nvPr/>
        </p:nvSpPr>
        <p:spPr>
          <a:xfrm>
            <a:off x="1967248" y="4666742"/>
            <a:ext cx="591462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wentieth Century"/>
                <a:ea typeface="Twentieth Century"/>
                <a:cs typeface="Twentieth Century"/>
                <a:sym typeface="Twentieth Century"/>
              </a:rPr>
              <a:t>https://iq.opengenus.org/pooling-layers/</a:t>
            </a:r>
            <a:endParaRPr sz="1300"/>
          </a:p>
        </p:txBody>
      </p:sp>
      <p:pic>
        <p:nvPicPr>
          <p:cNvPr id="379" name="Google Shape;37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1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Capa de pooling</a:t>
            </a:r>
            <a:endParaRPr sz="112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/>
          <p:nvPr/>
        </p:nvSpPr>
        <p:spPr>
          <a:xfrm>
            <a:off x="541850" y="1576875"/>
            <a:ext cx="8226000" cy="3318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52" b="-244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6" name="Google Shape;386;p42"/>
          <p:cNvSpPr/>
          <p:nvPr/>
        </p:nvSpPr>
        <p:spPr>
          <a:xfrm>
            <a:off x="1685782" y="1025629"/>
            <a:ext cx="6313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i="1" dirty="0">
                <a:latin typeface="Twentieth Century"/>
                <a:ea typeface="Twentieth Century"/>
                <a:cs typeface="Twentieth Century"/>
                <a:sym typeface="Twentieth Century"/>
              </a:rPr>
              <a:t>“…operadores que permitan detectar features.”</a:t>
            </a:r>
            <a:endParaRPr sz="2100" i="1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87" name="Google Shape;38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2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Capa de pooling</a:t>
            </a:r>
            <a:endParaRPr sz="112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3"/>
          <p:cNvSpPr/>
          <p:nvPr/>
        </p:nvSpPr>
        <p:spPr>
          <a:xfrm>
            <a:off x="601036" y="1123883"/>
            <a:ext cx="7876615" cy="200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15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Reducción de dimensión (resumen estadístico de la entrada)</a:t>
            </a:r>
            <a:endParaRPr sz="1100" dirty="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15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Translation </a:t>
            </a: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invariant </a:t>
            </a: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invariancia al desplazamiento.</a:t>
            </a:r>
            <a:endParaRPr sz="1100" dirty="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15900" marR="0" lvl="0" indent="-215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" sz="1800" b="1" dirty="0">
                <a:latin typeface="Twentieth Century"/>
                <a:ea typeface="Twentieth Century"/>
                <a:cs typeface="Twentieth Century"/>
                <a:sym typeface="Twentieth Century"/>
              </a:rPr>
              <a:t>Permite lograr una detección que no depende de la posición (es invariante a la posición de dicho feature)</a:t>
            </a:r>
            <a:endParaRPr sz="1800" b="1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4" name="Google Shape;394;p43"/>
          <p:cNvSpPr txBox="1"/>
          <p:nvPr/>
        </p:nvSpPr>
        <p:spPr>
          <a:xfrm>
            <a:off x="-152399" y="792487"/>
            <a:ext cx="9180284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¿Qué ventaja gano haciendo pooling?</a:t>
            </a:r>
            <a:endParaRPr sz="1100"/>
          </a:p>
        </p:txBody>
      </p:sp>
      <p:pic>
        <p:nvPicPr>
          <p:cNvPr id="395" name="Google Shape;395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224" y="3389198"/>
            <a:ext cx="3843338" cy="1614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848" y="3389198"/>
            <a:ext cx="4111037" cy="161448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3"/>
          <p:cNvSpPr/>
          <p:nvPr/>
        </p:nvSpPr>
        <p:spPr>
          <a:xfrm>
            <a:off x="4192073" y="4568780"/>
            <a:ext cx="656822" cy="2801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8" name="Google Shape;398;p43"/>
          <p:cNvSpPr/>
          <p:nvPr/>
        </p:nvSpPr>
        <p:spPr>
          <a:xfrm>
            <a:off x="4127514" y="4196442"/>
            <a:ext cx="364094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wentieth Century"/>
                <a:ea typeface="Twentieth Century"/>
                <a:cs typeface="Twentieth Century"/>
                <a:sym typeface="Twentieth Century"/>
              </a:rPr>
              <a:t>shift X</a:t>
            </a:r>
            <a:endParaRPr sz="18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99" name="Google Shape;39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3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Capa de pooling</a:t>
            </a:r>
            <a:endParaRPr sz="112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/>
          <p:nvPr/>
        </p:nvSpPr>
        <p:spPr>
          <a:xfrm>
            <a:off x="-152399" y="792487"/>
            <a:ext cx="9180284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Translational invariance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06" name="Google Shape;40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686" y="1662001"/>
            <a:ext cx="7442626" cy="2134998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4"/>
          <p:cNvSpPr/>
          <p:nvPr/>
        </p:nvSpPr>
        <p:spPr>
          <a:xfrm>
            <a:off x="1989504" y="4011333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wentieth Century"/>
                <a:ea typeface="Twentieth Century"/>
                <a:cs typeface="Twentieth Century"/>
                <a:sym typeface="Twentieth Century"/>
              </a:rPr>
              <a:t>https://kamathhrishi.github.io/MyWebsite/jekyll/update/2022/06/10/modelvsdataml.html</a:t>
            </a:r>
            <a:endParaRPr sz="1300"/>
          </a:p>
        </p:txBody>
      </p:sp>
      <p:pic>
        <p:nvPicPr>
          <p:cNvPr id="408" name="Google Shape;40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4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Capa de pooling</a:t>
            </a:r>
            <a:endParaRPr sz="112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 txBox="1"/>
          <p:nvPr/>
        </p:nvSpPr>
        <p:spPr>
          <a:xfrm>
            <a:off x="-152399" y="792487"/>
            <a:ext cx="9180284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Translational invariance…. ¿?</a:t>
            </a:r>
            <a:endParaRPr sz="1100"/>
          </a:p>
        </p:txBody>
      </p:sp>
      <p:sp>
        <p:nvSpPr>
          <p:cNvPr id="415" name="Google Shape;415;p45"/>
          <p:cNvSpPr/>
          <p:nvPr/>
        </p:nvSpPr>
        <p:spPr>
          <a:xfrm>
            <a:off x="499432" y="1606900"/>
            <a:ext cx="2139300" cy="20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wentieth Century"/>
                <a:ea typeface="Twentieth Century"/>
                <a:cs typeface="Twentieth Century"/>
                <a:sym typeface="Twentieth Century"/>
              </a:rPr>
              <a:t>Una cara tiene:</a:t>
            </a:r>
            <a:endParaRPr sz="13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wentieth Century"/>
                <a:ea typeface="Twentieth Century"/>
                <a:cs typeface="Twentieth Century"/>
                <a:sym typeface="Twentieth Century"/>
              </a:rPr>
              <a:t>	- 2 ojos</a:t>
            </a:r>
            <a:endParaRPr sz="13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wentieth Century"/>
                <a:ea typeface="Twentieth Century"/>
                <a:cs typeface="Twentieth Century"/>
                <a:sym typeface="Twentieth Century"/>
              </a:rPr>
              <a:t>	- 1 nariz</a:t>
            </a:r>
            <a:endParaRPr sz="13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wentieth Century"/>
                <a:ea typeface="Twentieth Century"/>
                <a:cs typeface="Twentieth Century"/>
                <a:sym typeface="Twentieth Century"/>
              </a:rPr>
              <a:t>	- 1 boca</a:t>
            </a:r>
            <a:endParaRPr sz="13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wentieth Century"/>
                <a:ea typeface="Twentieth Century"/>
                <a:cs typeface="Twentieth Century"/>
                <a:sym typeface="Twentieth Century"/>
              </a:rPr>
              <a:t>	- 2 orejas</a:t>
            </a:r>
            <a:endParaRPr sz="13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wentieth Century"/>
                <a:ea typeface="Twentieth Century"/>
                <a:cs typeface="Twentieth Century"/>
                <a:sym typeface="Twentieth Century"/>
              </a:rPr>
              <a:t>… ¿correcto?</a:t>
            </a:r>
            <a:endParaRPr sz="1300" dirty="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0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16" name="Google Shape;41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8614" y="1342320"/>
            <a:ext cx="5454319" cy="3344123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5"/>
          <p:cNvSpPr/>
          <p:nvPr/>
        </p:nvSpPr>
        <p:spPr>
          <a:xfrm>
            <a:off x="309550" y="4581054"/>
            <a:ext cx="7258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wentieth Century"/>
                <a:ea typeface="Twentieth Century"/>
                <a:cs typeface="Twentieth Century"/>
                <a:sym typeface="Twentieth Century"/>
              </a:rPr>
              <a:t>https://divsoni2012.medium.com/translation-invariance-in-convolutional-neural-networks-61d9b6fa03df</a:t>
            </a:r>
            <a:endParaRPr sz="1300" dirty="0"/>
          </a:p>
        </p:txBody>
      </p:sp>
      <p:pic>
        <p:nvPicPr>
          <p:cNvPr id="418" name="Google Shape;41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5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Capa de pooling</a:t>
            </a:r>
            <a:endParaRPr sz="112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699" y="1392565"/>
            <a:ext cx="5897588" cy="3536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6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Capa de pooling</a:t>
            </a:r>
            <a:endParaRPr sz="1120"/>
          </a:p>
        </p:txBody>
      </p:sp>
      <p:sp>
        <p:nvSpPr>
          <p:cNvPr id="2" name="Google Shape;424;p46">
            <a:extLst>
              <a:ext uri="{FF2B5EF4-FFF2-40B4-BE49-F238E27FC236}">
                <a16:creationId xmlns:a16="http://schemas.microsoft.com/office/drawing/2014/main" id="{64B58A87-8C72-32A0-6E49-FAFCDC257E4A}"/>
              </a:ext>
            </a:extLst>
          </p:cNvPr>
          <p:cNvSpPr txBox="1"/>
          <p:nvPr/>
        </p:nvSpPr>
        <p:spPr>
          <a:xfrm>
            <a:off x="6311222" y="1217265"/>
            <a:ext cx="2832778" cy="135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s-AR" sz="24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</a:t>
            </a:r>
            <a:r>
              <a:rPr lang="en" sz="24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olling over channels!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lang="en" sz="24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s-AR" sz="24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</a:t>
            </a:r>
            <a:r>
              <a:rPr lang="en" sz="24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ibreria -&gt; einops</a:t>
            </a:r>
            <a:endParaRPr sz="24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318A74-A79B-5253-5DAE-D2DC094A1B33}"/>
              </a:ext>
            </a:extLst>
          </p:cNvPr>
          <p:cNvSpPr txBox="1"/>
          <p:nvPr/>
        </p:nvSpPr>
        <p:spPr>
          <a:xfrm>
            <a:off x="6239612" y="2832105"/>
            <a:ext cx="268113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hlinkClick r:id="rId5"/>
              </a:rPr>
              <a:t>https://stackoverflow.com/questions/46562612/pytorch-maxpooling-over-channels-dimension</a:t>
            </a:r>
            <a:endParaRPr lang="es-AR" dirty="0"/>
          </a:p>
          <a:p>
            <a:endParaRPr lang="es-AR" dirty="0"/>
          </a:p>
        </p:txBody>
      </p:sp>
      <p:sp>
        <p:nvSpPr>
          <p:cNvPr id="424" name="Google Shape;424;p46"/>
          <p:cNvSpPr txBox="1"/>
          <p:nvPr/>
        </p:nvSpPr>
        <p:spPr>
          <a:xfrm>
            <a:off x="942678" y="885868"/>
            <a:ext cx="4329629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rotational invariance</a:t>
            </a:r>
            <a:endParaRPr sz="24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7"/>
          <p:cNvSpPr txBox="1"/>
          <p:nvPr/>
        </p:nvSpPr>
        <p:spPr>
          <a:xfrm>
            <a:off x="-152400" y="663950"/>
            <a:ext cx="9180284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rotational/translational/scale INvariance or EQUIvariance</a:t>
            </a: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33" name="Google Shape;43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752" y="1123883"/>
            <a:ext cx="4607981" cy="376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7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Capa de pooling</a:t>
            </a:r>
            <a:endParaRPr sz="112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 txBox="1"/>
          <p:nvPr/>
        </p:nvSpPr>
        <p:spPr>
          <a:xfrm>
            <a:off x="-152399" y="52407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RESUMEN MODULO DE CNN</a:t>
            </a:r>
            <a:endParaRPr sz="1100"/>
          </a:p>
        </p:txBody>
      </p:sp>
      <p:pic>
        <p:nvPicPr>
          <p:cNvPr id="441" name="Google Shape;441;p48"/>
          <p:cNvPicPr preferRelativeResize="0"/>
          <p:nvPr/>
        </p:nvPicPr>
        <p:blipFill rotWithShape="1">
          <a:blip r:embed="rId3">
            <a:alphaModFix/>
          </a:blip>
          <a:srcRect t="22374" b="12241"/>
          <a:stretch/>
        </p:blipFill>
        <p:spPr>
          <a:xfrm>
            <a:off x="254818" y="1055654"/>
            <a:ext cx="3297648" cy="390056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2" name="Google Shape;442;p48"/>
          <p:cNvGraphicFramePr/>
          <p:nvPr/>
        </p:nvGraphicFramePr>
        <p:xfrm>
          <a:off x="3867494" y="743755"/>
          <a:ext cx="5021700" cy="3982570"/>
        </p:xfrm>
        <a:graphic>
          <a:graphicData uri="http://schemas.openxmlformats.org/drawingml/2006/table">
            <a:tbl>
              <a:tblPr firstRow="1" bandRow="1">
                <a:noFill/>
                <a:tableStyleId>{785B5045-CBB6-46CF-AA46-B7B1FD946A01}</a:tableStyleId>
              </a:tblPr>
              <a:tblGrid>
                <a:gridCol w="251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u="none" strike="noStrike" cap="none"/>
                        <a:t>Hiper parámetros </a:t>
                      </a:r>
                      <a:endParaRPr sz="11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(se eligen)</a:t>
                      </a:r>
                      <a:endParaRPr sz="18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Parametros </a:t>
                      </a:r>
                      <a:endParaRPr sz="11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(se entrenan)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Pooling func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Kernel size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stride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ninguno</a:t>
                      </a:r>
                      <a:endParaRPr sz="1100">
                        <a:solidFill>
                          <a:srgbClr val="000000"/>
                        </a:solidFill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Function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Function param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ninguno</a:t>
                      </a:r>
                      <a:endParaRPr sz="1100">
                        <a:solidFill>
                          <a:srgbClr val="000000"/>
                        </a:solidFill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Nro kernel (CH out)</a:t>
                      </a:r>
                      <a:endParaRPr sz="11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Kernel size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Padding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Stride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</a:rPr>
                        <a:t>Nro kernel * (kernel size**2 * CH input +1)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3" name="Google Shape;443;p48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Resumen de capas CNN</a:t>
            </a:r>
            <a:endParaRPr sz="1120"/>
          </a:p>
        </p:txBody>
      </p:sp>
      <p:pic>
        <p:nvPicPr>
          <p:cNvPr id="444" name="Google Shape;44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524" y="2685246"/>
            <a:ext cx="4159586" cy="231377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9"/>
          <p:cNvSpPr txBox="1"/>
          <p:nvPr/>
        </p:nvSpPr>
        <p:spPr>
          <a:xfrm>
            <a:off x="1792568" y="734095"/>
            <a:ext cx="5483232" cy="160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Unos minutos de descanso…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coffee / mate / pizza break</a:t>
            </a:r>
            <a:endParaRPr sz="1100"/>
          </a:p>
        </p:txBody>
      </p:sp>
      <p:sp>
        <p:nvSpPr>
          <p:cNvPr id="451" name="Google Shape;451;p49"/>
          <p:cNvSpPr/>
          <p:nvPr/>
        </p:nvSpPr>
        <p:spPr>
          <a:xfrm>
            <a:off x="5161168" y="3616194"/>
            <a:ext cx="3344906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Luego… parte práctica 1</a:t>
            </a:r>
            <a:endParaRPr sz="1100"/>
          </a:p>
        </p:txBody>
      </p:sp>
      <p:sp>
        <p:nvSpPr>
          <p:cNvPr id="452" name="Google Shape;452;p49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Práctica con capas CNN</a:t>
            </a:r>
            <a:endParaRPr sz="1120"/>
          </a:p>
        </p:txBody>
      </p:sp>
      <p:pic>
        <p:nvPicPr>
          <p:cNvPr id="453" name="Google Shape;45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0"/>
          <p:cNvSpPr txBox="1"/>
          <p:nvPr/>
        </p:nvSpPr>
        <p:spPr>
          <a:xfrm>
            <a:off x="2420413" y="1238741"/>
            <a:ext cx="43152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…back-propagation…</a:t>
            </a:r>
            <a:endParaRPr sz="1100"/>
          </a:p>
        </p:txBody>
      </p:sp>
      <p:sp>
        <p:nvSpPr>
          <p:cNvPr id="459" name="Google Shape;459;p50"/>
          <p:cNvSpPr txBox="1"/>
          <p:nvPr/>
        </p:nvSpPr>
        <p:spPr>
          <a:xfrm>
            <a:off x="2420450" y="849583"/>
            <a:ext cx="43152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Y ahora….</a:t>
            </a:r>
            <a:endParaRPr sz="1100"/>
          </a:p>
        </p:txBody>
      </p:sp>
      <p:pic>
        <p:nvPicPr>
          <p:cNvPr id="460" name="Google Shape;46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0413" y="1847346"/>
            <a:ext cx="4099657" cy="3143071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0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Back-propagation en CNN</a:t>
            </a:r>
            <a:endParaRPr sz="1120"/>
          </a:p>
        </p:txBody>
      </p:sp>
      <p:pic>
        <p:nvPicPr>
          <p:cNvPr id="462" name="Google Shape;46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1"/>
          <p:cNvSpPr txBox="1"/>
          <p:nvPr/>
        </p:nvSpPr>
        <p:spPr>
          <a:xfrm>
            <a:off x="2215400" y="1072625"/>
            <a:ext cx="43152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Parte práctica 2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Unos minutos de descanso…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coffee / mate / pizza break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68" name="Google Shape;468;p51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Implementación</a:t>
            </a:r>
            <a:endParaRPr sz="1120"/>
          </a:p>
        </p:txBody>
      </p:sp>
      <p:pic>
        <p:nvPicPr>
          <p:cNvPr id="469" name="Google Shape;46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>
          <a:extLst>
            <a:ext uri="{FF2B5EF4-FFF2-40B4-BE49-F238E27FC236}">
              <a16:creationId xmlns:a16="http://schemas.microsoft.com/office/drawing/2014/main" id="{D9D00BB3-37E3-8552-0F14-D09D9AD0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">
            <a:extLst>
              <a:ext uri="{FF2B5EF4-FFF2-40B4-BE49-F238E27FC236}">
                <a16:creationId xmlns:a16="http://schemas.microsoft.com/office/drawing/2014/main" id="{69AB7B4F-4D6C-9E6C-1863-3BB96C751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 dirty="0">
                <a:latin typeface="Arial"/>
                <a:ea typeface="Arial"/>
                <a:cs typeface="Arial"/>
                <a:sym typeface="Arial"/>
              </a:rPr>
              <a:t>Redes Neuronales Convolucionales – Estudio de hiperparámetros</a:t>
            </a:r>
            <a:endParaRPr sz="1120" dirty="0"/>
          </a:p>
        </p:txBody>
      </p:sp>
      <p:pic>
        <p:nvPicPr>
          <p:cNvPr id="476" name="Google Shape;476;p52">
            <a:extLst>
              <a:ext uri="{FF2B5EF4-FFF2-40B4-BE49-F238E27FC236}">
                <a16:creationId xmlns:a16="http://schemas.microsoft.com/office/drawing/2014/main" id="{1A3F7459-97D5-4E25-8DC5-57BDBE83C7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431DAD-D156-26D1-3E59-0189B43C1120}"/>
              </a:ext>
            </a:extLst>
          </p:cNvPr>
          <p:cNvSpPr txBox="1"/>
          <p:nvPr/>
        </p:nvSpPr>
        <p:spPr>
          <a:xfrm>
            <a:off x="5566445" y="1574754"/>
            <a:ext cx="329567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Modelo base:</a:t>
            </a:r>
          </a:p>
          <a:p>
            <a:r>
              <a:rPr lang="es-ES" b="0" i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num_conv_blocks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=3</a:t>
            </a:r>
            <a:r>
              <a:rPr lang="es-ES" b="0" i="0" dirty="0">
                <a:solidFill>
                  <a:srgbClr val="D4D4D4"/>
                </a:solidFill>
                <a:effectLst/>
                <a:latin typeface="-apple-system"/>
              </a:rPr>
              <a:t>,</a:t>
            </a:r>
          </a:p>
          <a:p>
            <a:r>
              <a:rPr lang="es-ES" b="0" i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channels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=(8,16,32)</a:t>
            </a:r>
            <a:r>
              <a:rPr lang="es-ES" b="0" i="0" dirty="0">
                <a:solidFill>
                  <a:srgbClr val="D4D4D4"/>
                </a:solidFill>
                <a:effectLst/>
                <a:latin typeface="-apple-system"/>
              </a:rPr>
              <a:t>,  </a:t>
            </a:r>
          </a:p>
          <a:p>
            <a:r>
              <a:rPr lang="es-ES" b="0" i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=5</a:t>
            </a:r>
            <a:r>
              <a:rPr lang="es-ES" b="0" i="0" dirty="0">
                <a:solidFill>
                  <a:srgbClr val="D4D4D4"/>
                </a:solidFill>
                <a:effectLst/>
                <a:latin typeface="-apple-system"/>
              </a:rPr>
              <a:t>,  </a:t>
            </a:r>
          </a:p>
          <a:p>
            <a:r>
              <a:rPr lang="es-ES" b="0" i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s-ES" b="0" i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same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i="0" dirty="0">
                <a:solidFill>
                  <a:srgbClr val="D4D4D4"/>
                </a:solidFill>
                <a:effectLst/>
                <a:latin typeface="-apple-system"/>
              </a:rPr>
              <a:t>, </a:t>
            </a:r>
          </a:p>
          <a:p>
            <a:r>
              <a:rPr lang="es-ES" b="0" i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dropout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=0.3</a:t>
            </a:r>
            <a:r>
              <a:rPr lang="es-ES" b="0" i="0" dirty="0">
                <a:solidFill>
                  <a:srgbClr val="D4D4D4"/>
                </a:solidFill>
                <a:effectLst/>
                <a:latin typeface="-apple-system"/>
              </a:rPr>
              <a:t>, </a:t>
            </a:r>
          </a:p>
          <a:p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-apple-system"/>
              </a:rPr>
              <a:t>Receta:</a:t>
            </a:r>
            <a:endParaRPr lang="es-ES" b="0" i="0" dirty="0">
              <a:solidFill>
                <a:schemeClr val="bg2">
                  <a:lumMod val="50000"/>
                </a:schemeClr>
              </a:solidFill>
              <a:effectLst/>
              <a:latin typeface="-apple-system"/>
            </a:endParaRPr>
          </a:p>
          <a:p>
            <a:r>
              <a:rPr lang="es-ES" dirty="0" err="1">
                <a:solidFill>
                  <a:srgbClr val="D7BA7D"/>
                </a:solidFill>
                <a:latin typeface="Consolas" panose="020B0609020204030204" pitchFamily="49" charset="0"/>
              </a:rPr>
              <a:t>epochs</a:t>
            </a:r>
            <a:r>
              <a:rPr lang="es-ES" dirty="0">
                <a:solidFill>
                  <a:srgbClr val="D7BA7D"/>
                </a:solidFill>
                <a:latin typeface="Consolas" panose="020B0609020204030204" pitchFamily="49" charset="0"/>
              </a:rPr>
              <a:t>=20,</a:t>
            </a:r>
          </a:p>
          <a:p>
            <a:r>
              <a:rPr lang="es-ES" dirty="0" err="1">
                <a:solidFill>
                  <a:srgbClr val="D7BA7D"/>
                </a:solidFill>
                <a:latin typeface="Consolas" panose="020B0609020204030204" pitchFamily="49" charset="0"/>
              </a:rPr>
              <a:t>batch_size</a:t>
            </a:r>
            <a:r>
              <a:rPr lang="es-ES" dirty="0">
                <a:solidFill>
                  <a:srgbClr val="D7BA7D"/>
                </a:solidFill>
                <a:latin typeface="Consolas" panose="020B0609020204030204" pitchFamily="49" charset="0"/>
              </a:rPr>
              <a:t>=64</a:t>
            </a:r>
            <a:r>
              <a:rPr lang="es-ES" dirty="0">
                <a:solidFill>
                  <a:srgbClr val="D4D4D4"/>
                </a:solidFill>
                <a:latin typeface="-apple-system"/>
              </a:rPr>
              <a:t>, </a:t>
            </a:r>
          </a:p>
          <a:p>
            <a:r>
              <a:rPr lang="es-ES" b="0" i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learning_rate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=1e</a:t>
            </a:r>
            <a:r>
              <a:rPr lang="es-ES" dirty="0">
                <a:solidFill>
                  <a:srgbClr val="D7BA7D"/>
                </a:solidFill>
                <a:latin typeface="Consolas" panose="020B0609020204030204" pitchFamily="49" charset="0"/>
              </a:rPr>
              <a:t>-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ES" b="0" i="0" dirty="0">
                <a:solidFill>
                  <a:srgbClr val="D4D4D4"/>
                </a:solidFill>
                <a:effectLst/>
                <a:latin typeface="-apple-system"/>
              </a:rPr>
              <a:t>, </a:t>
            </a:r>
            <a:endParaRPr lang="es-ES" dirty="0">
              <a:solidFill>
                <a:srgbClr val="D4D4D4"/>
              </a:solidFill>
              <a:latin typeface="-apple-system"/>
            </a:endParaRPr>
          </a:p>
          <a:p>
            <a:r>
              <a:rPr lang="es-ES" b="0" i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optimizer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=Adam</a:t>
            </a:r>
            <a:r>
              <a:rPr lang="es-ES" b="0" i="0" dirty="0">
                <a:solidFill>
                  <a:srgbClr val="D4D4D4"/>
                </a:solidFill>
                <a:effectLst/>
                <a:latin typeface="-apple-system"/>
              </a:rPr>
              <a:t>, </a:t>
            </a:r>
          </a:p>
          <a:p>
            <a:r>
              <a:rPr lang="es-ES" b="0" i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patience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=3</a:t>
            </a:r>
            <a:r>
              <a:rPr lang="es-ES" b="0" i="0" dirty="0">
                <a:solidFill>
                  <a:srgbClr val="D4D4D4"/>
                </a:solidFill>
                <a:effectLst/>
                <a:latin typeface="-apple-system"/>
              </a:rPr>
              <a:t>, </a:t>
            </a:r>
            <a:endParaRPr lang="es-ES" dirty="0">
              <a:solidFill>
                <a:srgbClr val="D4D4D4"/>
              </a:solidFill>
              <a:latin typeface="-apple-system"/>
            </a:endParaRPr>
          </a:p>
          <a:p>
            <a:r>
              <a:rPr lang="es-ES" b="0" i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relative_improvement_factor</a:t>
            </a:r>
            <a:r>
              <a:rPr lang="es-ES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=0.01</a:t>
            </a:r>
            <a:r>
              <a:rPr lang="es-ES" b="0" i="0" dirty="0">
                <a:solidFill>
                  <a:srgbClr val="D4D4D4"/>
                </a:solidFill>
                <a:effectLst/>
                <a:latin typeface="-apple-system"/>
              </a:rPr>
              <a:t>.</a:t>
            </a:r>
            <a:endParaRPr lang="es-ES" dirty="0"/>
          </a:p>
        </p:txBody>
      </p:sp>
      <p:sp>
        <p:nvSpPr>
          <p:cNvPr id="7" name="Google Shape;415;p45">
            <a:extLst>
              <a:ext uri="{FF2B5EF4-FFF2-40B4-BE49-F238E27FC236}">
                <a16:creationId xmlns:a16="http://schemas.microsoft.com/office/drawing/2014/main" id="{61EAA823-AA6C-5769-371B-2884F4A99601}"/>
              </a:ext>
            </a:extLst>
          </p:cNvPr>
          <p:cNvSpPr/>
          <p:nvPr/>
        </p:nvSpPr>
        <p:spPr>
          <a:xfrm>
            <a:off x="467513" y="860898"/>
            <a:ext cx="8280184" cy="71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dirty="0">
                <a:latin typeface="Twentieth Century"/>
                <a:sym typeface="Twentieth Century"/>
              </a:rPr>
              <a:t>Se parte de un modelo base y se ejecuta un </a:t>
            </a:r>
            <a:r>
              <a:rPr lang="es-AR" sz="2000" dirty="0" err="1">
                <a:latin typeface="Twentieth Century"/>
                <a:sym typeface="Twentieth Century"/>
              </a:rPr>
              <a:t>grid_search</a:t>
            </a:r>
            <a:r>
              <a:rPr lang="es-AR" sz="2000" dirty="0">
                <a:latin typeface="Twentieth Century"/>
                <a:sym typeface="Twentieth Century"/>
              </a:rPr>
              <a:t> de </a:t>
            </a:r>
            <a:r>
              <a:rPr lang="es-AR" sz="2000" dirty="0" err="1">
                <a:latin typeface="Twentieth Century"/>
                <a:sym typeface="Twentieth Century"/>
              </a:rPr>
              <a:t>hiperparámetros</a:t>
            </a:r>
            <a:r>
              <a:rPr lang="es-AR" sz="2000" dirty="0">
                <a:latin typeface="Twentieth Century"/>
                <a:sym typeface="Twentieth Century"/>
              </a:rPr>
              <a:t> para 3 </a:t>
            </a:r>
            <a:r>
              <a:rPr lang="es-AR" sz="2000" dirty="0" err="1">
                <a:latin typeface="Twentieth Century"/>
                <a:sym typeface="Twentieth Century"/>
              </a:rPr>
              <a:t>datasets</a:t>
            </a:r>
            <a:r>
              <a:rPr lang="es-AR" sz="2000" dirty="0">
                <a:latin typeface="Twentieth Century"/>
                <a:sym typeface="Twentieth Century"/>
              </a:rPr>
              <a:t> (MNIST, </a:t>
            </a:r>
            <a:r>
              <a:rPr lang="es-AR" sz="2000" dirty="0" err="1">
                <a:latin typeface="Twentieth Century"/>
                <a:sym typeface="Twentieth Century"/>
              </a:rPr>
              <a:t>FashionMNIST</a:t>
            </a:r>
            <a:r>
              <a:rPr lang="es-AR" sz="2000" dirty="0">
                <a:latin typeface="Twentieth Century"/>
                <a:sym typeface="Twentieth Century"/>
              </a:rPr>
              <a:t> y CIFAR10)</a:t>
            </a:r>
            <a:endParaRPr sz="1300" dirty="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20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51D966EF-21C3-E89B-1956-B4E89525A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85868"/>
              </p:ext>
            </p:extLst>
          </p:nvPr>
        </p:nvGraphicFramePr>
        <p:xfrm>
          <a:off x="467513" y="1658427"/>
          <a:ext cx="5098932" cy="279962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749932">
                  <a:extLst>
                    <a:ext uri="{9D8B030D-6E8A-4147-A177-3AD203B41FA5}">
                      <a16:colId xmlns:a16="http://schemas.microsoft.com/office/drawing/2014/main" val="2721348693"/>
                    </a:ext>
                  </a:extLst>
                </a:gridCol>
                <a:gridCol w="1354607">
                  <a:extLst>
                    <a:ext uri="{9D8B030D-6E8A-4147-A177-3AD203B41FA5}">
                      <a16:colId xmlns:a16="http://schemas.microsoft.com/office/drawing/2014/main" val="1871305316"/>
                    </a:ext>
                  </a:extLst>
                </a:gridCol>
                <a:gridCol w="2994393">
                  <a:extLst>
                    <a:ext uri="{9D8B030D-6E8A-4147-A177-3AD203B41FA5}">
                      <a16:colId xmlns:a16="http://schemas.microsoft.com/office/drawing/2014/main" val="2069102594"/>
                    </a:ext>
                  </a:extLst>
                </a:gridCol>
              </a:tblGrid>
              <a:tr h="12867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9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Experimento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900" b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Qué se varía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9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Valores / rango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173143"/>
                  </a:ext>
                </a:extLst>
              </a:tr>
              <a:tr h="12867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exp_1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kernel_size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[3, 5, 7, 9]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74615"/>
                  </a:ext>
                </a:extLst>
              </a:tr>
              <a:tr h="53027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exp_2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num_conv_blocks</a:t>
                      </a:r>
                      <a:endParaRPr lang="es-ES" sz="9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channels</a:t>
                      </a: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s-ES" sz="900" b="0" u="none" strike="noStrike" cap="non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sym typeface="Arial"/>
                        </a:rPr>
                        <a:t>asociados</a:t>
                      </a:r>
                      <a:endParaRPr lang="es-ES" sz="900" b="0" i="0" u="none" strike="noStrike" cap="non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[2, 3, 4]</a:t>
                      </a:r>
                    </a:p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2 -&gt; (8,16), </a:t>
                      </a:r>
                    </a:p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3 -&gt; (8,16,32), </a:t>
                      </a:r>
                    </a:p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4 -&gt; (8,16,32,64)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946859"/>
                  </a:ext>
                </a:extLst>
              </a:tr>
              <a:tr h="34701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exp_3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channels</a:t>
                      </a:r>
                      <a:endParaRPr lang="es-ES" sz="9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[(8,16,32), (16,16,16), (16,32,64)]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580091"/>
                  </a:ext>
                </a:extLst>
              </a:tr>
              <a:tr h="36651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exp_4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padding</a:t>
                      </a:r>
                      <a:endParaRPr lang="es-ES" sz="9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arquitectura fija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[0, 1, 2]</a:t>
                      </a:r>
                    </a:p>
                    <a:p>
                      <a:pPr fontAlgn="t">
                        <a:buNone/>
                      </a:pPr>
                      <a:r>
                        <a:rPr lang="fr-FR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 bloques, channels=(8,16), </a:t>
                      </a:r>
                      <a:r>
                        <a:rPr lang="fr-FR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kernel_size</a:t>
                      </a:r>
                      <a:r>
                        <a:rPr lang="fr-FR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=5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687676"/>
                  </a:ext>
                </a:extLst>
              </a:tr>
              <a:tr h="12867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exp_5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batch_size</a:t>
                      </a:r>
                      <a:endParaRPr lang="es-ES" sz="9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[32, 64, 128]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339550"/>
                  </a:ext>
                </a:extLst>
              </a:tr>
              <a:tr h="12867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exp_6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learning_rate</a:t>
                      </a:r>
                      <a:endParaRPr lang="es-ES" sz="9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[1e-4, 5e-4, 1e-3]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739740"/>
                  </a:ext>
                </a:extLst>
              </a:tr>
              <a:tr h="18325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exp_7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momentum</a:t>
                      </a: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 en SGD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it-IT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[0.0, 0.5, 0.9] con lr=1e-2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192340"/>
                  </a:ext>
                </a:extLst>
              </a:tr>
              <a:tr h="18325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exp_8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dropout</a:t>
                      </a:r>
                      <a:endParaRPr lang="es-ES" sz="9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[0.0, 0.2, 0.3, 0.5, 0.7]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33184"/>
                  </a:ext>
                </a:extLst>
              </a:tr>
              <a:tr h="52481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exp_9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data </a:t>
                      </a: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augmentation</a:t>
                      </a:r>
                      <a:endParaRPr lang="es-ES" sz="9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arquitectura fija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[False, True]</a:t>
                      </a:r>
                    </a:p>
                    <a:p>
                      <a:pPr fontAlgn="t">
                        <a:buNone/>
                      </a:pPr>
                      <a:r>
                        <a:rPr lang="en-U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4 </a:t>
                      </a:r>
                      <a:r>
                        <a:rPr lang="en-U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bloques</a:t>
                      </a:r>
                      <a:r>
                        <a:rPr lang="en-U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, channels=(16,32,64,128), </a:t>
                      </a:r>
                    </a:p>
                    <a:p>
                      <a:pPr fontAlgn="t">
                        <a:buNone/>
                      </a:pPr>
                      <a:r>
                        <a:rPr lang="en-U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kernel_size</a:t>
                      </a:r>
                      <a:r>
                        <a:rPr lang="en-U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=9, padding="same"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344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00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>
          <a:extLst>
            <a:ext uri="{FF2B5EF4-FFF2-40B4-BE49-F238E27FC236}">
              <a16:creationId xmlns:a16="http://schemas.microsoft.com/office/drawing/2014/main" id="{0B35A50A-8989-885B-16CC-116A8CD4A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">
            <a:extLst>
              <a:ext uri="{FF2B5EF4-FFF2-40B4-BE49-F238E27FC236}">
                <a16:creationId xmlns:a16="http://schemas.microsoft.com/office/drawing/2014/main" id="{A90FC292-B80A-12BC-EBEF-152640F2B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 dirty="0">
                <a:latin typeface="Arial"/>
                <a:ea typeface="Arial"/>
                <a:cs typeface="Arial"/>
                <a:sym typeface="Arial"/>
              </a:rPr>
              <a:t>Redes Neuronales Convolucionales – Estudio de hiperparámetros</a:t>
            </a:r>
            <a:endParaRPr sz="1120" dirty="0"/>
          </a:p>
        </p:txBody>
      </p:sp>
      <p:pic>
        <p:nvPicPr>
          <p:cNvPr id="476" name="Google Shape;476;p52">
            <a:extLst>
              <a:ext uri="{FF2B5EF4-FFF2-40B4-BE49-F238E27FC236}">
                <a16:creationId xmlns:a16="http://schemas.microsoft.com/office/drawing/2014/main" id="{3A5C906C-7487-A09A-EFAD-180E9B532A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DB6D46C-963C-75F5-AC11-8221F0A5B4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/>
          <a:stretch>
            <a:fillRect/>
          </a:stretch>
        </p:blipFill>
        <p:spPr>
          <a:xfrm>
            <a:off x="6009047" y="1595914"/>
            <a:ext cx="3060000" cy="214669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9E70A01-F1B0-7641-D6F2-6239999030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/>
          <a:stretch>
            <a:fillRect/>
          </a:stretch>
        </p:blipFill>
        <p:spPr>
          <a:xfrm>
            <a:off x="3003081" y="1595914"/>
            <a:ext cx="3060000" cy="214669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1E99F00-810E-F947-8680-58BB2437A9C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000"/>
          <a:stretch>
            <a:fillRect/>
          </a:stretch>
        </p:blipFill>
        <p:spPr>
          <a:xfrm>
            <a:off x="20921" y="1595914"/>
            <a:ext cx="3060000" cy="2146698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C64D9A9-449F-5999-8D49-5720D577F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585120"/>
              </p:ext>
            </p:extLst>
          </p:nvPr>
        </p:nvGraphicFramePr>
        <p:xfrm>
          <a:off x="2293413" y="856330"/>
          <a:ext cx="5098932" cy="15665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749932">
                  <a:extLst>
                    <a:ext uri="{9D8B030D-6E8A-4147-A177-3AD203B41FA5}">
                      <a16:colId xmlns:a16="http://schemas.microsoft.com/office/drawing/2014/main" val="3861916701"/>
                    </a:ext>
                  </a:extLst>
                </a:gridCol>
                <a:gridCol w="1354607">
                  <a:extLst>
                    <a:ext uri="{9D8B030D-6E8A-4147-A177-3AD203B41FA5}">
                      <a16:colId xmlns:a16="http://schemas.microsoft.com/office/drawing/2014/main" val="632309674"/>
                    </a:ext>
                  </a:extLst>
                </a:gridCol>
                <a:gridCol w="2994393">
                  <a:extLst>
                    <a:ext uri="{9D8B030D-6E8A-4147-A177-3AD203B41FA5}">
                      <a16:colId xmlns:a16="http://schemas.microsoft.com/office/drawing/2014/main" val="2919683060"/>
                    </a:ext>
                  </a:extLst>
                </a:gridCol>
              </a:tblGrid>
              <a:tr h="12867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exp_1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kernel_size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[3, 5, 7, 9]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787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66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>
          <a:extLst>
            <a:ext uri="{FF2B5EF4-FFF2-40B4-BE49-F238E27FC236}">
              <a16:creationId xmlns:a16="http://schemas.microsoft.com/office/drawing/2014/main" id="{AE2F1AD4-C5F7-19C4-A09F-109CE35F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">
            <a:extLst>
              <a:ext uri="{FF2B5EF4-FFF2-40B4-BE49-F238E27FC236}">
                <a16:creationId xmlns:a16="http://schemas.microsoft.com/office/drawing/2014/main" id="{CE5B85B3-DB97-FD49-D38B-18D9AC291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 dirty="0">
                <a:latin typeface="Arial"/>
                <a:ea typeface="Arial"/>
                <a:cs typeface="Arial"/>
                <a:sym typeface="Arial"/>
              </a:rPr>
              <a:t>Redes Neuronales Convolucionales – Estudio de hiperparámetros</a:t>
            </a:r>
            <a:endParaRPr sz="1120" dirty="0"/>
          </a:p>
        </p:txBody>
      </p:sp>
      <p:pic>
        <p:nvPicPr>
          <p:cNvPr id="476" name="Google Shape;476;p52">
            <a:extLst>
              <a:ext uri="{FF2B5EF4-FFF2-40B4-BE49-F238E27FC236}">
                <a16:creationId xmlns:a16="http://schemas.microsoft.com/office/drawing/2014/main" id="{9834E0A7-C38A-0B8D-FD61-14616AB0BA4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96F658B-690A-4BAF-F6F4-B41FADFDA8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/>
          <a:stretch>
            <a:fillRect/>
          </a:stretch>
        </p:blipFill>
        <p:spPr>
          <a:xfrm>
            <a:off x="6033300" y="1744823"/>
            <a:ext cx="3060000" cy="21466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D4F0AF3-5823-DA91-F25D-FC8FF8ED42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/>
          <a:stretch>
            <a:fillRect/>
          </a:stretch>
        </p:blipFill>
        <p:spPr>
          <a:xfrm>
            <a:off x="2973300" y="1744823"/>
            <a:ext cx="3060000" cy="214669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B4D2BAF-BACF-8FD4-BE44-F035508B1D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000"/>
          <a:stretch>
            <a:fillRect/>
          </a:stretch>
        </p:blipFill>
        <p:spPr>
          <a:xfrm>
            <a:off x="0" y="1744823"/>
            <a:ext cx="3060000" cy="2146698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FF8DCE33-5269-DCA3-F381-7A7A689A0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683629"/>
              </p:ext>
            </p:extLst>
          </p:nvPr>
        </p:nvGraphicFramePr>
        <p:xfrm>
          <a:off x="1957984" y="862906"/>
          <a:ext cx="5098932" cy="56813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749932">
                  <a:extLst>
                    <a:ext uri="{9D8B030D-6E8A-4147-A177-3AD203B41FA5}">
                      <a16:colId xmlns:a16="http://schemas.microsoft.com/office/drawing/2014/main" val="3781040990"/>
                    </a:ext>
                  </a:extLst>
                </a:gridCol>
                <a:gridCol w="1354607">
                  <a:extLst>
                    <a:ext uri="{9D8B030D-6E8A-4147-A177-3AD203B41FA5}">
                      <a16:colId xmlns:a16="http://schemas.microsoft.com/office/drawing/2014/main" val="4029623979"/>
                    </a:ext>
                  </a:extLst>
                </a:gridCol>
                <a:gridCol w="2994393">
                  <a:extLst>
                    <a:ext uri="{9D8B030D-6E8A-4147-A177-3AD203B41FA5}">
                      <a16:colId xmlns:a16="http://schemas.microsoft.com/office/drawing/2014/main" val="1333936735"/>
                    </a:ext>
                  </a:extLst>
                </a:gridCol>
              </a:tblGrid>
              <a:tr h="53027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exp_2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num_conv_blocks</a:t>
                      </a:r>
                      <a:endParaRPr lang="es-ES" sz="9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channels</a:t>
                      </a: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s-ES" sz="900" b="0" u="none" strike="noStrike" cap="non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sym typeface="Arial"/>
                        </a:rPr>
                        <a:t>asociados</a:t>
                      </a:r>
                      <a:endParaRPr lang="es-ES" sz="900" b="0" i="0" u="none" strike="noStrike" cap="non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[2, 3, 4]</a:t>
                      </a:r>
                    </a:p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2 -&gt; (8,16), </a:t>
                      </a:r>
                    </a:p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3 -&gt; (8,16,32), </a:t>
                      </a:r>
                    </a:p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4 -&gt; (8,16,32,64)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65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3782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>
          <a:extLst>
            <a:ext uri="{FF2B5EF4-FFF2-40B4-BE49-F238E27FC236}">
              <a16:creationId xmlns:a16="http://schemas.microsoft.com/office/drawing/2014/main" id="{2089100C-42E9-AD72-675B-D61C5947E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">
            <a:extLst>
              <a:ext uri="{FF2B5EF4-FFF2-40B4-BE49-F238E27FC236}">
                <a16:creationId xmlns:a16="http://schemas.microsoft.com/office/drawing/2014/main" id="{016820C4-21C2-058E-75A7-207E254AF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 dirty="0">
                <a:latin typeface="Arial"/>
                <a:ea typeface="Arial"/>
                <a:cs typeface="Arial"/>
                <a:sym typeface="Arial"/>
              </a:rPr>
              <a:t>Redes Neuronales Convolucionales – Estudio de hiperparámetros</a:t>
            </a:r>
            <a:endParaRPr sz="1120" dirty="0"/>
          </a:p>
        </p:txBody>
      </p:sp>
      <p:pic>
        <p:nvPicPr>
          <p:cNvPr id="476" name="Google Shape;476;p52">
            <a:extLst>
              <a:ext uri="{FF2B5EF4-FFF2-40B4-BE49-F238E27FC236}">
                <a16:creationId xmlns:a16="http://schemas.microsoft.com/office/drawing/2014/main" id="{192DA227-D1BE-9463-DF13-5E926E75B1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5CD47DD-A65B-59B2-94D3-4BCB073FBE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/>
          <a:stretch>
            <a:fillRect/>
          </a:stretch>
        </p:blipFill>
        <p:spPr>
          <a:xfrm>
            <a:off x="6084002" y="1498401"/>
            <a:ext cx="3060000" cy="214669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7BC8655-873E-A2A3-9DF1-5BB8EA681D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/>
          <a:stretch>
            <a:fillRect/>
          </a:stretch>
        </p:blipFill>
        <p:spPr>
          <a:xfrm>
            <a:off x="3109850" y="1467744"/>
            <a:ext cx="3060000" cy="214669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4A2344F-C6A8-39F1-3DE3-C1C8B37743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000"/>
          <a:stretch>
            <a:fillRect/>
          </a:stretch>
        </p:blipFill>
        <p:spPr>
          <a:xfrm>
            <a:off x="0" y="1467744"/>
            <a:ext cx="3060000" cy="2146698"/>
          </a:xfrm>
          <a:prstGeom prst="rect">
            <a:avLst/>
          </a:prstGeom>
        </p:spPr>
      </p:pic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40D85F59-85FF-F2C6-EF0D-2AAC3A9E2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635000"/>
              </p:ext>
            </p:extLst>
          </p:nvPr>
        </p:nvGraphicFramePr>
        <p:xfrm>
          <a:off x="1922152" y="765475"/>
          <a:ext cx="5098932" cy="267022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749932">
                  <a:extLst>
                    <a:ext uri="{9D8B030D-6E8A-4147-A177-3AD203B41FA5}">
                      <a16:colId xmlns:a16="http://schemas.microsoft.com/office/drawing/2014/main" val="2141160895"/>
                    </a:ext>
                  </a:extLst>
                </a:gridCol>
                <a:gridCol w="1354607">
                  <a:extLst>
                    <a:ext uri="{9D8B030D-6E8A-4147-A177-3AD203B41FA5}">
                      <a16:colId xmlns:a16="http://schemas.microsoft.com/office/drawing/2014/main" val="284675167"/>
                    </a:ext>
                  </a:extLst>
                </a:gridCol>
                <a:gridCol w="2994393">
                  <a:extLst>
                    <a:ext uri="{9D8B030D-6E8A-4147-A177-3AD203B41FA5}">
                      <a16:colId xmlns:a16="http://schemas.microsoft.com/office/drawing/2014/main" val="3094794152"/>
                    </a:ext>
                  </a:extLst>
                </a:gridCol>
              </a:tblGrid>
              <a:tr h="26702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exp_3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channels</a:t>
                      </a:r>
                      <a:endParaRPr lang="es-ES" sz="9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9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[(8,16,32), (16,16,16), (16,32,64)]</a:t>
                      </a:r>
                    </a:p>
                  </a:txBody>
                  <a:tcPr marL="9748" marR="9748" marT="9748" marB="9748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81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500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768" y="866810"/>
            <a:ext cx="8203150" cy="3855311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2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¿que hay en los kernels?</a:t>
            </a:r>
            <a:endParaRPr sz="1120"/>
          </a:p>
        </p:txBody>
      </p:sp>
      <p:pic>
        <p:nvPicPr>
          <p:cNvPr id="476" name="Google Shape;47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679" y="715304"/>
            <a:ext cx="6959498" cy="400375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3"/>
          <p:cNvSpPr/>
          <p:nvPr/>
        </p:nvSpPr>
        <p:spPr>
          <a:xfrm>
            <a:off x="-152400" y="4657900"/>
            <a:ext cx="8041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Twentieth Century"/>
                <a:ea typeface="Twentieth Century"/>
                <a:cs typeface="Twentieth Century"/>
                <a:sym typeface="Twentieth Century"/>
              </a:rPr>
              <a:t>Example of features that the filters in a convolution layer look for at different levels in a network. The deeper into the network (higher level), the more complex the features are. Source: (F.-F. Li &amp; Karpathy, 2015).</a:t>
            </a:r>
            <a:endParaRPr sz="1100"/>
          </a:p>
        </p:txBody>
      </p:sp>
      <p:pic>
        <p:nvPicPr>
          <p:cNvPr id="483" name="Google Shape;48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3"/>
          <p:cNvSpPr txBox="1">
            <a:spLocks noGrp="1"/>
          </p:cNvSpPr>
          <p:nvPr>
            <p:ph type="title"/>
          </p:nvPr>
        </p:nvSpPr>
        <p:spPr>
          <a:xfrm>
            <a:off x="158700" y="96725"/>
            <a:ext cx="8826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latin typeface="Arial"/>
                <a:ea typeface="Arial"/>
                <a:cs typeface="Arial"/>
                <a:sym typeface="Arial"/>
              </a:rPr>
              <a:t>Redes Neuronales Convolucionales - ¿que hay en los kernels?</a:t>
            </a:r>
            <a:endParaRPr sz="11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2001</Words>
  <Application>Microsoft Office PowerPoint</Application>
  <PresentationFormat>Presentación en pantalla (16:9)</PresentationFormat>
  <Paragraphs>445</Paragraphs>
  <Slides>44</Slides>
  <Notes>44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3" baseType="lpstr">
      <vt:lpstr>Times New Roman</vt:lpstr>
      <vt:lpstr>Roboto</vt:lpstr>
      <vt:lpstr>Twentieth Century</vt:lpstr>
      <vt:lpstr>Roboto Mono</vt:lpstr>
      <vt:lpstr>Cambria Math</vt:lpstr>
      <vt:lpstr>Arial</vt:lpstr>
      <vt:lpstr>-apple-system</vt:lpstr>
      <vt:lpstr>Consolas</vt:lpstr>
      <vt:lpstr>Material</vt:lpstr>
      <vt:lpstr>Aprendizaje Profundo</vt:lpstr>
      <vt:lpstr>Redes Neuronales Convolucionales  Convolutional Neural Network (CNN)</vt:lpstr>
      <vt:lpstr>Redes Neuronales Convolucionales - Introducción</vt:lpstr>
      <vt:lpstr>Redes Neuronales Convolucionales - Introducción</vt:lpstr>
      <vt:lpstr>Redes Neuronales Convolucionales - Introducción</vt:lpstr>
      <vt:lpstr>Redes Neuronales Convolucionales - Introducción</vt:lpstr>
      <vt:lpstr>Redes Neuronales Convolucionales - Introducción</vt:lpstr>
      <vt:lpstr>Redes Neuronales Convolucionales - Introducción</vt:lpstr>
      <vt:lpstr>Redes Neuronales Convolucionales - Introducción</vt:lpstr>
      <vt:lpstr>Redes Neuronales Convolucionales - Introducción</vt:lpstr>
      <vt:lpstr>Redes Neuronales Convolucionales - Introducción</vt:lpstr>
      <vt:lpstr>Redes Neuronales Convolucionales - Bordes (límites) y padding</vt:lpstr>
      <vt:lpstr>Redes Neuronales Convolucionales - Bordes (límites) y padding</vt:lpstr>
      <vt:lpstr>Redes Neuronales Convolucionales - Arquitectura base de ejemplo</vt:lpstr>
      <vt:lpstr>Redes Neuronales Convolucionales - ¿Ventajas? Sparse interaction</vt:lpstr>
      <vt:lpstr>Redes Neuronales Convolucionales - ¿Ventajas? Sparse interaction</vt:lpstr>
      <vt:lpstr>Redes Neuronales Convolucionales - ¿Ventajas? Sparse interaction</vt:lpstr>
      <vt:lpstr>Redes Neuronales Convolucionales - ¿Ventajas? Sparse interaction</vt:lpstr>
      <vt:lpstr>Redes Neuronales Convolucionales - ¿Ventajas? Sparse interaction</vt:lpstr>
      <vt:lpstr>Redes Neuronales Convolucionales - ¿Ventajas? Parameter sharing</vt:lpstr>
      <vt:lpstr>Redes Neuronales Convolucionales - ¿Ventajas? Parameter sharing</vt:lpstr>
      <vt:lpstr>Redes Neuronales Convolucionales - ¿Ventajas? Parameter sharing</vt:lpstr>
      <vt:lpstr>Redes Neuronales Convolucionales - ¿Ventajas?</vt:lpstr>
      <vt:lpstr>Redes Neuronales Convolucionales - ¿Ventajas?</vt:lpstr>
      <vt:lpstr>Redes Neuronales Convolucionales - Stride</vt:lpstr>
      <vt:lpstr>Redes Neuronales Convolucionales - Capa de activación</vt:lpstr>
      <vt:lpstr>Redes Neuronales Convolucionales - Capa de pooling</vt:lpstr>
      <vt:lpstr>Redes Neuronales Convolucionales - Capa de pooling</vt:lpstr>
      <vt:lpstr>Redes Neuronales Convolucionales - Capa de pooling</vt:lpstr>
      <vt:lpstr>Redes Neuronales Convolucionales - Capa de pooling</vt:lpstr>
      <vt:lpstr>Redes Neuronales Convolucionales - Capa de pooling</vt:lpstr>
      <vt:lpstr>Redes Neuronales Convolucionales - Capa de pooling</vt:lpstr>
      <vt:lpstr>Redes Neuronales Convolucionales - Capa de pooling</vt:lpstr>
      <vt:lpstr>Redes Neuronales Convolucionales - Capa de pooling</vt:lpstr>
      <vt:lpstr>Redes Neuronales Convolucionales - Resumen de capas CNN</vt:lpstr>
      <vt:lpstr>Redes Neuronales Convolucionales - Práctica con capas CNN</vt:lpstr>
      <vt:lpstr>Redes Neuronales Convolucionales - Back-propagation en CNN</vt:lpstr>
      <vt:lpstr>Redes Neuronales Convolucionales - Implementación</vt:lpstr>
      <vt:lpstr>Redes Neuronales Convolucionales – Estudio de hiperparámetros</vt:lpstr>
      <vt:lpstr>Redes Neuronales Convolucionales – Estudio de hiperparámetros</vt:lpstr>
      <vt:lpstr>Redes Neuronales Convolucionales – Estudio de hiperparámetros</vt:lpstr>
      <vt:lpstr>Redes Neuronales Convolucionales – Estudio de hiperparámetros</vt:lpstr>
      <vt:lpstr>Redes Neuronales Convolucionales - ¿que hay en los kernels?</vt:lpstr>
      <vt:lpstr>Redes Neuronales Convolucionales - ¿que hay en los kernels?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Marcos Maillot</cp:lastModifiedBy>
  <cp:revision>6</cp:revision>
  <dcterms:modified xsi:type="dcterms:W3CDTF">2026-05-26T20:06:04Z</dcterms:modified>
</cp:coreProperties>
</file>