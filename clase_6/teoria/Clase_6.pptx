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ink/ink1.xml" ContentType="application/inkml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4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91" r:id="rId19"/>
    <p:sldId id="292" r:id="rId20"/>
    <p:sldId id="293" r:id="rId21"/>
    <p:sldId id="294" r:id="rId22"/>
    <p:sldId id="272" r:id="rId23"/>
    <p:sldId id="298" r:id="rId24"/>
    <p:sldId id="295" r:id="rId25"/>
    <p:sldId id="296" r:id="rId26"/>
    <p:sldId id="279" r:id="rId27"/>
    <p:sldId id="273" r:id="rId28"/>
    <p:sldId id="275" r:id="rId29"/>
    <p:sldId id="276" r:id="rId30"/>
    <p:sldId id="277" r:id="rId31"/>
    <p:sldId id="278" r:id="rId32"/>
    <p:sldId id="290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45"/>
      <p:bold r:id="rId46"/>
      <p:italic r:id="rId47"/>
      <p:boldItalic r:id="rId48"/>
    </p:embeddedFont>
    <p:embeddedFont>
      <p:font typeface="Roboto" panose="02000000000000000000" pitchFamily="2" charset="0"/>
      <p:regular r:id="rId49"/>
      <p:bold r:id="rId50"/>
      <p:italic r:id="rId51"/>
      <p:boldItalic r:id="rId5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53" roundtripDataSignature="AMtx7mi43qeBuG6xuqWiq1Kh9QyGOyIiN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3E55744-8061-4CE5-AF87-22040F36E0A0}">
  <a:tblStyle styleId="{D3E55744-8061-4CE5-AF87-22040F36E0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FF6E8"/>
          </a:solidFill>
        </a:fill>
      </a:tcStyle>
    </a:wholeTbl>
    <a:band1H>
      <a:tcTxStyle/>
      <a:tcStyle>
        <a:tcBdr/>
        <a:fill>
          <a:solidFill>
            <a:srgbClr val="DDEDCE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DDEDCE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8EFA4B2-A90F-452C-A374-82A2C123D84D}" styleName="Table_1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E6E6"/>
          </a:solidFill>
        </a:fill>
      </a:tcStyle>
    </a:wholeTbl>
    <a:band1H>
      <a:tcTxStyle/>
      <a:tcStyle>
        <a:tcBdr/>
        <a:fill>
          <a:solidFill>
            <a:srgbClr val="CACAC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CAC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dk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dk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516" y="-19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3.fntdata"/><Relationship Id="rId50" Type="http://schemas.openxmlformats.org/officeDocument/2006/relationships/font" Target="fonts/font6.fntdata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1.fntdata"/><Relationship Id="rId53" Type="http://customschemas.google.com/relationships/presentationmetadata" Target="metadata"/><Relationship Id="rId58" Type="http://schemas.microsoft.com/office/2016/11/relationships/changesInfo" Target="changesInfos/changesInfo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4.fntdata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font" Target="fonts/font7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2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5.fntdata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52" Type="http://schemas.openxmlformats.org/officeDocument/2006/relationships/font" Target="fonts/font8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cos Maillot" userId="fa14b39d-e966-4ebb-a436-4f96f84b9577" providerId="ADAL" clId="{152A8D8E-FC9A-4326-9172-4A160D290924}"/>
    <pc:docChg chg="modSld">
      <pc:chgData name="Marcos Maillot" userId="fa14b39d-e966-4ebb-a436-4f96f84b9577" providerId="ADAL" clId="{152A8D8E-FC9A-4326-9172-4A160D290924}" dt="2026-04-08T00:27:12.203" v="1" actId="1076"/>
      <pc:docMkLst>
        <pc:docMk/>
      </pc:docMkLst>
      <pc:sldChg chg="modSp mod">
        <pc:chgData name="Marcos Maillot" userId="fa14b39d-e966-4ebb-a436-4f96f84b9577" providerId="ADAL" clId="{152A8D8E-FC9A-4326-9172-4A160D290924}" dt="2026-04-07T19:00:54.713" v="0" actId="14100"/>
        <pc:sldMkLst>
          <pc:docMk/>
          <pc:sldMk cId="0" sldId="276"/>
        </pc:sldMkLst>
        <pc:spChg chg="mod">
          <ac:chgData name="Marcos Maillot" userId="fa14b39d-e966-4ebb-a436-4f96f84b9577" providerId="ADAL" clId="{152A8D8E-FC9A-4326-9172-4A160D290924}" dt="2026-04-07T19:00:54.713" v="0" actId="14100"/>
          <ac:spMkLst>
            <pc:docMk/>
            <pc:sldMk cId="0" sldId="276"/>
            <ac:spMk id="270" creationId="{00000000-0000-0000-0000-000000000000}"/>
          </ac:spMkLst>
        </pc:spChg>
      </pc:sldChg>
      <pc:sldChg chg="modSp mod">
        <pc:chgData name="Marcos Maillot" userId="fa14b39d-e966-4ebb-a436-4f96f84b9577" providerId="ADAL" clId="{152A8D8E-FC9A-4326-9172-4A160D290924}" dt="2026-04-08T00:27:12.203" v="1" actId="1076"/>
        <pc:sldMkLst>
          <pc:docMk/>
          <pc:sldMk cId="0" sldId="277"/>
        </pc:sldMkLst>
        <pc:picChg chg="mod">
          <ac:chgData name="Marcos Maillot" userId="fa14b39d-e966-4ebb-a436-4f96f84b9577" providerId="ADAL" clId="{152A8D8E-FC9A-4326-9172-4A160D290924}" dt="2026-04-08T00:27:12.203" v="1" actId="1076"/>
          <ac:picMkLst>
            <pc:docMk/>
            <pc:sldMk cId="0" sldId="277"/>
            <ac:picMk id="276" creationId="{00000000-0000-0000-0000-000000000000}"/>
          </ac:picMkLst>
        </pc:pic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06T01:06:58.9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1 109 72 0 0,'4'-10'1295'0'0,"6"-20"-1561"0"0,-8 19 4976 0 0,-1 1 5382 0 0,-2 10-9513 0 0,-3-16-17915 0 0,4 8 19451 0 0,2-7-2908 0 0,0 7 505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21c03c1d1e6_1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g21c03c1d1e6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21c03c1d1e6_1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g21c03c1d1e6_1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21c03c1d1e6_1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g21c03c1d1e6_1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21c03c1d1e6_1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g21c03c1d1e6_1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21c03c1d1e6_1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g21c03c1d1e6_1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21c03c1d1e6_1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g21c03c1d1e6_1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21c03c1d1e6_1_1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g21c03c1d1e6_1_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1c03c1d1e6_1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g21c03c1d1e6_1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21c03c1d1e6_1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g21c03c1d1e6_1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1c03c1d1e6_1_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1c03c1d1e6_1_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21c03c1d1e6_1_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g21c03c1d1e6_1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21c03c1d1e6_1_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21c03c1d1e6_1_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21c03c1d1e6_1_1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g21c03c1d1e6_1_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21c03c1d1e6_1_1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g21c03c1d1e6_1_1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21c03c1d1e6_1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g21c03c1d1e6_1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21c03c1d1e6_1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g21c03c1d1e6_1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9422000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21c03c1d1e6_1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g21c03c1d1e6_1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7207497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21c03c1d1e6_1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g21c03c1d1e6_1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3586642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21c03c1d1e6_1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g21c03c1d1e6_1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7107680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21c03c1d1e6_1_1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g21c03c1d1e6_1_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>
          <a:extLst>
            <a:ext uri="{FF2B5EF4-FFF2-40B4-BE49-F238E27FC236}">
              <a16:creationId xmlns:a16="http://schemas.microsoft.com/office/drawing/2014/main" id="{02E7E95F-B0B7-1DA4-E07C-5228DE3CA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21c03c1d1e6_1_133:notes">
            <a:extLst>
              <a:ext uri="{FF2B5EF4-FFF2-40B4-BE49-F238E27FC236}">
                <a16:creationId xmlns:a16="http://schemas.microsoft.com/office/drawing/2014/main" id="{BA5C56EF-E8BF-5FD6-C195-2D63E44F39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g21c03c1d1e6_1_133:notes">
            <a:extLst>
              <a:ext uri="{FF2B5EF4-FFF2-40B4-BE49-F238E27FC236}">
                <a16:creationId xmlns:a16="http://schemas.microsoft.com/office/drawing/2014/main" id="{8B45F95B-9A33-FB06-3478-2F208C79D9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246818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>
          <a:extLst>
            <a:ext uri="{FF2B5EF4-FFF2-40B4-BE49-F238E27FC236}">
              <a16:creationId xmlns:a16="http://schemas.microsoft.com/office/drawing/2014/main" id="{15F3D490-9250-E122-674D-A994A39299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21c03c1d1e6_1_133:notes">
            <a:extLst>
              <a:ext uri="{FF2B5EF4-FFF2-40B4-BE49-F238E27FC236}">
                <a16:creationId xmlns:a16="http://schemas.microsoft.com/office/drawing/2014/main" id="{DF1BF5C1-345C-DF2A-3031-571908C407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g21c03c1d1e6_1_133:notes">
            <a:extLst>
              <a:ext uri="{FF2B5EF4-FFF2-40B4-BE49-F238E27FC236}">
                <a16:creationId xmlns:a16="http://schemas.microsoft.com/office/drawing/2014/main" id="{4F4990A1-AC80-A1B2-1BA6-A3BFFB3B59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2401560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>
          <a:extLst>
            <a:ext uri="{FF2B5EF4-FFF2-40B4-BE49-F238E27FC236}">
              <a16:creationId xmlns:a16="http://schemas.microsoft.com/office/drawing/2014/main" id="{3B9BF6A6-A5D8-DDF0-73A9-E6A905F86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21c03c1d1e6_1_133:notes">
            <a:extLst>
              <a:ext uri="{FF2B5EF4-FFF2-40B4-BE49-F238E27FC236}">
                <a16:creationId xmlns:a16="http://schemas.microsoft.com/office/drawing/2014/main" id="{6C9E317F-F3CC-512F-FAB9-8D50B7AC8E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g21c03c1d1e6_1_133:notes">
            <a:extLst>
              <a:ext uri="{FF2B5EF4-FFF2-40B4-BE49-F238E27FC236}">
                <a16:creationId xmlns:a16="http://schemas.microsoft.com/office/drawing/2014/main" id="{E1B6E134-80D2-54B5-1741-3246407F30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9506741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21c03c1d1e6_1_1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8" name="Google Shape;298;g21c03c1d1e6_1_1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21c03c1d1e6_1_1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3" name="Google Shape;243;g21c03c1d1e6_1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21c03c1d1e6_1_1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7" name="Google Shape;257;g21c03c1d1e6_1_1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21c03c1d1e6_1_1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g21c03c1d1e6_1_1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21c03c1d1e6_1_1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g21c03c1d1e6_1_1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21c03c1d1e6_1_1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6" name="Google Shape;286;g21c03c1d1e6_1_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21c03c1d1e6_1_1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8" name="Google Shape;298;g21c03c1d1e6_1_1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5199021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1c03c1d1e6_1_1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8" name="Google Shape;308;g21c03c1d1e6_1_1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21c03c1d1e6_1_2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6" name="Google Shape;316;g21c03c1d1e6_1_2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21c03c1d1e6_1_2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6" name="Google Shape;326;g21c03c1d1e6_1_2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21c03c1d1e6_1_2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6" name="Google Shape;336;g21c03c1d1e6_1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21c03c1d1e6_1_2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g21c03c1d1e6_1_2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21c03c1d1e6_1_2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5" name="Google Shape;365;g21c03c1d1e6_1_2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21c03c1d1e6_1_2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5" name="Google Shape;385;g21c03c1d1e6_1_2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g21c03c1d1e6_1_2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7" name="Google Shape;407;g21c03c1d1e6_1_2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21c03c1d1e6_1_2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3" name="Google Shape;423;g21c03c1d1e6_1_2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g21c03c1d1e6_1_3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4" name="Google Shape;434;g21c03c1d1e6_1_3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/>
          <p:nvPr/>
        </p:nvSpPr>
        <p:spPr>
          <a:xfrm flipH="1">
            <a:off x="8246400" y="4245925"/>
            <a:ext cx="897600" cy="897600"/>
          </a:xfrm>
          <a:prstGeom prst="rtTriangl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43"/>
          <p:cNvSpPr/>
          <p:nvPr/>
        </p:nvSpPr>
        <p:spPr>
          <a:xfrm flipH="1">
            <a:off x="8246400" y="4245875"/>
            <a:ext cx="897600" cy="897600"/>
          </a:xfrm>
          <a:prstGeom prst="round1Rect">
            <a:avLst>
              <a:gd name="adj" fmla="val 16667"/>
            </a:avLst>
          </a:prstGeom>
          <a:solidFill>
            <a:schemeClr val="lt1">
              <a:alpha val="67843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43"/>
          <p:cNvSpPr txBox="1">
            <a:spLocks noGrp="1"/>
          </p:cNvSpPr>
          <p:nvPr>
            <p:ph type="ctrTitle"/>
          </p:nvPr>
        </p:nvSpPr>
        <p:spPr>
          <a:xfrm>
            <a:off x="390525" y="1819275"/>
            <a:ext cx="8222100" cy="9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3" name="Google Shape;13;p43"/>
          <p:cNvSpPr txBox="1">
            <a:spLocks noGrp="1"/>
          </p:cNvSpPr>
          <p:nvPr>
            <p:ph type="subTitle" idx="1"/>
          </p:nvPr>
        </p:nvSpPr>
        <p:spPr>
          <a:xfrm>
            <a:off x="390525" y="2789130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4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44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44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4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4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5"/>
          <p:cNvSpPr/>
          <p:nvPr/>
        </p:nvSpPr>
        <p:spPr>
          <a:xfrm rot="10800000" flipH="1">
            <a:off x="0" y="656400"/>
            <a:ext cx="9144000" cy="448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5"/>
          <p:cNvSpPr/>
          <p:nvPr/>
        </p:nvSpPr>
        <p:spPr>
          <a:xfrm>
            <a:off x="0" y="65635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45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25" name="Google Shape;25;p45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6"/>
          <p:cNvSpPr txBox="1">
            <a:spLocks noGrp="1"/>
          </p:cNvSpPr>
          <p:nvPr>
            <p:ph type="title"/>
          </p:nvPr>
        </p:nvSpPr>
        <p:spPr>
          <a:xfrm>
            <a:off x="460950" y="2065350"/>
            <a:ext cx="8222100" cy="101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28" name="Google Shape;28;p46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7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47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7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7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9999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" name="Google Shape;34;p47"/>
          <p:cNvSpPr txBox="1">
            <a:spLocks noGrp="1"/>
          </p:cNvSpPr>
          <p:nvPr>
            <p:ph type="body" idx="2"/>
          </p:nvPr>
        </p:nvSpPr>
        <p:spPr>
          <a:xfrm>
            <a:off x="4694250" y="1919075"/>
            <a:ext cx="39999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5" name="Google Shape;35;p47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8"/>
          <p:cNvSpPr txBox="1"/>
          <p:nvPr/>
        </p:nvSpPr>
        <p:spPr>
          <a:xfrm rot="10800000" flipH="1">
            <a:off x="3276600" y="25"/>
            <a:ext cx="58674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48"/>
          <p:cNvSpPr/>
          <p:nvPr/>
        </p:nvSpPr>
        <p:spPr>
          <a:xfrm rot="-5400000">
            <a:off x="759150" y="2517450"/>
            <a:ext cx="51435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48"/>
          <p:cNvSpPr txBox="1">
            <a:spLocks noGrp="1"/>
          </p:cNvSpPr>
          <p:nvPr>
            <p:ph type="title"/>
          </p:nvPr>
        </p:nvSpPr>
        <p:spPr>
          <a:xfrm>
            <a:off x="226078" y="357800"/>
            <a:ext cx="2808000" cy="95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0" name="Google Shape;40;p48"/>
          <p:cNvSpPr txBox="1">
            <a:spLocks noGrp="1"/>
          </p:cNvSpPr>
          <p:nvPr>
            <p:ph type="body" idx="1"/>
          </p:nvPr>
        </p:nvSpPr>
        <p:spPr>
          <a:xfrm>
            <a:off x="226075" y="1465800"/>
            <a:ext cx="2808000" cy="31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48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49"/>
          <p:cNvSpPr txBox="1">
            <a:spLocks noGrp="1"/>
          </p:cNvSpPr>
          <p:nvPr>
            <p:ph type="title"/>
          </p:nvPr>
        </p:nvSpPr>
        <p:spPr>
          <a:xfrm>
            <a:off x="490250" y="488250"/>
            <a:ext cx="6227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44" name="Google Shape;44;p49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50"/>
          <p:cNvSpPr/>
          <p:nvPr/>
        </p:nvSpPr>
        <p:spPr>
          <a:xfrm flipH="1">
            <a:off x="0" y="0"/>
            <a:ext cx="45720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50"/>
          <p:cNvSpPr/>
          <p:nvPr/>
        </p:nvSpPr>
        <p:spPr>
          <a:xfrm rot="5400000">
            <a:off x="1946425" y="2517750"/>
            <a:ext cx="51429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5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50"/>
          <p:cNvSpPr txBox="1">
            <a:spLocks noGrp="1"/>
          </p:cNvSpPr>
          <p:nvPr>
            <p:ph type="subTitle" idx="1"/>
          </p:nvPr>
        </p:nvSpPr>
        <p:spPr>
          <a:xfrm>
            <a:off x="265500" y="2779467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0" name="Google Shape;50;p50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50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51"/>
          <p:cNvSpPr txBox="1"/>
          <p:nvPr/>
        </p:nvSpPr>
        <p:spPr>
          <a:xfrm rot="10800000" flipH="1">
            <a:off x="0" y="0"/>
            <a:ext cx="9144000" cy="4695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51"/>
          <p:cNvSpPr/>
          <p:nvPr/>
        </p:nvSpPr>
        <p:spPr>
          <a:xfrm rot="10800000" flipH="1">
            <a:off x="0" y="4622725"/>
            <a:ext cx="9144000" cy="741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51"/>
          <p:cNvSpPr txBox="1">
            <a:spLocks noGrp="1"/>
          </p:cNvSpPr>
          <p:nvPr>
            <p:ph type="body" idx="1"/>
          </p:nvPr>
        </p:nvSpPr>
        <p:spPr>
          <a:xfrm>
            <a:off x="57150" y="4696825"/>
            <a:ext cx="8382000" cy="4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</a:lstStyle>
          <a:p>
            <a:endParaRPr/>
          </a:p>
        </p:txBody>
      </p:sp>
      <p:sp>
        <p:nvSpPr>
          <p:cNvPr id="56" name="Google Shape;56;p51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accent4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52"/>
          <p:cNvSpPr txBox="1">
            <a:spLocks noGrp="1"/>
          </p:cNvSpPr>
          <p:nvPr>
            <p:ph type="title" hasCustomPrompt="1"/>
          </p:nvPr>
        </p:nvSpPr>
        <p:spPr>
          <a:xfrm>
            <a:off x="475500" y="1258525"/>
            <a:ext cx="82221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" name="Google Shape;59;p52"/>
          <p:cNvSpPr txBox="1">
            <a:spLocks noGrp="1"/>
          </p:cNvSpPr>
          <p:nvPr>
            <p:ph type="body" idx="1"/>
          </p:nvPr>
        </p:nvSpPr>
        <p:spPr>
          <a:xfrm>
            <a:off x="475500" y="3304625"/>
            <a:ext cx="82221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0" name="Google Shape;60;p52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4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53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21c03c1d1e6_1_13"/>
          <p:cNvSpPr txBox="1">
            <a:spLocks noGrp="1"/>
          </p:cNvSpPr>
          <p:nvPr>
            <p:ph type="title"/>
          </p:nvPr>
        </p:nvSpPr>
        <p:spPr>
          <a:xfrm>
            <a:off x="856060" y="463888"/>
            <a:ext cx="7429499" cy="1108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1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5" name="Google Shape;65;g21c03c1d1e6_1_13"/>
          <p:cNvSpPr txBox="1">
            <a:spLocks noGrp="1"/>
          </p:cNvSpPr>
          <p:nvPr>
            <p:ph type="body" idx="1"/>
          </p:nvPr>
        </p:nvSpPr>
        <p:spPr>
          <a:xfrm>
            <a:off x="856059" y="1687115"/>
            <a:ext cx="7429499" cy="26562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36550" algn="l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  <a:defRPr sz="1100"/>
            </a:lvl1pPr>
            <a:lvl2pPr marL="914400" lvl="1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○"/>
              <a:defRPr sz="1100"/>
            </a:lvl2pPr>
            <a:lvl3pPr marL="1371600" lvl="2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■"/>
              <a:defRPr sz="1100"/>
            </a:lvl3pPr>
            <a:lvl4pPr marL="1828800" lvl="3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  <a:defRPr sz="1100"/>
            </a:lvl4pPr>
            <a:lvl5pPr marL="2286000" lvl="4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○"/>
              <a:defRPr sz="1100"/>
            </a:lvl5pPr>
            <a:lvl6pPr marL="2743200" lvl="5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■"/>
              <a:defRPr sz="1100"/>
            </a:lvl6pPr>
            <a:lvl7pPr marL="3200400" lvl="6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  <a:defRPr sz="1100"/>
            </a:lvl7pPr>
            <a:lvl8pPr marL="3657600" lvl="7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○"/>
              <a:defRPr sz="1100"/>
            </a:lvl8pPr>
            <a:lvl9pPr marL="4114800" lvl="8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■"/>
              <a:defRPr sz="1100"/>
            </a:lvl9pPr>
          </a:lstStyle>
          <a:p>
            <a:endParaRPr/>
          </a:p>
        </p:txBody>
      </p:sp>
      <p:sp>
        <p:nvSpPr>
          <p:cNvPr id="66" name="Google Shape;66;g21c03c1d1e6_1_13"/>
          <p:cNvSpPr txBox="1">
            <a:spLocks noGrp="1"/>
          </p:cNvSpPr>
          <p:nvPr>
            <p:ph type="dt" idx="10"/>
          </p:nvPr>
        </p:nvSpPr>
        <p:spPr>
          <a:xfrm>
            <a:off x="5592691" y="4412457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7" name="Google Shape;67;g21c03c1d1e6_1_13"/>
          <p:cNvSpPr txBox="1">
            <a:spLocks noGrp="1"/>
          </p:cNvSpPr>
          <p:nvPr>
            <p:ph type="ftr" idx="11"/>
          </p:nvPr>
        </p:nvSpPr>
        <p:spPr>
          <a:xfrm>
            <a:off x="856058" y="4412456"/>
            <a:ext cx="4679482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8" name="Google Shape;68;g21c03c1d1e6_1_13"/>
          <p:cNvSpPr txBox="1">
            <a:spLocks noGrp="1"/>
          </p:cNvSpPr>
          <p:nvPr>
            <p:ph type="sldNum" idx="12"/>
          </p:nvPr>
        </p:nvSpPr>
        <p:spPr>
          <a:xfrm>
            <a:off x="7707241" y="4412456"/>
            <a:ext cx="578317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 sz="1100"/>
            </a:lvl1pPr>
            <a:lvl2pPr marL="0" lvl="1" indent="0" algn="r">
              <a:spcBef>
                <a:spcPts val="0"/>
              </a:spcBef>
              <a:buNone/>
              <a:defRPr sz="1100"/>
            </a:lvl2pPr>
            <a:lvl3pPr marL="0" lvl="2" indent="0" algn="r">
              <a:spcBef>
                <a:spcPts val="0"/>
              </a:spcBef>
              <a:buNone/>
              <a:defRPr sz="1100"/>
            </a:lvl3pPr>
            <a:lvl4pPr marL="0" lvl="3" indent="0" algn="r">
              <a:spcBef>
                <a:spcPts val="0"/>
              </a:spcBef>
              <a:buNone/>
              <a:defRPr sz="1100"/>
            </a:lvl4pPr>
            <a:lvl5pPr marL="0" lvl="4" indent="0" algn="r">
              <a:spcBef>
                <a:spcPts val="0"/>
              </a:spcBef>
              <a:buNone/>
              <a:defRPr sz="1100"/>
            </a:lvl5pPr>
            <a:lvl6pPr marL="0" lvl="5" indent="0" algn="r">
              <a:spcBef>
                <a:spcPts val="0"/>
              </a:spcBef>
              <a:buNone/>
              <a:defRPr sz="1100"/>
            </a:lvl6pPr>
            <a:lvl7pPr marL="0" lvl="6" indent="0" algn="r">
              <a:spcBef>
                <a:spcPts val="0"/>
              </a:spcBef>
              <a:buNone/>
              <a:defRPr sz="1100"/>
            </a:lvl7pPr>
            <a:lvl8pPr marL="0" lvl="7" indent="0" algn="r">
              <a:spcBef>
                <a:spcPts val="0"/>
              </a:spcBef>
              <a:buNone/>
              <a:defRPr sz="1100"/>
            </a:lvl8pPr>
            <a:lvl9pPr marL="0" lvl="8" indent="0" algn="r">
              <a:spcBef>
                <a:spcPts val="0"/>
              </a:spcBef>
              <a:buNone/>
              <a:defRPr sz="11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terial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2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42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42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4.jp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9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42.pn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4.png"/><Relationship Id="rId5" Type="http://schemas.openxmlformats.org/officeDocument/2006/relationships/image" Target="../media/image40.png"/><Relationship Id="rId4" Type="http://schemas.openxmlformats.org/officeDocument/2006/relationships/image" Target="../media/image43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52.pn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12" Type="http://schemas.openxmlformats.org/officeDocument/2006/relationships/image" Target="../media/image4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9.png"/><Relationship Id="rId11" Type="http://schemas.openxmlformats.org/officeDocument/2006/relationships/image" Target="../media/image45.png"/><Relationship Id="rId5" Type="http://schemas.openxmlformats.org/officeDocument/2006/relationships/image" Target="../media/image48.png"/><Relationship Id="rId10" Type="http://schemas.openxmlformats.org/officeDocument/2006/relationships/image" Target="../media/image51.png"/><Relationship Id="rId4" Type="http://schemas.openxmlformats.org/officeDocument/2006/relationships/image" Target="../media/image47.png"/><Relationship Id="rId9" Type="http://schemas.openxmlformats.org/officeDocument/2006/relationships/image" Target="../media/image44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13" Type="http://schemas.openxmlformats.org/officeDocument/2006/relationships/image" Target="../media/image52.pn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12" Type="http://schemas.openxmlformats.org/officeDocument/2006/relationships/image" Target="../media/image41.png"/><Relationship Id="rId17" Type="http://schemas.openxmlformats.org/officeDocument/2006/relationships/customXml" Target="../ink/ink1.xml"/><Relationship Id="rId2" Type="http://schemas.openxmlformats.org/officeDocument/2006/relationships/notesSlide" Target="../notesSlides/notesSlide38.xml"/><Relationship Id="rId16" Type="http://schemas.openxmlformats.org/officeDocument/2006/relationships/image" Target="../media/image4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9.png"/><Relationship Id="rId11" Type="http://schemas.openxmlformats.org/officeDocument/2006/relationships/image" Target="../media/image45.png"/><Relationship Id="rId5" Type="http://schemas.openxmlformats.org/officeDocument/2006/relationships/image" Target="../media/image48.png"/><Relationship Id="rId15" Type="http://schemas.openxmlformats.org/officeDocument/2006/relationships/image" Target="../media/image55.png"/><Relationship Id="rId28" Type="http://schemas.openxmlformats.org/officeDocument/2006/relationships/image" Target="../media/image1290.png"/><Relationship Id="rId10" Type="http://schemas.openxmlformats.org/officeDocument/2006/relationships/image" Target="../media/image51.png"/><Relationship Id="rId4" Type="http://schemas.openxmlformats.org/officeDocument/2006/relationships/image" Target="../media/image47.png"/><Relationship Id="rId9" Type="http://schemas.openxmlformats.org/officeDocument/2006/relationships/image" Target="../media/image44.png"/><Relationship Id="rId14" Type="http://schemas.openxmlformats.org/officeDocument/2006/relationships/image" Target="../media/image54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13" Type="http://schemas.openxmlformats.org/officeDocument/2006/relationships/image" Target="../media/image52.png"/><Relationship Id="rId3" Type="http://schemas.openxmlformats.org/officeDocument/2006/relationships/image" Target="../media/image46.png"/><Relationship Id="rId7" Type="http://schemas.openxmlformats.org/officeDocument/2006/relationships/image" Target="../media/image40.png"/><Relationship Id="rId12" Type="http://schemas.openxmlformats.org/officeDocument/2006/relationships/image" Target="../media/image4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6.png"/><Relationship Id="rId11" Type="http://schemas.openxmlformats.org/officeDocument/2006/relationships/image" Target="../media/image45.png"/><Relationship Id="rId5" Type="http://schemas.openxmlformats.org/officeDocument/2006/relationships/image" Target="../media/image48.png"/><Relationship Id="rId10" Type="http://schemas.openxmlformats.org/officeDocument/2006/relationships/image" Target="../media/image51.png"/><Relationship Id="rId4" Type="http://schemas.openxmlformats.org/officeDocument/2006/relationships/image" Target="../media/image47.png"/><Relationship Id="rId9" Type="http://schemas.openxmlformats.org/officeDocument/2006/relationships/image" Target="../media/image50.png"/><Relationship Id="rId14" Type="http://schemas.openxmlformats.org/officeDocument/2006/relationships/image" Target="../media/image57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46.pn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8.png"/><Relationship Id="rId5" Type="http://schemas.openxmlformats.org/officeDocument/2006/relationships/image" Target="../media/image48.png"/><Relationship Id="rId10" Type="http://schemas.openxmlformats.org/officeDocument/2006/relationships/image" Target="../media/image57.png"/><Relationship Id="rId4" Type="http://schemas.openxmlformats.org/officeDocument/2006/relationships/image" Target="../media/image47.png"/><Relationship Id="rId9" Type="http://schemas.openxmlformats.org/officeDocument/2006/relationships/image" Target="../media/image5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0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"/>
          <p:cNvSpPr txBox="1">
            <a:spLocks noGrp="1"/>
          </p:cNvSpPr>
          <p:nvPr>
            <p:ph type="ctrTitle"/>
          </p:nvPr>
        </p:nvSpPr>
        <p:spPr>
          <a:xfrm>
            <a:off x="1465500" y="372650"/>
            <a:ext cx="6213000" cy="9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/>
              <a:t>Aprendizaje Profundo</a:t>
            </a:r>
            <a:endParaRPr/>
          </a:p>
        </p:txBody>
      </p:sp>
      <p:sp>
        <p:nvSpPr>
          <p:cNvPr id="74" name="Google Shape;74;p1"/>
          <p:cNvSpPr txBox="1">
            <a:spLocks noGrp="1"/>
          </p:cNvSpPr>
          <p:nvPr>
            <p:ph type="subTitle" idx="1"/>
          </p:nvPr>
        </p:nvSpPr>
        <p:spPr>
          <a:xfrm>
            <a:off x="460950" y="1379610"/>
            <a:ext cx="8222100" cy="164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2900"/>
              <a:t>Facultad de Ingeniería</a:t>
            </a:r>
            <a:endParaRPr sz="29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2900"/>
              <a:t>Universidad de Buenos Aires</a:t>
            </a:r>
            <a:endParaRPr sz="2900"/>
          </a:p>
        </p:txBody>
      </p:sp>
      <p:sp>
        <p:nvSpPr>
          <p:cNvPr id="75" name="Google Shape;75;p1"/>
          <p:cNvSpPr txBox="1">
            <a:spLocks noGrp="1"/>
          </p:cNvSpPr>
          <p:nvPr>
            <p:ph type="subTitle" idx="1"/>
          </p:nvPr>
        </p:nvSpPr>
        <p:spPr>
          <a:xfrm>
            <a:off x="198125" y="3661752"/>
            <a:ext cx="8222100" cy="137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2600" dirty="0"/>
              <a:t>Profesores: </a:t>
            </a:r>
            <a:endParaRPr sz="26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dirty="0"/>
              <a:t>		</a:t>
            </a:r>
            <a:r>
              <a:rPr lang="pt-BR" sz="2600" dirty="0"/>
              <a:t>Marcos Maillot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/>
              <a:t>		Gerardo Vilcamiza</a:t>
            </a:r>
          </a:p>
        </p:txBody>
      </p:sp>
      <p:pic>
        <p:nvPicPr>
          <p:cNvPr id="76" name="Google Shape;76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21900" y="2437800"/>
            <a:ext cx="1500200" cy="150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"/>
          <p:cNvSpPr txBox="1">
            <a:spLocks noGrp="1"/>
          </p:cNvSpPr>
          <p:nvPr>
            <p:ph type="title"/>
          </p:nvPr>
        </p:nvSpPr>
        <p:spPr>
          <a:xfrm>
            <a:off x="471900" y="174125"/>
            <a:ext cx="8222100" cy="13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818">
                <a:latin typeface="Arial"/>
                <a:ea typeface="Arial"/>
                <a:cs typeface="Arial"/>
                <a:sym typeface="Arial"/>
              </a:rPr>
              <a:t>Redes Recurrentes</a:t>
            </a:r>
            <a:endParaRPr sz="2818"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818">
                <a:latin typeface="Arial"/>
                <a:ea typeface="Arial"/>
                <a:cs typeface="Arial"/>
                <a:sym typeface="Arial"/>
              </a:rPr>
              <a:t>Recurrent Neural Network (RNN)</a:t>
            </a:r>
            <a:endParaRPr sz="2208"/>
          </a:p>
        </p:txBody>
      </p:sp>
      <p:sp>
        <p:nvSpPr>
          <p:cNvPr id="82" name="Google Shape;82;p2"/>
          <p:cNvSpPr txBox="1">
            <a:spLocks noGrp="1"/>
          </p:cNvSpPr>
          <p:nvPr>
            <p:ph type="body" idx="1"/>
          </p:nvPr>
        </p:nvSpPr>
        <p:spPr>
          <a:xfrm>
            <a:off x="471900" y="1986025"/>
            <a:ext cx="3358800" cy="305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. Introducción</a:t>
            </a:r>
            <a:endParaRPr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. Neurona recurrente básica. Unfolding de una RNN.</a:t>
            </a:r>
            <a:endParaRPr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. Implementación en pytorch (práctica 1)</a:t>
            </a:r>
            <a:endParaRPr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. Back propagation through time (BPTT) (básico)</a:t>
            </a:r>
            <a:endParaRPr dirty="0">
              <a:solidFill>
                <a:schemeClr val="dk2"/>
              </a:solidFill>
            </a:endParaRPr>
          </a:p>
        </p:txBody>
      </p:sp>
      <p:pic>
        <p:nvPicPr>
          <p:cNvPr id="83" name="Google Shape;83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2"/>
          <p:cNvSpPr txBox="1">
            <a:spLocks noGrp="1"/>
          </p:cNvSpPr>
          <p:nvPr>
            <p:ph type="body" idx="1"/>
          </p:nvPr>
        </p:nvSpPr>
        <p:spPr>
          <a:xfrm>
            <a:off x="4070850" y="1928300"/>
            <a:ext cx="4100100" cy="305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dirty="0">
                <a:solidFill>
                  <a:schemeClr val="dk2"/>
                </a:solidFill>
              </a:rPr>
              <a:t>. Implementación (práctica - predecir serie temporal – práctica 2) </a:t>
            </a:r>
            <a:endParaRPr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" dirty="0">
                <a:solidFill>
                  <a:schemeClr val="dk2"/>
                </a:solidFill>
              </a:rPr>
              <a:t>. Arquitectura enconder-decoder (seq to seq)</a:t>
            </a:r>
            <a:endParaRPr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" dirty="0">
                <a:solidFill>
                  <a:schemeClr val="dk2"/>
                </a:solidFill>
              </a:rPr>
              <a:t>. Mecanismos de atención</a:t>
            </a:r>
            <a:endParaRPr dirty="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1c03c1d1e6_1_8"/>
          <p:cNvSpPr txBox="1"/>
          <p:nvPr/>
        </p:nvSpPr>
        <p:spPr>
          <a:xfrm>
            <a:off x="251252" y="1021834"/>
            <a:ext cx="86415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0" i="0" u="none" strike="noStrike" cap="none">
                <a:latin typeface="Twentieth Century"/>
                <a:ea typeface="Twentieth Century"/>
                <a:cs typeface="Twentieth Century"/>
                <a:sym typeface="Twentieth Century"/>
              </a:rPr>
              <a:t>Red neuronal </a:t>
            </a:r>
            <a:r>
              <a:rPr lang="en" sz="2100" b="1" i="0" u="none" strike="noStrike" cap="none">
                <a:latin typeface="Twentieth Century"/>
                <a:ea typeface="Twentieth Century"/>
                <a:cs typeface="Twentieth Century"/>
                <a:sym typeface="Twentieth Century"/>
              </a:rPr>
              <a:t>favorita</a:t>
            </a:r>
            <a:r>
              <a:rPr lang="en" sz="2100" b="0" i="0" u="none" strike="noStrike" cap="none">
                <a:latin typeface="Twentieth Century"/>
                <a:ea typeface="Twentieth Century"/>
                <a:cs typeface="Twentieth Century"/>
                <a:sym typeface="Twentieth Century"/>
              </a:rPr>
              <a:t> para el trabajo secuencias ( datos que en cuya naturaleza exista un </a:t>
            </a:r>
            <a:r>
              <a:rPr lang="en" sz="2100" b="1" i="0" u="none" strike="noStrike" cap="none">
                <a:latin typeface="Twentieth Century"/>
                <a:ea typeface="Twentieth Century"/>
                <a:cs typeface="Twentieth Century"/>
                <a:sym typeface="Twentieth Century"/>
              </a:rPr>
              <a:t>comportamiento secuencial</a:t>
            </a:r>
            <a:r>
              <a:rPr lang="en" sz="2100" b="0" i="0" u="none" strike="noStrike" cap="none">
                <a:latin typeface="Twentieth Century"/>
                <a:ea typeface="Twentieth Century"/>
                <a:cs typeface="Twentieth Century"/>
                <a:sym typeface="Twentieth Century"/>
              </a:rPr>
              <a:t>):</a:t>
            </a:r>
            <a:endParaRPr sz="1100"/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b="0" i="0" u="none" strike="noStrike" cap="none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0" i="0" u="none" strike="noStrike" cap="none">
                <a:latin typeface="Twentieth Century"/>
                <a:ea typeface="Twentieth Century"/>
                <a:cs typeface="Twentieth Century"/>
                <a:sym typeface="Twentieth Century"/>
              </a:rPr>
              <a:t>	- señales temporales</a:t>
            </a:r>
            <a:endParaRPr sz="1100"/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0" i="0" u="none" strike="noStrike" cap="none">
                <a:latin typeface="Twentieth Century"/>
                <a:ea typeface="Twentieth Century"/>
                <a:cs typeface="Twentieth Century"/>
                <a:sym typeface="Twentieth Century"/>
              </a:rPr>
              <a:t>	- series temporales</a:t>
            </a:r>
            <a:endParaRPr sz="1100"/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0" i="0" u="none" strike="noStrike" cap="none">
                <a:latin typeface="Twentieth Century"/>
                <a:ea typeface="Twentieth Century"/>
                <a:cs typeface="Twentieth Century"/>
                <a:sym typeface="Twentieth Century"/>
              </a:rPr>
              <a:t>	- texto</a:t>
            </a:r>
            <a:endParaRPr sz="1100"/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0" i="0" u="none" strike="noStrike" cap="none">
                <a:latin typeface="Twentieth Century"/>
                <a:ea typeface="Twentieth Century"/>
                <a:cs typeface="Twentieth Century"/>
                <a:sym typeface="Twentieth Century"/>
              </a:rPr>
              <a:t>	- habla</a:t>
            </a:r>
            <a:endParaRPr sz="1100"/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0" i="0" u="none" strike="noStrike" cap="none">
                <a:latin typeface="Twentieth Century"/>
                <a:ea typeface="Twentieth Century"/>
                <a:cs typeface="Twentieth Century"/>
                <a:sym typeface="Twentieth Century"/>
              </a:rPr>
              <a:t>	- música</a:t>
            </a:r>
            <a:endParaRPr sz="1100"/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0" i="0" u="none" strike="noStrike" cap="none">
                <a:latin typeface="Twentieth Century"/>
                <a:ea typeface="Twentieth Century"/>
                <a:cs typeface="Twentieth Century"/>
                <a:sym typeface="Twentieth Century"/>
              </a:rPr>
              <a:t>	- etc</a:t>
            </a:r>
            <a:endParaRPr sz="2100" b="0" i="0" u="none" strike="noStrike" cap="none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b="0" i="0" u="none" strike="noStrike" cap="none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90" name="Google Shape;90;g21c03c1d1e6_1_8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Introducción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21c03c1d1e6_1_19"/>
          <p:cNvSpPr txBox="1"/>
          <p:nvPr/>
        </p:nvSpPr>
        <p:spPr>
          <a:xfrm>
            <a:off x="215950" y="795184"/>
            <a:ext cx="817785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 </a:t>
            </a:r>
            <a:r>
              <a:rPr lang="en" sz="21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cada paso</a:t>
            </a: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se repiten los </a:t>
            </a:r>
            <a:r>
              <a:rPr lang="en" sz="21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mismos cálculos</a:t>
            </a: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empleando </a:t>
            </a:r>
            <a:r>
              <a:rPr lang="en" sz="21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datos del paso actual</a:t>
            </a: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y </a:t>
            </a:r>
            <a:r>
              <a:rPr lang="en" sz="21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datos del pasado</a:t>
            </a: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96" name="Google Shape;96;g21c03c1d1e6_1_19"/>
          <p:cNvSpPr/>
          <p:nvPr/>
        </p:nvSpPr>
        <p:spPr>
          <a:xfrm>
            <a:off x="215950" y="1670194"/>
            <a:ext cx="8364828" cy="3924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i="0" u="none" strike="noStrike" cap="none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 pasos, no son necesariamente en unidad tiempo!!</a:t>
            </a:r>
            <a:endParaRPr sz="1100"/>
          </a:p>
        </p:txBody>
      </p:sp>
      <p:graphicFrame>
        <p:nvGraphicFramePr>
          <p:cNvPr id="97" name="Google Shape;97;g21c03c1d1e6_1_19"/>
          <p:cNvGraphicFramePr/>
          <p:nvPr/>
        </p:nvGraphicFramePr>
        <p:xfrm>
          <a:off x="329633" y="2887190"/>
          <a:ext cx="5436800" cy="432000"/>
        </p:xfrm>
        <a:graphic>
          <a:graphicData uri="http://schemas.openxmlformats.org/drawingml/2006/table">
            <a:tbl>
              <a:tblPr>
                <a:noFill/>
                <a:tableStyleId>{D3E55744-8061-4CE5-AF87-22040F36E0A0}</a:tableStyleId>
              </a:tblPr>
              <a:tblGrid>
                <a:gridCol w="67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7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X(t=0)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X(t=1)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X(t=2)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X(t=3)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X(t=4)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X(t=5)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…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X(t=</a:t>
                      </a:r>
                      <a:r>
                        <a:rPr lang="en" sz="1800" u="none" strike="noStrike" cap="none"/>
                        <a:t>τ</a:t>
                      </a:r>
                      <a:r>
                        <a:rPr lang="en" sz="1400" u="none" strike="noStrike" cap="none"/>
                        <a:t>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98" name="Google Shape;98;g21c03c1d1e6_1_19"/>
          <p:cNvSpPr txBox="1"/>
          <p:nvPr/>
        </p:nvSpPr>
        <p:spPr>
          <a:xfrm>
            <a:off x="215950" y="2517457"/>
            <a:ext cx="3485193" cy="346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800" b="0" i="0" u="none" strike="noStrike" cap="none">
                <a:solidFill>
                  <a:schemeClr val="dk2"/>
                </a:solidFill>
                <a:highlight>
                  <a:schemeClr val="lt1"/>
                </a:highlight>
                <a:latin typeface="Twentieth Century"/>
                <a:ea typeface="Twentieth Century"/>
                <a:cs typeface="Twentieth Century"/>
                <a:sym typeface="Twentieth Century"/>
              </a:rPr>
              <a:t>Temperatura f(t):</a:t>
            </a:r>
            <a:endParaRPr sz="1100">
              <a:solidFill>
                <a:schemeClr val="dk2"/>
              </a:solidFill>
              <a:highlight>
                <a:schemeClr val="lt1"/>
              </a:highlight>
            </a:endParaRPr>
          </a:p>
        </p:txBody>
      </p:sp>
      <p:sp>
        <p:nvSpPr>
          <p:cNvPr id="99" name="Google Shape;99;g21c03c1d1e6_1_19"/>
          <p:cNvSpPr txBox="1"/>
          <p:nvPr/>
        </p:nvSpPr>
        <p:spPr>
          <a:xfrm>
            <a:off x="215950" y="3672225"/>
            <a:ext cx="3485193" cy="346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800" b="0" i="0" u="none" strike="noStrike" cap="none">
                <a:solidFill>
                  <a:schemeClr val="dk2"/>
                </a:solidFill>
                <a:highlight>
                  <a:schemeClr val="lt1"/>
                </a:highlight>
                <a:latin typeface="Twentieth Century"/>
                <a:ea typeface="Twentieth Century"/>
                <a:cs typeface="Twentieth Century"/>
                <a:sym typeface="Twentieth Century"/>
              </a:rPr>
              <a:t>Mensaje:</a:t>
            </a:r>
            <a:endParaRPr sz="1100">
              <a:solidFill>
                <a:schemeClr val="dk2"/>
              </a:solidFill>
              <a:highlight>
                <a:schemeClr val="lt1"/>
              </a:highlight>
            </a:endParaRPr>
          </a:p>
        </p:txBody>
      </p:sp>
      <p:graphicFrame>
        <p:nvGraphicFramePr>
          <p:cNvPr id="100" name="Google Shape;100;g21c03c1d1e6_1_19"/>
          <p:cNvGraphicFramePr/>
          <p:nvPr/>
        </p:nvGraphicFramePr>
        <p:xfrm>
          <a:off x="283564" y="4041958"/>
          <a:ext cx="5988975" cy="432000"/>
        </p:xfrm>
        <a:graphic>
          <a:graphicData uri="http://schemas.openxmlformats.org/drawingml/2006/table">
            <a:tbl>
              <a:tblPr>
                <a:noFill/>
                <a:tableStyleId>{D3E55744-8061-4CE5-AF87-22040F36E0A0}</a:tableStyleId>
              </a:tblPr>
              <a:tblGrid>
                <a:gridCol w="748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8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8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5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19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8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699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27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Este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es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un 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mensaje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para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la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red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neuronal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101" name="Google Shape;101;g21c03c1d1e6_1_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719378" y="2062609"/>
            <a:ext cx="1935225" cy="2753298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g21c03c1d1e6_1_19"/>
          <p:cNvSpPr/>
          <p:nvPr/>
        </p:nvSpPr>
        <p:spPr>
          <a:xfrm>
            <a:off x="7142475" y="4866501"/>
            <a:ext cx="1089031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wikipedia</a:t>
            </a:r>
            <a:endParaRPr sz="1400" b="1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03" name="Google Shape;103;g21c03c1d1e6_1_19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Introducción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21c03c1d1e6_1_31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</a:t>
            </a:r>
            <a:endParaRPr sz="1100"/>
          </a:p>
        </p:txBody>
      </p:sp>
      <p:pic>
        <p:nvPicPr>
          <p:cNvPr id="109" name="Google Shape;109;g21c03c1d1e6_1_31"/>
          <p:cNvPicPr preferRelativeResize="0"/>
          <p:nvPr/>
        </p:nvPicPr>
        <p:blipFill rotWithShape="1">
          <a:blip r:embed="rId3">
            <a:alphaModFix/>
          </a:blip>
          <a:srcRect t="37445" r="78933" b="-1"/>
          <a:stretch/>
        </p:blipFill>
        <p:spPr>
          <a:xfrm>
            <a:off x="363830" y="2196548"/>
            <a:ext cx="1287886" cy="2653068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g21c03c1d1e6_1_31"/>
          <p:cNvPicPr preferRelativeResize="0"/>
          <p:nvPr/>
        </p:nvPicPr>
        <p:blipFill rotWithShape="1">
          <a:blip r:embed="rId4">
            <a:alphaModFix/>
          </a:blip>
          <a:srcRect t="-1" b="28857"/>
          <a:stretch/>
        </p:blipFill>
        <p:spPr>
          <a:xfrm>
            <a:off x="3879646" y="2729071"/>
            <a:ext cx="5058950" cy="1616558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g21c03c1d1e6_1_31"/>
          <p:cNvSpPr txBox="1"/>
          <p:nvPr/>
        </p:nvSpPr>
        <p:spPr>
          <a:xfrm>
            <a:off x="3879646" y="2275157"/>
            <a:ext cx="3918168" cy="392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Ecuaciones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112" name="Google Shape;112;g21c03c1d1e6_1_31"/>
          <p:cNvSpPr/>
          <p:nvPr/>
        </p:nvSpPr>
        <p:spPr>
          <a:xfrm>
            <a:off x="205404" y="3210338"/>
            <a:ext cx="1573700" cy="171947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3" name="Google Shape;113;g21c03c1d1e6_1_31"/>
          <p:cNvSpPr/>
          <p:nvPr/>
        </p:nvSpPr>
        <p:spPr>
          <a:xfrm>
            <a:off x="3966407" y="2873828"/>
            <a:ext cx="4813763" cy="1006565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4" name="Google Shape;114;g21c03c1d1e6_1_31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Neurona recurrente básica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21c03c1d1e6_1_41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</a:t>
            </a:r>
            <a:endParaRPr sz="1100"/>
          </a:p>
        </p:txBody>
      </p:sp>
      <p:pic>
        <p:nvPicPr>
          <p:cNvPr id="120" name="Google Shape;120;g21c03c1d1e6_1_41"/>
          <p:cNvPicPr preferRelativeResize="0"/>
          <p:nvPr/>
        </p:nvPicPr>
        <p:blipFill rotWithShape="1">
          <a:blip r:embed="rId3">
            <a:alphaModFix/>
          </a:blip>
          <a:srcRect t="38451"/>
          <a:stretch/>
        </p:blipFill>
        <p:spPr>
          <a:xfrm>
            <a:off x="0" y="2255028"/>
            <a:ext cx="6288110" cy="26850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g21c03c1d1e6_1_41"/>
          <p:cNvPicPr preferRelativeResize="0"/>
          <p:nvPr/>
        </p:nvPicPr>
        <p:blipFill rotWithShape="1">
          <a:blip r:embed="rId4">
            <a:alphaModFix/>
          </a:blip>
          <a:srcRect b="28849"/>
          <a:stretch/>
        </p:blipFill>
        <p:spPr>
          <a:xfrm>
            <a:off x="5403593" y="850882"/>
            <a:ext cx="3635403" cy="1161791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g21c03c1d1e6_1_41"/>
          <p:cNvSpPr/>
          <p:nvPr/>
        </p:nvSpPr>
        <p:spPr>
          <a:xfrm>
            <a:off x="6783412" y="3312704"/>
            <a:ext cx="1394366" cy="1038746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i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</a:t>
            </a:r>
            <a:r>
              <a:rPr lang="en" sz="21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</a:t>
            </a:r>
            <a:r>
              <a:rPr lang="en" sz="2100" b="1" i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</a:t>
            </a:r>
            <a:r>
              <a:rPr lang="en" sz="21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endParaRPr sz="110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son los mismos!!</a:t>
            </a:r>
            <a:endParaRPr sz="1100"/>
          </a:p>
        </p:txBody>
      </p:sp>
      <p:sp>
        <p:nvSpPr>
          <p:cNvPr id="123" name="Google Shape;123;g21c03c1d1e6_1_41"/>
          <p:cNvSpPr/>
          <p:nvPr/>
        </p:nvSpPr>
        <p:spPr>
          <a:xfrm>
            <a:off x="6419411" y="4593806"/>
            <a:ext cx="2298947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Parameters sharing</a:t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24" name="Google Shape;124;g21c03c1d1e6_1_41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Neurona recurrente básica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21c03c1d1e6_1_49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</a:t>
            </a:r>
            <a:endParaRPr sz="1100"/>
          </a:p>
        </p:txBody>
      </p:sp>
      <p:pic>
        <p:nvPicPr>
          <p:cNvPr id="130" name="Google Shape;130;g21c03c1d1e6_1_49"/>
          <p:cNvPicPr preferRelativeResize="0"/>
          <p:nvPr/>
        </p:nvPicPr>
        <p:blipFill rotWithShape="1">
          <a:blip r:embed="rId3">
            <a:alphaModFix/>
          </a:blip>
          <a:srcRect t="49743"/>
          <a:stretch/>
        </p:blipFill>
        <p:spPr>
          <a:xfrm>
            <a:off x="39575" y="1702200"/>
            <a:ext cx="9064849" cy="31784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g21c03c1d1e6_1_49"/>
          <p:cNvPicPr preferRelativeResize="0"/>
          <p:nvPr/>
        </p:nvPicPr>
        <p:blipFill rotWithShape="1">
          <a:blip r:embed="rId3">
            <a:alphaModFix/>
          </a:blip>
          <a:srcRect t="34136" r="19328" b="52929"/>
          <a:stretch/>
        </p:blipFill>
        <p:spPr>
          <a:xfrm>
            <a:off x="178625" y="776875"/>
            <a:ext cx="8271614" cy="925337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g21c03c1d1e6_1_49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Neurona recurrente básica</a:t>
            </a:r>
            <a:endParaRPr/>
          </a:p>
        </p:txBody>
      </p:sp>
      <p:pic>
        <p:nvPicPr>
          <p:cNvPr id="133" name="Google Shape;133;g21c03c1d1e6_1_49"/>
          <p:cNvPicPr preferRelativeResize="0"/>
          <p:nvPr/>
        </p:nvPicPr>
        <p:blipFill rotWithShape="1">
          <a:blip r:embed="rId3">
            <a:alphaModFix/>
          </a:blip>
          <a:srcRect l="10260" r="75323" b="69085"/>
          <a:stretch/>
        </p:blipFill>
        <p:spPr>
          <a:xfrm>
            <a:off x="8036725" y="3381050"/>
            <a:ext cx="1067699" cy="1597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g21c03c1d1e6_1_49"/>
          <p:cNvPicPr preferRelativeResize="0"/>
          <p:nvPr/>
        </p:nvPicPr>
        <p:blipFill rotWithShape="1">
          <a:blip r:embed="rId3">
            <a:alphaModFix/>
          </a:blip>
          <a:srcRect l="38363" t="9125" r="20692" b="72913"/>
          <a:stretch/>
        </p:blipFill>
        <p:spPr>
          <a:xfrm>
            <a:off x="5084660" y="4053275"/>
            <a:ext cx="3023139" cy="925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21c03c1d1e6_1_54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- Pytorch</a:t>
            </a:r>
            <a:endParaRPr sz="24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40" name="Google Shape;140;g21c03c1d1e6_1_54"/>
          <p:cNvSpPr/>
          <p:nvPr/>
        </p:nvSpPr>
        <p:spPr>
          <a:xfrm>
            <a:off x="492617" y="4216893"/>
            <a:ext cx="7449904" cy="807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torch.nn.RNN(</a:t>
            </a:r>
            <a:r>
              <a:rPr lang="en" sz="1500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input_size, hidden_size, num_layers=1, nonlinearity=‘tanh’, …</a:t>
            </a:r>
            <a:br>
              <a:rPr lang="en" sz="1500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 sz="1500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		bias=True, batch_first=False, dropout=0, bidirectional=False</a:t>
            </a:r>
            <a:r>
              <a:rPr lang="en" sz="1500" b="1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500" b="1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r>
              <a:rPr lang="en" sz="3300" b="1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100" dirty="0">
              <a:solidFill>
                <a:schemeClr val="dk2"/>
              </a:solidFill>
            </a:endParaRPr>
          </a:p>
        </p:txBody>
      </p:sp>
      <p:pic>
        <p:nvPicPr>
          <p:cNvPr id="141" name="Google Shape;141;g21c03c1d1e6_1_5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1450" y="1171575"/>
            <a:ext cx="8801100" cy="280035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g21c03c1d1e6_1_54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Implementación en pytorch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21c03c1d1e6_1_145"/>
          <p:cNvSpPr txBox="1"/>
          <p:nvPr/>
        </p:nvSpPr>
        <p:spPr>
          <a:xfrm>
            <a:off x="2044342" y="774713"/>
            <a:ext cx="4813500" cy="60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latin typeface="Twentieth Century"/>
                <a:ea typeface="Twentieth Century"/>
                <a:cs typeface="Twentieth Century"/>
                <a:sym typeface="Twentieth Century"/>
              </a:rPr>
              <a:t>Bi-directional </a:t>
            </a:r>
            <a:endParaRPr sz="240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52" name="Google Shape;252;g21c03c1d1e6_1_145"/>
          <p:cNvSpPr txBox="1"/>
          <p:nvPr/>
        </p:nvSpPr>
        <p:spPr>
          <a:xfrm>
            <a:off x="1173245" y="4210024"/>
            <a:ext cx="6555668" cy="392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800">
                <a:latin typeface="Twentieth Century"/>
                <a:ea typeface="Twentieth Century"/>
                <a:cs typeface="Twentieth Century"/>
                <a:sym typeface="Twentieth Century"/>
              </a:rPr>
              <a:t>Para la traducción, suele ser útil tener la frase entera.</a:t>
            </a:r>
            <a:endParaRPr sz="1100"/>
          </a:p>
        </p:txBody>
      </p:sp>
      <p:pic>
        <p:nvPicPr>
          <p:cNvPr id="253" name="Google Shape;253;g21c03c1d1e6_1_14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6911" y="1555124"/>
            <a:ext cx="6868339" cy="2427292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g21c03c1d1e6_1_14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Birideccionalidad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21c03c1d1e6_1_60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- Dimensiones</a:t>
            </a:r>
            <a:endParaRPr sz="1100"/>
          </a:p>
        </p:txBody>
      </p:sp>
      <p:sp>
        <p:nvSpPr>
          <p:cNvPr id="148" name="Google Shape;148;g21c03c1d1e6_1_60"/>
          <p:cNvSpPr txBox="1"/>
          <p:nvPr/>
        </p:nvSpPr>
        <p:spPr>
          <a:xfrm>
            <a:off x="516181" y="4716035"/>
            <a:ext cx="859665" cy="271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Básica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149" name="Google Shape;149;g21c03c1d1e6_1_60"/>
          <p:cNvSpPr txBox="1"/>
          <p:nvPr/>
        </p:nvSpPr>
        <p:spPr>
          <a:xfrm>
            <a:off x="2608285" y="4696716"/>
            <a:ext cx="1569838" cy="271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Varias hidden</a:t>
            </a: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50" name="Google Shape;150;g21c03c1d1e6_1_60"/>
          <p:cNvSpPr txBox="1"/>
          <p:nvPr/>
        </p:nvSpPr>
        <p:spPr>
          <a:xfrm>
            <a:off x="5102092" y="4578347"/>
            <a:ext cx="1569838" cy="271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Input multivariable</a:t>
            </a: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51" name="Google Shape;151;g21c03c1d1e6_1_60"/>
          <p:cNvSpPr txBox="1"/>
          <p:nvPr/>
        </p:nvSpPr>
        <p:spPr>
          <a:xfrm>
            <a:off x="7243032" y="4695142"/>
            <a:ext cx="1569838" cy="271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2 layers</a:t>
            </a: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52" name="Google Shape;152;g21c03c1d1e6_1_6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8422" y="1052272"/>
            <a:ext cx="3907631" cy="378619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g21c03c1d1e6_1_60"/>
          <p:cNvSpPr/>
          <p:nvPr/>
        </p:nvSpPr>
        <p:spPr>
          <a:xfrm>
            <a:off x="2021003" y="740776"/>
            <a:ext cx="762469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Pytorch</a:t>
            </a:r>
            <a:endParaRPr sz="14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54" name="Google Shape;154;g21c03c1d1e6_1_6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-5400000">
            <a:off x="78264" y="2720632"/>
            <a:ext cx="1866275" cy="1583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g21c03c1d1e6_1_6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-5400000">
            <a:off x="2204006" y="2180339"/>
            <a:ext cx="2344483" cy="2185382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g21c03c1d1e6_1_60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-5400000">
            <a:off x="4596185" y="2369524"/>
            <a:ext cx="2344481" cy="180701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g21c03c1d1e6_1_60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 rot="-5400000">
            <a:off x="6260084" y="1735063"/>
            <a:ext cx="3315094" cy="2105321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g21c03c1d1e6_1_60"/>
          <p:cNvSpPr txBox="1"/>
          <p:nvPr/>
        </p:nvSpPr>
        <p:spPr>
          <a:xfrm>
            <a:off x="4047019" y="615104"/>
            <a:ext cx="3679985" cy="378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300"/>
              <a:buFont typeface="Arial"/>
              <a:buNone/>
            </a:pPr>
            <a:r>
              <a:rPr lang="en" sz="18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Ver colab RNN_teoria.ipynb</a:t>
            </a:r>
            <a:endParaRPr sz="18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59" name="Google Shape;159;g21c03c1d1e6_1_60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Implementación en pytorch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1c03c1d1e6_1_75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- Dimensiones</a:t>
            </a:r>
            <a:endParaRPr sz="1100"/>
          </a:p>
        </p:txBody>
      </p:sp>
      <p:graphicFrame>
        <p:nvGraphicFramePr>
          <p:cNvPr id="165" name="Google Shape;165;g21c03c1d1e6_1_75"/>
          <p:cNvGraphicFramePr/>
          <p:nvPr/>
        </p:nvGraphicFramePr>
        <p:xfrm>
          <a:off x="2306392" y="2494541"/>
          <a:ext cx="4879975" cy="1973720"/>
        </p:xfrm>
        <a:graphic>
          <a:graphicData uri="http://schemas.openxmlformats.org/drawingml/2006/table">
            <a:tbl>
              <a:tblPr firstRow="1" bandRow="1">
                <a:noFill/>
                <a:tableStyleId>{38EFA4B2-A90F-452C-A374-82A2C123D84D}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4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8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Variable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Parámetro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h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166" name="Google Shape;166;g21c03c1d1e6_1_7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8422" y="1052272"/>
            <a:ext cx="3907631" cy="378619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g21c03c1d1e6_1_75"/>
          <p:cNvSpPr txBox="1"/>
          <p:nvPr/>
        </p:nvSpPr>
        <p:spPr>
          <a:xfrm>
            <a:off x="516181" y="4716035"/>
            <a:ext cx="859665" cy="271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Básica</a:t>
            </a:r>
            <a:endParaRPr sz="1100"/>
          </a:p>
        </p:txBody>
      </p:sp>
      <p:pic>
        <p:nvPicPr>
          <p:cNvPr id="168" name="Google Shape;168;g21c03c1d1e6_1_7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-5400000">
            <a:off x="78264" y="2720632"/>
            <a:ext cx="1866275" cy="1583001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g21c03c1d1e6_1_75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Implementación en pytorch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21c03c1d1e6_1_83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- Dimensiones</a:t>
            </a:r>
            <a:endParaRPr sz="1100"/>
          </a:p>
        </p:txBody>
      </p:sp>
      <p:sp>
        <p:nvSpPr>
          <p:cNvPr id="175" name="Google Shape;175;g21c03c1d1e6_1_83"/>
          <p:cNvSpPr txBox="1"/>
          <p:nvPr/>
        </p:nvSpPr>
        <p:spPr>
          <a:xfrm>
            <a:off x="271263" y="4677398"/>
            <a:ext cx="1569838" cy="271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Varias hidden</a:t>
            </a: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76" name="Google Shape;176;g21c03c1d1e6_1_8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8422" y="1052272"/>
            <a:ext cx="3907631" cy="378619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77" name="Google Shape;177;g21c03c1d1e6_1_83"/>
          <p:cNvGraphicFramePr/>
          <p:nvPr/>
        </p:nvGraphicFramePr>
        <p:xfrm>
          <a:off x="4131972" y="2507397"/>
          <a:ext cx="4879975" cy="1409800"/>
        </p:xfrm>
        <a:graphic>
          <a:graphicData uri="http://schemas.openxmlformats.org/drawingml/2006/table">
            <a:tbl>
              <a:tblPr firstRow="1" bandRow="1">
                <a:noFill/>
                <a:tableStyleId>{38EFA4B2-A90F-452C-A374-82A2C123D84D}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4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8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Variable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Parámetro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dirty="0"/>
                        <a:t>Wih</a:t>
                      </a:r>
                      <a:endParaRPr sz="1400" dirty="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h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dirty="0"/>
                        <a:t>Bih</a:t>
                      </a:r>
                      <a:endParaRPr sz="1400" dirty="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dirty="0"/>
                        <a:t>Whh</a:t>
                      </a:r>
                      <a:endParaRPr sz="1400" dirty="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dirty="0"/>
                        <a:t>bhh</a:t>
                      </a:r>
                      <a:endParaRPr sz="1400" dirty="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endParaRPr sz="1400" dirty="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78" name="Google Shape;178;g21c03c1d1e6_1_8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-5400000">
            <a:off x="195524" y="2346788"/>
            <a:ext cx="2232177" cy="2080697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g21c03c1d1e6_1_83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Implementación en pytorch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21c03c1d1e6_1_91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- Dimensiones</a:t>
            </a:r>
            <a:endParaRPr sz="1100"/>
          </a:p>
        </p:txBody>
      </p:sp>
      <p:sp>
        <p:nvSpPr>
          <p:cNvPr id="185" name="Google Shape;185;g21c03c1d1e6_1_91"/>
          <p:cNvSpPr txBox="1"/>
          <p:nvPr/>
        </p:nvSpPr>
        <p:spPr>
          <a:xfrm>
            <a:off x="411871" y="4464328"/>
            <a:ext cx="1569838" cy="271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Input multivariable</a:t>
            </a: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86" name="Google Shape;186;g21c03c1d1e6_1_9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8422" y="1052272"/>
            <a:ext cx="3907631" cy="3786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g21c03c1d1e6_1_9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-5400000">
            <a:off x="24550" y="2292250"/>
            <a:ext cx="2344481" cy="180701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88" name="Google Shape;188;g21c03c1d1e6_1_91"/>
          <p:cNvGraphicFramePr/>
          <p:nvPr/>
        </p:nvGraphicFramePr>
        <p:xfrm>
          <a:off x="4131972" y="2507397"/>
          <a:ext cx="4879975" cy="1409800"/>
        </p:xfrm>
        <a:graphic>
          <a:graphicData uri="http://schemas.openxmlformats.org/drawingml/2006/table">
            <a:tbl>
              <a:tblPr firstRow="1" bandRow="1">
                <a:noFill/>
                <a:tableStyleId>{38EFA4B2-A90F-452C-A374-82A2C123D84D}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4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8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Variable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Parámetro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h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9" name="Google Shape;189;g21c03c1d1e6_1_91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Implementación en pytorch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21c03c1d1e6_1_99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- Dimensiones</a:t>
            </a:r>
            <a:endParaRPr sz="1100"/>
          </a:p>
        </p:txBody>
      </p:sp>
      <p:sp>
        <p:nvSpPr>
          <p:cNvPr id="195" name="Google Shape;195;g21c03c1d1e6_1_99"/>
          <p:cNvSpPr txBox="1"/>
          <p:nvPr/>
        </p:nvSpPr>
        <p:spPr>
          <a:xfrm>
            <a:off x="355735" y="4704783"/>
            <a:ext cx="1569838" cy="271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2 layers</a:t>
            </a:r>
            <a:endParaRPr sz="1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96" name="Google Shape;196;g21c03c1d1e6_1_9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341616" y="783164"/>
            <a:ext cx="3907631" cy="3786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g21c03c1d1e6_1_9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-5400000">
            <a:off x="-516892" y="1941307"/>
            <a:ext cx="3315094" cy="210532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98" name="Google Shape;198;g21c03c1d1e6_1_99"/>
          <p:cNvGraphicFramePr/>
          <p:nvPr>
            <p:extLst>
              <p:ext uri="{D42A27DB-BD31-4B8C-83A1-F6EECF244321}">
                <p14:modId xmlns:p14="http://schemas.microsoft.com/office/powerpoint/2010/main" val="3278869483"/>
              </p:ext>
            </p:extLst>
          </p:nvPr>
        </p:nvGraphicFramePr>
        <p:xfrm>
          <a:off x="4131972" y="2507397"/>
          <a:ext cx="4879975" cy="1409800"/>
        </p:xfrm>
        <a:graphic>
          <a:graphicData uri="http://schemas.openxmlformats.org/drawingml/2006/table">
            <a:tbl>
              <a:tblPr firstRow="1" bandRow="1">
                <a:noFill/>
                <a:tableStyleId>{38EFA4B2-A90F-452C-A374-82A2C123D84D}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4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8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Variable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Parámetro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h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dirty="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/>
                        <a:t>y</a:t>
                      </a:r>
                      <a:endParaRPr sz="1400" dirty="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endParaRPr sz="1400" dirty="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9" name="Google Shape;199;g21c03c1d1e6_1_99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Implementación en pytorch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g21c03c1d1e6_1_10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-5400000">
            <a:off x="-630182" y="1949050"/>
            <a:ext cx="3952298" cy="2247448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g21c03c1d1e6_1_107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- Dimensiones</a:t>
            </a:r>
            <a:endParaRPr sz="1100"/>
          </a:p>
        </p:txBody>
      </p:sp>
      <p:sp>
        <p:nvSpPr>
          <p:cNvPr id="206" name="Google Shape;206;g21c03c1d1e6_1_107"/>
          <p:cNvSpPr txBox="1"/>
          <p:nvPr/>
        </p:nvSpPr>
        <p:spPr>
          <a:xfrm>
            <a:off x="0" y="4651515"/>
            <a:ext cx="3679984" cy="378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300"/>
              <a:buFont typeface="Arial"/>
              <a:buNone/>
            </a:pPr>
            <a:r>
              <a:rPr lang="en" sz="18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Ejercicio 1 (ver datos en colab)</a:t>
            </a:r>
            <a:endParaRPr sz="1100"/>
          </a:p>
        </p:txBody>
      </p:sp>
      <p:pic>
        <p:nvPicPr>
          <p:cNvPr id="207" name="Google Shape;207;g21c03c1d1e6_1_10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8243" y="668527"/>
            <a:ext cx="3907631" cy="378619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08" name="Google Shape;208;g21c03c1d1e6_1_107"/>
          <p:cNvGraphicFramePr/>
          <p:nvPr/>
        </p:nvGraphicFramePr>
        <p:xfrm>
          <a:off x="4041734" y="687860"/>
          <a:ext cx="4879975" cy="1409800"/>
        </p:xfrm>
        <a:graphic>
          <a:graphicData uri="http://schemas.openxmlformats.org/drawingml/2006/table">
            <a:tbl>
              <a:tblPr firstRow="1" bandRow="1">
                <a:noFill/>
                <a:tableStyleId>{38EFA4B2-A90F-452C-A374-82A2C123D84D}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4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8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Variable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Parámetro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h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209" name="Google Shape;209;g21c03c1d1e6_1_107"/>
          <p:cNvGraphicFramePr/>
          <p:nvPr/>
        </p:nvGraphicFramePr>
        <p:xfrm>
          <a:off x="4041735" y="2169199"/>
          <a:ext cx="4879975" cy="1409800"/>
        </p:xfrm>
        <a:graphic>
          <a:graphicData uri="http://schemas.openxmlformats.org/drawingml/2006/table">
            <a:tbl>
              <a:tblPr firstRow="1" bandRow="1">
                <a:noFill/>
                <a:tableStyleId>{38EFA4B2-A90F-452C-A374-82A2C123D84D}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4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8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Variable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Parámetro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h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210" name="Google Shape;210;g21c03c1d1e6_1_107"/>
          <p:cNvGraphicFramePr/>
          <p:nvPr/>
        </p:nvGraphicFramePr>
        <p:xfrm>
          <a:off x="4041736" y="3639182"/>
          <a:ext cx="4879975" cy="1409800"/>
        </p:xfrm>
        <a:graphic>
          <a:graphicData uri="http://schemas.openxmlformats.org/drawingml/2006/table">
            <a:tbl>
              <a:tblPr firstRow="1" bandRow="1">
                <a:noFill/>
                <a:tableStyleId>{38EFA4B2-A90F-452C-A374-82A2C123D84D}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4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8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Variable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Parámetro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h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1" name="Google Shape;211;g21c03c1d1e6_1_107"/>
          <p:cNvSpPr txBox="1"/>
          <p:nvPr/>
        </p:nvSpPr>
        <p:spPr>
          <a:xfrm>
            <a:off x="3008065" y="1293803"/>
            <a:ext cx="103367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Ejemplo A</a:t>
            </a: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12" name="Google Shape;212;g21c03c1d1e6_1_107"/>
          <p:cNvSpPr txBox="1"/>
          <p:nvPr/>
        </p:nvSpPr>
        <p:spPr>
          <a:xfrm>
            <a:off x="3008065" y="2856657"/>
            <a:ext cx="103367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Ejemplo B</a:t>
            </a: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13" name="Google Shape;213;g21c03c1d1e6_1_107"/>
          <p:cNvSpPr txBox="1"/>
          <p:nvPr/>
        </p:nvSpPr>
        <p:spPr>
          <a:xfrm>
            <a:off x="3008065" y="4233167"/>
            <a:ext cx="103367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Ejemplo C</a:t>
            </a: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14" name="Google Shape;214;g21c03c1d1e6_1_107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Implementación en pytorch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21c03c1d1e6_1_120"/>
          <p:cNvSpPr txBox="1"/>
          <p:nvPr/>
        </p:nvSpPr>
        <p:spPr>
          <a:xfrm>
            <a:off x="4197697" y="2488808"/>
            <a:ext cx="4315136" cy="331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000"/>
              <a:buFont typeface="Arial"/>
              <a:buNone/>
            </a:pPr>
            <a:r>
              <a:rPr lang="en" sz="30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</a:t>
            </a: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30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pensar</a:t>
            </a: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!</a:t>
            </a:r>
            <a:endParaRPr sz="1100"/>
          </a:p>
        </p:txBody>
      </p:sp>
      <p:pic>
        <p:nvPicPr>
          <p:cNvPr id="220" name="Google Shape;220;g21c03c1d1e6_1_1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53101" y="790275"/>
            <a:ext cx="2699926" cy="4274274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g21c03c1d1e6_1_120"/>
          <p:cNvSpPr/>
          <p:nvPr/>
        </p:nvSpPr>
        <p:spPr>
          <a:xfrm>
            <a:off x="3727108" y="4712811"/>
            <a:ext cx="2048879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“El pensador” de Rodin</a:t>
            </a:r>
            <a:endParaRPr sz="1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2" name="Google Shape;222;g21c03c1d1e6_1_120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Implementación en pytorch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21c03c1d1e6_1_126"/>
          <p:cNvSpPr txBox="1"/>
          <p:nvPr/>
        </p:nvSpPr>
        <p:spPr>
          <a:xfrm>
            <a:off x="222160" y="0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</a:t>
            </a:r>
            <a:endParaRPr sz="1100"/>
          </a:p>
        </p:txBody>
      </p:sp>
      <p:sp>
        <p:nvSpPr>
          <p:cNvPr id="228" name="Google Shape;228;g21c03c1d1e6_1_126"/>
          <p:cNvSpPr txBox="1"/>
          <p:nvPr/>
        </p:nvSpPr>
        <p:spPr>
          <a:xfrm>
            <a:off x="6562579" y="3890445"/>
            <a:ext cx="2317652" cy="378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Arial"/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Ver desarrollo teórico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229" name="Google Shape;229;g21c03c1d1e6_1_12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03596" y="730106"/>
            <a:ext cx="8736806" cy="12501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g21c03c1d1e6_1_126" descr="Imagen de la pantalla de un video juego&#10;&#10;Descripción generada automáticamente con confianza baja"/>
          <p:cNvPicPr preferRelativeResize="0"/>
          <p:nvPr/>
        </p:nvPicPr>
        <p:blipFill rotWithShape="1">
          <a:blip r:embed="rId4">
            <a:alphaModFix/>
          </a:blip>
          <a:srcRect t="53333" b="9993"/>
          <a:stretch/>
        </p:blipFill>
        <p:spPr>
          <a:xfrm>
            <a:off x="456087" y="2173705"/>
            <a:ext cx="5589503" cy="2728769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g21c03c1d1e6_1_126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Back propagation through time (BPTT)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21c03c1d1e6_1_126"/>
          <p:cNvSpPr txBox="1"/>
          <p:nvPr/>
        </p:nvSpPr>
        <p:spPr>
          <a:xfrm>
            <a:off x="222160" y="0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</a:t>
            </a:r>
            <a:endParaRPr sz="1100"/>
          </a:p>
        </p:txBody>
      </p:sp>
      <p:sp>
        <p:nvSpPr>
          <p:cNvPr id="231" name="Google Shape;231;g21c03c1d1e6_1_126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Back propagation through time (BPTT)</a:t>
            </a: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F1DAAD6-642B-8E32-7DA6-4C42DEB7AE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567" y="743184"/>
            <a:ext cx="6820387" cy="4185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6234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21c03c1d1e6_1_126"/>
          <p:cNvSpPr txBox="1"/>
          <p:nvPr/>
        </p:nvSpPr>
        <p:spPr>
          <a:xfrm>
            <a:off x="222160" y="0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</a:t>
            </a:r>
            <a:endParaRPr sz="1100"/>
          </a:p>
        </p:txBody>
      </p:sp>
      <p:sp>
        <p:nvSpPr>
          <p:cNvPr id="231" name="Google Shape;231;g21c03c1d1e6_1_126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Back propagation through time (BPTT)</a:t>
            </a: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D03D3F5-78BB-F2CD-C53D-8B1DBEE312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160" y="1183753"/>
            <a:ext cx="3003975" cy="1127278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110F3932-C008-1E37-1FF6-D1612E5685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6984" y="1159608"/>
            <a:ext cx="4638403" cy="2302846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B086223D-3C92-320C-FDA4-2986A3EC8B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416" y="3557727"/>
            <a:ext cx="7127167" cy="1384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92290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21c03c1d1e6_1_126"/>
          <p:cNvSpPr txBox="1"/>
          <p:nvPr/>
        </p:nvSpPr>
        <p:spPr>
          <a:xfrm>
            <a:off x="222160" y="0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</a:t>
            </a:r>
            <a:endParaRPr sz="1100"/>
          </a:p>
        </p:txBody>
      </p:sp>
      <p:sp>
        <p:nvSpPr>
          <p:cNvPr id="231" name="Google Shape;231;g21c03c1d1e6_1_126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Back propagation through time (BPTT)</a:t>
            </a: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7F6C8A2-6E4B-CC35-FBCA-FE785C2AC5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160" y="885652"/>
            <a:ext cx="4733925" cy="485775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E9CEA9F8-4C91-6372-E31C-322AD64E5D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4981" y="885652"/>
            <a:ext cx="4377049" cy="2134819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6F1E6A7D-9012-4072-5AB5-CCB5A5C9F1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85" y="3102531"/>
            <a:ext cx="7194129" cy="1916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96163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21c03c1d1e6_1_126"/>
          <p:cNvSpPr txBox="1"/>
          <p:nvPr/>
        </p:nvSpPr>
        <p:spPr>
          <a:xfrm>
            <a:off x="222160" y="0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</a:t>
            </a:r>
            <a:endParaRPr sz="1100"/>
          </a:p>
        </p:txBody>
      </p:sp>
      <p:sp>
        <p:nvSpPr>
          <p:cNvPr id="231" name="Google Shape;231;g21c03c1d1e6_1_126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Back propagation through time (BPTT)</a:t>
            </a:r>
            <a:endParaRPr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1E56B2D-1A7E-B595-8FDB-6BA8364141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160" y="844856"/>
            <a:ext cx="3343275" cy="45720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3B87B3A4-251A-0315-F9EE-DAD61ADCB9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6641" y="954899"/>
            <a:ext cx="4611769" cy="2176646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21ECE62E-087E-6FA4-B8E1-ECB992A699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529" y="3131545"/>
            <a:ext cx="7135774" cy="1891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6021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21c03c1d1e6_1_133"/>
          <p:cNvSpPr txBox="1"/>
          <p:nvPr/>
        </p:nvSpPr>
        <p:spPr>
          <a:xfrm>
            <a:off x="186760" y="950300"/>
            <a:ext cx="8770500" cy="60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Problemas de la RNN básica con el BPTT</a:t>
            </a:r>
            <a:endParaRPr sz="1100" dirty="0">
              <a:solidFill>
                <a:srgbClr val="FF0000"/>
              </a:solidFill>
            </a:endParaRPr>
          </a:p>
        </p:txBody>
      </p:sp>
      <p:sp>
        <p:nvSpPr>
          <p:cNvPr id="237" name="Google Shape;237;g21c03c1d1e6_1_133"/>
          <p:cNvSpPr/>
          <p:nvPr/>
        </p:nvSpPr>
        <p:spPr>
          <a:xfrm>
            <a:off x="289774" y="1906300"/>
            <a:ext cx="8306873" cy="715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Vanishing gradient </a:t>
            </a: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 pérdida de aportes de long-term states</a:t>
            </a:r>
            <a:endParaRPr sz="2100" b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(gradientes próximos a cero)</a:t>
            </a:r>
            <a:endParaRPr sz="2100" b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38" name="Google Shape;238;g21c03c1d1e6_1_133"/>
          <p:cNvSpPr/>
          <p:nvPr/>
        </p:nvSpPr>
        <p:spPr>
          <a:xfrm>
            <a:off x="-95517" y="3128793"/>
            <a:ext cx="8914326" cy="715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Exploding gradient </a:t>
            </a: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se soluciona con clipping gradient</a:t>
            </a:r>
            <a:endParaRPr sz="2100" b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(gradientes mayores a 1)</a:t>
            </a:r>
            <a:endParaRPr sz="2100" b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40" name="Google Shape;240;g21c03c1d1e6_1_133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Back propagation through time (BPTT)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>
          <a:extLst>
            <a:ext uri="{FF2B5EF4-FFF2-40B4-BE49-F238E27FC236}">
              <a16:creationId xmlns:a16="http://schemas.microsoft.com/office/drawing/2014/main" id="{E8989BDB-79B9-F6F2-549F-1A2E919CA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21c03c1d1e6_1_133">
            <a:extLst>
              <a:ext uri="{FF2B5EF4-FFF2-40B4-BE49-F238E27FC236}">
                <a16:creationId xmlns:a16="http://schemas.microsoft.com/office/drawing/2014/main" id="{BFAE2EAB-886F-BCFE-64F8-DCB85D8E60C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Back propagation through time (BPTT)</a:t>
            </a: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C2C499C-D332-A226-37A7-7385E67DA8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979" y="708077"/>
            <a:ext cx="7739062" cy="3548951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C2626D50-BB0A-7CE8-CED4-13918AAE117F}"/>
              </a:ext>
            </a:extLst>
          </p:cNvPr>
          <p:cNvSpPr txBox="1"/>
          <p:nvPr/>
        </p:nvSpPr>
        <p:spPr>
          <a:xfrm>
            <a:off x="230269" y="4778254"/>
            <a:ext cx="8826600" cy="273152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SimpleRNNRegressor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input_size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hidden_size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32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num_layers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n_out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N_FUTURE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4A0F87A-9C8A-8663-A914-A1281A91E6AA}"/>
              </a:ext>
            </a:extLst>
          </p:cNvPr>
          <p:cNvSpPr txBox="1"/>
          <p:nvPr/>
        </p:nvSpPr>
        <p:spPr>
          <a:xfrm>
            <a:off x="230269" y="4346055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Ver: </a:t>
            </a:r>
            <a:r>
              <a:rPr lang="es-ES" dirty="0" err="1"/>
              <a:t>RNN_vanishing_gradient.ipynb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6575589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>
          <a:extLst>
            <a:ext uri="{FF2B5EF4-FFF2-40B4-BE49-F238E27FC236}">
              <a16:creationId xmlns:a16="http://schemas.microsoft.com/office/drawing/2014/main" id="{A5BFCBEE-6674-5364-871A-B54E16949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21c03c1d1e6_1_133">
            <a:extLst>
              <a:ext uri="{FF2B5EF4-FFF2-40B4-BE49-F238E27FC236}">
                <a16:creationId xmlns:a16="http://schemas.microsoft.com/office/drawing/2014/main" id="{59943719-B7F0-CEF9-97F4-CC2E49510DF5}"/>
              </a:ext>
            </a:extLst>
          </p:cNvPr>
          <p:cNvSpPr/>
          <p:nvPr/>
        </p:nvSpPr>
        <p:spPr>
          <a:xfrm>
            <a:off x="10650" y="847946"/>
            <a:ext cx="89142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Solución con otras RNN mas avanzadas (LSTM y GRU)</a:t>
            </a:r>
            <a:endParaRPr sz="1100" dirty="0"/>
          </a:p>
        </p:txBody>
      </p:sp>
      <p:sp>
        <p:nvSpPr>
          <p:cNvPr id="240" name="Google Shape;240;g21c03c1d1e6_1_133">
            <a:extLst>
              <a:ext uri="{FF2B5EF4-FFF2-40B4-BE49-F238E27FC236}">
                <a16:creationId xmlns:a16="http://schemas.microsoft.com/office/drawing/2014/main" id="{3BABCE10-BCB8-343F-0B95-7530854B2D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Back propagation through time (BPTT)</a:t>
            </a:r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D5FBCD3-7FFB-B68B-0977-0638AF7679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809" y="1587791"/>
            <a:ext cx="5805890" cy="290294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80751A2-BC9E-0E52-827C-A35BA93EDF5F}"/>
              </a:ext>
            </a:extLst>
          </p:cNvPr>
          <p:cNvSpPr txBox="1"/>
          <p:nvPr/>
        </p:nvSpPr>
        <p:spPr>
          <a:xfrm>
            <a:off x="2748709" y="3790151"/>
            <a:ext cx="11512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sz="1400" dirty="0">
                <a:solidFill>
                  <a:srgbClr val="FF0000"/>
                </a:solidFill>
              </a:rPr>
              <a:t>Input gate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734DE2-F282-0BE7-B8DD-4BF48C91805E}"/>
              </a:ext>
            </a:extLst>
          </p:cNvPr>
          <p:cNvSpPr txBox="1"/>
          <p:nvPr/>
        </p:nvSpPr>
        <p:spPr>
          <a:xfrm>
            <a:off x="1900410" y="2049485"/>
            <a:ext cx="11512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sz="1400" dirty="0" err="1">
                <a:solidFill>
                  <a:srgbClr val="FF0000"/>
                </a:solidFill>
              </a:rPr>
              <a:t>forget</a:t>
            </a:r>
            <a:r>
              <a:rPr lang="es-AR" sz="1400" dirty="0">
                <a:solidFill>
                  <a:srgbClr val="FF0000"/>
                </a:solidFill>
              </a:rPr>
              <a:t> gate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4A93BA-BBF1-200A-33A5-9EDC6860B6B2}"/>
              </a:ext>
            </a:extLst>
          </p:cNvPr>
          <p:cNvSpPr txBox="1"/>
          <p:nvPr/>
        </p:nvSpPr>
        <p:spPr>
          <a:xfrm>
            <a:off x="4092769" y="4076242"/>
            <a:ext cx="11512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sz="1400" dirty="0">
                <a:solidFill>
                  <a:srgbClr val="FF0000"/>
                </a:solidFill>
              </a:rPr>
              <a:t>output gate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EE894D3-9313-884A-867C-991982DDDFD3}"/>
              </a:ext>
            </a:extLst>
          </p:cNvPr>
          <p:cNvSpPr/>
          <p:nvPr/>
        </p:nvSpPr>
        <p:spPr>
          <a:xfrm>
            <a:off x="98250" y="4661047"/>
            <a:ext cx="6666107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AR" dirty="0"/>
              <a:t>https://blog.floydhub.com/long-short-term-memory-from-zero-to-hero-with-pytorch/</a:t>
            </a:r>
          </a:p>
        </p:txBody>
      </p:sp>
    </p:spTree>
    <p:extLst>
      <p:ext uri="{BB962C8B-B14F-4D97-AF65-F5344CB8AC3E}">
        <p14:creationId xmlns:p14="http://schemas.microsoft.com/office/powerpoint/2010/main" val="30641819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>
          <a:extLst>
            <a:ext uri="{FF2B5EF4-FFF2-40B4-BE49-F238E27FC236}">
              <a16:creationId xmlns:a16="http://schemas.microsoft.com/office/drawing/2014/main" id="{6748909B-8DF3-148F-A399-0EE473002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EBCD5B1-74EF-2478-979A-41633BC357D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8609" t="12548" r="18573" b="8029"/>
          <a:stretch/>
        </p:blipFill>
        <p:spPr>
          <a:xfrm>
            <a:off x="466323" y="1180091"/>
            <a:ext cx="5053127" cy="3591982"/>
          </a:xfrm>
          <a:prstGeom prst="rect">
            <a:avLst/>
          </a:prstGeom>
        </p:spPr>
      </p:pic>
      <p:sp>
        <p:nvSpPr>
          <p:cNvPr id="239" name="Google Shape;239;g21c03c1d1e6_1_133">
            <a:extLst>
              <a:ext uri="{FF2B5EF4-FFF2-40B4-BE49-F238E27FC236}">
                <a16:creationId xmlns:a16="http://schemas.microsoft.com/office/drawing/2014/main" id="{95CA89FD-2F4A-8478-5E4E-1D05F7CF1665}"/>
              </a:ext>
            </a:extLst>
          </p:cNvPr>
          <p:cNvSpPr/>
          <p:nvPr/>
        </p:nvSpPr>
        <p:spPr>
          <a:xfrm>
            <a:off x="54450" y="727107"/>
            <a:ext cx="89142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Solución con otras RNN mas avanzadas (LSTM y GRU)</a:t>
            </a:r>
            <a:endParaRPr sz="1100" dirty="0"/>
          </a:p>
        </p:txBody>
      </p:sp>
      <p:sp>
        <p:nvSpPr>
          <p:cNvPr id="240" name="Google Shape;240;g21c03c1d1e6_1_133">
            <a:extLst>
              <a:ext uri="{FF2B5EF4-FFF2-40B4-BE49-F238E27FC236}">
                <a16:creationId xmlns:a16="http://schemas.microsoft.com/office/drawing/2014/main" id="{3CBDDE66-D116-26DF-3BDF-09DC57CD7E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Back propagation through time (BPTT)</a:t>
            </a: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CFD0A2-88F0-4AE4-7F1B-9F16BBC3122C}"/>
              </a:ext>
            </a:extLst>
          </p:cNvPr>
          <p:cNvSpPr txBox="1"/>
          <p:nvPr/>
        </p:nvSpPr>
        <p:spPr>
          <a:xfrm>
            <a:off x="2126255" y="2145984"/>
            <a:ext cx="11512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sz="1400" dirty="0" err="1">
                <a:solidFill>
                  <a:srgbClr val="FF0000"/>
                </a:solidFill>
              </a:rPr>
              <a:t>reset</a:t>
            </a:r>
            <a:r>
              <a:rPr lang="es-AR" sz="1400" dirty="0">
                <a:solidFill>
                  <a:srgbClr val="FF0000"/>
                </a:solidFill>
              </a:rPr>
              <a:t> gate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4E8ACB-9FB5-EF51-BBFD-4D43E4723E28}"/>
              </a:ext>
            </a:extLst>
          </p:cNvPr>
          <p:cNvSpPr txBox="1"/>
          <p:nvPr/>
        </p:nvSpPr>
        <p:spPr>
          <a:xfrm>
            <a:off x="974993" y="1478857"/>
            <a:ext cx="11512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sz="1400" dirty="0" err="1">
                <a:solidFill>
                  <a:srgbClr val="FF0000"/>
                </a:solidFill>
              </a:rPr>
              <a:t>update</a:t>
            </a:r>
            <a:r>
              <a:rPr lang="es-AR" sz="1400" dirty="0">
                <a:solidFill>
                  <a:srgbClr val="FF0000"/>
                </a:solidFill>
              </a:rPr>
              <a:t> gate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F83B887-C749-C288-7354-0A08D04B3CA0}"/>
              </a:ext>
            </a:extLst>
          </p:cNvPr>
          <p:cNvSpPr/>
          <p:nvPr/>
        </p:nvSpPr>
        <p:spPr>
          <a:xfrm>
            <a:off x="252146" y="4733631"/>
            <a:ext cx="6159671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AR" dirty="0"/>
              <a:t>https://towardsdatascience.com/understanding-gru-networks-2ef37df6c9be</a:t>
            </a:r>
          </a:p>
        </p:txBody>
      </p:sp>
    </p:spTree>
    <p:extLst>
      <p:ext uri="{BB962C8B-B14F-4D97-AF65-F5344CB8AC3E}">
        <p14:creationId xmlns:p14="http://schemas.microsoft.com/office/powerpoint/2010/main" val="2387514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1c03c1d1e6_1_187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vs Tapped Delayed MLP</a:t>
            </a:r>
            <a:endParaRPr sz="1100"/>
          </a:p>
        </p:txBody>
      </p:sp>
      <p:graphicFrame>
        <p:nvGraphicFramePr>
          <p:cNvPr id="301" name="Google Shape;301;g21c03c1d1e6_1_187"/>
          <p:cNvGraphicFramePr/>
          <p:nvPr/>
        </p:nvGraphicFramePr>
        <p:xfrm>
          <a:off x="714776" y="1185909"/>
          <a:ext cx="7389000" cy="432000"/>
        </p:xfrm>
        <a:graphic>
          <a:graphicData uri="http://schemas.openxmlformats.org/drawingml/2006/table">
            <a:tbl>
              <a:tblPr>
                <a:noFill/>
                <a:tableStyleId>{D3E55744-8061-4CE5-AF87-22040F36E0A0}</a:tableStyleId>
              </a:tblPr>
              <a:tblGrid>
                <a:gridCol w="738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X(t=0)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X(t=1)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X(t=2)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X(t=3)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X(t=4)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X(t=5)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X(t=6)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r>
                        <a:rPr lang="en" sz="1400"/>
                        <a:t>X(t=7)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…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r>
                        <a:rPr lang="en" sz="1400"/>
                        <a:t>X(t=</a:t>
                      </a:r>
                      <a:r>
                        <a:rPr lang="en" sz="1800"/>
                        <a:t>τ</a:t>
                      </a:r>
                      <a:r>
                        <a:rPr lang="en" sz="1400"/>
                        <a:t>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2" name="Google Shape;302;g21c03c1d1e6_1_187"/>
          <p:cNvSpPr txBox="1"/>
          <p:nvPr/>
        </p:nvSpPr>
        <p:spPr>
          <a:xfrm>
            <a:off x="2868923" y="4658677"/>
            <a:ext cx="3679984" cy="378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300"/>
              <a:buFont typeface="Arial"/>
              <a:buNone/>
            </a:pPr>
            <a:r>
              <a:rPr lang="en" sz="18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Ver colab RNN_signal_TP.ipynb</a:t>
            </a:r>
            <a:endParaRPr sz="1800" b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303" name="Google Shape;303;g21c03c1d1e6_1_18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7981" y="1890670"/>
            <a:ext cx="3521869" cy="2714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4" name="Google Shape;304;g21c03c1d1e6_1_18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572000" y="1885939"/>
            <a:ext cx="3870101" cy="2719357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g21c03c1d1e6_1_18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Implementación de modelos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Google Shape;245;g21c03c1d1e6_1_14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98867" y="1043643"/>
            <a:ext cx="8080892" cy="3674905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g21c03c1d1e6_1_140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1000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¡Un merecido descanso!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21c03c1d1e6_1_151"/>
          <p:cNvSpPr/>
          <p:nvPr/>
        </p:nvSpPr>
        <p:spPr>
          <a:xfrm>
            <a:off x="222159" y="4901126"/>
            <a:ext cx="7988122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https://towardsdatascience.com/what-is-an-encoder-decoder-model-86b3d57c5e1a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260" name="Google Shape;260;g21c03c1d1e6_1_151"/>
          <p:cNvPicPr preferRelativeResize="0"/>
          <p:nvPr/>
        </p:nvPicPr>
        <p:blipFill rotWithShape="1">
          <a:blip r:embed="rId3">
            <a:alphaModFix/>
          </a:blip>
          <a:srcRect t="16398" b="28055"/>
          <a:stretch/>
        </p:blipFill>
        <p:spPr>
          <a:xfrm>
            <a:off x="902929" y="1070598"/>
            <a:ext cx="7307351" cy="2145451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g21c03c1d1e6_1_151"/>
          <p:cNvSpPr/>
          <p:nvPr/>
        </p:nvSpPr>
        <p:spPr>
          <a:xfrm>
            <a:off x="3860355" y="3216049"/>
            <a:ext cx="4868303" cy="1685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2 RNN de distinto tamaño</a:t>
            </a:r>
            <a:endParaRPr sz="110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 Hidden state que “resume” toda la información de la input.</a:t>
            </a:r>
            <a:endParaRPr sz="110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Flexibilidad máxima para inputs/outputs de distinta longitud</a:t>
            </a:r>
            <a:endParaRPr sz="1100"/>
          </a:p>
        </p:txBody>
      </p:sp>
      <p:pic>
        <p:nvPicPr>
          <p:cNvPr id="262" name="Google Shape;262;g21c03c1d1e6_1_151"/>
          <p:cNvPicPr preferRelativeResize="0"/>
          <p:nvPr/>
        </p:nvPicPr>
        <p:blipFill rotWithShape="1">
          <a:blip r:embed="rId4">
            <a:alphaModFix/>
          </a:blip>
          <a:srcRect l="3577" t="7243" r="3320" b="11375"/>
          <a:stretch/>
        </p:blipFill>
        <p:spPr>
          <a:xfrm>
            <a:off x="222160" y="3351542"/>
            <a:ext cx="2946044" cy="155248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g21c03c1d1e6_1_15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Arquitectura enconder-decoder (seq to seq)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8" name="Google Shape;268;g21c03c1d1e6_1_15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2160" y="1724126"/>
            <a:ext cx="8592315" cy="1838402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g21c03c1d1e6_1_159"/>
          <p:cNvSpPr/>
          <p:nvPr/>
        </p:nvSpPr>
        <p:spPr>
          <a:xfrm>
            <a:off x="222160" y="4678127"/>
            <a:ext cx="453513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https://brunomaga.github.io/AI-Supercomputing-2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70" name="Google Shape;270;g21c03c1d1e6_1_159"/>
          <p:cNvSpPr/>
          <p:nvPr/>
        </p:nvSpPr>
        <p:spPr>
          <a:xfrm>
            <a:off x="3097280" y="3726450"/>
            <a:ext cx="1573872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Unfolded!!!!</a:t>
            </a:r>
            <a:endParaRPr dirty="0"/>
          </a:p>
        </p:txBody>
      </p:sp>
      <p:sp>
        <p:nvSpPr>
          <p:cNvPr id="271" name="Google Shape;271;g21c03c1d1e6_1_15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Arquitectura enconder-decoder (seq to seq)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" name="Google Shape;276;g21c03c1d1e6_1_166"/>
          <p:cNvPicPr preferRelativeResize="0"/>
          <p:nvPr/>
        </p:nvPicPr>
        <p:blipFill rotWithShape="1">
          <a:blip r:embed="rId3">
            <a:alphaModFix/>
          </a:blip>
          <a:srcRect l="37785"/>
          <a:stretch/>
        </p:blipFill>
        <p:spPr>
          <a:xfrm>
            <a:off x="3740620" y="1112010"/>
            <a:ext cx="5345718" cy="1838402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g21c03c1d1e6_1_166"/>
          <p:cNvSpPr/>
          <p:nvPr/>
        </p:nvSpPr>
        <p:spPr>
          <a:xfrm>
            <a:off x="222160" y="4678127"/>
            <a:ext cx="453513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https://brunomaga.github.io/AI-Supercomputing-2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78" name="Google Shape;278;g21c03c1d1e6_1_166"/>
          <p:cNvSpPr/>
          <p:nvPr/>
        </p:nvSpPr>
        <p:spPr>
          <a:xfrm>
            <a:off x="504296" y="3191198"/>
            <a:ext cx="2667413" cy="530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ENCODER</a:t>
            </a:r>
            <a:endParaRPr sz="110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Siempre leen la secuencia entera</a:t>
            </a:r>
            <a:endParaRPr sz="1100"/>
          </a:p>
        </p:txBody>
      </p:sp>
      <p:pic>
        <p:nvPicPr>
          <p:cNvPr id="279" name="Google Shape;279;g21c03c1d1e6_1_166"/>
          <p:cNvPicPr preferRelativeResize="0"/>
          <p:nvPr/>
        </p:nvPicPr>
        <p:blipFill rotWithShape="1">
          <a:blip r:embed="rId3">
            <a:alphaModFix/>
          </a:blip>
          <a:srcRect r="62273"/>
          <a:stretch/>
        </p:blipFill>
        <p:spPr>
          <a:xfrm>
            <a:off x="227129" y="1112010"/>
            <a:ext cx="3241627" cy="1838402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g21c03c1d1e6_1_166"/>
          <p:cNvSpPr/>
          <p:nvPr/>
        </p:nvSpPr>
        <p:spPr>
          <a:xfrm>
            <a:off x="504296" y="3900038"/>
            <a:ext cx="2667413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Emiten un hidden state final</a:t>
            </a:r>
            <a:endParaRPr sz="1100"/>
          </a:p>
        </p:txBody>
      </p:sp>
      <p:sp>
        <p:nvSpPr>
          <p:cNvPr id="281" name="Google Shape;281;g21c03c1d1e6_1_166"/>
          <p:cNvSpPr/>
          <p:nvPr/>
        </p:nvSpPr>
        <p:spPr>
          <a:xfrm>
            <a:off x="3652400" y="3191198"/>
            <a:ext cx="4885544" cy="14542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DECODER</a:t>
            </a:r>
            <a:endParaRPr sz="11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Entrenamiento </a:t>
            </a: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for i in range(len(y_deseado):</a:t>
            </a:r>
            <a:endParaRPr sz="11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		genero_token</a:t>
            </a:r>
            <a:endParaRPr sz="15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Uso </a:t>
            </a: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while last_token =! &lt;EOS&gt;:</a:t>
            </a:r>
            <a:endParaRPr sz="11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	genero_token</a:t>
            </a:r>
            <a:endParaRPr sz="15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82" name="Google Shape;282;g21c03c1d1e6_1_166"/>
          <p:cNvSpPr/>
          <p:nvPr/>
        </p:nvSpPr>
        <p:spPr>
          <a:xfrm>
            <a:off x="7125838" y="4736501"/>
            <a:ext cx="1960500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TEACHER FORCING!!!</a:t>
            </a:r>
            <a:endParaRPr sz="15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83" name="Google Shape;283;g21c03c1d1e6_1_16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Arquitectura enconder-decoder (seq to seq) entrenamiento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1c03c1d1e6_1_177"/>
          <p:cNvSpPr txBox="1"/>
          <p:nvPr/>
        </p:nvSpPr>
        <p:spPr>
          <a:xfrm>
            <a:off x="1185903" y="669650"/>
            <a:ext cx="6454800" cy="60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Arquitecturas flexibles IN/OUT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289" name="Google Shape;289;g21c03c1d1e6_1_17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1078939"/>
            <a:ext cx="9143998" cy="2862230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g21c03c1d1e6_1_177"/>
          <p:cNvSpPr txBox="1"/>
          <p:nvPr/>
        </p:nvSpPr>
        <p:spPr>
          <a:xfrm>
            <a:off x="330020" y="4045863"/>
            <a:ext cx="560232" cy="271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>
                <a:latin typeface="Twentieth Century"/>
                <a:ea typeface="Twentieth Century"/>
                <a:cs typeface="Twentieth Century"/>
                <a:sym typeface="Twentieth Century"/>
              </a:rPr>
              <a:t>MLP</a:t>
            </a:r>
            <a:endParaRPr sz="1100"/>
          </a:p>
        </p:txBody>
      </p:sp>
      <p:sp>
        <p:nvSpPr>
          <p:cNvPr id="291" name="Google Shape;291;g21c03c1d1e6_1_177"/>
          <p:cNvSpPr txBox="1"/>
          <p:nvPr/>
        </p:nvSpPr>
        <p:spPr>
          <a:xfrm>
            <a:off x="1418285" y="4045863"/>
            <a:ext cx="1382870" cy="392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Img captioning</a:t>
            </a:r>
            <a:endParaRPr sz="140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92" name="Google Shape;292;g21c03c1d1e6_1_177"/>
          <p:cNvSpPr txBox="1"/>
          <p:nvPr/>
        </p:nvSpPr>
        <p:spPr>
          <a:xfrm>
            <a:off x="3189130" y="3729921"/>
            <a:ext cx="1658292" cy="609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400" dirty="0">
                <a:latin typeface="Twentieth Century"/>
                <a:ea typeface="Twentieth Century"/>
                <a:cs typeface="Twentieth Century"/>
                <a:sym typeface="Twentieth Century"/>
              </a:rPr>
              <a:t>Regresión</a:t>
            </a:r>
            <a:endParaRPr sz="1100" dirty="0"/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400" dirty="0">
                <a:latin typeface="Twentieth Century"/>
                <a:ea typeface="Twentieth Century"/>
                <a:cs typeface="Twentieth Century"/>
                <a:sym typeface="Twentieth Century"/>
              </a:rPr>
              <a:t>Classificacion</a:t>
            </a:r>
            <a:endParaRPr sz="1400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400" dirty="0">
                <a:latin typeface="Twentieth Century"/>
                <a:ea typeface="Twentieth Century"/>
                <a:cs typeface="Twentieth Century"/>
                <a:sym typeface="Twentieth Century"/>
              </a:rPr>
              <a:t>Sentiment classification</a:t>
            </a:r>
            <a:endParaRPr sz="1400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400" dirty="0">
                <a:latin typeface="Twentieth Century"/>
                <a:ea typeface="Twentieth Century"/>
                <a:cs typeface="Twentieth Century"/>
                <a:sym typeface="Twentieth Century"/>
              </a:rPr>
              <a:t>Resumen de videos</a:t>
            </a:r>
            <a:endParaRPr sz="1100" dirty="0"/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endParaRPr sz="1400" dirty="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93" name="Google Shape;293;g21c03c1d1e6_1_177"/>
          <p:cNvSpPr txBox="1"/>
          <p:nvPr/>
        </p:nvSpPr>
        <p:spPr>
          <a:xfrm>
            <a:off x="5100033" y="4045863"/>
            <a:ext cx="2327857" cy="392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Regresión varios futuros</a:t>
            </a:r>
            <a:endParaRPr sz="1100"/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Traducción</a:t>
            </a:r>
            <a:endParaRPr sz="1100"/>
          </a:p>
        </p:txBody>
      </p:sp>
      <p:sp>
        <p:nvSpPr>
          <p:cNvPr id="294" name="Google Shape;294;g21c03c1d1e6_1_177"/>
          <p:cNvSpPr txBox="1"/>
          <p:nvPr/>
        </p:nvSpPr>
        <p:spPr>
          <a:xfrm>
            <a:off x="7532531" y="4045863"/>
            <a:ext cx="1276618" cy="392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Video class frame lvl</a:t>
            </a:r>
            <a:endParaRPr sz="140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95" name="Google Shape;295;g21c03c1d1e6_1_17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Redes recurrentes - Arquitectura enconder-decoder (seq to seq)</a:t>
            </a:r>
            <a:endParaRPr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1c03c1d1e6_1_187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vs Tapped Delayed MLP</a:t>
            </a:r>
            <a:endParaRPr sz="1100"/>
          </a:p>
        </p:txBody>
      </p:sp>
      <p:graphicFrame>
        <p:nvGraphicFramePr>
          <p:cNvPr id="301" name="Google Shape;301;g21c03c1d1e6_1_187"/>
          <p:cNvGraphicFramePr/>
          <p:nvPr/>
        </p:nvGraphicFramePr>
        <p:xfrm>
          <a:off x="714776" y="1185909"/>
          <a:ext cx="7389000" cy="432000"/>
        </p:xfrm>
        <a:graphic>
          <a:graphicData uri="http://schemas.openxmlformats.org/drawingml/2006/table">
            <a:tbl>
              <a:tblPr>
                <a:noFill/>
                <a:tableStyleId>{D3E55744-8061-4CE5-AF87-22040F36E0A0}</a:tableStyleId>
              </a:tblPr>
              <a:tblGrid>
                <a:gridCol w="738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X(t=0)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X(t=1)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X(t=2)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X(t=3)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X(t=4)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X(t=5)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X(t=6)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r>
                        <a:rPr lang="en" sz="1400"/>
                        <a:t>X(t=7)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…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r>
                        <a:rPr lang="en" sz="1400"/>
                        <a:t>X(t=</a:t>
                      </a:r>
                      <a:r>
                        <a:rPr lang="en" sz="1800"/>
                        <a:t>τ</a:t>
                      </a:r>
                      <a:r>
                        <a:rPr lang="en" sz="1400"/>
                        <a:t>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2" name="Google Shape;302;g21c03c1d1e6_1_187"/>
          <p:cNvSpPr txBox="1"/>
          <p:nvPr/>
        </p:nvSpPr>
        <p:spPr>
          <a:xfrm>
            <a:off x="2349236" y="3957591"/>
            <a:ext cx="3679984" cy="378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300"/>
              <a:buFont typeface="Arial"/>
              <a:buNone/>
            </a:pPr>
            <a:r>
              <a:rPr lang="en" sz="18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Ver colab RNN_enc_dec.ipynb</a:t>
            </a:r>
            <a:endParaRPr sz="1800" b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305" name="Google Shape;305;g21c03c1d1e6_1_18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Redes recurrentes - Implementación de modelos enconder-decoder</a:t>
            </a:r>
            <a:endParaRPr dirty="0"/>
          </a:p>
        </p:txBody>
      </p:sp>
      <p:pic>
        <p:nvPicPr>
          <p:cNvPr id="2" name="Google Shape;268;g21c03c1d1e6_1_159">
            <a:extLst>
              <a:ext uri="{FF2B5EF4-FFF2-40B4-BE49-F238E27FC236}">
                <a16:creationId xmlns:a16="http://schemas.microsoft.com/office/drawing/2014/main" id="{8EE2EC0A-B294-4082-D5F3-773F74E5542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40939" y="2204095"/>
            <a:ext cx="7262122" cy="149981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1546853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21c03c1d1e6_1_196"/>
          <p:cNvSpPr txBox="1"/>
          <p:nvPr/>
        </p:nvSpPr>
        <p:spPr>
          <a:xfrm>
            <a:off x="69574" y="40993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– Self Attention!!</a:t>
            </a:r>
            <a:endParaRPr sz="1100"/>
          </a:p>
        </p:txBody>
      </p:sp>
      <p:sp>
        <p:nvSpPr>
          <p:cNvPr id="311" name="Google Shape;311;g21c03c1d1e6_1_196"/>
          <p:cNvSpPr/>
          <p:nvPr/>
        </p:nvSpPr>
        <p:spPr>
          <a:xfrm>
            <a:off x="126827" y="3143861"/>
            <a:ext cx="8890343" cy="1685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i="1" dirty="0">
                <a:latin typeface="Twentieth Century"/>
                <a:ea typeface="Twentieth Century"/>
                <a:cs typeface="Twentieth Century"/>
                <a:sym typeface="Twentieth Century"/>
              </a:rPr>
              <a:t>El mecanismo de atención permite al decoder </a:t>
            </a:r>
            <a:r>
              <a:rPr lang="en" sz="2100" b="1" i="1" dirty="0">
                <a:latin typeface="Twentieth Century"/>
                <a:ea typeface="Twentieth Century"/>
                <a:cs typeface="Twentieth Century"/>
                <a:sym typeface="Twentieth Century"/>
              </a:rPr>
              <a:t>utilizar las partes más relevantes </a:t>
            </a:r>
            <a:r>
              <a:rPr lang="en" sz="2100" i="1" dirty="0">
                <a:latin typeface="Twentieth Century"/>
                <a:ea typeface="Twentieth Century"/>
                <a:cs typeface="Twentieth Century"/>
                <a:sym typeface="Twentieth Century"/>
              </a:rPr>
              <a:t>de la entrada </a:t>
            </a:r>
            <a:r>
              <a:rPr lang="en" sz="2100" b="1" i="1" dirty="0">
                <a:latin typeface="Twentieth Century"/>
                <a:ea typeface="Twentieth Century"/>
                <a:cs typeface="Twentieth Century"/>
                <a:sym typeface="Twentieth Century"/>
              </a:rPr>
              <a:t>como una suma ponderada </a:t>
            </a:r>
            <a:r>
              <a:rPr lang="en" sz="2100" i="1" dirty="0">
                <a:latin typeface="Twentieth Century"/>
                <a:ea typeface="Twentieth Century"/>
                <a:cs typeface="Twentieth Century"/>
                <a:sym typeface="Twentieth Century"/>
              </a:rPr>
              <a:t>del vector de entrada codificados para predecir la siguiente palabra.</a:t>
            </a:r>
            <a:endParaRPr sz="1100"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 i="1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i="1" dirty="0">
                <a:latin typeface="Twentieth Century"/>
                <a:ea typeface="Twentieth Century"/>
                <a:cs typeface="Twentieth Century"/>
                <a:sym typeface="Twentieth Century"/>
              </a:rPr>
              <a:t>Una </a:t>
            </a:r>
            <a:r>
              <a:rPr lang="en" sz="2100" b="1" i="1" dirty="0">
                <a:latin typeface="Twentieth Century"/>
                <a:ea typeface="Twentieth Century"/>
                <a:cs typeface="Twentieth Century"/>
                <a:sym typeface="Twentieth Century"/>
              </a:rPr>
              <a:t>palabra relevante </a:t>
            </a:r>
            <a:r>
              <a:rPr lang="en" sz="2100" i="1" dirty="0">
                <a:latin typeface="Twentieth Century"/>
                <a:ea typeface="Twentieth Century"/>
                <a:cs typeface="Twentieth Century"/>
                <a:sym typeface="Twentieth Century"/>
              </a:rPr>
              <a:t>tendrá un </a:t>
            </a:r>
            <a:r>
              <a:rPr lang="en" sz="2100" b="1" i="1" dirty="0">
                <a:latin typeface="Twentieth Century"/>
                <a:ea typeface="Twentieth Century"/>
                <a:cs typeface="Twentieth Century"/>
                <a:sym typeface="Twentieth Century"/>
              </a:rPr>
              <a:t>mayor peso </a:t>
            </a:r>
            <a:r>
              <a:rPr lang="en" sz="2100" i="1" dirty="0">
                <a:latin typeface="Twentieth Century"/>
                <a:ea typeface="Twentieth Century"/>
                <a:cs typeface="Twentieth Century"/>
                <a:sym typeface="Twentieth Century"/>
              </a:rPr>
              <a:t>que una palabra no relevante</a:t>
            </a:r>
            <a:endParaRPr sz="2100" i="1" dirty="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312" name="Google Shape;312;g21c03c1d1e6_1_19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50786" y="1027707"/>
            <a:ext cx="7242428" cy="1845610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g21c03c1d1e6_1_1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Redes recurrentes - Mecanismos de atención</a:t>
            </a:r>
            <a:endParaRPr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8" name="Google Shape;318;g21c03c1d1e6_1_20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66929" y="1139789"/>
            <a:ext cx="5815013" cy="3193256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g21c03c1d1e6_1_202"/>
          <p:cNvSpPr txBox="1"/>
          <p:nvPr/>
        </p:nvSpPr>
        <p:spPr>
          <a:xfrm>
            <a:off x="3208593" y="2821603"/>
            <a:ext cx="653497" cy="276999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20" name="Google Shape;320;g21c03c1d1e6_1_202"/>
          <p:cNvSpPr txBox="1"/>
          <p:nvPr/>
        </p:nvSpPr>
        <p:spPr>
          <a:xfrm>
            <a:off x="69575" y="705513"/>
            <a:ext cx="5608200" cy="3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300"/>
              <a:buFont typeface="Arial"/>
              <a:buNone/>
            </a:pPr>
            <a:r>
              <a:rPr lang="en" sz="18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Ver en bibliografía: cs224n-2021-lecture07-nmt.pdf</a:t>
            </a:r>
            <a:endParaRPr sz="1100"/>
          </a:p>
        </p:txBody>
      </p:sp>
      <p:sp>
        <p:nvSpPr>
          <p:cNvPr id="321" name="Google Shape;321;g21c03c1d1e6_1_202"/>
          <p:cNvSpPr/>
          <p:nvPr/>
        </p:nvSpPr>
        <p:spPr>
          <a:xfrm>
            <a:off x="1266929" y="1242392"/>
            <a:ext cx="2927384" cy="1579211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322" name="Google Shape;322;g21c03c1d1e6_1_202"/>
          <p:cNvSpPr txBox="1"/>
          <p:nvPr/>
        </p:nvSpPr>
        <p:spPr>
          <a:xfrm>
            <a:off x="69574" y="40993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– Self Attention!!</a:t>
            </a:r>
            <a:endParaRPr sz="1100"/>
          </a:p>
        </p:txBody>
      </p:sp>
      <p:sp>
        <p:nvSpPr>
          <p:cNvPr id="323" name="Google Shape;323;g21c03c1d1e6_1_20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Mecanismos de atención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8" name="Google Shape;328;g21c03c1d1e6_1_2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66929" y="1139789"/>
            <a:ext cx="5815013" cy="3193256"/>
          </a:xfrm>
          <a:prstGeom prst="rect">
            <a:avLst/>
          </a:prstGeom>
          <a:noFill/>
          <a:ln>
            <a:noFill/>
          </a:ln>
        </p:spPr>
      </p:pic>
      <p:sp>
        <p:nvSpPr>
          <p:cNvPr id="329" name="Google Shape;329;g21c03c1d1e6_1_210"/>
          <p:cNvSpPr txBox="1"/>
          <p:nvPr/>
        </p:nvSpPr>
        <p:spPr>
          <a:xfrm>
            <a:off x="3208593" y="2821603"/>
            <a:ext cx="653497" cy="276999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30" name="Google Shape;330;g21c03c1d1e6_1_210"/>
          <p:cNvSpPr txBox="1"/>
          <p:nvPr/>
        </p:nvSpPr>
        <p:spPr>
          <a:xfrm>
            <a:off x="61972" y="2487158"/>
            <a:ext cx="1170333" cy="318597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 b="-8570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31" name="Google Shape;331;g21c03c1d1e6_1_210"/>
          <p:cNvSpPr txBox="1"/>
          <p:nvPr/>
        </p:nvSpPr>
        <p:spPr>
          <a:xfrm>
            <a:off x="134240" y="4823819"/>
            <a:ext cx="2090188" cy="249347"/>
          </a:xfrm>
          <a:prstGeom prst="rect">
            <a:avLst/>
          </a:prstGeom>
          <a:blipFill rotWithShape="1">
            <a:blip r:embed="rId6">
              <a:alphaModFix/>
            </a:blip>
            <a:stretch>
              <a:fillRect l="-1527" r="-2836" b="-25453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32" name="Google Shape;332;g21c03c1d1e6_1_210"/>
          <p:cNvSpPr txBox="1"/>
          <p:nvPr/>
        </p:nvSpPr>
        <p:spPr>
          <a:xfrm>
            <a:off x="69574" y="40993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– Self Attention!!</a:t>
            </a:r>
            <a:endParaRPr sz="1100"/>
          </a:p>
        </p:txBody>
      </p:sp>
      <p:sp>
        <p:nvSpPr>
          <p:cNvPr id="333" name="Google Shape;333;g21c03c1d1e6_1_21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Mecanismos de atención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8" name="Google Shape;338;g21c03c1d1e6_1_2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1706" y="1012815"/>
            <a:ext cx="5700713" cy="3536156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g21c03c1d1e6_1_219"/>
          <p:cNvSpPr txBox="1"/>
          <p:nvPr/>
        </p:nvSpPr>
        <p:spPr>
          <a:xfrm>
            <a:off x="3024512" y="3030325"/>
            <a:ext cx="653497" cy="276999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40" name="Google Shape;340;g21c03c1d1e6_1_219"/>
          <p:cNvSpPr txBox="1"/>
          <p:nvPr/>
        </p:nvSpPr>
        <p:spPr>
          <a:xfrm>
            <a:off x="61972" y="2487158"/>
            <a:ext cx="1170333" cy="318597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 b="-8570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41" name="Google Shape;341;g21c03c1d1e6_1_219"/>
          <p:cNvSpPr txBox="1"/>
          <p:nvPr/>
        </p:nvSpPr>
        <p:spPr>
          <a:xfrm>
            <a:off x="-13056" y="1532788"/>
            <a:ext cx="1536781" cy="549430"/>
          </a:xfrm>
          <a:prstGeom prst="rect">
            <a:avLst/>
          </a:prstGeom>
          <a:blipFill rotWithShape="1">
            <a:blip r:embed="rId6">
              <a:alphaModFix/>
            </a:blip>
            <a:stretch>
              <a:fillRect b="-14166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42" name="Google Shape;342;g21c03c1d1e6_1_219"/>
          <p:cNvSpPr txBox="1"/>
          <p:nvPr/>
        </p:nvSpPr>
        <p:spPr>
          <a:xfrm>
            <a:off x="2715467" y="4812341"/>
            <a:ext cx="2459183" cy="249347"/>
          </a:xfrm>
          <a:prstGeom prst="rect">
            <a:avLst/>
          </a:prstGeom>
          <a:blipFill rotWithShape="1">
            <a:blip r:embed="rId7">
              <a:alphaModFix/>
            </a:blip>
            <a:stretch>
              <a:fillRect l="-556" t="-1851" r="-2229" b="-27776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43" name="Google Shape;343;g21c03c1d1e6_1_219"/>
          <p:cNvSpPr txBox="1"/>
          <p:nvPr/>
        </p:nvSpPr>
        <p:spPr>
          <a:xfrm>
            <a:off x="134240" y="4823819"/>
            <a:ext cx="2090188" cy="249347"/>
          </a:xfrm>
          <a:prstGeom prst="rect">
            <a:avLst/>
          </a:prstGeom>
          <a:blipFill rotWithShape="1">
            <a:blip r:embed="rId8">
              <a:alphaModFix/>
            </a:blip>
            <a:stretch>
              <a:fillRect l="-1527" r="-2836" b="-25453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44" name="Google Shape;344;g21c03c1d1e6_1_219"/>
          <p:cNvSpPr txBox="1"/>
          <p:nvPr/>
        </p:nvSpPr>
        <p:spPr>
          <a:xfrm>
            <a:off x="69574" y="40993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– Self Attention!!</a:t>
            </a:r>
            <a:endParaRPr sz="1100"/>
          </a:p>
        </p:txBody>
      </p:sp>
      <p:sp>
        <p:nvSpPr>
          <p:cNvPr id="345" name="Google Shape;345;g21c03c1d1e6_1_21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Mecanismos de atención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g21c03c1d1e6_1_229"/>
          <p:cNvSpPr/>
          <p:nvPr/>
        </p:nvSpPr>
        <p:spPr>
          <a:xfrm>
            <a:off x="2221653" y="2496191"/>
            <a:ext cx="357117" cy="300083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51" name="Google Shape;351;g21c03c1d1e6_1_229"/>
          <p:cNvSpPr/>
          <p:nvPr/>
        </p:nvSpPr>
        <p:spPr>
          <a:xfrm>
            <a:off x="2785889" y="4044690"/>
            <a:ext cx="3408145" cy="346249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t="-10666" b="-30664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52" name="Google Shape;352;g21c03c1d1e6_1_229"/>
          <p:cNvSpPr/>
          <p:nvPr/>
        </p:nvSpPr>
        <p:spPr>
          <a:xfrm>
            <a:off x="2400212" y="3114222"/>
            <a:ext cx="344999" cy="293735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 b="-9374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pic>
        <p:nvPicPr>
          <p:cNvPr id="353" name="Google Shape;353;g21c03c1d1e6_1_229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008850" y="1127985"/>
            <a:ext cx="5693569" cy="3579019"/>
          </a:xfrm>
          <a:prstGeom prst="rect">
            <a:avLst/>
          </a:prstGeom>
          <a:noFill/>
          <a:ln>
            <a:noFill/>
          </a:ln>
        </p:spPr>
      </p:pic>
      <p:sp>
        <p:nvSpPr>
          <p:cNvPr id="354" name="Google Shape;354;g21c03c1d1e6_1_229"/>
          <p:cNvSpPr txBox="1"/>
          <p:nvPr/>
        </p:nvSpPr>
        <p:spPr>
          <a:xfrm>
            <a:off x="2944999" y="3130957"/>
            <a:ext cx="653497" cy="300082"/>
          </a:xfrm>
          <a:prstGeom prst="rect">
            <a:avLst/>
          </a:prstGeom>
          <a:blipFill rotWithShape="1">
            <a:blip r:embed="rId7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55" name="Google Shape;355;g21c03c1d1e6_1_229"/>
          <p:cNvSpPr txBox="1"/>
          <p:nvPr/>
        </p:nvSpPr>
        <p:spPr>
          <a:xfrm>
            <a:off x="61972" y="2487158"/>
            <a:ext cx="1170333" cy="318597"/>
          </a:xfrm>
          <a:prstGeom prst="rect">
            <a:avLst/>
          </a:prstGeom>
          <a:blipFill rotWithShape="1">
            <a:blip r:embed="rId8">
              <a:alphaModFix/>
            </a:blip>
            <a:stretch>
              <a:fillRect b="-8570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56" name="Google Shape;356;g21c03c1d1e6_1_229"/>
          <p:cNvSpPr txBox="1"/>
          <p:nvPr/>
        </p:nvSpPr>
        <p:spPr>
          <a:xfrm>
            <a:off x="-13056" y="1532788"/>
            <a:ext cx="1536781" cy="549430"/>
          </a:xfrm>
          <a:prstGeom prst="rect">
            <a:avLst/>
          </a:prstGeom>
          <a:blipFill rotWithShape="1">
            <a:blip r:embed="rId9">
              <a:alphaModFix/>
            </a:blip>
            <a:stretch>
              <a:fillRect b="-14166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57" name="Google Shape;357;g21c03c1d1e6_1_229"/>
          <p:cNvSpPr txBox="1"/>
          <p:nvPr/>
        </p:nvSpPr>
        <p:spPr>
          <a:xfrm>
            <a:off x="1523726" y="742479"/>
            <a:ext cx="1358162" cy="530914"/>
          </a:xfrm>
          <a:prstGeom prst="rect">
            <a:avLst/>
          </a:prstGeom>
          <a:blipFill rotWithShape="1">
            <a:blip r:embed="rId10">
              <a:alphaModFix/>
            </a:blip>
            <a:stretch>
              <a:fillRect b="-13672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58" name="Google Shape;358;g21c03c1d1e6_1_229"/>
          <p:cNvSpPr txBox="1"/>
          <p:nvPr/>
        </p:nvSpPr>
        <p:spPr>
          <a:xfrm>
            <a:off x="2715467" y="4812341"/>
            <a:ext cx="2459183" cy="249347"/>
          </a:xfrm>
          <a:prstGeom prst="rect">
            <a:avLst/>
          </a:prstGeom>
          <a:blipFill rotWithShape="1">
            <a:blip r:embed="rId11">
              <a:alphaModFix/>
            </a:blip>
            <a:stretch>
              <a:fillRect l="-556" t="-1851" r="-2229" b="-27776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59" name="Google Shape;359;g21c03c1d1e6_1_229"/>
          <p:cNvSpPr txBox="1"/>
          <p:nvPr/>
        </p:nvSpPr>
        <p:spPr>
          <a:xfrm>
            <a:off x="134240" y="4823819"/>
            <a:ext cx="2090188" cy="249347"/>
          </a:xfrm>
          <a:prstGeom prst="rect">
            <a:avLst/>
          </a:prstGeom>
          <a:blipFill rotWithShape="1">
            <a:blip r:embed="rId12">
              <a:alphaModFix/>
            </a:blip>
            <a:stretch>
              <a:fillRect l="-1527" r="-2836" b="-25453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60" name="Google Shape;360;g21c03c1d1e6_1_229"/>
          <p:cNvSpPr txBox="1"/>
          <p:nvPr/>
        </p:nvSpPr>
        <p:spPr>
          <a:xfrm>
            <a:off x="5400065" y="4513340"/>
            <a:ext cx="1197058" cy="586314"/>
          </a:xfrm>
          <a:prstGeom prst="rect">
            <a:avLst/>
          </a:prstGeom>
          <a:blipFill rotWithShape="1">
            <a:blip r:embed="rId1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61" name="Google Shape;361;g21c03c1d1e6_1_229"/>
          <p:cNvSpPr txBox="1"/>
          <p:nvPr/>
        </p:nvSpPr>
        <p:spPr>
          <a:xfrm>
            <a:off x="69574" y="40993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– Self Attention!!</a:t>
            </a:r>
            <a:endParaRPr sz="1100"/>
          </a:p>
        </p:txBody>
      </p:sp>
      <p:sp>
        <p:nvSpPr>
          <p:cNvPr id="362" name="Google Shape;362;g21c03c1d1e6_1_22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Mecanismos de atención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21c03c1d1e6_1_244"/>
          <p:cNvSpPr/>
          <p:nvPr/>
        </p:nvSpPr>
        <p:spPr>
          <a:xfrm>
            <a:off x="2221653" y="2496191"/>
            <a:ext cx="357117" cy="300083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68" name="Google Shape;368;g21c03c1d1e6_1_244"/>
          <p:cNvSpPr/>
          <p:nvPr/>
        </p:nvSpPr>
        <p:spPr>
          <a:xfrm>
            <a:off x="2785889" y="4044690"/>
            <a:ext cx="3408145" cy="346249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t="-10666" b="-30664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69" name="Google Shape;369;g21c03c1d1e6_1_244"/>
          <p:cNvSpPr/>
          <p:nvPr/>
        </p:nvSpPr>
        <p:spPr>
          <a:xfrm>
            <a:off x="2400212" y="3114222"/>
            <a:ext cx="344999" cy="293735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 b="-9374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pic>
        <p:nvPicPr>
          <p:cNvPr id="370" name="Google Shape;370;g21c03c1d1e6_1_244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008850" y="1127985"/>
            <a:ext cx="5693569" cy="3579019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g21c03c1d1e6_1_244"/>
          <p:cNvSpPr txBox="1"/>
          <p:nvPr/>
        </p:nvSpPr>
        <p:spPr>
          <a:xfrm>
            <a:off x="2944999" y="3130957"/>
            <a:ext cx="653497" cy="300082"/>
          </a:xfrm>
          <a:prstGeom prst="rect">
            <a:avLst/>
          </a:prstGeom>
          <a:blipFill rotWithShape="1">
            <a:blip r:embed="rId7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72" name="Google Shape;372;g21c03c1d1e6_1_244"/>
          <p:cNvSpPr txBox="1"/>
          <p:nvPr/>
        </p:nvSpPr>
        <p:spPr>
          <a:xfrm>
            <a:off x="835163" y="4425529"/>
            <a:ext cx="1170333" cy="300082"/>
          </a:xfrm>
          <a:prstGeom prst="rect">
            <a:avLst/>
          </a:prstGeom>
          <a:blipFill rotWithShape="1">
            <a:blip r:embed="rId8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73" name="Google Shape;373;g21c03c1d1e6_1_244"/>
          <p:cNvSpPr txBox="1"/>
          <p:nvPr/>
        </p:nvSpPr>
        <p:spPr>
          <a:xfrm>
            <a:off x="-13056" y="1532788"/>
            <a:ext cx="1536781" cy="549430"/>
          </a:xfrm>
          <a:prstGeom prst="rect">
            <a:avLst/>
          </a:prstGeom>
          <a:blipFill rotWithShape="1">
            <a:blip r:embed="rId9">
              <a:alphaModFix/>
            </a:blip>
            <a:stretch>
              <a:fillRect b="-14166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74" name="Google Shape;374;g21c03c1d1e6_1_244"/>
          <p:cNvSpPr txBox="1"/>
          <p:nvPr/>
        </p:nvSpPr>
        <p:spPr>
          <a:xfrm>
            <a:off x="1523726" y="742479"/>
            <a:ext cx="1358162" cy="530914"/>
          </a:xfrm>
          <a:prstGeom prst="rect">
            <a:avLst/>
          </a:prstGeom>
          <a:blipFill rotWithShape="1">
            <a:blip r:embed="rId10">
              <a:alphaModFix/>
            </a:blip>
            <a:stretch>
              <a:fillRect b="-13672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75" name="Google Shape;375;g21c03c1d1e6_1_244"/>
          <p:cNvSpPr txBox="1"/>
          <p:nvPr/>
        </p:nvSpPr>
        <p:spPr>
          <a:xfrm>
            <a:off x="2715467" y="4812341"/>
            <a:ext cx="2459183" cy="249347"/>
          </a:xfrm>
          <a:prstGeom prst="rect">
            <a:avLst/>
          </a:prstGeom>
          <a:blipFill rotWithShape="1">
            <a:blip r:embed="rId11">
              <a:alphaModFix/>
            </a:blip>
            <a:stretch>
              <a:fillRect l="-556" t="-1851" r="-2229" b="-27776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76" name="Google Shape;376;g21c03c1d1e6_1_244"/>
          <p:cNvSpPr txBox="1"/>
          <p:nvPr/>
        </p:nvSpPr>
        <p:spPr>
          <a:xfrm>
            <a:off x="134240" y="4823819"/>
            <a:ext cx="2090188" cy="249347"/>
          </a:xfrm>
          <a:prstGeom prst="rect">
            <a:avLst/>
          </a:prstGeom>
          <a:blipFill rotWithShape="1">
            <a:blip r:embed="rId12">
              <a:alphaModFix/>
            </a:blip>
            <a:stretch>
              <a:fillRect l="-1527" r="-2836" b="-25453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77" name="Google Shape;377;g21c03c1d1e6_1_244"/>
          <p:cNvSpPr txBox="1"/>
          <p:nvPr/>
        </p:nvSpPr>
        <p:spPr>
          <a:xfrm>
            <a:off x="5400065" y="4513340"/>
            <a:ext cx="1197058" cy="586314"/>
          </a:xfrm>
          <a:prstGeom prst="rect">
            <a:avLst/>
          </a:prstGeom>
          <a:blipFill rotWithShape="1">
            <a:blip r:embed="rId1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78" name="Google Shape;378;g21c03c1d1e6_1_244"/>
          <p:cNvSpPr txBox="1"/>
          <p:nvPr/>
        </p:nvSpPr>
        <p:spPr>
          <a:xfrm>
            <a:off x="3598496" y="3379823"/>
            <a:ext cx="1170333" cy="300082"/>
          </a:xfrm>
          <a:prstGeom prst="rect">
            <a:avLst/>
          </a:prstGeom>
          <a:blipFill rotWithShape="1">
            <a:blip r:embed="rId14">
              <a:alphaModFix/>
            </a:blip>
            <a:stretch>
              <a:fillRect b="-9090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79" name="Google Shape;379;g21c03c1d1e6_1_244"/>
          <p:cNvSpPr txBox="1"/>
          <p:nvPr/>
        </p:nvSpPr>
        <p:spPr>
          <a:xfrm>
            <a:off x="2470408" y="1097744"/>
            <a:ext cx="1170333" cy="300083"/>
          </a:xfrm>
          <a:prstGeom prst="rect">
            <a:avLst/>
          </a:prstGeom>
          <a:blipFill rotWithShape="1">
            <a:blip r:embed="rId1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80" name="Google Shape;380;g21c03c1d1e6_1_244"/>
          <p:cNvSpPr txBox="1"/>
          <p:nvPr/>
        </p:nvSpPr>
        <p:spPr>
          <a:xfrm>
            <a:off x="61972" y="2487158"/>
            <a:ext cx="1170333" cy="318597"/>
          </a:xfrm>
          <a:prstGeom prst="rect">
            <a:avLst/>
          </a:prstGeom>
          <a:blipFill rotWithShape="1">
            <a:blip r:embed="rId16">
              <a:alphaModFix/>
            </a:blip>
            <a:stretch>
              <a:fillRect b="-8570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81" name="Google Shape;381;g21c03c1d1e6_1_244"/>
          <p:cNvSpPr txBox="1"/>
          <p:nvPr/>
        </p:nvSpPr>
        <p:spPr>
          <a:xfrm>
            <a:off x="69574" y="40993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– Self Attention!!</a:t>
            </a:r>
            <a:endParaRPr sz="1100"/>
          </a:p>
        </p:txBody>
      </p:sp>
      <p:sp>
        <p:nvSpPr>
          <p:cNvPr id="382" name="Google Shape;382;g21c03c1d1e6_1_24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Mecanismos de atención</a:t>
            </a:r>
            <a:endParaRPr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976C2998-CBB3-091B-EC9D-A54147A09367}"/>
                  </a:ext>
                </a:extLst>
              </p14:cNvPr>
              <p14:cNvContentPartPr/>
              <p14:nvPr/>
            </p14:nvContentPartPr>
            <p14:xfrm>
              <a:off x="2887020" y="4287420"/>
              <a:ext cx="6480" cy="3960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976C2998-CBB3-091B-EC9D-A54147A09367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2880900" y="4281300"/>
                <a:ext cx="18720" cy="518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21c03c1d1e6_1_262"/>
          <p:cNvSpPr/>
          <p:nvPr/>
        </p:nvSpPr>
        <p:spPr>
          <a:xfrm>
            <a:off x="2221653" y="2496191"/>
            <a:ext cx="357117" cy="300083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88" name="Google Shape;388;g21c03c1d1e6_1_262"/>
          <p:cNvSpPr/>
          <p:nvPr/>
        </p:nvSpPr>
        <p:spPr>
          <a:xfrm>
            <a:off x="2785889" y="4044690"/>
            <a:ext cx="3408145" cy="346249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t="-10666" b="-30664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89" name="Google Shape;389;g21c03c1d1e6_1_262"/>
          <p:cNvSpPr/>
          <p:nvPr/>
        </p:nvSpPr>
        <p:spPr>
          <a:xfrm>
            <a:off x="2400212" y="3114222"/>
            <a:ext cx="344999" cy="293735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 b="-9374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pic>
        <p:nvPicPr>
          <p:cNvPr id="390" name="Google Shape;390;g21c03c1d1e6_1_262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37412" y="1135129"/>
            <a:ext cx="5765006" cy="3571875"/>
          </a:xfrm>
          <a:prstGeom prst="rect">
            <a:avLst/>
          </a:prstGeom>
          <a:noFill/>
          <a:ln>
            <a:noFill/>
          </a:ln>
        </p:spPr>
      </p:pic>
      <p:sp>
        <p:nvSpPr>
          <p:cNvPr id="391" name="Google Shape;391;g21c03c1d1e6_1_262"/>
          <p:cNvSpPr txBox="1"/>
          <p:nvPr/>
        </p:nvSpPr>
        <p:spPr>
          <a:xfrm>
            <a:off x="61972" y="2487158"/>
            <a:ext cx="1170333" cy="318597"/>
          </a:xfrm>
          <a:prstGeom prst="rect">
            <a:avLst/>
          </a:prstGeom>
          <a:blipFill rotWithShape="1">
            <a:blip r:embed="rId7">
              <a:alphaModFix/>
            </a:blip>
            <a:stretch>
              <a:fillRect b="-8570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92" name="Google Shape;392;g21c03c1d1e6_1_262"/>
          <p:cNvSpPr txBox="1"/>
          <p:nvPr/>
        </p:nvSpPr>
        <p:spPr>
          <a:xfrm>
            <a:off x="-13056" y="1532788"/>
            <a:ext cx="1536781" cy="549430"/>
          </a:xfrm>
          <a:prstGeom prst="rect">
            <a:avLst/>
          </a:prstGeom>
          <a:blipFill rotWithShape="1">
            <a:blip r:embed="rId8">
              <a:alphaModFix/>
            </a:blip>
            <a:stretch>
              <a:fillRect b="-14166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93" name="Google Shape;393;g21c03c1d1e6_1_262"/>
          <p:cNvSpPr txBox="1"/>
          <p:nvPr/>
        </p:nvSpPr>
        <p:spPr>
          <a:xfrm>
            <a:off x="2944999" y="3130957"/>
            <a:ext cx="653497" cy="300082"/>
          </a:xfrm>
          <a:prstGeom prst="rect">
            <a:avLst/>
          </a:prstGeom>
          <a:blipFill rotWithShape="1">
            <a:blip r:embed="rId9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94" name="Google Shape;394;g21c03c1d1e6_1_262"/>
          <p:cNvSpPr txBox="1"/>
          <p:nvPr/>
        </p:nvSpPr>
        <p:spPr>
          <a:xfrm>
            <a:off x="1523726" y="742479"/>
            <a:ext cx="1358162" cy="530914"/>
          </a:xfrm>
          <a:prstGeom prst="rect">
            <a:avLst/>
          </a:prstGeom>
          <a:blipFill rotWithShape="1">
            <a:blip r:embed="rId10">
              <a:alphaModFix/>
            </a:blip>
            <a:stretch>
              <a:fillRect b="-13672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95" name="Google Shape;395;g21c03c1d1e6_1_262"/>
          <p:cNvSpPr txBox="1"/>
          <p:nvPr/>
        </p:nvSpPr>
        <p:spPr>
          <a:xfrm>
            <a:off x="2715467" y="4812341"/>
            <a:ext cx="2459183" cy="249347"/>
          </a:xfrm>
          <a:prstGeom prst="rect">
            <a:avLst/>
          </a:prstGeom>
          <a:blipFill rotWithShape="1">
            <a:blip r:embed="rId11">
              <a:alphaModFix/>
            </a:blip>
            <a:stretch>
              <a:fillRect l="-556" t="-1851" r="-2229" b="-27776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96" name="Google Shape;396;g21c03c1d1e6_1_262"/>
          <p:cNvSpPr txBox="1"/>
          <p:nvPr/>
        </p:nvSpPr>
        <p:spPr>
          <a:xfrm>
            <a:off x="134240" y="4823819"/>
            <a:ext cx="2090188" cy="249347"/>
          </a:xfrm>
          <a:prstGeom prst="rect">
            <a:avLst/>
          </a:prstGeom>
          <a:blipFill rotWithShape="1">
            <a:blip r:embed="rId12">
              <a:alphaModFix/>
            </a:blip>
            <a:stretch>
              <a:fillRect l="-1527" r="-2836" b="-25453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97" name="Google Shape;397;g21c03c1d1e6_1_262"/>
          <p:cNvSpPr txBox="1"/>
          <p:nvPr/>
        </p:nvSpPr>
        <p:spPr>
          <a:xfrm>
            <a:off x="5400065" y="4513340"/>
            <a:ext cx="1197058" cy="586314"/>
          </a:xfrm>
          <a:prstGeom prst="rect">
            <a:avLst/>
          </a:prstGeom>
          <a:blipFill rotWithShape="1">
            <a:blip r:embed="rId1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98" name="Google Shape;398;g21c03c1d1e6_1_262"/>
          <p:cNvSpPr txBox="1"/>
          <p:nvPr/>
        </p:nvSpPr>
        <p:spPr>
          <a:xfrm>
            <a:off x="5617569" y="2380774"/>
            <a:ext cx="3331921" cy="230833"/>
          </a:xfrm>
          <a:prstGeom prst="rect">
            <a:avLst/>
          </a:prstGeom>
          <a:blipFill rotWithShape="1">
            <a:blip r:embed="rId14">
              <a:alphaModFix/>
            </a:blip>
            <a:stretch>
              <a:fillRect t="-3999" r="-411" b="-35997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99" name="Google Shape;399;g21c03c1d1e6_1_262"/>
          <p:cNvSpPr/>
          <p:nvPr/>
        </p:nvSpPr>
        <p:spPr>
          <a:xfrm>
            <a:off x="8468139" y="1854172"/>
            <a:ext cx="208722" cy="373069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3"/>
          </a:solidFill>
          <a:ln w="15875" cap="flat" cmpd="sng">
            <a:solidFill>
              <a:srgbClr val="99402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400" name="Google Shape;400;g21c03c1d1e6_1_262"/>
          <p:cNvSpPr txBox="1"/>
          <p:nvPr/>
        </p:nvSpPr>
        <p:spPr>
          <a:xfrm>
            <a:off x="8170942" y="1517726"/>
            <a:ext cx="80311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NUEVO!</a:t>
            </a: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401" name="Google Shape;401;g21c03c1d1e6_1_262"/>
          <p:cNvSpPr/>
          <p:nvPr/>
        </p:nvSpPr>
        <p:spPr>
          <a:xfrm>
            <a:off x="6795022" y="4532322"/>
            <a:ext cx="265624" cy="548349"/>
          </a:xfrm>
          <a:prstGeom prst="rightBrace">
            <a:avLst>
              <a:gd name="adj1" fmla="val 8333"/>
              <a:gd name="adj2" fmla="val 50000"/>
            </a:avLst>
          </a:prstGeom>
          <a:noFill/>
          <a:ln w="317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402" name="Google Shape;402;g21c03c1d1e6_1_262"/>
          <p:cNvSpPr txBox="1"/>
          <p:nvPr/>
        </p:nvSpPr>
        <p:spPr>
          <a:xfrm>
            <a:off x="7060645" y="4451002"/>
            <a:ext cx="1702452" cy="692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SOLO CUENTAS!!!</a:t>
            </a:r>
            <a:endParaRPr sz="110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NO HAY PARAMETROS</a:t>
            </a: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403" name="Google Shape;403;g21c03c1d1e6_1_262"/>
          <p:cNvSpPr txBox="1"/>
          <p:nvPr/>
        </p:nvSpPr>
        <p:spPr>
          <a:xfrm>
            <a:off x="69574" y="40993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– Self Attention!!</a:t>
            </a:r>
            <a:endParaRPr sz="1100"/>
          </a:p>
        </p:txBody>
      </p:sp>
      <p:sp>
        <p:nvSpPr>
          <p:cNvPr id="404" name="Google Shape;404;g21c03c1d1e6_1_26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Mecanismos de atención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1c03c1d1e6_1_282"/>
          <p:cNvSpPr/>
          <p:nvPr/>
        </p:nvSpPr>
        <p:spPr>
          <a:xfrm>
            <a:off x="2221653" y="2496191"/>
            <a:ext cx="357117" cy="300083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410" name="Google Shape;410;g21c03c1d1e6_1_282"/>
          <p:cNvSpPr/>
          <p:nvPr/>
        </p:nvSpPr>
        <p:spPr>
          <a:xfrm>
            <a:off x="2785889" y="4044690"/>
            <a:ext cx="3408145" cy="346249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t="-10666" b="-30664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411" name="Google Shape;411;g21c03c1d1e6_1_282"/>
          <p:cNvSpPr/>
          <p:nvPr/>
        </p:nvSpPr>
        <p:spPr>
          <a:xfrm>
            <a:off x="2400212" y="3114222"/>
            <a:ext cx="344999" cy="293735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 b="-9374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grpSp>
        <p:nvGrpSpPr>
          <p:cNvPr id="412" name="Google Shape;412;g21c03c1d1e6_1_282"/>
          <p:cNvGrpSpPr/>
          <p:nvPr/>
        </p:nvGrpSpPr>
        <p:grpSpPr>
          <a:xfrm>
            <a:off x="878282" y="1154124"/>
            <a:ext cx="5886450" cy="3500438"/>
            <a:chOff x="1171043" y="1538832"/>
            <a:chExt cx="7848600" cy="4667250"/>
          </a:xfrm>
        </p:grpSpPr>
        <p:pic>
          <p:nvPicPr>
            <p:cNvPr id="413" name="Google Shape;413;g21c03c1d1e6_1_282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1171043" y="1538832"/>
              <a:ext cx="7848600" cy="466725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14" name="Google Shape;414;g21c03c1d1e6_1_282"/>
            <p:cNvSpPr/>
            <p:nvPr/>
          </p:nvSpPr>
          <p:spPr>
            <a:xfrm>
              <a:off x="5526157" y="4152296"/>
              <a:ext cx="2637182" cy="2053786"/>
            </a:xfrm>
            <a:prstGeom prst="rect">
              <a:avLst/>
            </a:prstGeom>
            <a:solidFill>
              <a:schemeClr val="lt1"/>
            </a:solidFill>
            <a:ln w="158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</p:grpSp>
      <p:sp>
        <p:nvSpPr>
          <p:cNvPr id="415" name="Google Shape;415;g21c03c1d1e6_1_282"/>
          <p:cNvSpPr txBox="1"/>
          <p:nvPr/>
        </p:nvSpPr>
        <p:spPr>
          <a:xfrm>
            <a:off x="2715467" y="4812341"/>
            <a:ext cx="2459183" cy="249347"/>
          </a:xfrm>
          <a:prstGeom prst="rect">
            <a:avLst/>
          </a:prstGeom>
          <a:blipFill rotWithShape="1">
            <a:blip r:embed="rId7">
              <a:alphaModFix/>
            </a:blip>
            <a:stretch>
              <a:fillRect l="-556" t="-1851" r="-2229" b="-27776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416" name="Google Shape;416;g21c03c1d1e6_1_282"/>
          <p:cNvSpPr txBox="1"/>
          <p:nvPr/>
        </p:nvSpPr>
        <p:spPr>
          <a:xfrm>
            <a:off x="134240" y="4823819"/>
            <a:ext cx="2090188" cy="249347"/>
          </a:xfrm>
          <a:prstGeom prst="rect">
            <a:avLst/>
          </a:prstGeom>
          <a:blipFill rotWithShape="1">
            <a:blip r:embed="rId8">
              <a:alphaModFix/>
            </a:blip>
            <a:stretch>
              <a:fillRect l="-1527" r="-2836" b="-25453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417" name="Google Shape;417;g21c03c1d1e6_1_282"/>
          <p:cNvSpPr txBox="1"/>
          <p:nvPr/>
        </p:nvSpPr>
        <p:spPr>
          <a:xfrm>
            <a:off x="5400065" y="4513340"/>
            <a:ext cx="1197058" cy="586314"/>
          </a:xfrm>
          <a:prstGeom prst="rect">
            <a:avLst/>
          </a:prstGeom>
          <a:blipFill rotWithShape="1">
            <a:blip r:embed="rId9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418" name="Google Shape;418;g21c03c1d1e6_1_282"/>
          <p:cNvSpPr txBox="1"/>
          <p:nvPr/>
        </p:nvSpPr>
        <p:spPr>
          <a:xfrm>
            <a:off x="5617569" y="2380774"/>
            <a:ext cx="3331921" cy="230833"/>
          </a:xfrm>
          <a:prstGeom prst="rect">
            <a:avLst/>
          </a:prstGeom>
          <a:blipFill rotWithShape="1">
            <a:blip r:embed="rId10">
              <a:alphaModFix/>
            </a:blip>
            <a:stretch>
              <a:fillRect t="-3999" r="-411" b="-35997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419" name="Google Shape;419;g21c03c1d1e6_1_282"/>
          <p:cNvSpPr txBox="1"/>
          <p:nvPr/>
        </p:nvSpPr>
        <p:spPr>
          <a:xfrm>
            <a:off x="69574" y="40993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– Self Attention!!</a:t>
            </a:r>
            <a:endParaRPr sz="1100"/>
          </a:p>
        </p:txBody>
      </p:sp>
      <p:sp>
        <p:nvSpPr>
          <p:cNvPr id="420" name="Google Shape;420;g21c03c1d1e6_1_28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Mecanismos de atención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g21c03c1d1e6_1_296"/>
          <p:cNvSpPr/>
          <p:nvPr/>
        </p:nvSpPr>
        <p:spPr>
          <a:xfrm>
            <a:off x="334370" y="4169795"/>
            <a:ext cx="8475260" cy="761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 b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Una definición más general: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Dado un </a:t>
            </a:r>
            <a:r>
              <a:rPr lang="en" sz="1500" b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conjunto de valores</a:t>
            </a:r>
            <a:r>
              <a:rPr lang="en" sz="15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y una </a:t>
            </a:r>
            <a:r>
              <a:rPr lang="en" sz="1500" b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consulta</a:t>
            </a:r>
            <a:r>
              <a:rPr lang="en" sz="15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; el mecanismo de atención devuelve una </a:t>
            </a:r>
            <a:r>
              <a:rPr lang="en" sz="1500" b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suma ponderada</a:t>
            </a:r>
            <a:r>
              <a:rPr lang="en" sz="15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(resumen selectivo) de los valores, </a:t>
            </a:r>
            <a:r>
              <a:rPr lang="en" sz="1500" b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dependiente de la consulta</a:t>
            </a:r>
            <a:r>
              <a:rPr lang="en" sz="15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endParaRPr sz="1500" b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g21c03c1d1e6_1_296" descr="\alpha_j"/>
          <p:cNvSpPr/>
          <p:nvPr/>
        </p:nvSpPr>
        <p:spPr>
          <a:xfrm>
            <a:off x="5442229" y="2065320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427" name="Google Shape;427;g21c03c1d1e6_1_296" descr="T"/>
          <p:cNvSpPr/>
          <p:nvPr/>
        </p:nvSpPr>
        <p:spPr>
          <a:xfrm>
            <a:off x="13715882" y="2065320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428" name="Google Shape;428;g21c03c1d1e6_1_29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075170" y="1741172"/>
            <a:ext cx="4993660" cy="2310364"/>
          </a:xfrm>
          <a:prstGeom prst="rect">
            <a:avLst/>
          </a:prstGeom>
          <a:noFill/>
          <a:ln>
            <a:noFill/>
          </a:ln>
        </p:spPr>
      </p:pic>
      <p:sp>
        <p:nvSpPr>
          <p:cNvPr id="429" name="Google Shape;429;g21c03c1d1e6_1_296"/>
          <p:cNvSpPr/>
          <p:nvPr/>
        </p:nvSpPr>
        <p:spPr>
          <a:xfrm>
            <a:off x="448670" y="783059"/>
            <a:ext cx="8475260" cy="78358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l="-538" t="-1743" b="-9883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430" name="Google Shape;430;g21c03c1d1e6_1_296"/>
          <p:cNvSpPr txBox="1"/>
          <p:nvPr/>
        </p:nvSpPr>
        <p:spPr>
          <a:xfrm>
            <a:off x="69574" y="40993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– Self Attention!!</a:t>
            </a:r>
            <a:endParaRPr sz="1100"/>
          </a:p>
        </p:txBody>
      </p:sp>
      <p:sp>
        <p:nvSpPr>
          <p:cNvPr id="431" name="Google Shape;431;g21c03c1d1e6_1_2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Mecanismos de atención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6" name="Google Shape;436;g21c03c1d1e6_1_30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25303" y="797442"/>
            <a:ext cx="7837474" cy="4054975"/>
          </a:xfrm>
          <a:prstGeom prst="rect">
            <a:avLst/>
          </a:prstGeom>
          <a:noFill/>
          <a:ln>
            <a:noFill/>
          </a:ln>
        </p:spPr>
      </p:pic>
      <p:sp>
        <p:nvSpPr>
          <p:cNvPr id="437" name="Google Shape;437;g21c03c1d1e6_1_305"/>
          <p:cNvSpPr/>
          <p:nvPr/>
        </p:nvSpPr>
        <p:spPr>
          <a:xfrm>
            <a:off x="1210612" y="4866501"/>
            <a:ext cx="6542467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http://cs231n.stanford.edu/slides/2017/cs231n_2017_lecture10.pdf</a:t>
            </a:r>
            <a:endParaRPr sz="1100" dirty="0">
              <a:solidFill>
                <a:schemeClr val="bg2"/>
              </a:solidFill>
            </a:endParaRPr>
          </a:p>
        </p:txBody>
      </p:sp>
      <p:sp>
        <p:nvSpPr>
          <p:cNvPr id="439" name="Google Shape;439;g21c03c1d1e6_1_30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Mecanismos de atención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terial">
  <a:themeElements>
    <a:clrScheme name="Material">
      <a:dk1>
        <a:srgbClr val="4285F4"/>
      </a:dk1>
      <a:lt1>
        <a:srgbClr val="FFFFFF"/>
      </a:lt1>
      <a:dk2>
        <a:srgbClr val="424242"/>
      </a:dk2>
      <a:lt2>
        <a:srgbClr val="73737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1A237E"/>
      </a:accent5>
      <a:accent6>
        <a:srgbClr val="F4B400"/>
      </a:accent6>
      <a:hlink>
        <a:srgbClr val="1A237E"/>
      </a:hlink>
      <a:folHlink>
        <a:srgbClr val="1A2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1230</TotalTime>
  <Words>1441</Words>
  <Application>Microsoft Office PowerPoint</Application>
  <PresentationFormat>On-screen Show (16:9)</PresentationFormat>
  <Paragraphs>333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7" baseType="lpstr">
      <vt:lpstr>Arial</vt:lpstr>
      <vt:lpstr>Roboto</vt:lpstr>
      <vt:lpstr>Consolas</vt:lpstr>
      <vt:lpstr>Twentieth Century</vt:lpstr>
      <vt:lpstr>Material</vt:lpstr>
      <vt:lpstr>Aprendizaje Profundo</vt:lpstr>
      <vt:lpstr>Redes Recurrentes Recurrent Neural Network (RNN)</vt:lpstr>
      <vt:lpstr>Redes recurrentes - Introducción</vt:lpstr>
      <vt:lpstr>Redes recurrentes - Introducción</vt:lpstr>
      <vt:lpstr>Redes recurrentes - Neurona recurrente básica</vt:lpstr>
      <vt:lpstr>Redes recurrentes - Neurona recurrente básica</vt:lpstr>
      <vt:lpstr>Redes recurrentes - Neurona recurrente básica</vt:lpstr>
      <vt:lpstr>Redes recurrentes - Implementación en pytorch</vt:lpstr>
      <vt:lpstr>Redes recurrentes - Birideccionalidad</vt:lpstr>
      <vt:lpstr>Redes recurrentes - Implementación en pytorch</vt:lpstr>
      <vt:lpstr>Redes recurrentes - Implementación en pytorch</vt:lpstr>
      <vt:lpstr>Redes recurrentes - Implementación en pytorch</vt:lpstr>
      <vt:lpstr>Redes recurrentes - Implementación en pytorch</vt:lpstr>
      <vt:lpstr>Redes recurrentes - Implementación en pytorch</vt:lpstr>
      <vt:lpstr>Redes recurrentes - Implementación en pytorch</vt:lpstr>
      <vt:lpstr>Redes recurrentes - Implementación en pytorch</vt:lpstr>
      <vt:lpstr>Redes recurrentes - Back propagation through time (BPTT)</vt:lpstr>
      <vt:lpstr>Redes recurrentes - Back propagation through time (BPTT)</vt:lpstr>
      <vt:lpstr>Redes recurrentes - Back propagation through time (BPTT)</vt:lpstr>
      <vt:lpstr>Redes recurrentes - Back propagation through time (BPTT)</vt:lpstr>
      <vt:lpstr>Redes recurrentes - Back propagation through time (BPTT)</vt:lpstr>
      <vt:lpstr>Redes recurrentes - Back propagation through time (BPTT)</vt:lpstr>
      <vt:lpstr>Redes recurrentes - Back propagation through time (BPTT)</vt:lpstr>
      <vt:lpstr>Redes recurrentes - Back propagation through time (BPTT)</vt:lpstr>
      <vt:lpstr>Redes recurrentes - Back propagation through time (BPTT)</vt:lpstr>
      <vt:lpstr>Redes recurrentes - Implementación de modelos</vt:lpstr>
      <vt:lpstr>¡Un merecido descanso! </vt:lpstr>
      <vt:lpstr>Redes recurrentes - Arquitectura enconder-decoder (seq to seq)</vt:lpstr>
      <vt:lpstr>Redes recurrentes - Arquitectura enconder-decoder (seq to seq)</vt:lpstr>
      <vt:lpstr>Redes recurrentes - Arquitectura enconder-decoder (seq to seq) entrenamiento</vt:lpstr>
      <vt:lpstr>Redes recurrentes - Arquitectura enconder-decoder (seq to seq)</vt:lpstr>
      <vt:lpstr>Redes recurrentes - Implementación de modelos enconder-decoder</vt:lpstr>
      <vt:lpstr>Redes recurrentes - Mecanismos de atención</vt:lpstr>
      <vt:lpstr>Redes recurrentes - Mecanismos de atención</vt:lpstr>
      <vt:lpstr>Redes recurrentes - Mecanismos de atención</vt:lpstr>
      <vt:lpstr>Redes recurrentes - Mecanismos de atención</vt:lpstr>
      <vt:lpstr>Redes recurrentes - Mecanismos de atención</vt:lpstr>
      <vt:lpstr>Redes recurrentes - Mecanismos de atención</vt:lpstr>
      <vt:lpstr>Redes recurrentes - Mecanismos de atención</vt:lpstr>
      <vt:lpstr>Redes recurrentes - Mecanismos de atención</vt:lpstr>
      <vt:lpstr>Redes recurrentes - Mecanismos de atención</vt:lpstr>
      <vt:lpstr>Redes recurrentes - Mecanismos de atención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Marcos Maillot</cp:lastModifiedBy>
  <cp:revision>2</cp:revision>
  <dcterms:modified xsi:type="dcterms:W3CDTF">2026-04-08T00:27:23Z</dcterms:modified>
</cp:coreProperties>
</file>