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ink/ink1.xml" ContentType="application/inkml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4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91" r:id="rId19"/>
    <p:sldId id="292" r:id="rId20"/>
    <p:sldId id="293" r:id="rId21"/>
    <p:sldId id="294" r:id="rId22"/>
    <p:sldId id="272" r:id="rId23"/>
    <p:sldId id="298" r:id="rId24"/>
    <p:sldId id="295" r:id="rId25"/>
    <p:sldId id="296" r:id="rId26"/>
    <p:sldId id="279" r:id="rId27"/>
    <p:sldId id="273" r:id="rId28"/>
    <p:sldId id="275" r:id="rId29"/>
    <p:sldId id="276" r:id="rId30"/>
    <p:sldId id="277" r:id="rId31"/>
    <p:sldId id="278" r:id="rId32"/>
    <p:sldId id="290" r:id="rId33"/>
    <p:sldId id="299" r:id="rId34"/>
    <p:sldId id="300" r:id="rId35"/>
    <p:sldId id="301" r:id="rId36"/>
    <p:sldId id="302" r:id="rId37"/>
    <p:sldId id="303" r:id="rId38"/>
    <p:sldId id="304" r:id="rId39"/>
    <p:sldId id="280" r:id="rId40"/>
    <p:sldId id="281" r:id="rId41"/>
    <p:sldId id="282" r:id="rId42"/>
    <p:sldId id="283" r:id="rId43"/>
    <p:sldId id="284" r:id="rId44"/>
    <p:sldId id="285" r:id="rId45"/>
    <p:sldId id="286" r:id="rId46"/>
    <p:sldId id="287" r:id="rId47"/>
    <p:sldId id="288" r:id="rId48"/>
    <p:sldId id="289" r:id="rId49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51"/>
      <p:bold r:id="rId52"/>
      <p:italic r:id="rId53"/>
      <p:boldItalic r:id="rId54"/>
    </p:embeddedFont>
    <p:embeddedFont>
      <p:font typeface="Roboto" panose="02000000000000000000" pitchFamily="2" charset="0"/>
      <p:regular r:id="rId55"/>
      <p:bold r:id="rId56"/>
      <p:italic r:id="rId57"/>
      <p:boldItalic r:id="rId58"/>
    </p:embeddedFont>
    <p:embeddedFont>
      <p:font typeface="Tw Cen MT" panose="020B0602020104020603" pitchFamily="34" charset="0"/>
      <p:regular r:id="rId59"/>
      <p:bold r:id="rId60"/>
      <p:italic r:id="rId61"/>
      <p:boldItalic r:id="rId6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3" roundtripDataSignature="AMtx7mi43qeBuG6xuqWiq1Kh9QyGOyIiN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3E55744-8061-4CE5-AF87-22040F36E0A0}">
  <a:tblStyle styleId="{D3E55744-8061-4CE5-AF87-22040F36E0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FF6E8"/>
          </a:solidFill>
        </a:fill>
      </a:tcStyle>
    </a:wholeTbl>
    <a:band1H>
      <a:tcTxStyle/>
      <a:tcStyle>
        <a:tcBdr/>
        <a:fill>
          <a:solidFill>
            <a:srgbClr val="DDED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DED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8EFA4B2-A90F-452C-A374-82A2C123D84D}" styleName="Table_1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6E6"/>
          </a:solidFill>
        </a:fill>
      </a:tcStyle>
    </a:wholeTbl>
    <a:band1H>
      <a:tcTxStyle/>
      <a:tcStyle>
        <a:tcBdr/>
        <a:fill>
          <a:solidFill>
            <a:srgbClr val="CACAC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CAC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dk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dk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804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font" Target="fonts/font5.fntdata"/><Relationship Id="rId63" Type="http://customschemas.google.com/relationships/presentationmetadata" Target="metadata"/><Relationship Id="rId68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3.fntdata"/><Relationship Id="rId58" Type="http://schemas.openxmlformats.org/officeDocument/2006/relationships/font" Target="fonts/font8.fntdata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font" Target="fonts/font11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6.fntdata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font" Target="fonts/font1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9.fntdata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4.fntdata"/><Relationship Id="rId62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7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2.fntdata"/><Relationship Id="rId60" Type="http://schemas.openxmlformats.org/officeDocument/2006/relationships/font" Target="fonts/font10.fntdata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s Maillot" userId="fa14b39d-e966-4ebb-a436-4f96f84b9577" providerId="ADAL" clId="{152A8D8E-FC9A-4326-9172-4A160D290924}"/>
    <pc:docChg chg="modSld">
      <pc:chgData name="Marcos Maillot" userId="fa14b39d-e966-4ebb-a436-4f96f84b9577" providerId="ADAL" clId="{152A8D8E-FC9A-4326-9172-4A160D290924}" dt="2026-04-08T00:27:12.203" v="1" actId="1076"/>
      <pc:docMkLst>
        <pc:docMk/>
      </pc:docMkLst>
      <pc:sldChg chg="modSp mod">
        <pc:chgData name="Marcos Maillot" userId="fa14b39d-e966-4ebb-a436-4f96f84b9577" providerId="ADAL" clId="{152A8D8E-FC9A-4326-9172-4A160D290924}" dt="2026-04-07T19:00:54.713" v="0" actId="14100"/>
        <pc:sldMkLst>
          <pc:docMk/>
          <pc:sldMk cId="0" sldId="276"/>
        </pc:sldMkLst>
        <pc:spChg chg="mod">
          <ac:chgData name="Marcos Maillot" userId="fa14b39d-e966-4ebb-a436-4f96f84b9577" providerId="ADAL" clId="{152A8D8E-FC9A-4326-9172-4A160D290924}" dt="2026-04-07T19:00:54.713" v="0" actId="14100"/>
          <ac:spMkLst>
            <pc:docMk/>
            <pc:sldMk cId="0" sldId="276"/>
            <ac:spMk id="270" creationId="{00000000-0000-0000-0000-000000000000}"/>
          </ac:spMkLst>
        </pc:spChg>
      </pc:sldChg>
      <pc:sldChg chg="modSp mod">
        <pc:chgData name="Marcos Maillot" userId="fa14b39d-e966-4ebb-a436-4f96f84b9577" providerId="ADAL" clId="{152A8D8E-FC9A-4326-9172-4A160D290924}" dt="2026-04-08T00:27:12.203" v="1" actId="1076"/>
        <pc:sldMkLst>
          <pc:docMk/>
          <pc:sldMk cId="0" sldId="277"/>
        </pc:sldMkLst>
        <pc:picChg chg="mod">
          <ac:chgData name="Marcos Maillot" userId="fa14b39d-e966-4ebb-a436-4f96f84b9577" providerId="ADAL" clId="{152A8D8E-FC9A-4326-9172-4A160D290924}" dt="2026-04-08T00:27:12.203" v="1" actId="1076"/>
          <ac:picMkLst>
            <pc:docMk/>
            <pc:sldMk cId="0" sldId="277"/>
            <ac:picMk id="276" creationId="{00000000-0000-0000-0000-000000000000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06T01:06:58.9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1 109 72 0 0,'4'-10'1295'0'0,"6"-20"-1561"0"0,-8 19 4976 0 0,-1 1 5382 0 0,-2 10-9513 0 0,-3-16-17915 0 0,4 8 19451 0 0,2-7-2908 0 0,0 7 505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1c03c1d1e6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g21c03c1d1e6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1c03c1d1e6_1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g21c03c1d1e6_1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21c03c1d1e6_1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g21c03c1d1e6_1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21c03c1d1e6_1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g21c03c1d1e6_1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1c03c1d1e6_1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21c03c1d1e6_1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21c03c1d1e6_1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g21c03c1d1e6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1c03c1d1e6_1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g21c03c1d1e6_1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1c03c1d1e6_1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g21c03c1d1e6_1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1c03c1d1e6_1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g21c03c1d1e6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1c03c1d1e6_1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1c03c1d1e6_1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21c03c1d1e6_1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g21c03c1d1e6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1c03c1d1e6_1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21c03c1d1e6_1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21c03c1d1e6_1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g21c03c1d1e6_1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21c03c1d1e6_1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g21c03c1d1e6_1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942200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20749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3586642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710768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21c03c1d1e6_1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21c03c1d1e6_1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02E7E95F-B0B7-1DA4-E07C-5228DE3CA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21c03c1d1e6_1_133:notes">
            <a:extLst>
              <a:ext uri="{FF2B5EF4-FFF2-40B4-BE49-F238E27FC236}">
                <a16:creationId xmlns:a16="http://schemas.microsoft.com/office/drawing/2014/main" id="{BA5C56EF-E8BF-5FD6-C195-2D63E44F39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21c03c1d1e6_1_133:notes">
            <a:extLst>
              <a:ext uri="{FF2B5EF4-FFF2-40B4-BE49-F238E27FC236}">
                <a16:creationId xmlns:a16="http://schemas.microsoft.com/office/drawing/2014/main" id="{8B45F95B-9A33-FB06-3478-2F208C79D9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24681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15F3D490-9250-E122-674D-A994A3929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21c03c1d1e6_1_133:notes">
            <a:extLst>
              <a:ext uri="{FF2B5EF4-FFF2-40B4-BE49-F238E27FC236}">
                <a16:creationId xmlns:a16="http://schemas.microsoft.com/office/drawing/2014/main" id="{DF1BF5C1-345C-DF2A-3031-571908C407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21c03c1d1e6_1_133:notes">
            <a:extLst>
              <a:ext uri="{FF2B5EF4-FFF2-40B4-BE49-F238E27FC236}">
                <a16:creationId xmlns:a16="http://schemas.microsoft.com/office/drawing/2014/main" id="{4F4990A1-AC80-A1B2-1BA6-A3BFFB3B59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2401560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3B9BF6A6-A5D8-DDF0-73A9-E6A905F86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21c03c1d1e6_1_133:notes">
            <a:extLst>
              <a:ext uri="{FF2B5EF4-FFF2-40B4-BE49-F238E27FC236}">
                <a16:creationId xmlns:a16="http://schemas.microsoft.com/office/drawing/2014/main" id="{6C9E317F-F3CC-512F-FAB9-8D50B7AC8E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21c03c1d1e6_1_133:notes">
            <a:extLst>
              <a:ext uri="{FF2B5EF4-FFF2-40B4-BE49-F238E27FC236}">
                <a16:creationId xmlns:a16="http://schemas.microsoft.com/office/drawing/2014/main" id="{E1B6E134-80D2-54B5-1741-3246407F30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950674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21c03c1d1e6_1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g21c03c1d1e6_1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1c03c1d1e6_1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g21c03c1d1e6_1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1c03c1d1e6_1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g21c03c1d1e6_1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1c03c1d1e6_1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1c03c1d1e6_1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1c03c1d1e6_1_1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1c03c1d1e6_1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1c03c1d1e6_1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21c03c1d1e6_1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21c03c1d1e6_1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g21c03c1d1e6_1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199021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>
          <a:extLst>
            <a:ext uri="{FF2B5EF4-FFF2-40B4-BE49-F238E27FC236}">
              <a16:creationId xmlns:a16="http://schemas.microsoft.com/office/drawing/2014/main" id="{A2A4804A-5D4A-B11C-EECC-67BC383D6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1c03c1d1e6_1_166:notes">
            <a:extLst>
              <a:ext uri="{FF2B5EF4-FFF2-40B4-BE49-F238E27FC236}">
                <a16:creationId xmlns:a16="http://schemas.microsoft.com/office/drawing/2014/main" id="{6F122FF8-7439-7C4D-A1FD-4217FCB232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1c03c1d1e6_1_166:notes">
            <a:extLst>
              <a:ext uri="{FF2B5EF4-FFF2-40B4-BE49-F238E27FC236}">
                <a16:creationId xmlns:a16="http://schemas.microsoft.com/office/drawing/2014/main" id="{6696A255-5FAA-EB11-7AA3-E3BD8AF961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0248545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>
          <a:extLst>
            <a:ext uri="{FF2B5EF4-FFF2-40B4-BE49-F238E27FC236}">
              <a16:creationId xmlns:a16="http://schemas.microsoft.com/office/drawing/2014/main" id="{818A81E5-C69D-AC31-7D56-764B1E6D0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1c03c1d1e6_1_166:notes">
            <a:extLst>
              <a:ext uri="{FF2B5EF4-FFF2-40B4-BE49-F238E27FC236}">
                <a16:creationId xmlns:a16="http://schemas.microsoft.com/office/drawing/2014/main" id="{33FE7F35-3A4E-268C-2BF4-07470D2D09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1c03c1d1e6_1_166:notes">
            <a:extLst>
              <a:ext uri="{FF2B5EF4-FFF2-40B4-BE49-F238E27FC236}">
                <a16:creationId xmlns:a16="http://schemas.microsoft.com/office/drawing/2014/main" id="{3D3E8B93-F51E-DF92-2F7C-F278FD9C98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6753303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>
          <a:extLst>
            <a:ext uri="{FF2B5EF4-FFF2-40B4-BE49-F238E27FC236}">
              <a16:creationId xmlns:a16="http://schemas.microsoft.com/office/drawing/2014/main" id="{3F966463-874B-8803-4AC2-2E873287B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1c03c1d1e6_1_166:notes">
            <a:extLst>
              <a:ext uri="{FF2B5EF4-FFF2-40B4-BE49-F238E27FC236}">
                <a16:creationId xmlns:a16="http://schemas.microsoft.com/office/drawing/2014/main" id="{388C37CF-849D-4CC7-8F86-4E21BD4ACA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1c03c1d1e6_1_166:notes">
            <a:extLst>
              <a:ext uri="{FF2B5EF4-FFF2-40B4-BE49-F238E27FC236}">
                <a16:creationId xmlns:a16="http://schemas.microsoft.com/office/drawing/2014/main" id="{2E53BA2B-EFEA-A948-411A-A9C84BA983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78646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>
          <a:extLst>
            <a:ext uri="{FF2B5EF4-FFF2-40B4-BE49-F238E27FC236}">
              <a16:creationId xmlns:a16="http://schemas.microsoft.com/office/drawing/2014/main" id="{5CB82D01-A95D-8A72-661B-EF677A7A2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1c03c1d1e6_1_166:notes">
            <a:extLst>
              <a:ext uri="{FF2B5EF4-FFF2-40B4-BE49-F238E27FC236}">
                <a16:creationId xmlns:a16="http://schemas.microsoft.com/office/drawing/2014/main" id="{B93B4556-DB0C-9820-15D3-C3EBD286DC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1c03c1d1e6_1_166:notes">
            <a:extLst>
              <a:ext uri="{FF2B5EF4-FFF2-40B4-BE49-F238E27FC236}">
                <a16:creationId xmlns:a16="http://schemas.microsoft.com/office/drawing/2014/main" id="{1802E6D3-0EC5-BFC1-382C-77D3D3F707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3781634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>
          <a:extLst>
            <a:ext uri="{FF2B5EF4-FFF2-40B4-BE49-F238E27FC236}">
              <a16:creationId xmlns:a16="http://schemas.microsoft.com/office/drawing/2014/main" id="{0FC61544-D494-2828-FB39-84F14937F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1c03c1d1e6_1_166:notes">
            <a:extLst>
              <a:ext uri="{FF2B5EF4-FFF2-40B4-BE49-F238E27FC236}">
                <a16:creationId xmlns:a16="http://schemas.microsoft.com/office/drawing/2014/main" id="{7CD5A272-1863-0AE0-E646-DED0848040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1c03c1d1e6_1_166:notes">
            <a:extLst>
              <a:ext uri="{FF2B5EF4-FFF2-40B4-BE49-F238E27FC236}">
                <a16:creationId xmlns:a16="http://schemas.microsoft.com/office/drawing/2014/main" id="{E0D66FCD-51FC-4F0B-8D86-4CA90D3499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931177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>
          <a:extLst>
            <a:ext uri="{FF2B5EF4-FFF2-40B4-BE49-F238E27FC236}">
              <a16:creationId xmlns:a16="http://schemas.microsoft.com/office/drawing/2014/main" id="{6ACE47A9-7D7C-9257-5E85-28A665FA6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1c03c1d1e6_1_166:notes">
            <a:extLst>
              <a:ext uri="{FF2B5EF4-FFF2-40B4-BE49-F238E27FC236}">
                <a16:creationId xmlns:a16="http://schemas.microsoft.com/office/drawing/2014/main" id="{E5C7D5E6-9A5C-AFB2-C3E2-B2B10A43E9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1c03c1d1e6_1_166:notes">
            <a:extLst>
              <a:ext uri="{FF2B5EF4-FFF2-40B4-BE49-F238E27FC236}">
                <a16:creationId xmlns:a16="http://schemas.microsoft.com/office/drawing/2014/main" id="{1AB0CD72-5814-4951-6146-4D557337ED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967333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1c03c1d1e6_1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g21c03c1d1e6_1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21c03c1d1e6_1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g21c03c1d1e6_1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21c03c1d1e6_1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g21c03c1d1e6_1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1c03c1d1e6_1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g21c03c1d1e6_1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1c03c1d1e6_1_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21c03c1d1e6_1_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21c03c1d1e6_1_2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g21c03c1d1e6_1_2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21c03c1d1e6_1_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g21c03c1d1e6_1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21c03c1d1e6_1_2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g21c03c1d1e6_1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21c03c1d1e6_1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g21c03c1d1e6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21c03c1d1e6_1_3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g21c03c1d1e6_1_3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43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7843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3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43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4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4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5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5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45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4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6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8" name="Google Shape;28;p4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7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7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4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8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8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8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9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4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0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50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5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50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50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5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1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1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51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5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2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52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5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1c03c1d1e6_1_13"/>
          <p:cNvSpPr txBox="1">
            <a:spLocks noGrp="1"/>
          </p:cNvSpPr>
          <p:nvPr>
            <p:ph type="title"/>
          </p:nvPr>
        </p:nvSpPr>
        <p:spPr>
          <a:xfrm>
            <a:off x="856060" y="463888"/>
            <a:ext cx="7429499" cy="1108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1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5" name="Google Shape;65;g21c03c1d1e6_1_13"/>
          <p:cNvSpPr txBox="1">
            <a:spLocks noGrp="1"/>
          </p:cNvSpPr>
          <p:nvPr>
            <p:ph type="body" idx="1"/>
          </p:nvPr>
        </p:nvSpPr>
        <p:spPr>
          <a:xfrm>
            <a:off x="856059" y="1687115"/>
            <a:ext cx="7429499" cy="2656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1pPr>
            <a:lvl2pPr marL="914400" lvl="1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2pPr>
            <a:lvl3pPr marL="1371600" lvl="2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3pPr>
            <a:lvl4pPr marL="1828800" lvl="3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4pPr>
            <a:lvl5pPr marL="2286000" lvl="4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5pPr>
            <a:lvl6pPr marL="2743200" lvl="5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6pPr>
            <a:lvl7pPr marL="3200400" lvl="6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7pPr>
            <a:lvl8pPr marL="3657600" lvl="7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8pPr>
            <a:lvl9pPr marL="4114800" lvl="8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9pPr>
          </a:lstStyle>
          <a:p>
            <a:endParaRPr/>
          </a:p>
        </p:txBody>
      </p:sp>
      <p:sp>
        <p:nvSpPr>
          <p:cNvPr id="66" name="Google Shape;66;g21c03c1d1e6_1_13"/>
          <p:cNvSpPr txBox="1">
            <a:spLocks noGrp="1"/>
          </p:cNvSpPr>
          <p:nvPr>
            <p:ph type="dt" idx="10"/>
          </p:nvPr>
        </p:nvSpPr>
        <p:spPr>
          <a:xfrm>
            <a:off x="5592691" y="4412457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7" name="Google Shape;67;g21c03c1d1e6_1_13"/>
          <p:cNvSpPr txBox="1">
            <a:spLocks noGrp="1"/>
          </p:cNvSpPr>
          <p:nvPr>
            <p:ph type="ftr" idx="11"/>
          </p:nvPr>
        </p:nvSpPr>
        <p:spPr>
          <a:xfrm>
            <a:off x="856058" y="4412456"/>
            <a:ext cx="4679482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8" name="Google Shape;68;g21c03c1d1e6_1_13"/>
          <p:cNvSpPr txBox="1">
            <a:spLocks noGrp="1"/>
          </p:cNvSpPr>
          <p:nvPr>
            <p:ph type="sldNum" idx="12"/>
          </p:nvPr>
        </p:nvSpPr>
        <p:spPr>
          <a:xfrm>
            <a:off x="7707241" y="4412456"/>
            <a:ext cx="578317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100"/>
            </a:lvl1pPr>
            <a:lvl2pPr marL="0" lvl="1" indent="0" algn="r">
              <a:spcBef>
                <a:spcPts val="0"/>
              </a:spcBef>
              <a:buNone/>
              <a:defRPr sz="1100"/>
            </a:lvl2pPr>
            <a:lvl3pPr marL="0" lvl="2" indent="0" algn="r">
              <a:spcBef>
                <a:spcPts val="0"/>
              </a:spcBef>
              <a:buNone/>
              <a:defRPr sz="1100"/>
            </a:lvl3pPr>
            <a:lvl4pPr marL="0" lvl="3" indent="0" algn="r">
              <a:spcBef>
                <a:spcPts val="0"/>
              </a:spcBef>
              <a:buNone/>
              <a:defRPr sz="1100"/>
            </a:lvl4pPr>
            <a:lvl5pPr marL="0" lvl="4" indent="0" algn="r">
              <a:spcBef>
                <a:spcPts val="0"/>
              </a:spcBef>
              <a:buNone/>
              <a:defRPr sz="1100"/>
            </a:lvl5pPr>
            <a:lvl6pPr marL="0" lvl="5" indent="0" algn="r">
              <a:spcBef>
                <a:spcPts val="0"/>
              </a:spcBef>
              <a:buNone/>
              <a:defRPr sz="1100"/>
            </a:lvl6pPr>
            <a:lvl7pPr marL="0" lvl="6" indent="0" algn="r">
              <a:spcBef>
                <a:spcPts val="0"/>
              </a:spcBef>
              <a:buNone/>
              <a:defRPr sz="1100"/>
            </a:lvl7pPr>
            <a:lvl8pPr marL="0" lvl="7" indent="0" algn="r">
              <a:spcBef>
                <a:spcPts val="0"/>
              </a:spcBef>
              <a:buNone/>
              <a:defRPr sz="1100"/>
            </a:lvl8pPr>
            <a:lvl9pPr marL="0" lvl="8" indent="0" algn="r">
              <a:spcBef>
                <a:spcPts val="0"/>
              </a:spcBef>
              <a:buNone/>
              <a:defRPr sz="11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4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4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5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44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6.png"/><Relationship Id="rId5" Type="http://schemas.openxmlformats.org/officeDocument/2006/relationships/image" Target="../media/image42.png"/><Relationship Id="rId4" Type="http://schemas.openxmlformats.org/officeDocument/2006/relationships/image" Target="../media/image45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54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12" Type="http://schemas.openxmlformats.org/officeDocument/2006/relationships/image" Target="../media/image4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1.png"/><Relationship Id="rId11" Type="http://schemas.openxmlformats.org/officeDocument/2006/relationships/image" Target="../media/image47.png"/><Relationship Id="rId5" Type="http://schemas.openxmlformats.org/officeDocument/2006/relationships/image" Target="../media/image50.png"/><Relationship Id="rId10" Type="http://schemas.openxmlformats.org/officeDocument/2006/relationships/image" Target="../media/image53.png"/><Relationship Id="rId4" Type="http://schemas.openxmlformats.org/officeDocument/2006/relationships/image" Target="../media/image49.png"/><Relationship Id="rId9" Type="http://schemas.openxmlformats.org/officeDocument/2006/relationships/image" Target="../media/image46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54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12" Type="http://schemas.openxmlformats.org/officeDocument/2006/relationships/image" Target="../media/image43.png"/><Relationship Id="rId17" Type="http://schemas.openxmlformats.org/officeDocument/2006/relationships/customXml" Target="../ink/ink1.xml"/><Relationship Id="rId2" Type="http://schemas.openxmlformats.org/officeDocument/2006/relationships/notesSlide" Target="../notesSlides/notesSlide44.xml"/><Relationship Id="rId16" Type="http://schemas.openxmlformats.org/officeDocument/2006/relationships/image" Target="../media/image4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1.png"/><Relationship Id="rId11" Type="http://schemas.openxmlformats.org/officeDocument/2006/relationships/image" Target="../media/image47.png"/><Relationship Id="rId5" Type="http://schemas.openxmlformats.org/officeDocument/2006/relationships/image" Target="../media/image50.png"/><Relationship Id="rId15" Type="http://schemas.openxmlformats.org/officeDocument/2006/relationships/image" Target="../media/image57.png"/><Relationship Id="rId28" Type="http://schemas.openxmlformats.org/officeDocument/2006/relationships/image" Target="../media/image1290.png"/><Relationship Id="rId10" Type="http://schemas.openxmlformats.org/officeDocument/2006/relationships/image" Target="../media/image53.png"/><Relationship Id="rId4" Type="http://schemas.openxmlformats.org/officeDocument/2006/relationships/image" Target="../media/image49.png"/><Relationship Id="rId9" Type="http://schemas.openxmlformats.org/officeDocument/2006/relationships/image" Target="../media/image46.png"/><Relationship Id="rId14" Type="http://schemas.openxmlformats.org/officeDocument/2006/relationships/image" Target="../media/image56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4.png"/><Relationship Id="rId3" Type="http://schemas.openxmlformats.org/officeDocument/2006/relationships/image" Target="../media/image48.png"/><Relationship Id="rId7" Type="http://schemas.openxmlformats.org/officeDocument/2006/relationships/image" Target="../media/image42.png"/><Relationship Id="rId12" Type="http://schemas.openxmlformats.org/officeDocument/2006/relationships/image" Target="../media/image4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8.png"/><Relationship Id="rId11" Type="http://schemas.openxmlformats.org/officeDocument/2006/relationships/image" Target="../media/image47.png"/><Relationship Id="rId5" Type="http://schemas.openxmlformats.org/officeDocument/2006/relationships/image" Target="../media/image50.png"/><Relationship Id="rId10" Type="http://schemas.openxmlformats.org/officeDocument/2006/relationships/image" Target="../media/image53.png"/><Relationship Id="rId4" Type="http://schemas.openxmlformats.org/officeDocument/2006/relationships/image" Target="../media/image49.png"/><Relationship Id="rId9" Type="http://schemas.openxmlformats.org/officeDocument/2006/relationships/image" Target="../media/image52.png"/><Relationship Id="rId14" Type="http://schemas.openxmlformats.org/officeDocument/2006/relationships/image" Target="../media/image59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48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10" Type="http://schemas.openxmlformats.org/officeDocument/2006/relationships/image" Target="../media/image59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"/>
          <p:cNvSpPr txBox="1">
            <a:spLocks noGrp="1"/>
          </p:cNvSpPr>
          <p:nvPr>
            <p:ph type="ctrTitle"/>
          </p:nvPr>
        </p:nvSpPr>
        <p:spPr>
          <a:xfrm>
            <a:off x="1465500" y="372650"/>
            <a:ext cx="62130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Aprendizaje Profundo</a:t>
            </a:r>
            <a:endParaRPr/>
          </a:p>
        </p:txBody>
      </p:sp>
      <p:sp>
        <p:nvSpPr>
          <p:cNvPr id="74" name="Google Shape;74;p1"/>
          <p:cNvSpPr txBox="1">
            <a:spLocks noGrp="1"/>
          </p:cNvSpPr>
          <p:nvPr>
            <p:ph type="subTitle" idx="1"/>
          </p:nvPr>
        </p:nvSpPr>
        <p:spPr>
          <a:xfrm>
            <a:off x="460950" y="1379610"/>
            <a:ext cx="8222100" cy="16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Facultad de Ingeniería</a:t>
            </a:r>
            <a:endParaRPr sz="29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Universidad de Buenos Aires</a:t>
            </a:r>
            <a:endParaRPr sz="2900"/>
          </a:p>
        </p:txBody>
      </p:sp>
      <p:sp>
        <p:nvSpPr>
          <p:cNvPr id="75" name="Google Shape;75;p1"/>
          <p:cNvSpPr txBox="1">
            <a:spLocks noGrp="1"/>
          </p:cNvSpPr>
          <p:nvPr>
            <p:ph type="subTitle" idx="1"/>
          </p:nvPr>
        </p:nvSpPr>
        <p:spPr>
          <a:xfrm>
            <a:off x="198125" y="3661752"/>
            <a:ext cx="8222100" cy="1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600" dirty="0"/>
              <a:t>Profesores: </a:t>
            </a:r>
            <a:endParaRPr sz="2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dirty="0"/>
              <a:t>		</a:t>
            </a:r>
            <a:r>
              <a:rPr lang="pt-BR" sz="2600" dirty="0"/>
              <a:t>Marcos Maillot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/>
              <a:t>		Gerardo Vilcamiza</a:t>
            </a:r>
          </a:p>
        </p:txBody>
      </p:sp>
      <p:pic>
        <p:nvPicPr>
          <p:cNvPr id="76" name="Google Shape;76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21900" y="2437800"/>
            <a:ext cx="1500200" cy="15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"/>
          <p:cNvSpPr txBox="1">
            <a:spLocks noGrp="1"/>
          </p:cNvSpPr>
          <p:nvPr>
            <p:ph type="title"/>
          </p:nvPr>
        </p:nvSpPr>
        <p:spPr>
          <a:xfrm>
            <a:off x="471900" y="174125"/>
            <a:ext cx="8222100" cy="13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818">
                <a:latin typeface="Arial"/>
                <a:ea typeface="Arial"/>
                <a:cs typeface="Arial"/>
                <a:sym typeface="Arial"/>
              </a:rPr>
              <a:t>Redes Recurrentes</a:t>
            </a:r>
            <a:endParaRPr sz="2818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818">
                <a:latin typeface="Arial"/>
                <a:ea typeface="Arial"/>
                <a:cs typeface="Arial"/>
                <a:sym typeface="Arial"/>
              </a:rPr>
              <a:t>Recurrent Neural Network (RNN)</a:t>
            </a:r>
            <a:endParaRPr sz="2208"/>
          </a:p>
        </p:txBody>
      </p:sp>
      <p:sp>
        <p:nvSpPr>
          <p:cNvPr id="82" name="Google Shape;82;p2"/>
          <p:cNvSpPr txBox="1">
            <a:spLocks noGrp="1"/>
          </p:cNvSpPr>
          <p:nvPr>
            <p:ph type="body" idx="1"/>
          </p:nvPr>
        </p:nvSpPr>
        <p:spPr>
          <a:xfrm>
            <a:off x="471900" y="1986025"/>
            <a:ext cx="3358800" cy="30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Introducción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Neurona recurrente básica. Unfolding de una RNN.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Practica en pytorch (práctica  teórica)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Back propagation through time (BPTT) (básico)</a:t>
            </a:r>
            <a:endParaRPr dirty="0">
              <a:solidFill>
                <a:schemeClr val="dk2"/>
              </a:solidFill>
            </a:endParaRPr>
          </a:p>
        </p:txBody>
      </p:sp>
      <p:pic>
        <p:nvPicPr>
          <p:cNvPr id="83" name="Google Shape;8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2"/>
          <p:cNvSpPr txBox="1">
            <a:spLocks noGrp="1"/>
          </p:cNvSpPr>
          <p:nvPr>
            <p:ph type="body" idx="1"/>
          </p:nvPr>
        </p:nvSpPr>
        <p:spPr>
          <a:xfrm>
            <a:off x="4070850" y="1928300"/>
            <a:ext cx="4100100" cy="30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Implementación (práctica - predecir serie temporal – práctica 2) 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Arquitectura enconder-decoder (seq to seq)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Mecanismos de atención</a:t>
            </a:r>
            <a:endParaRPr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1c03c1d1e6_1_8"/>
          <p:cNvSpPr txBox="1"/>
          <p:nvPr/>
        </p:nvSpPr>
        <p:spPr>
          <a:xfrm>
            <a:off x="251252" y="1021834"/>
            <a:ext cx="86415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Red neuronal </a:t>
            </a:r>
            <a:r>
              <a:rPr lang="en" sz="2100" b="1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favorita</a:t>
            </a: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 para el trabajo secuencias ( datos que en cuya naturaleza exista un </a:t>
            </a:r>
            <a:r>
              <a:rPr lang="en" sz="2100" b="1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comportamiento secuencial</a:t>
            </a: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):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b="0" i="0" u="none" strike="noStrike" cap="none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señales temporales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series temporales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texto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habla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música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etc</a:t>
            </a:r>
            <a:endParaRPr sz="2100" b="0" i="0" u="none" strike="noStrike" cap="none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b="0" i="0" u="none" strike="noStrike" cap="none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90" name="Google Shape;90;g21c03c1d1e6_1_8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Introducción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1c03c1d1e6_1_19"/>
          <p:cNvSpPr txBox="1"/>
          <p:nvPr/>
        </p:nvSpPr>
        <p:spPr>
          <a:xfrm>
            <a:off x="215950" y="795184"/>
            <a:ext cx="817785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cada paso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se repiten los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mismos cálculos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empleando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datos del paso actual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y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datos del pasado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96" name="Google Shape;96;g21c03c1d1e6_1_19"/>
          <p:cNvSpPr/>
          <p:nvPr/>
        </p:nvSpPr>
        <p:spPr>
          <a:xfrm>
            <a:off x="215950" y="1670194"/>
            <a:ext cx="8364828" cy="392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i="0" u="none" strike="noStrike" cap="none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 pasos, no son necesariamente en unidad tiempo!!</a:t>
            </a:r>
            <a:endParaRPr sz="1100"/>
          </a:p>
        </p:txBody>
      </p:sp>
      <p:graphicFrame>
        <p:nvGraphicFramePr>
          <p:cNvPr id="97" name="Google Shape;97;g21c03c1d1e6_1_19"/>
          <p:cNvGraphicFramePr/>
          <p:nvPr/>
        </p:nvGraphicFramePr>
        <p:xfrm>
          <a:off x="329633" y="2887190"/>
          <a:ext cx="5436800" cy="432000"/>
        </p:xfrm>
        <a:graphic>
          <a:graphicData uri="http://schemas.openxmlformats.org/drawingml/2006/table">
            <a:tbl>
              <a:tblPr>
                <a:noFill/>
                <a:tableStyleId>{D3E55744-8061-4CE5-AF87-22040F36E0A0}</a:tableStyleId>
              </a:tblPr>
              <a:tblGrid>
                <a:gridCol w="67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X(t=0)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X(t=1)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X(t=2)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X(t=3)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X(t=4)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X(t=5)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…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</a:t>
                      </a:r>
                      <a:r>
                        <a:rPr lang="en" sz="1800" u="none" strike="noStrike" cap="none"/>
                        <a:t>τ</a:t>
                      </a:r>
                      <a:r>
                        <a:rPr lang="en" sz="1400" u="none" strike="noStrike" cap="none"/>
                        <a:t>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8" name="Google Shape;98;g21c03c1d1e6_1_19"/>
          <p:cNvSpPr txBox="1"/>
          <p:nvPr/>
        </p:nvSpPr>
        <p:spPr>
          <a:xfrm>
            <a:off x="215950" y="2517457"/>
            <a:ext cx="3485193" cy="346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 b="0" i="0" u="none" strike="noStrike" cap="none">
                <a:solidFill>
                  <a:schemeClr val="dk2"/>
                </a:solidFill>
                <a:highlight>
                  <a:schemeClr val="lt1"/>
                </a:highlight>
                <a:latin typeface="Twentieth Century"/>
                <a:ea typeface="Twentieth Century"/>
                <a:cs typeface="Twentieth Century"/>
                <a:sym typeface="Twentieth Century"/>
              </a:rPr>
              <a:t>Temperatura f(t):</a:t>
            </a:r>
            <a:endParaRPr sz="1100">
              <a:solidFill>
                <a:schemeClr val="dk2"/>
              </a:solidFill>
              <a:highlight>
                <a:schemeClr val="lt1"/>
              </a:highlight>
            </a:endParaRPr>
          </a:p>
        </p:txBody>
      </p:sp>
      <p:sp>
        <p:nvSpPr>
          <p:cNvPr id="99" name="Google Shape;99;g21c03c1d1e6_1_19"/>
          <p:cNvSpPr txBox="1"/>
          <p:nvPr/>
        </p:nvSpPr>
        <p:spPr>
          <a:xfrm>
            <a:off x="215950" y="3672225"/>
            <a:ext cx="3485193" cy="346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 b="0" i="0" u="none" strike="noStrike" cap="none">
                <a:solidFill>
                  <a:schemeClr val="dk2"/>
                </a:solidFill>
                <a:highlight>
                  <a:schemeClr val="lt1"/>
                </a:highlight>
                <a:latin typeface="Twentieth Century"/>
                <a:ea typeface="Twentieth Century"/>
                <a:cs typeface="Twentieth Century"/>
                <a:sym typeface="Twentieth Century"/>
              </a:rPr>
              <a:t>Mensaje:</a:t>
            </a:r>
            <a:endParaRPr sz="1100">
              <a:solidFill>
                <a:schemeClr val="dk2"/>
              </a:solidFill>
              <a:highlight>
                <a:schemeClr val="lt1"/>
              </a:highlight>
            </a:endParaRPr>
          </a:p>
        </p:txBody>
      </p:sp>
      <p:graphicFrame>
        <p:nvGraphicFramePr>
          <p:cNvPr id="100" name="Google Shape;100;g21c03c1d1e6_1_19"/>
          <p:cNvGraphicFramePr/>
          <p:nvPr/>
        </p:nvGraphicFramePr>
        <p:xfrm>
          <a:off x="283564" y="4041958"/>
          <a:ext cx="5988975" cy="432000"/>
        </p:xfrm>
        <a:graphic>
          <a:graphicData uri="http://schemas.openxmlformats.org/drawingml/2006/table">
            <a:tbl>
              <a:tblPr>
                <a:noFill/>
                <a:tableStyleId>{D3E55744-8061-4CE5-AF87-22040F36E0A0}</a:tableStyleId>
              </a:tblPr>
              <a:tblGrid>
                <a:gridCol w="74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8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8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5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1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9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27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Este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es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un 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mensaje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para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la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red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neuronal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101" name="Google Shape;101;g21c03c1d1e6_1_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19378" y="2062609"/>
            <a:ext cx="1935225" cy="2753298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g21c03c1d1e6_1_19"/>
          <p:cNvSpPr/>
          <p:nvPr/>
        </p:nvSpPr>
        <p:spPr>
          <a:xfrm>
            <a:off x="7142475" y="4866501"/>
            <a:ext cx="1089031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wikipedia</a:t>
            </a:r>
            <a:endParaRPr sz="1400" b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03" name="Google Shape;103;g21c03c1d1e6_1_19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Introducción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1c03c1d1e6_1_31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pic>
        <p:nvPicPr>
          <p:cNvPr id="109" name="Google Shape;109;g21c03c1d1e6_1_31"/>
          <p:cNvPicPr preferRelativeResize="0"/>
          <p:nvPr/>
        </p:nvPicPr>
        <p:blipFill rotWithShape="1">
          <a:blip r:embed="rId3">
            <a:alphaModFix/>
          </a:blip>
          <a:srcRect t="37445" r="78933" b="-1"/>
          <a:stretch/>
        </p:blipFill>
        <p:spPr>
          <a:xfrm>
            <a:off x="363830" y="2196548"/>
            <a:ext cx="1287886" cy="26530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g21c03c1d1e6_1_31"/>
          <p:cNvPicPr preferRelativeResize="0"/>
          <p:nvPr/>
        </p:nvPicPr>
        <p:blipFill rotWithShape="1">
          <a:blip r:embed="rId4">
            <a:alphaModFix/>
          </a:blip>
          <a:srcRect t="-1" b="28857"/>
          <a:stretch/>
        </p:blipFill>
        <p:spPr>
          <a:xfrm>
            <a:off x="3879646" y="2729071"/>
            <a:ext cx="5058950" cy="1616558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g21c03c1d1e6_1_31"/>
          <p:cNvSpPr txBox="1"/>
          <p:nvPr/>
        </p:nvSpPr>
        <p:spPr>
          <a:xfrm>
            <a:off x="3879646" y="2275157"/>
            <a:ext cx="3918168" cy="392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Ecuaciones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12" name="Google Shape;112;g21c03c1d1e6_1_31"/>
          <p:cNvSpPr/>
          <p:nvPr/>
        </p:nvSpPr>
        <p:spPr>
          <a:xfrm>
            <a:off x="205404" y="3210338"/>
            <a:ext cx="1573700" cy="171947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3" name="Google Shape;113;g21c03c1d1e6_1_31"/>
          <p:cNvSpPr/>
          <p:nvPr/>
        </p:nvSpPr>
        <p:spPr>
          <a:xfrm>
            <a:off x="3966407" y="2873828"/>
            <a:ext cx="4813763" cy="1006565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4" name="Google Shape;114;g21c03c1d1e6_1_31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Neurona recurrente básica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21c03c1d1e6_1_41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pic>
        <p:nvPicPr>
          <p:cNvPr id="120" name="Google Shape;120;g21c03c1d1e6_1_41"/>
          <p:cNvPicPr preferRelativeResize="0"/>
          <p:nvPr/>
        </p:nvPicPr>
        <p:blipFill rotWithShape="1">
          <a:blip r:embed="rId3">
            <a:alphaModFix/>
          </a:blip>
          <a:srcRect t="38451"/>
          <a:stretch/>
        </p:blipFill>
        <p:spPr>
          <a:xfrm>
            <a:off x="0" y="2255028"/>
            <a:ext cx="6288110" cy="2685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g21c03c1d1e6_1_41"/>
          <p:cNvPicPr preferRelativeResize="0"/>
          <p:nvPr/>
        </p:nvPicPr>
        <p:blipFill rotWithShape="1">
          <a:blip r:embed="rId4">
            <a:alphaModFix/>
          </a:blip>
          <a:srcRect b="28849"/>
          <a:stretch/>
        </p:blipFill>
        <p:spPr>
          <a:xfrm>
            <a:off x="5403593" y="850882"/>
            <a:ext cx="3635403" cy="1161791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g21c03c1d1e6_1_41"/>
          <p:cNvSpPr/>
          <p:nvPr/>
        </p:nvSpPr>
        <p:spPr>
          <a:xfrm>
            <a:off x="6783412" y="3312704"/>
            <a:ext cx="1394366" cy="1038746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i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</a:t>
            </a:r>
            <a:r>
              <a:rPr lang="en" sz="21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</a:t>
            </a:r>
            <a:r>
              <a:rPr lang="en" sz="2100" b="1" i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</a:t>
            </a:r>
            <a:r>
              <a:rPr lang="en" sz="21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son los mismos!!</a:t>
            </a:r>
            <a:endParaRPr sz="1100"/>
          </a:p>
        </p:txBody>
      </p:sp>
      <p:sp>
        <p:nvSpPr>
          <p:cNvPr id="123" name="Google Shape;123;g21c03c1d1e6_1_41"/>
          <p:cNvSpPr/>
          <p:nvPr/>
        </p:nvSpPr>
        <p:spPr>
          <a:xfrm>
            <a:off x="6419411" y="4593806"/>
            <a:ext cx="2298947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Parameters sharing</a:t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4" name="Google Shape;124;g21c03c1d1e6_1_41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Neurona recurrente básica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21c03c1d1e6_1_49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pic>
        <p:nvPicPr>
          <p:cNvPr id="130" name="Google Shape;130;g21c03c1d1e6_1_49"/>
          <p:cNvPicPr preferRelativeResize="0"/>
          <p:nvPr/>
        </p:nvPicPr>
        <p:blipFill rotWithShape="1">
          <a:blip r:embed="rId3">
            <a:alphaModFix/>
          </a:blip>
          <a:srcRect t="49743"/>
          <a:stretch/>
        </p:blipFill>
        <p:spPr>
          <a:xfrm>
            <a:off x="39575" y="1702200"/>
            <a:ext cx="9064849" cy="31784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g21c03c1d1e6_1_49"/>
          <p:cNvPicPr preferRelativeResize="0"/>
          <p:nvPr/>
        </p:nvPicPr>
        <p:blipFill rotWithShape="1">
          <a:blip r:embed="rId3">
            <a:alphaModFix/>
          </a:blip>
          <a:srcRect t="34136" r="19328" b="52929"/>
          <a:stretch/>
        </p:blipFill>
        <p:spPr>
          <a:xfrm>
            <a:off x="178625" y="776875"/>
            <a:ext cx="8271614" cy="925337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g21c03c1d1e6_1_49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Neurona recurrente básica</a:t>
            </a:r>
            <a:endParaRPr/>
          </a:p>
        </p:txBody>
      </p:sp>
      <p:pic>
        <p:nvPicPr>
          <p:cNvPr id="133" name="Google Shape;133;g21c03c1d1e6_1_49"/>
          <p:cNvPicPr preferRelativeResize="0"/>
          <p:nvPr/>
        </p:nvPicPr>
        <p:blipFill rotWithShape="1">
          <a:blip r:embed="rId3">
            <a:alphaModFix/>
          </a:blip>
          <a:srcRect l="10260" r="75323" b="69085"/>
          <a:stretch/>
        </p:blipFill>
        <p:spPr>
          <a:xfrm>
            <a:off x="8036725" y="3381050"/>
            <a:ext cx="1067699" cy="1597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g21c03c1d1e6_1_49"/>
          <p:cNvPicPr preferRelativeResize="0"/>
          <p:nvPr/>
        </p:nvPicPr>
        <p:blipFill rotWithShape="1">
          <a:blip r:embed="rId3">
            <a:alphaModFix/>
          </a:blip>
          <a:srcRect l="38363" t="9125" r="20692" b="72913"/>
          <a:stretch/>
        </p:blipFill>
        <p:spPr>
          <a:xfrm>
            <a:off x="5084660" y="4053275"/>
            <a:ext cx="3023139" cy="92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1c03c1d1e6_1_54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Pytorch</a:t>
            </a:r>
            <a:endParaRPr sz="24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0" name="Google Shape;140;g21c03c1d1e6_1_54"/>
          <p:cNvSpPr/>
          <p:nvPr/>
        </p:nvSpPr>
        <p:spPr>
          <a:xfrm>
            <a:off x="492617" y="4216893"/>
            <a:ext cx="7449904" cy="807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torch.nn.RNN(</a:t>
            </a:r>
            <a:r>
              <a:rPr lang="en" sz="15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input_size, hidden_size, num_layers=1, nonlinearity=‘tanh’, …</a:t>
            </a:r>
            <a:br>
              <a:rPr lang="en" sz="15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5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		bias=True, batch_first=False, dropout=0, bidirectional=False</a:t>
            </a:r>
            <a:r>
              <a:rPr lang="en" sz="1500" b="1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500" b="1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r>
              <a:rPr lang="en" sz="3300" b="1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dirty="0">
              <a:solidFill>
                <a:schemeClr val="dk2"/>
              </a:solidFill>
            </a:endParaRPr>
          </a:p>
        </p:txBody>
      </p:sp>
      <p:pic>
        <p:nvPicPr>
          <p:cNvPr id="141" name="Google Shape;141;g21c03c1d1e6_1_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450" y="1171575"/>
            <a:ext cx="8801100" cy="280035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g21c03c1d1e6_1_54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21c03c1d1e6_1_145"/>
          <p:cNvSpPr txBox="1"/>
          <p:nvPr/>
        </p:nvSpPr>
        <p:spPr>
          <a:xfrm>
            <a:off x="2044342" y="774713"/>
            <a:ext cx="4813500" cy="6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latin typeface="Twentieth Century"/>
                <a:ea typeface="Twentieth Century"/>
                <a:cs typeface="Twentieth Century"/>
                <a:sym typeface="Twentieth Century"/>
              </a:rPr>
              <a:t>Bi-directional </a:t>
            </a:r>
            <a:endParaRPr sz="240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52" name="Google Shape;252;g21c03c1d1e6_1_145"/>
          <p:cNvSpPr txBox="1"/>
          <p:nvPr/>
        </p:nvSpPr>
        <p:spPr>
          <a:xfrm>
            <a:off x="1173245" y="4210024"/>
            <a:ext cx="6555668" cy="392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>
                <a:latin typeface="Twentieth Century"/>
                <a:ea typeface="Twentieth Century"/>
                <a:cs typeface="Twentieth Century"/>
                <a:sym typeface="Twentieth Century"/>
              </a:rPr>
              <a:t>Para la traducción, suele ser útil tener la frase entera.</a:t>
            </a:r>
            <a:endParaRPr sz="1100"/>
          </a:p>
        </p:txBody>
      </p:sp>
      <p:pic>
        <p:nvPicPr>
          <p:cNvPr id="253" name="Google Shape;253;g21c03c1d1e6_1_1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6911" y="1555124"/>
            <a:ext cx="6868339" cy="242729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g21c03c1d1e6_1_1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Birideccionalidad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21c03c1d1e6_1_60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148" name="Google Shape;148;g21c03c1d1e6_1_60"/>
          <p:cNvSpPr txBox="1"/>
          <p:nvPr/>
        </p:nvSpPr>
        <p:spPr>
          <a:xfrm>
            <a:off x="516181" y="4716035"/>
            <a:ext cx="859665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Básica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49" name="Google Shape;149;g21c03c1d1e6_1_60"/>
          <p:cNvSpPr txBox="1"/>
          <p:nvPr/>
        </p:nvSpPr>
        <p:spPr>
          <a:xfrm>
            <a:off x="2608285" y="4696716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Varias hidden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0" name="Google Shape;150;g21c03c1d1e6_1_60"/>
          <p:cNvSpPr txBox="1"/>
          <p:nvPr/>
        </p:nvSpPr>
        <p:spPr>
          <a:xfrm>
            <a:off x="5102092" y="4578347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Input multivariable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1" name="Google Shape;151;g21c03c1d1e6_1_60"/>
          <p:cNvSpPr txBox="1"/>
          <p:nvPr/>
        </p:nvSpPr>
        <p:spPr>
          <a:xfrm>
            <a:off x="7243032" y="4695142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layers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52" name="Google Shape;152;g21c03c1d1e6_1_6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8422" y="1052272"/>
            <a:ext cx="3907631" cy="378619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g21c03c1d1e6_1_60"/>
          <p:cNvSpPr/>
          <p:nvPr/>
        </p:nvSpPr>
        <p:spPr>
          <a:xfrm>
            <a:off x="2021003" y="740776"/>
            <a:ext cx="76246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Pytorch</a:t>
            </a:r>
            <a:endParaRPr sz="14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54" name="Google Shape;154;g21c03c1d1e6_1_6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78264" y="2720632"/>
            <a:ext cx="1866275" cy="1583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g21c03c1d1e6_1_6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2204006" y="2180339"/>
            <a:ext cx="2344483" cy="21853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g21c03c1d1e6_1_6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4596185" y="2369524"/>
            <a:ext cx="2344481" cy="18070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g21c03c1d1e6_1_6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5400000">
            <a:off x="6260084" y="1735063"/>
            <a:ext cx="3315094" cy="2105321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g21c03c1d1e6_1_60"/>
          <p:cNvSpPr txBox="1"/>
          <p:nvPr/>
        </p:nvSpPr>
        <p:spPr>
          <a:xfrm>
            <a:off x="4047019" y="615104"/>
            <a:ext cx="3679985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 RNN_teoria.ipynb</a:t>
            </a:r>
            <a:endParaRPr sz="18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9" name="Google Shape;159;g21c03c1d1e6_1_60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1c03c1d1e6_1_75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graphicFrame>
        <p:nvGraphicFramePr>
          <p:cNvPr id="165" name="Google Shape;165;g21c03c1d1e6_1_75"/>
          <p:cNvGraphicFramePr/>
          <p:nvPr/>
        </p:nvGraphicFramePr>
        <p:xfrm>
          <a:off x="2306392" y="2494541"/>
          <a:ext cx="4879975" cy="197372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166" name="Google Shape;166;g21c03c1d1e6_1_7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8422" y="1052272"/>
            <a:ext cx="3907631" cy="378619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g21c03c1d1e6_1_75"/>
          <p:cNvSpPr txBox="1"/>
          <p:nvPr/>
        </p:nvSpPr>
        <p:spPr>
          <a:xfrm>
            <a:off x="516181" y="4716035"/>
            <a:ext cx="859665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Básica</a:t>
            </a:r>
            <a:endParaRPr sz="1100"/>
          </a:p>
        </p:txBody>
      </p:sp>
      <p:pic>
        <p:nvPicPr>
          <p:cNvPr id="168" name="Google Shape;168;g21c03c1d1e6_1_7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78264" y="2720632"/>
            <a:ext cx="1866275" cy="1583001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g21c03c1d1e6_1_75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21c03c1d1e6_1_83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175" name="Google Shape;175;g21c03c1d1e6_1_83"/>
          <p:cNvSpPr txBox="1"/>
          <p:nvPr/>
        </p:nvSpPr>
        <p:spPr>
          <a:xfrm>
            <a:off x="271263" y="4677398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Varias hidden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76" name="Google Shape;176;g21c03c1d1e6_1_8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8422" y="1052272"/>
            <a:ext cx="3907631" cy="37861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77" name="Google Shape;177;g21c03c1d1e6_1_83"/>
          <p:cNvGraphicFramePr/>
          <p:nvPr/>
        </p:nvGraphicFramePr>
        <p:xfrm>
          <a:off x="4131972" y="2507397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Wih</a:t>
                      </a:r>
                      <a:endParaRPr sz="1400" dirty="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Bih</a:t>
                      </a:r>
                      <a:endParaRPr sz="1400" dirty="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Whh</a:t>
                      </a:r>
                      <a:endParaRPr sz="1400" dirty="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bhh</a:t>
                      </a:r>
                      <a:endParaRPr sz="1400" dirty="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 dirty="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78" name="Google Shape;178;g21c03c1d1e6_1_8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195524" y="2346788"/>
            <a:ext cx="2232177" cy="2080697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g21c03c1d1e6_1_83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21c03c1d1e6_1_91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185" name="Google Shape;185;g21c03c1d1e6_1_91"/>
          <p:cNvSpPr txBox="1"/>
          <p:nvPr/>
        </p:nvSpPr>
        <p:spPr>
          <a:xfrm>
            <a:off x="411871" y="4464328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Input multivariable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86" name="Google Shape;186;g21c03c1d1e6_1_9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8422" y="1052272"/>
            <a:ext cx="3907631" cy="3786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g21c03c1d1e6_1_9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24550" y="2292250"/>
            <a:ext cx="2344481" cy="180701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88" name="Google Shape;188;g21c03c1d1e6_1_91"/>
          <p:cNvGraphicFramePr/>
          <p:nvPr/>
        </p:nvGraphicFramePr>
        <p:xfrm>
          <a:off x="4131972" y="2507397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9" name="Google Shape;189;g21c03c1d1e6_1_91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1c03c1d1e6_1_99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195" name="Google Shape;195;g21c03c1d1e6_1_99"/>
          <p:cNvSpPr txBox="1"/>
          <p:nvPr/>
        </p:nvSpPr>
        <p:spPr>
          <a:xfrm>
            <a:off x="355735" y="4704783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layers</a:t>
            </a:r>
            <a:endParaRPr sz="1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96" name="Google Shape;196;g21c03c1d1e6_1_9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41616" y="783164"/>
            <a:ext cx="3907631" cy="3786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g21c03c1d1e6_1_9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-516892" y="1941307"/>
            <a:ext cx="3315094" cy="21053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98" name="Google Shape;198;g21c03c1d1e6_1_99"/>
          <p:cNvGraphicFramePr/>
          <p:nvPr>
            <p:extLst>
              <p:ext uri="{D42A27DB-BD31-4B8C-83A1-F6EECF244321}">
                <p14:modId xmlns:p14="http://schemas.microsoft.com/office/powerpoint/2010/main" val="3278869483"/>
              </p:ext>
            </p:extLst>
          </p:nvPr>
        </p:nvGraphicFramePr>
        <p:xfrm>
          <a:off x="4131972" y="2507397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dirty="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/>
                        <a:t>y</a:t>
                      </a:r>
                      <a:endParaRPr sz="1400" dirty="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 dirty="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9" name="Google Shape;199;g21c03c1d1e6_1_99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g21c03c1d1e6_1_10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-630182" y="1949050"/>
            <a:ext cx="3952298" cy="2247448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g21c03c1d1e6_1_107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206" name="Google Shape;206;g21c03c1d1e6_1_107"/>
          <p:cNvSpPr txBox="1"/>
          <p:nvPr/>
        </p:nvSpPr>
        <p:spPr>
          <a:xfrm>
            <a:off x="0" y="4651515"/>
            <a:ext cx="3679984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Ejercicio 1 (ver datos en colab)</a:t>
            </a:r>
            <a:endParaRPr sz="1100"/>
          </a:p>
        </p:txBody>
      </p:sp>
      <p:pic>
        <p:nvPicPr>
          <p:cNvPr id="207" name="Google Shape;207;g21c03c1d1e6_1_10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8243" y="668527"/>
            <a:ext cx="3907631" cy="37861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08" name="Google Shape;208;g21c03c1d1e6_1_107"/>
          <p:cNvGraphicFramePr/>
          <p:nvPr/>
        </p:nvGraphicFramePr>
        <p:xfrm>
          <a:off x="4041734" y="687860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09" name="Google Shape;209;g21c03c1d1e6_1_107"/>
          <p:cNvGraphicFramePr/>
          <p:nvPr/>
        </p:nvGraphicFramePr>
        <p:xfrm>
          <a:off x="4041735" y="2169199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10" name="Google Shape;210;g21c03c1d1e6_1_107"/>
          <p:cNvGraphicFramePr/>
          <p:nvPr/>
        </p:nvGraphicFramePr>
        <p:xfrm>
          <a:off x="4041736" y="3639182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1" name="Google Shape;211;g21c03c1d1e6_1_107"/>
          <p:cNvSpPr txBox="1"/>
          <p:nvPr/>
        </p:nvSpPr>
        <p:spPr>
          <a:xfrm>
            <a:off x="3008065" y="1293803"/>
            <a:ext cx="103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Ejemplo A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12" name="Google Shape;212;g21c03c1d1e6_1_107"/>
          <p:cNvSpPr txBox="1"/>
          <p:nvPr/>
        </p:nvSpPr>
        <p:spPr>
          <a:xfrm>
            <a:off x="3008065" y="2856657"/>
            <a:ext cx="103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Ejemplo B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13" name="Google Shape;213;g21c03c1d1e6_1_107"/>
          <p:cNvSpPr txBox="1"/>
          <p:nvPr/>
        </p:nvSpPr>
        <p:spPr>
          <a:xfrm>
            <a:off x="3008065" y="4233167"/>
            <a:ext cx="103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Ejemplo C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14" name="Google Shape;214;g21c03c1d1e6_1_107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1c03c1d1e6_1_120"/>
          <p:cNvSpPr txBox="1"/>
          <p:nvPr/>
        </p:nvSpPr>
        <p:spPr>
          <a:xfrm>
            <a:off x="4197697" y="2488808"/>
            <a:ext cx="4315136" cy="331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000"/>
              <a:buFont typeface="Arial"/>
              <a:buNone/>
            </a:pPr>
            <a:r>
              <a:rPr lang="en" sz="30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</a:t>
            </a: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30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pensar</a:t>
            </a: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!</a:t>
            </a:r>
            <a:endParaRPr sz="1100"/>
          </a:p>
        </p:txBody>
      </p:sp>
      <p:pic>
        <p:nvPicPr>
          <p:cNvPr id="220" name="Google Shape;220;g21c03c1d1e6_1_1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3101" y="790275"/>
            <a:ext cx="2699926" cy="4274274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g21c03c1d1e6_1_120"/>
          <p:cNvSpPr/>
          <p:nvPr/>
        </p:nvSpPr>
        <p:spPr>
          <a:xfrm>
            <a:off x="3727108" y="4712811"/>
            <a:ext cx="204887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“El pensador” de Rodin</a:t>
            </a:r>
            <a:endParaRPr sz="1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2" name="Google Shape;222;g21c03c1d1e6_1_120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28" name="Google Shape;228;g21c03c1d1e6_1_126"/>
          <p:cNvSpPr txBox="1"/>
          <p:nvPr/>
        </p:nvSpPr>
        <p:spPr>
          <a:xfrm>
            <a:off x="6562579" y="3890445"/>
            <a:ext cx="2317652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desarrollo teórico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29" name="Google Shape;229;g21c03c1d1e6_1_1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3596" y="730106"/>
            <a:ext cx="8736806" cy="12501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g21c03c1d1e6_1_126" descr="Imagen de la pantalla de un video juego&#10;&#10;Descripción generada automáticamente con confianza baja"/>
          <p:cNvPicPr preferRelativeResize="0"/>
          <p:nvPr/>
        </p:nvPicPr>
        <p:blipFill rotWithShape="1">
          <a:blip r:embed="rId4">
            <a:alphaModFix/>
          </a:blip>
          <a:srcRect t="53333" b="9993"/>
          <a:stretch/>
        </p:blipFill>
        <p:spPr>
          <a:xfrm>
            <a:off x="456087" y="2173705"/>
            <a:ext cx="5589503" cy="27287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F1DAAD6-642B-8E32-7DA6-4C42DEB7A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567" y="743184"/>
            <a:ext cx="6820387" cy="4185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6234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D03D3F5-78BB-F2CD-C53D-8B1DBEE312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60" y="1183753"/>
            <a:ext cx="3003975" cy="112727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10F3932-C008-1E37-1FF6-D1612E5685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6984" y="1159608"/>
            <a:ext cx="4638403" cy="2302846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B086223D-3C92-320C-FDA4-2986A3EC8B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416" y="3557727"/>
            <a:ext cx="7127167" cy="1384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2290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7F6C8A2-6E4B-CC35-FBCA-FE785C2AC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60" y="885652"/>
            <a:ext cx="4733925" cy="48577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E9CEA9F8-4C91-6372-E31C-322AD64E5D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4981" y="885652"/>
            <a:ext cx="4377049" cy="21348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6F1E6A7D-9012-4072-5AB5-CCB5A5C9F1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85" y="3102531"/>
            <a:ext cx="7194129" cy="1916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6163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1E56B2D-1A7E-B595-8FDB-6BA836414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60" y="844856"/>
            <a:ext cx="3343275" cy="4572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3B87B3A4-251A-0315-F9EE-DAD61ADCB9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6641" y="954899"/>
            <a:ext cx="4611769" cy="2176646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21ECE62E-087E-6FA4-B8E1-ECB992A699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529" y="3131545"/>
            <a:ext cx="7135774" cy="1891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6021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21c03c1d1e6_1_133"/>
          <p:cNvSpPr txBox="1"/>
          <p:nvPr/>
        </p:nvSpPr>
        <p:spPr>
          <a:xfrm>
            <a:off x="186760" y="950300"/>
            <a:ext cx="8770500" cy="6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Problemas de la RNN básica con el BPTT</a:t>
            </a:r>
            <a:endParaRPr sz="1100" dirty="0">
              <a:solidFill>
                <a:srgbClr val="FF0000"/>
              </a:solidFill>
            </a:endParaRPr>
          </a:p>
        </p:txBody>
      </p:sp>
      <p:sp>
        <p:nvSpPr>
          <p:cNvPr id="237" name="Google Shape;237;g21c03c1d1e6_1_133"/>
          <p:cNvSpPr/>
          <p:nvPr/>
        </p:nvSpPr>
        <p:spPr>
          <a:xfrm>
            <a:off x="289774" y="1906300"/>
            <a:ext cx="8306873" cy="715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Vanishing gradient </a:t>
            </a: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 pérdida de aportes de long-term states</a:t>
            </a:r>
            <a:endParaRPr sz="21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(gradientes próximos a cero)</a:t>
            </a:r>
            <a:endParaRPr sz="21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8" name="Google Shape;238;g21c03c1d1e6_1_133"/>
          <p:cNvSpPr/>
          <p:nvPr/>
        </p:nvSpPr>
        <p:spPr>
          <a:xfrm>
            <a:off x="-95517" y="3128793"/>
            <a:ext cx="8914326" cy="715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Exploding gradient </a:t>
            </a: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soluciona con clipping gradient</a:t>
            </a:r>
            <a:endParaRPr sz="21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(gradientes mayores a 1)</a:t>
            </a:r>
            <a:endParaRPr sz="21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40" name="Google Shape;240;g21c03c1d1e6_1_133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E8989BDB-79B9-F6F2-549F-1A2E919CA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21c03c1d1e6_1_133">
            <a:extLst>
              <a:ext uri="{FF2B5EF4-FFF2-40B4-BE49-F238E27FC236}">
                <a16:creationId xmlns:a16="http://schemas.microsoft.com/office/drawing/2014/main" id="{BFAE2EAB-886F-BCFE-64F8-DCB85D8E60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2626D50-BB0A-7CE8-CED4-13918AAE117F}"/>
              </a:ext>
            </a:extLst>
          </p:cNvPr>
          <p:cNvSpPr txBox="1"/>
          <p:nvPr/>
        </p:nvSpPr>
        <p:spPr>
          <a:xfrm>
            <a:off x="230269" y="4778254"/>
            <a:ext cx="8826600" cy="273152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SimpleRNNRegressor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input_size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hidden_size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num_layers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n_out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N_FUTURE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4A0F87A-9C8A-8663-A914-A1281A91E6AA}"/>
              </a:ext>
            </a:extLst>
          </p:cNvPr>
          <p:cNvSpPr txBox="1"/>
          <p:nvPr/>
        </p:nvSpPr>
        <p:spPr>
          <a:xfrm>
            <a:off x="230269" y="4346055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Ver: </a:t>
            </a:r>
            <a:r>
              <a:rPr lang="es-ES" dirty="0" err="1"/>
              <a:t>RNN_vanishing_gradient.ipynb</a:t>
            </a:r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F2FB5EA-6C73-74B0-148C-BF82AE7B54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62" y="700087"/>
            <a:ext cx="8220075" cy="3743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558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A5BFCBEE-6674-5364-871A-B54E16949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21c03c1d1e6_1_133">
            <a:extLst>
              <a:ext uri="{FF2B5EF4-FFF2-40B4-BE49-F238E27FC236}">
                <a16:creationId xmlns:a16="http://schemas.microsoft.com/office/drawing/2014/main" id="{59943719-B7F0-CEF9-97F4-CC2E49510DF5}"/>
              </a:ext>
            </a:extLst>
          </p:cNvPr>
          <p:cNvSpPr/>
          <p:nvPr/>
        </p:nvSpPr>
        <p:spPr>
          <a:xfrm>
            <a:off x="10650" y="847946"/>
            <a:ext cx="89142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Solución con otras RNN mas avanzadas (LSTM y GRU)</a:t>
            </a:r>
            <a:endParaRPr sz="1100" dirty="0"/>
          </a:p>
        </p:txBody>
      </p:sp>
      <p:sp>
        <p:nvSpPr>
          <p:cNvPr id="240" name="Google Shape;240;g21c03c1d1e6_1_133">
            <a:extLst>
              <a:ext uri="{FF2B5EF4-FFF2-40B4-BE49-F238E27FC236}">
                <a16:creationId xmlns:a16="http://schemas.microsoft.com/office/drawing/2014/main" id="{3BABCE10-BCB8-343F-0B95-7530854B2D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D5FBCD3-7FFB-B68B-0977-0638AF7679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09" y="1587791"/>
            <a:ext cx="5805890" cy="29029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0751A2-BC9E-0E52-827C-A35BA93EDF5F}"/>
              </a:ext>
            </a:extLst>
          </p:cNvPr>
          <p:cNvSpPr txBox="1"/>
          <p:nvPr/>
        </p:nvSpPr>
        <p:spPr>
          <a:xfrm>
            <a:off x="2748709" y="3790151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>
                <a:solidFill>
                  <a:srgbClr val="FF0000"/>
                </a:solidFill>
              </a:rPr>
              <a:t>Input gate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734DE2-F282-0BE7-B8DD-4BF48C91805E}"/>
              </a:ext>
            </a:extLst>
          </p:cNvPr>
          <p:cNvSpPr txBox="1"/>
          <p:nvPr/>
        </p:nvSpPr>
        <p:spPr>
          <a:xfrm>
            <a:off x="1900410" y="2049485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 err="1">
                <a:solidFill>
                  <a:srgbClr val="FF0000"/>
                </a:solidFill>
              </a:rPr>
              <a:t>forget</a:t>
            </a:r>
            <a:r>
              <a:rPr lang="es-AR" sz="1400" dirty="0">
                <a:solidFill>
                  <a:srgbClr val="FF0000"/>
                </a:solidFill>
              </a:rPr>
              <a:t> gate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4A93BA-BBF1-200A-33A5-9EDC6860B6B2}"/>
              </a:ext>
            </a:extLst>
          </p:cNvPr>
          <p:cNvSpPr txBox="1"/>
          <p:nvPr/>
        </p:nvSpPr>
        <p:spPr>
          <a:xfrm>
            <a:off x="4092769" y="4076242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>
                <a:solidFill>
                  <a:srgbClr val="FF0000"/>
                </a:solidFill>
              </a:rPr>
              <a:t>output gate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E894D3-9313-884A-867C-991982DDDFD3}"/>
              </a:ext>
            </a:extLst>
          </p:cNvPr>
          <p:cNvSpPr/>
          <p:nvPr/>
        </p:nvSpPr>
        <p:spPr>
          <a:xfrm>
            <a:off x="98250" y="4661047"/>
            <a:ext cx="666610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AR" dirty="0"/>
              <a:t>https://blog.floydhub.com/long-short-term-memory-from-zero-to-hero-with-pytorch/</a:t>
            </a:r>
          </a:p>
        </p:txBody>
      </p:sp>
    </p:spTree>
    <p:extLst>
      <p:ext uri="{BB962C8B-B14F-4D97-AF65-F5344CB8AC3E}">
        <p14:creationId xmlns:p14="http://schemas.microsoft.com/office/powerpoint/2010/main" val="30641819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6748909B-8DF3-148F-A399-0EE473002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BCD5B1-74EF-2478-979A-41633BC357D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609" t="12548" r="18573" b="8029"/>
          <a:stretch/>
        </p:blipFill>
        <p:spPr>
          <a:xfrm>
            <a:off x="466323" y="1180091"/>
            <a:ext cx="5053127" cy="3591982"/>
          </a:xfrm>
          <a:prstGeom prst="rect">
            <a:avLst/>
          </a:prstGeom>
        </p:spPr>
      </p:pic>
      <p:sp>
        <p:nvSpPr>
          <p:cNvPr id="239" name="Google Shape;239;g21c03c1d1e6_1_133">
            <a:extLst>
              <a:ext uri="{FF2B5EF4-FFF2-40B4-BE49-F238E27FC236}">
                <a16:creationId xmlns:a16="http://schemas.microsoft.com/office/drawing/2014/main" id="{95CA89FD-2F4A-8478-5E4E-1D05F7CF1665}"/>
              </a:ext>
            </a:extLst>
          </p:cNvPr>
          <p:cNvSpPr/>
          <p:nvPr/>
        </p:nvSpPr>
        <p:spPr>
          <a:xfrm>
            <a:off x="54450" y="727107"/>
            <a:ext cx="89142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Solución con otras RNN mas avanzadas (LSTM y GRU)</a:t>
            </a:r>
            <a:endParaRPr sz="1100" dirty="0"/>
          </a:p>
        </p:txBody>
      </p:sp>
      <p:sp>
        <p:nvSpPr>
          <p:cNvPr id="240" name="Google Shape;240;g21c03c1d1e6_1_133">
            <a:extLst>
              <a:ext uri="{FF2B5EF4-FFF2-40B4-BE49-F238E27FC236}">
                <a16:creationId xmlns:a16="http://schemas.microsoft.com/office/drawing/2014/main" id="{3CBDDE66-D116-26DF-3BDF-09DC57CD7E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CFD0A2-88F0-4AE4-7F1B-9F16BBC3122C}"/>
              </a:ext>
            </a:extLst>
          </p:cNvPr>
          <p:cNvSpPr txBox="1"/>
          <p:nvPr/>
        </p:nvSpPr>
        <p:spPr>
          <a:xfrm>
            <a:off x="2126255" y="2145984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 err="1">
                <a:solidFill>
                  <a:srgbClr val="FF0000"/>
                </a:solidFill>
              </a:rPr>
              <a:t>reset</a:t>
            </a:r>
            <a:r>
              <a:rPr lang="es-AR" sz="1400" dirty="0">
                <a:solidFill>
                  <a:srgbClr val="FF0000"/>
                </a:solidFill>
              </a:rPr>
              <a:t> gate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4E8ACB-9FB5-EF51-BBFD-4D43E4723E28}"/>
              </a:ext>
            </a:extLst>
          </p:cNvPr>
          <p:cNvSpPr txBox="1"/>
          <p:nvPr/>
        </p:nvSpPr>
        <p:spPr>
          <a:xfrm>
            <a:off x="974993" y="1478857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 err="1">
                <a:solidFill>
                  <a:srgbClr val="FF0000"/>
                </a:solidFill>
              </a:rPr>
              <a:t>update</a:t>
            </a:r>
            <a:r>
              <a:rPr lang="es-AR" sz="1400" dirty="0">
                <a:solidFill>
                  <a:srgbClr val="FF0000"/>
                </a:solidFill>
              </a:rPr>
              <a:t> gate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83B887-C749-C288-7354-0A08D04B3CA0}"/>
              </a:ext>
            </a:extLst>
          </p:cNvPr>
          <p:cNvSpPr/>
          <p:nvPr/>
        </p:nvSpPr>
        <p:spPr>
          <a:xfrm>
            <a:off x="252146" y="4733631"/>
            <a:ext cx="615967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AR" dirty="0"/>
              <a:t>https://towardsdatascience.com/understanding-gru-networks-2ef37df6c9be</a:t>
            </a:r>
          </a:p>
        </p:txBody>
      </p:sp>
    </p:spTree>
    <p:extLst>
      <p:ext uri="{BB962C8B-B14F-4D97-AF65-F5344CB8AC3E}">
        <p14:creationId xmlns:p14="http://schemas.microsoft.com/office/powerpoint/2010/main" val="2387514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1c03c1d1e6_1_187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vs Tapped Delayed MLP</a:t>
            </a:r>
            <a:endParaRPr sz="1100"/>
          </a:p>
        </p:txBody>
      </p:sp>
      <p:graphicFrame>
        <p:nvGraphicFramePr>
          <p:cNvPr id="301" name="Google Shape;301;g21c03c1d1e6_1_187"/>
          <p:cNvGraphicFramePr/>
          <p:nvPr/>
        </p:nvGraphicFramePr>
        <p:xfrm>
          <a:off x="714776" y="1185909"/>
          <a:ext cx="7389000" cy="432000"/>
        </p:xfrm>
        <a:graphic>
          <a:graphicData uri="http://schemas.openxmlformats.org/drawingml/2006/table">
            <a:tbl>
              <a:tblPr>
                <a:noFill/>
                <a:tableStyleId>{D3E55744-8061-4CE5-AF87-22040F36E0A0}</a:tableStyleId>
              </a:tblPr>
              <a:tblGrid>
                <a:gridCol w="73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X(t=0)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X(t=1)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X(t=2)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X(t=3)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X(t=4)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X(t=5)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X(t=6)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r>
                        <a:rPr lang="en" sz="1400"/>
                        <a:t>X(t=7)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…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r>
                        <a:rPr lang="en" sz="1400"/>
                        <a:t>X(t=</a:t>
                      </a:r>
                      <a:r>
                        <a:rPr lang="en" sz="1800"/>
                        <a:t>τ</a:t>
                      </a:r>
                      <a:r>
                        <a:rPr lang="en" sz="1400"/>
                        <a:t>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2" name="Google Shape;302;g21c03c1d1e6_1_187"/>
          <p:cNvSpPr txBox="1"/>
          <p:nvPr/>
        </p:nvSpPr>
        <p:spPr>
          <a:xfrm>
            <a:off x="2868923" y="4658677"/>
            <a:ext cx="3679984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 RNN_signal_TP.ipynb</a:t>
            </a:r>
            <a:endParaRPr sz="18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03" name="Google Shape;303;g21c03c1d1e6_1_18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31333" y="3519164"/>
            <a:ext cx="1557636" cy="12823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g21c03c1d1e6_1_18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31333" y="1742213"/>
            <a:ext cx="1794424" cy="1401458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g21c03c1d1e6_1_1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de modelos</a:t>
            </a:r>
            <a:endParaRPr/>
          </a:p>
        </p:txBody>
      </p:sp>
      <p:sp>
        <p:nvSpPr>
          <p:cNvPr id="2" name="Google Shape;302;g21c03c1d1e6_1_187">
            <a:extLst>
              <a:ext uri="{FF2B5EF4-FFF2-40B4-BE49-F238E27FC236}">
                <a16:creationId xmlns:a16="http://schemas.microsoft.com/office/drawing/2014/main" id="{949CFA01-CB42-EB25-9D39-3B2DE8971298}"/>
              </a:ext>
            </a:extLst>
          </p:cNvPr>
          <p:cNvSpPr txBox="1"/>
          <p:nvPr/>
        </p:nvSpPr>
        <p:spPr>
          <a:xfrm>
            <a:off x="5488553" y="3078816"/>
            <a:ext cx="3679984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vs</a:t>
            </a:r>
            <a:endParaRPr sz="18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CD7A8EC-1E28-8C81-5C0A-651815BF225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808" r="48797" b="33475"/>
          <a:stretch>
            <a:fillRect/>
          </a:stretch>
        </p:blipFill>
        <p:spPr>
          <a:xfrm>
            <a:off x="813120" y="1882345"/>
            <a:ext cx="4111606" cy="2771258"/>
          </a:xfrm>
          <a:prstGeom prst="rect">
            <a:avLst/>
          </a:prstGeom>
        </p:spPr>
      </p:pic>
      <p:sp>
        <p:nvSpPr>
          <p:cNvPr id="5" name="Google Shape;302;g21c03c1d1e6_1_187">
            <a:extLst>
              <a:ext uri="{FF2B5EF4-FFF2-40B4-BE49-F238E27FC236}">
                <a16:creationId xmlns:a16="http://schemas.microsoft.com/office/drawing/2014/main" id="{DBF9B898-87D0-0634-5C03-136BE68A9C09}"/>
              </a:ext>
            </a:extLst>
          </p:cNvPr>
          <p:cNvSpPr txBox="1"/>
          <p:nvPr/>
        </p:nvSpPr>
        <p:spPr>
          <a:xfrm>
            <a:off x="1502091" y="714098"/>
            <a:ext cx="5455600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s-ES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</a:t>
            </a: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redicción serie temporal 1 muestra a futuro</a:t>
            </a:r>
            <a:endParaRPr sz="18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g21c03c1d1e6_1_1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8867" y="1043643"/>
            <a:ext cx="8080892" cy="367490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g21c03c1d1e6_1_140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1000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¡Un merecido descanso!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21c03c1d1e6_1_151"/>
          <p:cNvSpPr/>
          <p:nvPr/>
        </p:nvSpPr>
        <p:spPr>
          <a:xfrm>
            <a:off x="222159" y="4901126"/>
            <a:ext cx="798812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https://towardsdatascience.com/what-is-an-encoder-decoder-model-86b3d57c5e1a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60" name="Google Shape;260;g21c03c1d1e6_1_151"/>
          <p:cNvPicPr preferRelativeResize="0"/>
          <p:nvPr/>
        </p:nvPicPr>
        <p:blipFill rotWithShape="1">
          <a:blip r:embed="rId3">
            <a:alphaModFix/>
          </a:blip>
          <a:srcRect t="16398" b="28055"/>
          <a:stretch/>
        </p:blipFill>
        <p:spPr>
          <a:xfrm>
            <a:off x="902929" y="1070598"/>
            <a:ext cx="7307351" cy="2145451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21c03c1d1e6_1_151"/>
          <p:cNvSpPr/>
          <p:nvPr/>
        </p:nvSpPr>
        <p:spPr>
          <a:xfrm>
            <a:off x="3860355" y="3216049"/>
            <a:ext cx="4868303" cy="1685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RNN de distinto tamaño</a:t>
            </a:r>
            <a:endParaRPr sz="11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 Hidden state que “resume” toda la información de la input.</a:t>
            </a:r>
            <a:endParaRPr sz="11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Flexibilidad máxima para inputs/outputs de distinta longitud</a:t>
            </a:r>
            <a:endParaRPr sz="1100"/>
          </a:p>
        </p:txBody>
      </p:sp>
      <p:pic>
        <p:nvPicPr>
          <p:cNvPr id="262" name="Google Shape;262;g21c03c1d1e6_1_151"/>
          <p:cNvPicPr preferRelativeResize="0"/>
          <p:nvPr/>
        </p:nvPicPr>
        <p:blipFill rotWithShape="1">
          <a:blip r:embed="rId4">
            <a:alphaModFix/>
          </a:blip>
          <a:srcRect l="3577" t="7243" r="3320" b="11375"/>
          <a:stretch/>
        </p:blipFill>
        <p:spPr>
          <a:xfrm>
            <a:off x="222160" y="3351542"/>
            <a:ext cx="2946044" cy="155248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g21c03c1d1e6_1_1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g21c03c1d1e6_1_15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2160" y="1724126"/>
            <a:ext cx="8592315" cy="183840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g21c03c1d1e6_1_159"/>
          <p:cNvSpPr/>
          <p:nvPr/>
        </p:nvSpPr>
        <p:spPr>
          <a:xfrm>
            <a:off x="222160" y="4678127"/>
            <a:ext cx="453513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https://brunomaga.github.io/AI-Supercomputing-2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70" name="Google Shape;270;g21c03c1d1e6_1_159"/>
          <p:cNvSpPr/>
          <p:nvPr/>
        </p:nvSpPr>
        <p:spPr>
          <a:xfrm>
            <a:off x="3097280" y="3726450"/>
            <a:ext cx="1573872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Unfolded!!!!</a:t>
            </a:r>
            <a:endParaRPr dirty="0"/>
          </a:p>
        </p:txBody>
      </p:sp>
      <p:sp>
        <p:nvSpPr>
          <p:cNvPr id="271" name="Google Shape;271;g21c03c1d1e6_1_1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g21c03c1d1e6_1_166"/>
          <p:cNvPicPr preferRelativeResize="0"/>
          <p:nvPr/>
        </p:nvPicPr>
        <p:blipFill rotWithShape="1">
          <a:blip r:embed="rId3">
            <a:alphaModFix/>
          </a:blip>
          <a:srcRect l="37785"/>
          <a:stretch/>
        </p:blipFill>
        <p:spPr>
          <a:xfrm>
            <a:off x="3740620" y="1112010"/>
            <a:ext cx="5345718" cy="1838402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g21c03c1d1e6_1_166"/>
          <p:cNvSpPr/>
          <p:nvPr/>
        </p:nvSpPr>
        <p:spPr>
          <a:xfrm>
            <a:off x="222160" y="4678127"/>
            <a:ext cx="453513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https://brunomaga.github.io/AI-Supercomputing-2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78" name="Google Shape;278;g21c03c1d1e6_1_166"/>
          <p:cNvSpPr/>
          <p:nvPr/>
        </p:nvSpPr>
        <p:spPr>
          <a:xfrm>
            <a:off x="504296" y="3191198"/>
            <a:ext cx="2667413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ENCODER</a:t>
            </a:r>
            <a:endParaRPr sz="11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Siempre leen la secuencia entera</a:t>
            </a:r>
            <a:endParaRPr sz="1100"/>
          </a:p>
        </p:txBody>
      </p:sp>
      <p:pic>
        <p:nvPicPr>
          <p:cNvPr id="279" name="Google Shape;279;g21c03c1d1e6_1_166"/>
          <p:cNvPicPr preferRelativeResize="0"/>
          <p:nvPr/>
        </p:nvPicPr>
        <p:blipFill rotWithShape="1">
          <a:blip r:embed="rId3">
            <a:alphaModFix/>
          </a:blip>
          <a:srcRect r="62273"/>
          <a:stretch/>
        </p:blipFill>
        <p:spPr>
          <a:xfrm>
            <a:off x="227129" y="1112010"/>
            <a:ext cx="3241627" cy="1838402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g21c03c1d1e6_1_166"/>
          <p:cNvSpPr/>
          <p:nvPr/>
        </p:nvSpPr>
        <p:spPr>
          <a:xfrm>
            <a:off x="504296" y="3900038"/>
            <a:ext cx="2667413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Emiten un hidden state final</a:t>
            </a:r>
            <a:endParaRPr sz="1100"/>
          </a:p>
        </p:txBody>
      </p:sp>
      <p:sp>
        <p:nvSpPr>
          <p:cNvPr id="281" name="Google Shape;281;g21c03c1d1e6_1_166"/>
          <p:cNvSpPr/>
          <p:nvPr/>
        </p:nvSpPr>
        <p:spPr>
          <a:xfrm>
            <a:off x="3652400" y="3191198"/>
            <a:ext cx="4885544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DECODER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Entrenamiento </a:t>
            </a: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for i in range(len(y_deseado):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		genero_token</a:t>
            </a:r>
            <a:endParaRPr sz="15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Uso </a:t>
            </a: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while last_token =! &lt;EOS&gt;: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	genero_token</a:t>
            </a:r>
            <a:endParaRPr sz="15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2" name="Google Shape;282;g21c03c1d1e6_1_166"/>
          <p:cNvSpPr/>
          <p:nvPr/>
        </p:nvSpPr>
        <p:spPr>
          <a:xfrm>
            <a:off x="7125838" y="4736501"/>
            <a:ext cx="19605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TEACHER FORCING!!!</a:t>
            </a:r>
            <a:endParaRPr sz="15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3" name="Google Shape;283;g21c03c1d1e6_1_1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 entrenamiento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1c03c1d1e6_1_177"/>
          <p:cNvSpPr txBox="1"/>
          <p:nvPr/>
        </p:nvSpPr>
        <p:spPr>
          <a:xfrm>
            <a:off x="1185903" y="669650"/>
            <a:ext cx="6454800" cy="6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Arquitecturas flexibles IN/OUT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89" name="Google Shape;289;g21c03c1d1e6_1_17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078939"/>
            <a:ext cx="9143998" cy="286223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g21c03c1d1e6_1_177"/>
          <p:cNvSpPr txBox="1"/>
          <p:nvPr/>
        </p:nvSpPr>
        <p:spPr>
          <a:xfrm>
            <a:off x="330020" y="4045863"/>
            <a:ext cx="560232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latin typeface="Twentieth Century"/>
                <a:ea typeface="Twentieth Century"/>
                <a:cs typeface="Twentieth Century"/>
                <a:sym typeface="Twentieth Century"/>
              </a:rPr>
              <a:t>MLP</a:t>
            </a:r>
            <a:endParaRPr sz="1100"/>
          </a:p>
        </p:txBody>
      </p:sp>
      <p:sp>
        <p:nvSpPr>
          <p:cNvPr id="291" name="Google Shape;291;g21c03c1d1e6_1_177"/>
          <p:cNvSpPr txBox="1"/>
          <p:nvPr/>
        </p:nvSpPr>
        <p:spPr>
          <a:xfrm>
            <a:off x="1418285" y="4045863"/>
            <a:ext cx="1382870" cy="392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Img captioning</a:t>
            </a:r>
            <a:endParaRPr sz="140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2" name="Google Shape;292;g21c03c1d1e6_1_177"/>
          <p:cNvSpPr txBox="1"/>
          <p:nvPr/>
        </p:nvSpPr>
        <p:spPr>
          <a:xfrm>
            <a:off x="3189130" y="3729921"/>
            <a:ext cx="1658292" cy="609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Regresión</a:t>
            </a:r>
            <a:endParaRPr sz="1100" dirty="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Classificacion</a:t>
            </a:r>
            <a:endParaRPr sz="14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Sentiment classification</a:t>
            </a:r>
            <a:endParaRPr sz="14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Resumen de videos</a:t>
            </a:r>
            <a:endParaRPr sz="1100" dirty="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endParaRPr sz="1400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3" name="Google Shape;293;g21c03c1d1e6_1_177"/>
          <p:cNvSpPr txBox="1"/>
          <p:nvPr/>
        </p:nvSpPr>
        <p:spPr>
          <a:xfrm>
            <a:off x="5100033" y="4045863"/>
            <a:ext cx="2327857" cy="392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Regresión varios futuros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Traducción</a:t>
            </a:r>
            <a:endParaRPr sz="1100"/>
          </a:p>
        </p:txBody>
      </p:sp>
      <p:sp>
        <p:nvSpPr>
          <p:cNvPr id="294" name="Google Shape;294;g21c03c1d1e6_1_177"/>
          <p:cNvSpPr txBox="1"/>
          <p:nvPr/>
        </p:nvSpPr>
        <p:spPr>
          <a:xfrm>
            <a:off x="7532531" y="4045863"/>
            <a:ext cx="1276618" cy="392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Video class frame lvl</a:t>
            </a:r>
            <a:endParaRPr sz="140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5" name="Google Shape;295;g21c03c1d1e6_1_17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Redes recurrentes - Arquitectura enconder-decoder (seq to seq)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1c03c1d1e6_1_187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vs Tapped Delayed MLP</a:t>
            </a:r>
            <a:endParaRPr sz="1100"/>
          </a:p>
        </p:txBody>
      </p:sp>
      <p:graphicFrame>
        <p:nvGraphicFramePr>
          <p:cNvPr id="301" name="Google Shape;301;g21c03c1d1e6_1_187"/>
          <p:cNvGraphicFramePr/>
          <p:nvPr>
            <p:extLst>
              <p:ext uri="{D42A27DB-BD31-4B8C-83A1-F6EECF244321}">
                <p14:modId xmlns:p14="http://schemas.microsoft.com/office/powerpoint/2010/main" val="950352069"/>
              </p:ext>
            </p:extLst>
          </p:nvPr>
        </p:nvGraphicFramePr>
        <p:xfrm>
          <a:off x="268132" y="1058051"/>
          <a:ext cx="8772744" cy="432000"/>
        </p:xfrm>
        <a:graphic>
          <a:graphicData uri="http://schemas.openxmlformats.org/drawingml/2006/table">
            <a:tbl>
              <a:tblPr>
                <a:noFill/>
                <a:tableStyleId>{D3E55744-8061-4CE5-AF87-22040F36E0A0}</a:tableStyleId>
              </a:tblPr>
              <a:tblGrid>
                <a:gridCol w="731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44772">
                  <a:extLst>
                    <a:ext uri="{9D8B030D-6E8A-4147-A177-3AD203B41FA5}">
                      <a16:colId xmlns:a16="http://schemas.microsoft.com/office/drawing/2014/main" val="2224162106"/>
                    </a:ext>
                  </a:extLst>
                </a:gridCol>
                <a:gridCol w="917352">
                  <a:extLst>
                    <a:ext uri="{9D8B030D-6E8A-4147-A177-3AD203B41FA5}">
                      <a16:colId xmlns:a16="http://schemas.microsoft.com/office/drawing/2014/main" val="858613290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X(t=0)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X(t=1)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X(t=2)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X(t=3)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X(t=4)</a:t>
                      </a:r>
                      <a:endParaRPr sz="1100" dirty="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X(t=5)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X(t=6)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r>
                        <a:rPr lang="en" sz="1400" dirty="0"/>
                        <a:t>X(t=7)</a:t>
                      </a:r>
                      <a:endParaRPr sz="1100" dirty="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…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r>
                        <a:rPr lang="en" sz="1400" dirty="0"/>
                        <a:t>X(t=</a:t>
                      </a:r>
                      <a:r>
                        <a:rPr lang="en" sz="1800" dirty="0"/>
                        <a:t>τ</a:t>
                      </a:r>
                      <a:r>
                        <a:rPr lang="en" sz="1400" dirty="0"/>
                        <a:t>)</a:t>
                      </a:r>
                      <a:endParaRPr sz="1100" dirty="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r>
                        <a:rPr lang="es-AR" sz="1100" dirty="0"/>
                        <a:t>…</a:t>
                      </a:r>
                      <a:endParaRPr sz="1100" dirty="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  <a:tabLst/>
                        <a:defRPr/>
                      </a:pPr>
                      <a:r>
                        <a:rPr lang="es-ES" sz="1400" b="0" i="0" u="none" strike="noStrike" cap="none" dirty="0">
                          <a:solidFill>
                            <a:schemeClr val="dk1"/>
                          </a:solidFill>
                          <a:latin typeface="Tw Cen MT"/>
                          <a:sym typeface="Arial"/>
                        </a:rPr>
                        <a:t>X(t=</a:t>
                      </a:r>
                      <a:r>
                        <a:rPr lang="el-GR" sz="1400" b="0" i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τ</a:t>
                      </a:r>
                      <a:r>
                        <a:rPr lang="es-AR" sz="1400" b="0" i="0" u="none" strike="noStrike" cap="none" dirty="0">
                          <a:solidFill>
                            <a:schemeClr val="dk1"/>
                          </a:solidFill>
                          <a:latin typeface="Tw Cen MT"/>
                          <a:sym typeface="Arial"/>
                        </a:rPr>
                        <a:t>+10</a:t>
                      </a:r>
                      <a:r>
                        <a:rPr lang="el-GR" sz="1400" b="0" i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)</a:t>
                      </a:r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2" name="Google Shape;302;g21c03c1d1e6_1_187"/>
          <p:cNvSpPr txBox="1"/>
          <p:nvPr/>
        </p:nvSpPr>
        <p:spPr>
          <a:xfrm>
            <a:off x="4136785" y="3895715"/>
            <a:ext cx="3679984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 RNN_enc_dec.ipynb</a:t>
            </a:r>
            <a:endParaRPr sz="18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05" name="Google Shape;305;g21c03c1d1e6_1_1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Redes recurrentes - Implementación de modelos enconder-decoder</a:t>
            </a:r>
            <a:endParaRPr dirty="0"/>
          </a:p>
        </p:txBody>
      </p:sp>
      <p:pic>
        <p:nvPicPr>
          <p:cNvPr id="2" name="Google Shape;268;g21c03c1d1e6_1_159">
            <a:extLst>
              <a:ext uri="{FF2B5EF4-FFF2-40B4-BE49-F238E27FC236}">
                <a16:creationId xmlns:a16="http://schemas.microsoft.com/office/drawing/2014/main" id="{8EE2EC0A-B294-4082-D5F3-773F74E554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1654" y="1600631"/>
            <a:ext cx="7262122" cy="1499812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0540F1F9-F686-BA1A-A203-F0D8D6C7A80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5402" t="34971" r="1" b="34303"/>
          <a:stretch>
            <a:fillRect/>
          </a:stretch>
        </p:blipFill>
        <p:spPr>
          <a:xfrm>
            <a:off x="618978" y="3320480"/>
            <a:ext cx="2402777" cy="1652537"/>
          </a:xfrm>
          <a:prstGeom prst="rect">
            <a:avLst/>
          </a:prstGeom>
        </p:spPr>
      </p:pic>
      <p:sp>
        <p:nvSpPr>
          <p:cNvPr id="4" name="Google Shape;302;g21c03c1d1e6_1_187">
            <a:extLst>
              <a:ext uri="{FF2B5EF4-FFF2-40B4-BE49-F238E27FC236}">
                <a16:creationId xmlns:a16="http://schemas.microsoft.com/office/drawing/2014/main" id="{9ED7E9E9-59C9-6343-8F43-CF878350A681}"/>
              </a:ext>
            </a:extLst>
          </p:cNvPr>
          <p:cNvSpPr txBox="1"/>
          <p:nvPr/>
        </p:nvSpPr>
        <p:spPr>
          <a:xfrm>
            <a:off x="1543342" y="616200"/>
            <a:ext cx="5455600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s-ES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</a:t>
            </a: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redicción serie temporal 10 muestra a futuro</a:t>
            </a:r>
            <a:endParaRPr sz="18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25154685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>
          <a:extLst>
            <a:ext uri="{FF2B5EF4-FFF2-40B4-BE49-F238E27FC236}">
              <a16:creationId xmlns:a16="http://schemas.microsoft.com/office/drawing/2014/main" id="{0F5D1FD2-B011-1094-AABC-E01B60BBB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21c03c1d1e6_1_166">
            <a:extLst>
              <a:ext uri="{FF2B5EF4-FFF2-40B4-BE49-F238E27FC236}">
                <a16:creationId xmlns:a16="http://schemas.microsoft.com/office/drawing/2014/main" id="{4D2545CE-9D97-D9E9-78CC-417C0CCDEBFF}"/>
              </a:ext>
            </a:extLst>
          </p:cNvPr>
          <p:cNvSpPr/>
          <p:nvPr/>
        </p:nvSpPr>
        <p:spPr>
          <a:xfrm>
            <a:off x="3443064" y="3368386"/>
            <a:ext cx="2667413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ENCODER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Siempre leen la secuencia entera</a:t>
            </a:r>
            <a:endParaRPr sz="1100" dirty="0"/>
          </a:p>
        </p:txBody>
      </p:sp>
      <p:pic>
        <p:nvPicPr>
          <p:cNvPr id="279" name="Google Shape;279;g21c03c1d1e6_1_166">
            <a:extLst>
              <a:ext uri="{FF2B5EF4-FFF2-40B4-BE49-F238E27FC236}">
                <a16:creationId xmlns:a16="http://schemas.microsoft.com/office/drawing/2014/main" id="{EA7E2BBC-3069-251B-26CE-0EB273FBB81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62273"/>
          <a:stretch/>
        </p:blipFill>
        <p:spPr>
          <a:xfrm>
            <a:off x="2365064" y="1009062"/>
            <a:ext cx="3241627" cy="1838402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g21c03c1d1e6_1_166">
            <a:extLst>
              <a:ext uri="{FF2B5EF4-FFF2-40B4-BE49-F238E27FC236}">
                <a16:creationId xmlns:a16="http://schemas.microsoft.com/office/drawing/2014/main" id="{ED2E2AE3-AC0D-1861-15E7-A3BC3315CBC6}"/>
              </a:ext>
            </a:extLst>
          </p:cNvPr>
          <p:cNvSpPr/>
          <p:nvPr/>
        </p:nvSpPr>
        <p:spPr>
          <a:xfrm>
            <a:off x="5729439" y="1822632"/>
            <a:ext cx="2667413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Emiten un hidden state final</a:t>
            </a:r>
            <a:endParaRPr sz="1100" dirty="0"/>
          </a:p>
        </p:txBody>
      </p:sp>
      <p:sp>
        <p:nvSpPr>
          <p:cNvPr id="283" name="Google Shape;283;g21c03c1d1e6_1_166">
            <a:extLst>
              <a:ext uri="{FF2B5EF4-FFF2-40B4-BE49-F238E27FC236}">
                <a16:creationId xmlns:a16="http://schemas.microsoft.com/office/drawing/2014/main" id="{5BACD7B2-93BB-03C0-7408-254540BF97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 entrenamiento</a:t>
            </a:r>
            <a:endParaRPr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10D34D73-EDC4-7385-58EE-79485D90E8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5942" t="34971" r="1" b="34303"/>
          <a:stretch>
            <a:fillRect/>
          </a:stretch>
        </p:blipFill>
        <p:spPr>
          <a:xfrm>
            <a:off x="767960" y="3263759"/>
            <a:ext cx="2350048" cy="1652537"/>
          </a:xfrm>
          <a:prstGeom prst="rect">
            <a:avLst/>
          </a:prstGeom>
        </p:spPr>
      </p:pic>
      <p:sp>
        <p:nvSpPr>
          <p:cNvPr id="3" name="Cerrar llave 2">
            <a:extLst>
              <a:ext uri="{FF2B5EF4-FFF2-40B4-BE49-F238E27FC236}">
                <a16:creationId xmlns:a16="http://schemas.microsoft.com/office/drawing/2014/main" id="{2C9AF49B-D757-9073-B95C-52D2D516DD4E}"/>
              </a:ext>
            </a:extLst>
          </p:cNvPr>
          <p:cNvSpPr/>
          <p:nvPr/>
        </p:nvSpPr>
        <p:spPr>
          <a:xfrm rot="16200000">
            <a:off x="1652193" y="2672356"/>
            <a:ext cx="238484" cy="1792276"/>
          </a:xfrm>
          <a:prstGeom prst="rightBrace">
            <a:avLst>
              <a:gd name="adj1" fmla="val 8333"/>
              <a:gd name="adj2" fmla="val 48417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AD2421D7-EEDB-0CF9-E975-AB43E5CC4BC3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1753173" y="3135885"/>
            <a:ext cx="2221052" cy="253583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Cerrar llave 5">
            <a:extLst>
              <a:ext uri="{FF2B5EF4-FFF2-40B4-BE49-F238E27FC236}">
                <a16:creationId xmlns:a16="http://schemas.microsoft.com/office/drawing/2014/main" id="{A626ECD6-707C-E635-A38F-DA62C5FF34D9}"/>
              </a:ext>
            </a:extLst>
          </p:cNvPr>
          <p:cNvSpPr/>
          <p:nvPr/>
        </p:nvSpPr>
        <p:spPr>
          <a:xfrm rot="5400000">
            <a:off x="3723614" y="1949215"/>
            <a:ext cx="440012" cy="1933328"/>
          </a:xfrm>
          <a:prstGeom prst="rightBrace">
            <a:avLst>
              <a:gd name="adj1" fmla="val 8333"/>
              <a:gd name="adj2" fmla="val 48417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Google Shape;280;g21c03c1d1e6_1_166">
            <a:extLst>
              <a:ext uri="{FF2B5EF4-FFF2-40B4-BE49-F238E27FC236}">
                <a16:creationId xmlns:a16="http://schemas.microsoft.com/office/drawing/2014/main" id="{C34A7C7E-D38C-B16A-3476-D7E646797D09}"/>
              </a:ext>
            </a:extLst>
          </p:cNvPr>
          <p:cNvSpPr/>
          <p:nvPr/>
        </p:nvSpPr>
        <p:spPr>
          <a:xfrm>
            <a:off x="196286" y="892759"/>
            <a:ext cx="2667413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No</a:t>
            </a: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nos interesa ningún output temporal del ENC</a:t>
            </a:r>
            <a:endParaRPr sz="1100" dirty="0"/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41803B0A-BD5F-8BDF-7783-6478B5984F07}"/>
              </a:ext>
            </a:extLst>
          </p:cNvPr>
          <p:cNvCxnSpPr>
            <a:cxnSpLocks/>
          </p:cNvCxnSpPr>
          <p:nvPr/>
        </p:nvCxnSpPr>
        <p:spPr>
          <a:xfrm>
            <a:off x="2014143" y="1250413"/>
            <a:ext cx="1691583" cy="28321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2103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>
          <a:extLst>
            <a:ext uri="{FF2B5EF4-FFF2-40B4-BE49-F238E27FC236}">
              <a16:creationId xmlns:a16="http://schemas.microsoft.com/office/drawing/2014/main" id="{972F5937-5AAD-3073-DB85-E28AF387D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g21c03c1d1e6_1_166">
            <a:extLst>
              <a:ext uri="{FF2B5EF4-FFF2-40B4-BE49-F238E27FC236}">
                <a16:creationId xmlns:a16="http://schemas.microsoft.com/office/drawing/2014/main" id="{D799AA08-39B5-BA9C-8A6B-E0A36B98C5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7785"/>
          <a:stretch/>
        </p:blipFill>
        <p:spPr>
          <a:xfrm>
            <a:off x="1137671" y="1512542"/>
            <a:ext cx="6679418" cy="2317894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g21c03c1d1e6_1_166">
            <a:extLst>
              <a:ext uri="{FF2B5EF4-FFF2-40B4-BE49-F238E27FC236}">
                <a16:creationId xmlns:a16="http://schemas.microsoft.com/office/drawing/2014/main" id="{90ADABC8-E778-1E8E-50B5-54B29F7327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 entrenamiento</a:t>
            </a:r>
            <a:endParaRPr/>
          </a:p>
        </p:txBody>
      </p:sp>
      <p:sp>
        <p:nvSpPr>
          <p:cNvPr id="2" name="Google Shape;278;g21c03c1d1e6_1_166">
            <a:extLst>
              <a:ext uri="{FF2B5EF4-FFF2-40B4-BE49-F238E27FC236}">
                <a16:creationId xmlns:a16="http://schemas.microsoft.com/office/drawing/2014/main" id="{082B997E-A442-9230-CCA9-AEDC57C8FB9E}"/>
              </a:ext>
            </a:extLst>
          </p:cNvPr>
          <p:cNvSpPr/>
          <p:nvPr/>
        </p:nvSpPr>
        <p:spPr>
          <a:xfrm>
            <a:off x="1906219" y="4286589"/>
            <a:ext cx="1950761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Último valor de la serie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</a:t>
            </a:r>
            <a:r>
              <a:rPr lang="es-ES" sz="15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last_sample</a:t>
            </a: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)</a:t>
            </a:r>
            <a:endParaRPr lang="es-ES" sz="1100" dirty="0"/>
          </a:p>
        </p:txBody>
      </p:sp>
      <p:sp>
        <p:nvSpPr>
          <p:cNvPr id="6" name="Google Shape;278;g21c03c1d1e6_1_166">
            <a:extLst>
              <a:ext uri="{FF2B5EF4-FFF2-40B4-BE49-F238E27FC236}">
                <a16:creationId xmlns:a16="http://schemas.microsoft.com/office/drawing/2014/main" id="{B5916165-F354-6CCC-36B6-F5F8F9909EA3}"/>
              </a:ext>
            </a:extLst>
          </p:cNvPr>
          <p:cNvSpPr/>
          <p:nvPr/>
        </p:nvSpPr>
        <p:spPr>
          <a:xfrm>
            <a:off x="162291" y="2234152"/>
            <a:ext cx="1164620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Último </a:t>
            </a:r>
            <a:r>
              <a:rPr lang="es-ES" sz="15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hidden_state</a:t>
            </a: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ENC</a:t>
            </a:r>
            <a:endParaRPr lang="es-ES" sz="1100" dirty="0"/>
          </a:p>
        </p:txBody>
      </p:sp>
      <p:sp>
        <p:nvSpPr>
          <p:cNvPr id="7" name="Google Shape;278;g21c03c1d1e6_1_166">
            <a:extLst>
              <a:ext uri="{FF2B5EF4-FFF2-40B4-BE49-F238E27FC236}">
                <a16:creationId xmlns:a16="http://schemas.microsoft.com/office/drawing/2014/main" id="{38C17CAC-84ED-5769-7F95-019B38A882A6}"/>
              </a:ext>
            </a:extLst>
          </p:cNvPr>
          <p:cNvSpPr/>
          <p:nvPr/>
        </p:nvSpPr>
        <p:spPr>
          <a:xfrm>
            <a:off x="1527188" y="1107862"/>
            <a:ext cx="1429144" cy="341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Predicción DEC</a:t>
            </a:r>
            <a:endParaRPr lang="es-ES" sz="11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3B970CA6-5170-4526-EF42-92BC2DD04E6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5156" t="34971" b="34303"/>
          <a:stretch>
            <a:fillRect/>
          </a:stretch>
        </p:blipFill>
        <p:spPr>
          <a:xfrm>
            <a:off x="162290" y="3435180"/>
            <a:ext cx="1450051" cy="1652537"/>
          </a:xfrm>
          <a:prstGeom prst="rect">
            <a:avLst/>
          </a:prstGeom>
        </p:spPr>
      </p:pic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180EEED8-A726-A7B7-E4B9-3B38EEF7EB0F}"/>
              </a:ext>
            </a:extLst>
          </p:cNvPr>
          <p:cNvCxnSpPr>
            <a:cxnSpLocks/>
          </p:cNvCxnSpPr>
          <p:nvPr/>
        </p:nvCxnSpPr>
        <p:spPr>
          <a:xfrm flipV="1">
            <a:off x="1137671" y="3627091"/>
            <a:ext cx="1323791" cy="31239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9A032A58-1C5A-05F1-08B1-D12ED250AF72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2221583" y="1449554"/>
            <a:ext cx="20177" cy="35945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915E8F6E-425B-1272-FC94-6A65260C191B}"/>
              </a:ext>
            </a:extLst>
          </p:cNvPr>
          <p:cNvCxnSpPr>
            <a:cxnSpLocks/>
          </p:cNvCxnSpPr>
          <p:nvPr/>
        </p:nvCxnSpPr>
        <p:spPr>
          <a:xfrm flipV="1">
            <a:off x="2461462" y="3627091"/>
            <a:ext cx="0" cy="6111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32624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>
          <a:extLst>
            <a:ext uri="{FF2B5EF4-FFF2-40B4-BE49-F238E27FC236}">
              <a16:creationId xmlns:a16="http://schemas.microsoft.com/office/drawing/2014/main" id="{C8619D86-1E39-225B-77B4-8331D23CE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g21c03c1d1e6_1_166">
            <a:extLst>
              <a:ext uri="{FF2B5EF4-FFF2-40B4-BE49-F238E27FC236}">
                <a16:creationId xmlns:a16="http://schemas.microsoft.com/office/drawing/2014/main" id="{943CA926-0B95-4752-3912-E67625C9ED5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7785"/>
          <a:stretch/>
        </p:blipFill>
        <p:spPr>
          <a:xfrm>
            <a:off x="1137671" y="1512542"/>
            <a:ext cx="6679418" cy="2317894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g21c03c1d1e6_1_166">
            <a:extLst>
              <a:ext uri="{FF2B5EF4-FFF2-40B4-BE49-F238E27FC236}">
                <a16:creationId xmlns:a16="http://schemas.microsoft.com/office/drawing/2014/main" id="{C013678D-02A9-469D-E424-9EDB15088C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 entrenamiento</a:t>
            </a:r>
            <a:endParaRPr/>
          </a:p>
        </p:txBody>
      </p:sp>
      <p:sp>
        <p:nvSpPr>
          <p:cNvPr id="2" name="Google Shape;278;g21c03c1d1e6_1_166">
            <a:extLst>
              <a:ext uri="{FF2B5EF4-FFF2-40B4-BE49-F238E27FC236}">
                <a16:creationId xmlns:a16="http://schemas.microsoft.com/office/drawing/2014/main" id="{E9C15745-F317-4A8B-990F-39E83750ED7E}"/>
              </a:ext>
            </a:extLst>
          </p:cNvPr>
          <p:cNvSpPr/>
          <p:nvPr/>
        </p:nvSpPr>
        <p:spPr>
          <a:xfrm>
            <a:off x="3314774" y="3678629"/>
            <a:ext cx="1257226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Último valor PREDICHO!</a:t>
            </a:r>
            <a:endParaRPr lang="es-ES" sz="1100" dirty="0"/>
          </a:p>
        </p:txBody>
      </p:sp>
      <p:sp>
        <p:nvSpPr>
          <p:cNvPr id="6" name="Google Shape;278;g21c03c1d1e6_1_166">
            <a:extLst>
              <a:ext uri="{FF2B5EF4-FFF2-40B4-BE49-F238E27FC236}">
                <a16:creationId xmlns:a16="http://schemas.microsoft.com/office/drawing/2014/main" id="{DC5EC017-0E51-0959-3C83-05556D32F4FB}"/>
              </a:ext>
            </a:extLst>
          </p:cNvPr>
          <p:cNvSpPr/>
          <p:nvPr/>
        </p:nvSpPr>
        <p:spPr>
          <a:xfrm>
            <a:off x="1815050" y="3830436"/>
            <a:ext cx="1164620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Último </a:t>
            </a:r>
            <a:r>
              <a:rPr lang="es-ES" sz="15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hidden_state</a:t>
            </a: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DEC</a:t>
            </a:r>
            <a:endParaRPr lang="es-ES" sz="1100" dirty="0"/>
          </a:p>
        </p:txBody>
      </p:sp>
      <p:sp>
        <p:nvSpPr>
          <p:cNvPr id="7" name="Google Shape;278;g21c03c1d1e6_1_166">
            <a:extLst>
              <a:ext uri="{FF2B5EF4-FFF2-40B4-BE49-F238E27FC236}">
                <a16:creationId xmlns:a16="http://schemas.microsoft.com/office/drawing/2014/main" id="{C9B87350-87A0-0F90-371E-9473B3C80AE6}"/>
              </a:ext>
            </a:extLst>
          </p:cNvPr>
          <p:cNvSpPr/>
          <p:nvPr/>
        </p:nvSpPr>
        <p:spPr>
          <a:xfrm>
            <a:off x="2723471" y="1107447"/>
            <a:ext cx="1429144" cy="341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Predicción DEC</a:t>
            </a:r>
            <a:endParaRPr lang="es-ES" sz="1100" dirty="0"/>
          </a:p>
        </p:txBody>
      </p:sp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78BD7913-1072-F40F-0FA2-BD65E5D8D78D}"/>
              </a:ext>
            </a:extLst>
          </p:cNvPr>
          <p:cNvCxnSpPr>
            <a:cxnSpLocks/>
            <a:stCxn id="3" idx="6"/>
          </p:cNvCxnSpPr>
          <p:nvPr/>
        </p:nvCxnSpPr>
        <p:spPr>
          <a:xfrm>
            <a:off x="2622586" y="1891649"/>
            <a:ext cx="927428" cy="157924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10E29BB7-7FE9-BC69-3775-F312D546DF02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3417866" y="1449139"/>
            <a:ext cx="20177" cy="35945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" name="Elipse 2">
            <a:extLst>
              <a:ext uri="{FF2B5EF4-FFF2-40B4-BE49-F238E27FC236}">
                <a16:creationId xmlns:a16="http://schemas.microsoft.com/office/drawing/2014/main" id="{F30897AB-E9AE-31F1-DE8D-11614F7EE57F}"/>
              </a:ext>
            </a:extLst>
          </p:cNvPr>
          <p:cNvSpPr/>
          <p:nvPr/>
        </p:nvSpPr>
        <p:spPr>
          <a:xfrm>
            <a:off x="1938803" y="1711922"/>
            <a:ext cx="683783" cy="35945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E826BA89-8DD5-2D94-E08E-C9F3971FE4A1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2397360" y="3389354"/>
            <a:ext cx="680737" cy="44108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53715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>
          <a:extLst>
            <a:ext uri="{FF2B5EF4-FFF2-40B4-BE49-F238E27FC236}">
              <a16:creationId xmlns:a16="http://schemas.microsoft.com/office/drawing/2014/main" id="{19F3D597-EFD9-FBD9-B889-3E595CCB1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g21c03c1d1e6_1_166">
            <a:extLst>
              <a:ext uri="{FF2B5EF4-FFF2-40B4-BE49-F238E27FC236}">
                <a16:creationId xmlns:a16="http://schemas.microsoft.com/office/drawing/2014/main" id="{CBD8D113-008D-E3B1-A358-253E76262C0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7785"/>
          <a:stretch/>
        </p:blipFill>
        <p:spPr>
          <a:xfrm>
            <a:off x="1137671" y="1512542"/>
            <a:ext cx="6679418" cy="2317894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g21c03c1d1e6_1_166">
            <a:extLst>
              <a:ext uri="{FF2B5EF4-FFF2-40B4-BE49-F238E27FC236}">
                <a16:creationId xmlns:a16="http://schemas.microsoft.com/office/drawing/2014/main" id="{CA50DC0C-534D-33DF-0F64-0C0D390386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 entrenamiento</a:t>
            </a:r>
            <a:endParaRPr/>
          </a:p>
        </p:txBody>
      </p:sp>
      <p:sp>
        <p:nvSpPr>
          <p:cNvPr id="2" name="Google Shape;278;g21c03c1d1e6_1_166">
            <a:extLst>
              <a:ext uri="{FF2B5EF4-FFF2-40B4-BE49-F238E27FC236}">
                <a16:creationId xmlns:a16="http://schemas.microsoft.com/office/drawing/2014/main" id="{10E2FCE4-D501-EC0E-A8EB-4FDB1F730931}"/>
              </a:ext>
            </a:extLst>
          </p:cNvPr>
          <p:cNvSpPr/>
          <p:nvPr/>
        </p:nvSpPr>
        <p:spPr>
          <a:xfrm>
            <a:off x="4627935" y="3678629"/>
            <a:ext cx="1257226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Último valor PREDICHO!</a:t>
            </a:r>
            <a:endParaRPr lang="es-ES" sz="1100" dirty="0"/>
          </a:p>
        </p:txBody>
      </p:sp>
      <p:sp>
        <p:nvSpPr>
          <p:cNvPr id="6" name="Google Shape;278;g21c03c1d1e6_1_166">
            <a:extLst>
              <a:ext uri="{FF2B5EF4-FFF2-40B4-BE49-F238E27FC236}">
                <a16:creationId xmlns:a16="http://schemas.microsoft.com/office/drawing/2014/main" id="{87ADE8E1-CB09-D6DE-C845-E632E8A5F6F0}"/>
              </a:ext>
            </a:extLst>
          </p:cNvPr>
          <p:cNvSpPr/>
          <p:nvPr/>
        </p:nvSpPr>
        <p:spPr>
          <a:xfrm>
            <a:off x="3128211" y="3830436"/>
            <a:ext cx="1164620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Último </a:t>
            </a:r>
            <a:r>
              <a:rPr lang="es-ES" sz="15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hidden_state</a:t>
            </a: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DEC</a:t>
            </a:r>
            <a:endParaRPr lang="es-ES" sz="1100" dirty="0"/>
          </a:p>
        </p:txBody>
      </p:sp>
      <p:sp>
        <p:nvSpPr>
          <p:cNvPr id="7" name="Google Shape;278;g21c03c1d1e6_1_166">
            <a:extLst>
              <a:ext uri="{FF2B5EF4-FFF2-40B4-BE49-F238E27FC236}">
                <a16:creationId xmlns:a16="http://schemas.microsoft.com/office/drawing/2014/main" id="{47BCD4B2-EB06-C890-0936-626883FFA06A}"/>
              </a:ext>
            </a:extLst>
          </p:cNvPr>
          <p:cNvSpPr/>
          <p:nvPr/>
        </p:nvSpPr>
        <p:spPr>
          <a:xfrm>
            <a:off x="4036632" y="1107447"/>
            <a:ext cx="1429144" cy="341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Predicción DEC</a:t>
            </a:r>
            <a:endParaRPr lang="es-ES" sz="1100" dirty="0"/>
          </a:p>
        </p:txBody>
      </p:sp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5945352E-0B70-F5B8-433E-93C9E9F09039}"/>
              </a:ext>
            </a:extLst>
          </p:cNvPr>
          <p:cNvCxnSpPr>
            <a:cxnSpLocks/>
            <a:stCxn id="3" idx="6"/>
          </p:cNvCxnSpPr>
          <p:nvPr/>
        </p:nvCxnSpPr>
        <p:spPr>
          <a:xfrm>
            <a:off x="3935747" y="1891649"/>
            <a:ext cx="927428" cy="157924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997C5A99-3289-23E9-53D2-83A5F271674E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4731027" y="1449139"/>
            <a:ext cx="20177" cy="35945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" name="Elipse 2">
            <a:extLst>
              <a:ext uri="{FF2B5EF4-FFF2-40B4-BE49-F238E27FC236}">
                <a16:creationId xmlns:a16="http://schemas.microsoft.com/office/drawing/2014/main" id="{D92097DB-B78F-9269-E406-08EBE9007E00}"/>
              </a:ext>
            </a:extLst>
          </p:cNvPr>
          <p:cNvSpPr/>
          <p:nvPr/>
        </p:nvSpPr>
        <p:spPr>
          <a:xfrm>
            <a:off x="3251964" y="1711922"/>
            <a:ext cx="683783" cy="35945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CF9B6A33-CA64-5231-7D72-64C6B3E18299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3710521" y="3389354"/>
            <a:ext cx="680737" cy="44108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31617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>
          <a:extLst>
            <a:ext uri="{FF2B5EF4-FFF2-40B4-BE49-F238E27FC236}">
              <a16:creationId xmlns:a16="http://schemas.microsoft.com/office/drawing/2014/main" id="{61BD95F8-FF37-F0EB-3EBC-10E7B1BD0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g21c03c1d1e6_1_166">
            <a:extLst>
              <a:ext uri="{FF2B5EF4-FFF2-40B4-BE49-F238E27FC236}">
                <a16:creationId xmlns:a16="http://schemas.microsoft.com/office/drawing/2014/main" id="{E91E3C12-A3CA-1553-F8AF-88E49B7CA80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7785"/>
          <a:stretch/>
        </p:blipFill>
        <p:spPr>
          <a:xfrm>
            <a:off x="1137671" y="1512542"/>
            <a:ext cx="6679418" cy="2317894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g21c03c1d1e6_1_166">
            <a:extLst>
              <a:ext uri="{FF2B5EF4-FFF2-40B4-BE49-F238E27FC236}">
                <a16:creationId xmlns:a16="http://schemas.microsoft.com/office/drawing/2014/main" id="{B688B2DC-1ABC-AA4E-97AF-987A3B1507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 entrenamiento</a:t>
            </a:r>
            <a:endParaRPr/>
          </a:p>
        </p:txBody>
      </p:sp>
      <p:sp>
        <p:nvSpPr>
          <p:cNvPr id="2" name="Google Shape;278;g21c03c1d1e6_1_166">
            <a:extLst>
              <a:ext uri="{FF2B5EF4-FFF2-40B4-BE49-F238E27FC236}">
                <a16:creationId xmlns:a16="http://schemas.microsoft.com/office/drawing/2014/main" id="{3313D85C-ED0D-6853-ACE1-02ECF83E8DED}"/>
              </a:ext>
            </a:extLst>
          </p:cNvPr>
          <p:cNvSpPr/>
          <p:nvPr/>
        </p:nvSpPr>
        <p:spPr>
          <a:xfrm>
            <a:off x="5707340" y="3658004"/>
            <a:ext cx="1257226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Último valor PREDICHO!</a:t>
            </a:r>
            <a:endParaRPr lang="es-ES" sz="1100" dirty="0"/>
          </a:p>
        </p:txBody>
      </p:sp>
      <p:sp>
        <p:nvSpPr>
          <p:cNvPr id="6" name="Google Shape;278;g21c03c1d1e6_1_166">
            <a:extLst>
              <a:ext uri="{FF2B5EF4-FFF2-40B4-BE49-F238E27FC236}">
                <a16:creationId xmlns:a16="http://schemas.microsoft.com/office/drawing/2014/main" id="{737566A3-BE69-8481-4648-F97E20B6DBC3}"/>
              </a:ext>
            </a:extLst>
          </p:cNvPr>
          <p:cNvSpPr/>
          <p:nvPr/>
        </p:nvSpPr>
        <p:spPr>
          <a:xfrm>
            <a:off x="4207616" y="3809811"/>
            <a:ext cx="1164620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Último </a:t>
            </a:r>
            <a:r>
              <a:rPr lang="es-ES" sz="15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hidden_state</a:t>
            </a: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DEC</a:t>
            </a:r>
            <a:endParaRPr lang="es-ES" sz="1100" dirty="0"/>
          </a:p>
        </p:txBody>
      </p:sp>
      <p:sp>
        <p:nvSpPr>
          <p:cNvPr id="7" name="Google Shape;278;g21c03c1d1e6_1_166">
            <a:extLst>
              <a:ext uri="{FF2B5EF4-FFF2-40B4-BE49-F238E27FC236}">
                <a16:creationId xmlns:a16="http://schemas.microsoft.com/office/drawing/2014/main" id="{D7E13C95-BCB1-B88A-08FA-0658B4AB0CCE}"/>
              </a:ext>
            </a:extLst>
          </p:cNvPr>
          <p:cNvSpPr/>
          <p:nvPr/>
        </p:nvSpPr>
        <p:spPr>
          <a:xfrm>
            <a:off x="5116037" y="1086822"/>
            <a:ext cx="1429144" cy="341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Predicción DEC</a:t>
            </a:r>
            <a:endParaRPr lang="es-ES" sz="1100" dirty="0"/>
          </a:p>
        </p:txBody>
      </p:sp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56CF63DE-2267-6E91-B559-D97832428C89}"/>
              </a:ext>
            </a:extLst>
          </p:cNvPr>
          <p:cNvCxnSpPr>
            <a:cxnSpLocks/>
            <a:stCxn id="3" idx="6"/>
          </p:cNvCxnSpPr>
          <p:nvPr/>
        </p:nvCxnSpPr>
        <p:spPr>
          <a:xfrm>
            <a:off x="5015152" y="1871024"/>
            <a:ext cx="927428" cy="157924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A3D651BD-9198-849F-012D-4844E535DEF7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5810432" y="1428514"/>
            <a:ext cx="20177" cy="35945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" name="Elipse 2">
            <a:extLst>
              <a:ext uri="{FF2B5EF4-FFF2-40B4-BE49-F238E27FC236}">
                <a16:creationId xmlns:a16="http://schemas.microsoft.com/office/drawing/2014/main" id="{27F2E980-6E32-C70E-E374-8FF49296AEE4}"/>
              </a:ext>
            </a:extLst>
          </p:cNvPr>
          <p:cNvSpPr/>
          <p:nvPr/>
        </p:nvSpPr>
        <p:spPr>
          <a:xfrm>
            <a:off x="4331369" y="1691297"/>
            <a:ext cx="683783" cy="35945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39CF1C43-CF7B-63C6-9718-25B7EC0E4493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4789926" y="3368729"/>
            <a:ext cx="680737" cy="44108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69781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>
          <a:extLst>
            <a:ext uri="{FF2B5EF4-FFF2-40B4-BE49-F238E27FC236}">
              <a16:creationId xmlns:a16="http://schemas.microsoft.com/office/drawing/2014/main" id="{47967203-C7D8-F3D2-9DE0-2D7A5B4C6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g21c03c1d1e6_1_166">
            <a:extLst>
              <a:ext uri="{FF2B5EF4-FFF2-40B4-BE49-F238E27FC236}">
                <a16:creationId xmlns:a16="http://schemas.microsoft.com/office/drawing/2014/main" id="{76D93DB7-58C5-8B76-DE31-830AD3B0FC2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7785"/>
          <a:stretch/>
        </p:blipFill>
        <p:spPr>
          <a:xfrm>
            <a:off x="1137671" y="1512542"/>
            <a:ext cx="6679418" cy="2317894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g21c03c1d1e6_1_166">
            <a:extLst>
              <a:ext uri="{FF2B5EF4-FFF2-40B4-BE49-F238E27FC236}">
                <a16:creationId xmlns:a16="http://schemas.microsoft.com/office/drawing/2014/main" id="{8EE1274E-6D77-EABE-7378-19E7E2EB9A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 entrenamiento</a:t>
            </a:r>
            <a:endParaRPr/>
          </a:p>
        </p:txBody>
      </p:sp>
      <p:sp>
        <p:nvSpPr>
          <p:cNvPr id="2" name="Google Shape;278;g21c03c1d1e6_1_166">
            <a:extLst>
              <a:ext uri="{FF2B5EF4-FFF2-40B4-BE49-F238E27FC236}">
                <a16:creationId xmlns:a16="http://schemas.microsoft.com/office/drawing/2014/main" id="{54EE10A5-F951-DE06-9647-8C2CF043A8C9}"/>
              </a:ext>
            </a:extLst>
          </p:cNvPr>
          <p:cNvSpPr/>
          <p:nvPr/>
        </p:nvSpPr>
        <p:spPr>
          <a:xfrm>
            <a:off x="6924248" y="3671754"/>
            <a:ext cx="1257226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Último valor PREDICHO!</a:t>
            </a:r>
            <a:endParaRPr lang="es-ES" sz="1100" dirty="0"/>
          </a:p>
        </p:txBody>
      </p:sp>
      <p:sp>
        <p:nvSpPr>
          <p:cNvPr id="6" name="Google Shape;278;g21c03c1d1e6_1_166">
            <a:extLst>
              <a:ext uri="{FF2B5EF4-FFF2-40B4-BE49-F238E27FC236}">
                <a16:creationId xmlns:a16="http://schemas.microsoft.com/office/drawing/2014/main" id="{E73CD117-CC6B-5048-67F9-2A68FB383127}"/>
              </a:ext>
            </a:extLst>
          </p:cNvPr>
          <p:cNvSpPr/>
          <p:nvPr/>
        </p:nvSpPr>
        <p:spPr>
          <a:xfrm>
            <a:off x="5424524" y="3823561"/>
            <a:ext cx="1164620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Último </a:t>
            </a:r>
            <a:r>
              <a:rPr lang="es-ES" sz="15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hidden_state</a:t>
            </a: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DEC</a:t>
            </a:r>
            <a:endParaRPr lang="es-ES" sz="1100" dirty="0"/>
          </a:p>
        </p:txBody>
      </p:sp>
      <p:sp>
        <p:nvSpPr>
          <p:cNvPr id="7" name="Google Shape;278;g21c03c1d1e6_1_166">
            <a:extLst>
              <a:ext uri="{FF2B5EF4-FFF2-40B4-BE49-F238E27FC236}">
                <a16:creationId xmlns:a16="http://schemas.microsoft.com/office/drawing/2014/main" id="{ECEE65BC-1843-138D-4B5A-0585F87CD697}"/>
              </a:ext>
            </a:extLst>
          </p:cNvPr>
          <p:cNvSpPr/>
          <p:nvPr/>
        </p:nvSpPr>
        <p:spPr>
          <a:xfrm>
            <a:off x="6332945" y="1100572"/>
            <a:ext cx="1429144" cy="341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Predicción DEC</a:t>
            </a:r>
            <a:endParaRPr lang="es-ES" sz="1100" dirty="0"/>
          </a:p>
        </p:txBody>
      </p:sp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00908455-BA99-20C0-45AB-183872ADB3F3}"/>
              </a:ext>
            </a:extLst>
          </p:cNvPr>
          <p:cNvCxnSpPr>
            <a:cxnSpLocks/>
            <a:stCxn id="3" idx="6"/>
          </p:cNvCxnSpPr>
          <p:nvPr/>
        </p:nvCxnSpPr>
        <p:spPr>
          <a:xfrm>
            <a:off x="6232060" y="1884774"/>
            <a:ext cx="927428" cy="157924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414044FA-51FE-D88E-AE81-60B821709302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7027340" y="1442264"/>
            <a:ext cx="20177" cy="35945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" name="Elipse 2">
            <a:extLst>
              <a:ext uri="{FF2B5EF4-FFF2-40B4-BE49-F238E27FC236}">
                <a16:creationId xmlns:a16="http://schemas.microsoft.com/office/drawing/2014/main" id="{5B4070B7-1F1F-7E00-624F-3EAADD6381B7}"/>
              </a:ext>
            </a:extLst>
          </p:cNvPr>
          <p:cNvSpPr/>
          <p:nvPr/>
        </p:nvSpPr>
        <p:spPr>
          <a:xfrm>
            <a:off x="5548277" y="1705047"/>
            <a:ext cx="683783" cy="35945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40EEEB86-86E6-9F9F-AF9B-759E09F5A8A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6006834" y="3382479"/>
            <a:ext cx="680737" cy="44108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" name="Google Shape;278;g21c03c1d1e6_1_166">
            <a:extLst>
              <a:ext uri="{FF2B5EF4-FFF2-40B4-BE49-F238E27FC236}">
                <a16:creationId xmlns:a16="http://schemas.microsoft.com/office/drawing/2014/main" id="{2EC8C30C-7925-E2E3-E04F-6B762985DB6A}"/>
              </a:ext>
            </a:extLst>
          </p:cNvPr>
          <p:cNvSpPr/>
          <p:nvPr/>
        </p:nvSpPr>
        <p:spPr>
          <a:xfrm>
            <a:off x="7487303" y="1527558"/>
            <a:ext cx="1429144" cy="1051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 nuestro caso, predecimos 10 muestras a futuro (algo fijo)</a:t>
            </a:r>
            <a:endParaRPr lang="es-ES" sz="1100" dirty="0"/>
          </a:p>
        </p:txBody>
      </p:sp>
    </p:spTree>
    <p:extLst>
      <p:ext uri="{BB962C8B-B14F-4D97-AF65-F5344CB8AC3E}">
        <p14:creationId xmlns:p14="http://schemas.microsoft.com/office/powerpoint/2010/main" val="7357139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21c03c1d1e6_1_196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11" name="Google Shape;311;g21c03c1d1e6_1_196"/>
          <p:cNvSpPr/>
          <p:nvPr/>
        </p:nvSpPr>
        <p:spPr>
          <a:xfrm>
            <a:off x="126827" y="3143861"/>
            <a:ext cx="8890343" cy="1685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El mecanismo de atención permite al decoder </a:t>
            </a:r>
            <a:r>
              <a:rPr lang="en" sz="2100" b="1" i="1" dirty="0">
                <a:latin typeface="Twentieth Century"/>
                <a:ea typeface="Twentieth Century"/>
                <a:cs typeface="Twentieth Century"/>
                <a:sym typeface="Twentieth Century"/>
              </a:rPr>
              <a:t>utilizar las partes más relevantes </a:t>
            </a: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de la entrada </a:t>
            </a:r>
            <a:r>
              <a:rPr lang="en" sz="2100" b="1" i="1" dirty="0">
                <a:latin typeface="Twentieth Century"/>
                <a:ea typeface="Twentieth Century"/>
                <a:cs typeface="Twentieth Century"/>
                <a:sym typeface="Twentieth Century"/>
              </a:rPr>
              <a:t>como una suma ponderada </a:t>
            </a: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del vector de entrada codificados para predecir la siguiente palabra.</a:t>
            </a:r>
            <a:endParaRPr sz="110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 i="1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Una </a:t>
            </a:r>
            <a:r>
              <a:rPr lang="en" sz="2100" b="1" i="1" dirty="0">
                <a:latin typeface="Twentieth Century"/>
                <a:ea typeface="Twentieth Century"/>
                <a:cs typeface="Twentieth Century"/>
                <a:sym typeface="Twentieth Century"/>
              </a:rPr>
              <a:t>palabra relevante </a:t>
            </a: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tendrá un </a:t>
            </a:r>
            <a:r>
              <a:rPr lang="en" sz="2100" b="1" i="1" dirty="0">
                <a:latin typeface="Twentieth Century"/>
                <a:ea typeface="Twentieth Century"/>
                <a:cs typeface="Twentieth Century"/>
                <a:sym typeface="Twentieth Century"/>
              </a:rPr>
              <a:t>mayor peso </a:t>
            </a: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que una palabra no relevante</a:t>
            </a:r>
            <a:endParaRPr sz="2100" i="1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12" name="Google Shape;312;g21c03c1d1e6_1_19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0786" y="1027707"/>
            <a:ext cx="7242428" cy="184561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g21c03c1d1e6_1_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Redes recurrentes - Mecanismos de atención</a:t>
            </a:r>
            <a:endParaRPr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g21c03c1d1e6_1_20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66929" y="1139789"/>
            <a:ext cx="5815013" cy="3193256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g21c03c1d1e6_1_202"/>
          <p:cNvSpPr txBox="1"/>
          <p:nvPr/>
        </p:nvSpPr>
        <p:spPr>
          <a:xfrm>
            <a:off x="3208593" y="2821603"/>
            <a:ext cx="653497" cy="27699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20" name="Google Shape;320;g21c03c1d1e6_1_202"/>
          <p:cNvSpPr txBox="1"/>
          <p:nvPr/>
        </p:nvSpPr>
        <p:spPr>
          <a:xfrm>
            <a:off x="69575" y="705513"/>
            <a:ext cx="5608200" cy="3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en bibliografía: cs224n-2021-lecture07-nmt.pdf</a:t>
            </a:r>
            <a:endParaRPr sz="1100"/>
          </a:p>
        </p:txBody>
      </p:sp>
      <p:sp>
        <p:nvSpPr>
          <p:cNvPr id="321" name="Google Shape;321;g21c03c1d1e6_1_202"/>
          <p:cNvSpPr/>
          <p:nvPr/>
        </p:nvSpPr>
        <p:spPr>
          <a:xfrm>
            <a:off x="1266929" y="1242392"/>
            <a:ext cx="2927384" cy="157921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22" name="Google Shape;322;g21c03c1d1e6_1_202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23" name="Google Shape;323;g21c03c1d1e6_1_20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8" name="Google Shape;328;g21c03c1d1e6_1_2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66929" y="1139789"/>
            <a:ext cx="5815013" cy="3193256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g21c03c1d1e6_1_210"/>
          <p:cNvSpPr txBox="1"/>
          <p:nvPr/>
        </p:nvSpPr>
        <p:spPr>
          <a:xfrm>
            <a:off x="3208593" y="2821603"/>
            <a:ext cx="653497" cy="27699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30" name="Google Shape;330;g21c03c1d1e6_1_210"/>
          <p:cNvSpPr txBox="1"/>
          <p:nvPr/>
        </p:nvSpPr>
        <p:spPr>
          <a:xfrm>
            <a:off x="61972" y="2487158"/>
            <a:ext cx="1170333" cy="318597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857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31" name="Google Shape;331;g21c03c1d1e6_1_210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32" name="Google Shape;332;g21c03c1d1e6_1_210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33" name="Google Shape;333;g21c03c1d1e6_1_21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8" name="Google Shape;338;g21c03c1d1e6_1_2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706" y="1012815"/>
            <a:ext cx="5700713" cy="3536156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g21c03c1d1e6_1_219"/>
          <p:cNvSpPr txBox="1"/>
          <p:nvPr/>
        </p:nvSpPr>
        <p:spPr>
          <a:xfrm>
            <a:off x="3024512" y="3030325"/>
            <a:ext cx="653497" cy="27699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40" name="Google Shape;340;g21c03c1d1e6_1_219"/>
          <p:cNvSpPr txBox="1"/>
          <p:nvPr/>
        </p:nvSpPr>
        <p:spPr>
          <a:xfrm>
            <a:off x="61972" y="2487158"/>
            <a:ext cx="1170333" cy="318597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857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41" name="Google Shape;341;g21c03c1d1e6_1_219"/>
          <p:cNvSpPr txBox="1"/>
          <p:nvPr/>
        </p:nvSpPr>
        <p:spPr>
          <a:xfrm>
            <a:off x="-13056" y="1532788"/>
            <a:ext cx="1536781" cy="549430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b="-1416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42" name="Google Shape;342;g21c03c1d1e6_1_219"/>
          <p:cNvSpPr txBox="1"/>
          <p:nvPr/>
        </p:nvSpPr>
        <p:spPr>
          <a:xfrm>
            <a:off x="2715467" y="4812341"/>
            <a:ext cx="2459183" cy="249347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l="-556" t="-1851" r="-2229" b="-2777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43" name="Google Shape;343;g21c03c1d1e6_1_219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44" name="Google Shape;344;g21c03c1d1e6_1_219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45" name="Google Shape;345;g21c03c1d1e6_1_21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21c03c1d1e6_1_229"/>
          <p:cNvSpPr/>
          <p:nvPr/>
        </p:nvSpPr>
        <p:spPr>
          <a:xfrm>
            <a:off x="2221653" y="2496191"/>
            <a:ext cx="357117" cy="30008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1" name="Google Shape;351;g21c03c1d1e6_1_229"/>
          <p:cNvSpPr/>
          <p:nvPr/>
        </p:nvSpPr>
        <p:spPr>
          <a:xfrm>
            <a:off x="2785889" y="4044690"/>
            <a:ext cx="3408145" cy="34624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t="-10666" b="-3066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2" name="Google Shape;352;g21c03c1d1e6_1_229"/>
          <p:cNvSpPr/>
          <p:nvPr/>
        </p:nvSpPr>
        <p:spPr>
          <a:xfrm>
            <a:off x="2400212" y="3114222"/>
            <a:ext cx="344999" cy="293735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937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pic>
        <p:nvPicPr>
          <p:cNvPr id="353" name="Google Shape;353;g21c03c1d1e6_1_22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08850" y="1127985"/>
            <a:ext cx="5693569" cy="3579019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g21c03c1d1e6_1_229"/>
          <p:cNvSpPr txBox="1"/>
          <p:nvPr/>
        </p:nvSpPr>
        <p:spPr>
          <a:xfrm>
            <a:off x="2944999" y="3130957"/>
            <a:ext cx="653497" cy="300082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5" name="Google Shape;355;g21c03c1d1e6_1_229"/>
          <p:cNvSpPr txBox="1"/>
          <p:nvPr/>
        </p:nvSpPr>
        <p:spPr>
          <a:xfrm>
            <a:off x="61972" y="2487158"/>
            <a:ext cx="1170333" cy="318597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b="-857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6" name="Google Shape;356;g21c03c1d1e6_1_229"/>
          <p:cNvSpPr txBox="1"/>
          <p:nvPr/>
        </p:nvSpPr>
        <p:spPr>
          <a:xfrm>
            <a:off x="-13056" y="1532788"/>
            <a:ext cx="1536781" cy="549430"/>
          </a:xfrm>
          <a:prstGeom prst="rect">
            <a:avLst/>
          </a:prstGeom>
          <a:blipFill rotWithShape="1">
            <a:blip r:embed="rId9">
              <a:alphaModFix/>
            </a:blip>
            <a:stretch>
              <a:fillRect b="-1416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7" name="Google Shape;357;g21c03c1d1e6_1_229"/>
          <p:cNvSpPr txBox="1"/>
          <p:nvPr/>
        </p:nvSpPr>
        <p:spPr>
          <a:xfrm>
            <a:off x="1523726" y="742479"/>
            <a:ext cx="1358162" cy="530914"/>
          </a:xfrm>
          <a:prstGeom prst="rect">
            <a:avLst/>
          </a:prstGeom>
          <a:blipFill rotWithShape="1">
            <a:blip r:embed="rId10">
              <a:alphaModFix/>
            </a:blip>
            <a:stretch>
              <a:fillRect b="-13672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8" name="Google Shape;358;g21c03c1d1e6_1_229"/>
          <p:cNvSpPr txBox="1"/>
          <p:nvPr/>
        </p:nvSpPr>
        <p:spPr>
          <a:xfrm>
            <a:off x="2715467" y="4812341"/>
            <a:ext cx="2459183" cy="249347"/>
          </a:xfrm>
          <a:prstGeom prst="rect">
            <a:avLst/>
          </a:prstGeom>
          <a:blipFill rotWithShape="1">
            <a:blip r:embed="rId11">
              <a:alphaModFix/>
            </a:blip>
            <a:stretch>
              <a:fillRect l="-556" t="-1851" r="-2229" b="-2777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9" name="Google Shape;359;g21c03c1d1e6_1_229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12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60" name="Google Shape;360;g21c03c1d1e6_1_229"/>
          <p:cNvSpPr txBox="1"/>
          <p:nvPr/>
        </p:nvSpPr>
        <p:spPr>
          <a:xfrm>
            <a:off x="5400065" y="4513340"/>
            <a:ext cx="1197058" cy="586314"/>
          </a:xfrm>
          <a:prstGeom prst="rect">
            <a:avLst/>
          </a:prstGeom>
          <a:blipFill rotWithShape="1">
            <a:blip r:embed="rId1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61" name="Google Shape;361;g21c03c1d1e6_1_229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62" name="Google Shape;362;g21c03c1d1e6_1_2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21c03c1d1e6_1_244"/>
          <p:cNvSpPr/>
          <p:nvPr/>
        </p:nvSpPr>
        <p:spPr>
          <a:xfrm>
            <a:off x="2221653" y="2496191"/>
            <a:ext cx="357117" cy="30008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68" name="Google Shape;368;g21c03c1d1e6_1_244"/>
          <p:cNvSpPr/>
          <p:nvPr/>
        </p:nvSpPr>
        <p:spPr>
          <a:xfrm>
            <a:off x="2785889" y="4044690"/>
            <a:ext cx="3408145" cy="34624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t="-10666" b="-3066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69" name="Google Shape;369;g21c03c1d1e6_1_244"/>
          <p:cNvSpPr/>
          <p:nvPr/>
        </p:nvSpPr>
        <p:spPr>
          <a:xfrm>
            <a:off x="2400212" y="3114222"/>
            <a:ext cx="344999" cy="293735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937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pic>
        <p:nvPicPr>
          <p:cNvPr id="370" name="Google Shape;370;g21c03c1d1e6_1_24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08850" y="1127985"/>
            <a:ext cx="5693569" cy="3579019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g21c03c1d1e6_1_244"/>
          <p:cNvSpPr txBox="1"/>
          <p:nvPr/>
        </p:nvSpPr>
        <p:spPr>
          <a:xfrm>
            <a:off x="2944999" y="3130957"/>
            <a:ext cx="653497" cy="300082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2" name="Google Shape;372;g21c03c1d1e6_1_244"/>
          <p:cNvSpPr txBox="1"/>
          <p:nvPr/>
        </p:nvSpPr>
        <p:spPr>
          <a:xfrm>
            <a:off x="835163" y="4425529"/>
            <a:ext cx="1170333" cy="300082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3" name="Google Shape;373;g21c03c1d1e6_1_244"/>
          <p:cNvSpPr txBox="1"/>
          <p:nvPr/>
        </p:nvSpPr>
        <p:spPr>
          <a:xfrm>
            <a:off x="-13056" y="1532788"/>
            <a:ext cx="1536781" cy="549430"/>
          </a:xfrm>
          <a:prstGeom prst="rect">
            <a:avLst/>
          </a:prstGeom>
          <a:blipFill rotWithShape="1">
            <a:blip r:embed="rId9">
              <a:alphaModFix/>
            </a:blip>
            <a:stretch>
              <a:fillRect b="-1416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4" name="Google Shape;374;g21c03c1d1e6_1_244"/>
          <p:cNvSpPr txBox="1"/>
          <p:nvPr/>
        </p:nvSpPr>
        <p:spPr>
          <a:xfrm>
            <a:off x="1523726" y="742479"/>
            <a:ext cx="1358162" cy="530914"/>
          </a:xfrm>
          <a:prstGeom prst="rect">
            <a:avLst/>
          </a:prstGeom>
          <a:blipFill rotWithShape="1">
            <a:blip r:embed="rId10">
              <a:alphaModFix/>
            </a:blip>
            <a:stretch>
              <a:fillRect b="-13672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5" name="Google Shape;375;g21c03c1d1e6_1_244"/>
          <p:cNvSpPr txBox="1"/>
          <p:nvPr/>
        </p:nvSpPr>
        <p:spPr>
          <a:xfrm>
            <a:off x="2715467" y="4812341"/>
            <a:ext cx="2459183" cy="249347"/>
          </a:xfrm>
          <a:prstGeom prst="rect">
            <a:avLst/>
          </a:prstGeom>
          <a:blipFill rotWithShape="1">
            <a:blip r:embed="rId11">
              <a:alphaModFix/>
            </a:blip>
            <a:stretch>
              <a:fillRect l="-556" t="-1851" r="-2229" b="-2777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6" name="Google Shape;376;g21c03c1d1e6_1_244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12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7" name="Google Shape;377;g21c03c1d1e6_1_244"/>
          <p:cNvSpPr txBox="1"/>
          <p:nvPr/>
        </p:nvSpPr>
        <p:spPr>
          <a:xfrm>
            <a:off x="5400065" y="4513340"/>
            <a:ext cx="1197058" cy="586314"/>
          </a:xfrm>
          <a:prstGeom prst="rect">
            <a:avLst/>
          </a:prstGeom>
          <a:blipFill rotWithShape="1">
            <a:blip r:embed="rId1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8" name="Google Shape;378;g21c03c1d1e6_1_244"/>
          <p:cNvSpPr txBox="1"/>
          <p:nvPr/>
        </p:nvSpPr>
        <p:spPr>
          <a:xfrm>
            <a:off x="3598496" y="3379823"/>
            <a:ext cx="1170333" cy="300082"/>
          </a:xfrm>
          <a:prstGeom prst="rect">
            <a:avLst/>
          </a:prstGeom>
          <a:blipFill rotWithShape="1">
            <a:blip r:embed="rId14">
              <a:alphaModFix/>
            </a:blip>
            <a:stretch>
              <a:fillRect b="-909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9" name="Google Shape;379;g21c03c1d1e6_1_244"/>
          <p:cNvSpPr txBox="1"/>
          <p:nvPr/>
        </p:nvSpPr>
        <p:spPr>
          <a:xfrm>
            <a:off x="2470408" y="1097744"/>
            <a:ext cx="1170333" cy="300083"/>
          </a:xfrm>
          <a:prstGeom prst="rect">
            <a:avLst/>
          </a:prstGeom>
          <a:blipFill rotWithShape="1">
            <a:blip r:embed="rId1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80" name="Google Shape;380;g21c03c1d1e6_1_244"/>
          <p:cNvSpPr txBox="1"/>
          <p:nvPr/>
        </p:nvSpPr>
        <p:spPr>
          <a:xfrm>
            <a:off x="61972" y="2487158"/>
            <a:ext cx="1170333" cy="318597"/>
          </a:xfrm>
          <a:prstGeom prst="rect">
            <a:avLst/>
          </a:prstGeom>
          <a:blipFill rotWithShape="1">
            <a:blip r:embed="rId16">
              <a:alphaModFix/>
            </a:blip>
            <a:stretch>
              <a:fillRect b="-857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81" name="Google Shape;381;g21c03c1d1e6_1_244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82" name="Google Shape;382;g21c03c1d1e6_1_2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976C2998-CBB3-091B-EC9D-A54147A09367}"/>
                  </a:ext>
                </a:extLst>
              </p14:cNvPr>
              <p14:cNvContentPartPr/>
              <p14:nvPr/>
            </p14:nvContentPartPr>
            <p14:xfrm>
              <a:off x="2887020" y="4287420"/>
              <a:ext cx="6480" cy="396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976C2998-CBB3-091B-EC9D-A54147A0936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2880900" y="4281300"/>
                <a:ext cx="18720" cy="518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21c03c1d1e6_1_262"/>
          <p:cNvSpPr/>
          <p:nvPr/>
        </p:nvSpPr>
        <p:spPr>
          <a:xfrm>
            <a:off x="2221653" y="2496191"/>
            <a:ext cx="357117" cy="30008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88" name="Google Shape;388;g21c03c1d1e6_1_262"/>
          <p:cNvSpPr/>
          <p:nvPr/>
        </p:nvSpPr>
        <p:spPr>
          <a:xfrm>
            <a:off x="2785889" y="4044690"/>
            <a:ext cx="3408145" cy="34624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t="-10666" b="-3066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89" name="Google Shape;389;g21c03c1d1e6_1_262"/>
          <p:cNvSpPr/>
          <p:nvPr/>
        </p:nvSpPr>
        <p:spPr>
          <a:xfrm>
            <a:off x="2400212" y="3114222"/>
            <a:ext cx="344999" cy="293735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937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pic>
        <p:nvPicPr>
          <p:cNvPr id="390" name="Google Shape;390;g21c03c1d1e6_1_26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37412" y="1135129"/>
            <a:ext cx="5765006" cy="3571875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g21c03c1d1e6_1_262"/>
          <p:cNvSpPr txBox="1"/>
          <p:nvPr/>
        </p:nvSpPr>
        <p:spPr>
          <a:xfrm>
            <a:off x="61972" y="2487158"/>
            <a:ext cx="1170333" cy="318597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b="-857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2" name="Google Shape;392;g21c03c1d1e6_1_262"/>
          <p:cNvSpPr txBox="1"/>
          <p:nvPr/>
        </p:nvSpPr>
        <p:spPr>
          <a:xfrm>
            <a:off x="-13056" y="1532788"/>
            <a:ext cx="1536781" cy="549430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b="-1416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3" name="Google Shape;393;g21c03c1d1e6_1_262"/>
          <p:cNvSpPr txBox="1"/>
          <p:nvPr/>
        </p:nvSpPr>
        <p:spPr>
          <a:xfrm>
            <a:off x="2944999" y="3130957"/>
            <a:ext cx="653497" cy="300082"/>
          </a:xfrm>
          <a:prstGeom prst="rect">
            <a:avLst/>
          </a:pr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4" name="Google Shape;394;g21c03c1d1e6_1_262"/>
          <p:cNvSpPr txBox="1"/>
          <p:nvPr/>
        </p:nvSpPr>
        <p:spPr>
          <a:xfrm>
            <a:off x="1523726" y="742479"/>
            <a:ext cx="1358162" cy="530914"/>
          </a:xfrm>
          <a:prstGeom prst="rect">
            <a:avLst/>
          </a:prstGeom>
          <a:blipFill rotWithShape="1">
            <a:blip r:embed="rId10">
              <a:alphaModFix/>
            </a:blip>
            <a:stretch>
              <a:fillRect b="-13672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5" name="Google Shape;395;g21c03c1d1e6_1_262"/>
          <p:cNvSpPr txBox="1"/>
          <p:nvPr/>
        </p:nvSpPr>
        <p:spPr>
          <a:xfrm>
            <a:off x="2715467" y="4812341"/>
            <a:ext cx="2459183" cy="249347"/>
          </a:xfrm>
          <a:prstGeom prst="rect">
            <a:avLst/>
          </a:prstGeom>
          <a:blipFill rotWithShape="1">
            <a:blip r:embed="rId11">
              <a:alphaModFix/>
            </a:blip>
            <a:stretch>
              <a:fillRect l="-556" t="-1851" r="-2229" b="-2777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6" name="Google Shape;396;g21c03c1d1e6_1_262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12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7" name="Google Shape;397;g21c03c1d1e6_1_262"/>
          <p:cNvSpPr txBox="1"/>
          <p:nvPr/>
        </p:nvSpPr>
        <p:spPr>
          <a:xfrm>
            <a:off x="5400065" y="4513340"/>
            <a:ext cx="1197058" cy="586314"/>
          </a:xfrm>
          <a:prstGeom prst="rect">
            <a:avLst/>
          </a:prstGeom>
          <a:blipFill rotWithShape="1">
            <a:blip r:embed="rId1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8" name="Google Shape;398;g21c03c1d1e6_1_262"/>
          <p:cNvSpPr txBox="1"/>
          <p:nvPr/>
        </p:nvSpPr>
        <p:spPr>
          <a:xfrm>
            <a:off x="5617569" y="2380774"/>
            <a:ext cx="3331921" cy="230833"/>
          </a:xfrm>
          <a:prstGeom prst="rect">
            <a:avLst/>
          </a:prstGeom>
          <a:blipFill rotWithShape="1">
            <a:blip r:embed="rId14">
              <a:alphaModFix/>
            </a:blip>
            <a:stretch>
              <a:fillRect t="-3999" r="-411" b="-35997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9" name="Google Shape;399;g21c03c1d1e6_1_262"/>
          <p:cNvSpPr/>
          <p:nvPr/>
        </p:nvSpPr>
        <p:spPr>
          <a:xfrm>
            <a:off x="8468139" y="1854172"/>
            <a:ext cx="208722" cy="373069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3"/>
          </a:solidFill>
          <a:ln w="15875" cap="flat" cmpd="sng">
            <a:solidFill>
              <a:srgbClr val="99402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00" name="Google Shape;400;g21c03c1d1e6_1_262"/>
          <p:cNvSpPr txBox="1"/>
          <p:nvPr/>
        </p:nvSpPr>
        <p:spPr>
          <a:xfrm>
            <a:off x="8170942" y="1517726"/>
            <a:ext cx="80311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NUEVO!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01" name="Google Shape;401;g21c03c1d1e6_1_262"/>
          <p:cNvSpPr/>
          <p:nvPr/>
        </p:nvSpPr>
        <p:spPr>
          <a:xfrm>
            <a:off x="6795022" y="4532322"/>
            <a:ext cx="265624" cy="548349"/>
          </a:xfrm>
          <a:prstGeom prst="rightBrace">
            <a:avLst>
              <a:gd name="adj1" fmla="val 8333"/>
              <a:gd name="adj2" fmla="val 50000"/>
            </a:avLst>
          </a:prstGeom>
          <a:noFill/>
          <a:ln w="317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02" name="Google Shape;402;g21c03c1d1e6_1_262"/>
          <p:cNvSpPr txBox="1"/>
          <p:nvPr/>
        </p:nvSpPr>
        <p:spPr>
          <a:xfrm>
            <a:off x="7060645" y="4451002"/>
            <a:ext cx="1702452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SOLO CUENTAS!!!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NO HAY PARAMETROS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03" name="Google Shape;403;g21c03c1d1e6_1_262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404" name="Google Shape;404;g21c03c1d1e6_1_2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1c03c1d1e6_1_282"/>
          <p:cNvSpPr/>
          <p:nvPr/>
        </p:nvSpPr>
        <p:spPr>
          <a:xfrm>
            <a:off x="2221653" y="2496191"/>
            <a:ext cx="357117" cy="30008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0" name="Google Shape;410;g21c03c1d1e6_1_282"/>
          <p:cNvSpPr/>
          <p:nvPr/>
        </p:nvSpPr>
        <p:spPr>
          <a:xfrm>
            <a:off x="2785889" y="4044690"/>
            <a:ext cx="3408145" cy="34624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t="-10666" b="-3066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1" name="Google Shape;411;g21c03c1d1e6_1_282"/>
          <p:cNvSpPr/>
          <p:nvPr/>
        </p:nvSpPr>
        <p:spPr>
          <a:xfrm>
            <a:off x="2400212" y="3114222"/>
            <a:ext cx="344999" cy="293735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937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grpSp>
        <p:nvGrpSpPr>
          <p:cNvPr id="412" name="Google Shape;412;g21c03c1d1e6_1_282"/>
          <p:cNvGrpSpPr/>
          <p:nvPr/>
        </p:nvGrpSpPr>
        <p:grpSpPr>
          <a:xfrm>
            <a:off x="878282" y="1154124"/>
            <a:ext cx="5886450" cy="3500438"/>
            <a:chOff x="1171043" y="1538832"/>
            <a:chExt cx="7848600" cy="4667250"/>
          </a:xfrm>
        </p:grpSpPr>
        <p:pic>
          <p:nvPicPr>
            <p:cNvPr id="413" name="Google Shape;413;g21c03c1d1e6_1_282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171043" y="1538832"/>
              <a:ext cx="7848600" cy="46672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4" name="Google Shape;414;g21c03c1d1e6_1_282"/>
            <p:cNvSpPr/>
            <p:nvPr/>
          </p:nvSpPr>
          <p:spPr>
            <a:xfrm>
              <a:off x="5526157" y="4152296"/>
              <a:ext cx="2637182" cy="2053786"/>
            </a:xfrm>
            <a:prstGeom prst="rect">
              <a:avLst/>
            </a:prstGeom>
            <a:solidFill>
              <a:schemeClr val="lt1"/>
            </a:solidFill>
            <a:ln w="158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</p:grpSp>
      <p:sp>
        <p:nvSpPr>
          <p:cNvPr id="415" name="Google Shape;415;g21c03c1d1e6_1_282"/>
          <p:cNvSpPr txBox="1"/>
          <p:nvPr/>
        </p:nvSpPr>
        <p:spPr>
          <a:xfrm>
            <a:off x="2715467" y="4812341"/>
            <a:ext cx="2459183" cy="249347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l="-556" t="-1851" r="-2229" b="-2777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6" name="Google Shape;416;g21c03c1d1e6_1_282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7" name="Google Shape;417;g21c03c1d1e6_1_282"/>
          <p:cNvSpPr txBox="1"/>
          <p:nvPr/>
        </p:nvSpPr>
        <p:spPr>
          <a:xfrm>
            <a:off x="5400065" y="4513340"/>
            <a:ext cx="1197058" cy="586314"/>
          </a:xfrm>
          <a:prstGeom prst="rect">
            <a:avLst/>
          </a:pr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8" name="Google Shape;418;g21c03c1d1e6_1_282"/>
          <p:cNvSpPr txBox="1"/>
          <p:nvPr/>
        </p:nvSpPr>
        <p:spPr>
          <a:xfrm>
            <a:off x="5617569" y="2380774"/>
            <a:ext cx="3331921" cy="230833"/>
          </a:xfrm>
          <a:prstGeom prst="rect">
            <a:avLst/>
          </a:prstGeom>
          <a:blipFill rotWithShape="1">
            <a:blip r:embed="rId10">
              <a:alphaModFix/>
            </a:blip>
            <a:stretch>
              <a:fillRect t="-3999" r="-411" b="-35997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9" name="Google Shape;419;g21c03c1d1e6_1_282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420" name="Google Shape;420;g21c03c1d1e6_1_2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21c03c1d1e6_1_296"/>
          <p:cNvSpPr/>
          <p:nvPr/>
        </p:nvSpPr>
        <p:spPr>
          <a:xfrm>
            <a:off x="334370" y="4169795"/>
            <a:ext cx="8475260" cy="76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Una definición más general: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Dado un </a:t>
            </a:r>
            <a:r>
              <a:rPr lang="en" sz="15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conjunto de valores</a:t>
            </a:r>
            <a:r>
              <a:rPr lang="en" sz="15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y una </a:t>
            </a:r>
            <a:r>
              <a:rPr lang="en" sz="15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consulta</a:t>
            </a:r>
            <a:r>
              <a:rPr lang="en" sz="15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; el mecanismo de atención devuelve una </a:t>
            </a:r>
            <a:r>
              <a:rPr lang="en" sz="15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suma ponderada</a:t>
            </a:r>
            <a:r>
              <a:rPr lang="en" sz="15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(resumen selectivo) de los valores, </a:t>
            </a:r>
            <a:r>
              <a:rPr lang="en" sz="15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dependiente de la consulta</a:t>
            </a:r>
            <a:r>
              <a:rPr lang="en" sz="15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sz="1500" b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g21c03c1d1e6_1_296" descr="\alpha_j"/>
          <p:cNvSpPr/>
          <p:nvPr/>
        </p:nvSpPr>
        <p:spPr>
          <a:xfrm>
            <a:off x="5442229" y="2065320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27" name="Google Shape;427;g21c03c1d1e6_1_296" descr="T"/>
          <p:cNvSpPr/>
          <p:nvPr/>
        </p:nvSpPr>
        <p:spPr>
          <a:xfrm>
            <a:off x="13715882" y="2065320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428" name="Google Shape;428;g21c03c1d1e6_1_29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75170" y="1741172"/>
            <a:ext cx="4993660" cy="2310364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g21c03c1d1e6_1_296"/>
          <p:cNvSpPr/>
          <p:nvPr/>
        </p:nvSpPr>
        <p:spPr>
          <a:xfrm>
            <a:off x="448670" y="783059"/>
            <a:ext cx="8475260" cy="78358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l="-538" t="-1743" b="-988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30" name="Google Shape;430;g21c03c1d1e6_1_296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431" name="Google Shape;431;g21c03c1d1e6_1_2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6" name="Google Shape;436;g21c03c1d1e6_1_30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5303" y="797442"/>
            <a:ext cx="7837474" cy="4054975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g21c03c1d1e6_1_305"/>
          <p:cNvSpPr/>
          <p:nvPr/>
        </p:nvSpPr>
        <p:spPr>
          <a:xfrm>
            <a:off x="1210612" y="4866501"/>
            <a:ext cx="6542467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http://cs231n.stanford.edu/slides/2017/cs231n_2017_lecture10.pdf</a:t>
            </a:r>
            <a:endParaRPr sz="1100" dirty="0">
              <a:solidFill>
                <a:schemeClr val="bg2"/>
              </a:solidFill>
            </a:endParaRPr>
          </a:p>
        </p:txBody>
      </p:sp>
      <p:sp>
        <p:nvSpPr>
          <p:cNvPr id="439" name="Google Shape;439;g21c03c1d1e6_1_30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1385</TotalTime>
  <Words>1626</Words>
  <Application>Microsoft Office PowerPoint</Application>
  <PresentationFormat>Presentación en pantalla (16:9)</PresentationFormat>
  <Paragraphs>365</Paragraphs>
  <Slides>48</Slides>
  <Notes>48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48</vt:i4>
      </vt:variant>
    </vt:vector>
  </HeadingPairs>
  <TitlesOfParts>
    <vt:vector size="54" baseType="lpstr">
      <vt:lpstr>Tw Cen MT</vt:lpstr>
      <vt:lpstr>Twentieth Century</vt:lpstr>
      <vt:lpstr>Roboto</vt:lpstr>
      <vt:lpstr>Arial</vt:lpstr>
      <vt:lpstr>Consolas</vt:lpstr>
      <vt:lpstr>Material</vt:lpstr>
      <vt:lpstr>Aprendizaje Profundo</vt:lpstr>
      <vt:lpstr>Redes Recurrentes Recurrent Neural Network (RNN)</vt:lpstr>
      <vt:lpstr>Redes recurrentes - Introducción</vt:lpstr>
      <vt:lpstr>Redes recurrentes - Introducción</vt:lpstr>
      <vt:lpstr>Redes recurrentes - Neurona recurrente básica</vt:lpstr>
      <vt:lpstr>Redes recurrentes - Neurona recurrente básica</vt:lpstr>
      <vt:lpstr>Redes recurrentes - Neurona recurrente básica</vt:lpstr>
      <vt:lpstr>Redes recurrentes - Implementación en pytorch</vt:lpstr>
      <vt:lpstr>Redes recurrentes - Birideccionalidad</vt:lpstr>
      <vt:lpstr>Redes recurrentes - Implementación en pytorch</vt:lpstr>
      <vt:lpstr>Redes recurrentes - Implementación en pytorch</vt:lpstr>
      <vt:lpstr>Redes recurrentes - Implementación en pytorch</vt:lpstr>
      <vt:lpstr>Redes recurrentes - Implementación en pytorch</vt:lpstr>
      <vt:lpstr>Redes recurrentes - Implementación en pytorch</vt:lpstr>
      <vt:lpstr>Redes recurrentes - Implementación en pytorch</vt:lpstr>
      <vt:lpstr>Redes recurrentes - Implementación en pytorch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Implementación de modelos</vt:lpstr>
      <vt:lpstr>¡Un merecido descanso! </vt:lpstr>
      <vt:lpstr>Redes recurrentes - Arquitectura enconder-decoder (seq to seq)</vt:lpstr>
      <vt:lpstr>Redes recurrentes - Arquitectura enconder-decoder (seq to seq)</vt:lpstr>
      <vt:lpstr>Redes recurrentes - Arquitectura enconder-decoder (seq to seq) entrenamiento</vt:lpstr>
      <vt:lpstr>Redes recurrentes - Arquitectura enconder-decoder (seq to seq)</vt:lpstr>
      <vt:lpstr>Redes recurrentes - Implementación de modelos enconder-decoder</vt:lpstr>
      <vt:lpstr>Redes recurrentes - Arquitectura enconder-decoder (seq to seq) entrenamiento</vt:lpstr>
      <vt:lpstr>Redes recurrentes - Arquitectura enconder-decoder (seq to seq) entrenamiento</vt:lpstr>
      <vt:lpstr>Redes recurrentes - Arquitectura enconder-decoder (seq to seq) entrenamiento</vt:lpstr>
      <vt:lpstr>Redes recurrentes - Arquitectura enconder-decoder (seq to seq) entrenamiento</vt:lpstr>
      <vt:lpstr>Redes recurrentes - Arquitectura enconder-decoder (seq to seq) entrenamiento</vt:lpstr>
      <vt:lpstr>Redes recurrentes - Arquitectura enconder-decoder (seq to seq) entrenamiento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Marcos Maillot</cp:lastModifiedBy>
  <cp:revision>4</cp:revision>
  <dcterms:modified xsi:type="dcterms:W3CDTF">2026-06-02T19:45:06Z</dcterms:modified>
</cp:coreProperties>
</file>