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305" r:id="rId18"/>
    <p:sldId id="271" r:id="rId19"/>
    <p:sldId id="291" r:id="rId20"/>
    <p:sldId id="292" r:id="rId21"/>
    <p:sldId id="293" r:id="rId22"/>
    <p:sldId id="294" r:id="rId23"/>
    <p:sldId id="272" r:id="rId24"/>
    <p:sldId id="298" r:id="rId25"/>
    <p:sldId id="295" r:id="rId26"/>
    <p:sldId id="307" r:id="rId27"/>
    <p:sldId id="308" r:id="rId28"/>
    <p:sldId id="296" r:id="rId29"/>
    <p:sldId id="309" r:id="rId30"/>
    <p:sldId id="273" r:id="rId31"/>
    <p:sldId id="275" r:id="rId32"/>
    <p:sldId id="276" r:id="rId33"/>
    <p:sldId id="277" r:id="rId34"/>
    <p:sldId id="278" r:id="rId35"/>
    <p:sldId id="290" r:id="rId36"/>
    <p:sldId id="299" r:id="rId37"/>
    <p:sldId id="300" r:id="rId38"/>
    <p:sldId id="301" r:id="rId39"/>
    <p:sldId id="302" r:id="rId40"/>
    <p:sldId id="303" r:id="rId41"/>
    <p:sldId id="304" r:id="rId4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4"/>
    </p:embeddedFont>
    <p:embeddedFont>
      <p:font typeface="Consolas" panose="020B0609020204030204" pitchFamily="49" charset="0"/>
      <p:regular r:id="rId45"/>
      <p:bold r:id="rId46"/>
      <p:italic r:id="rId47"/>
      <p:boldItalic r:id="rId48"/>
    </p:embeddedFont>
    <p:embeddedFont>
      <p:font typeface="Roboto" panose="02000000000000000000" pitchFamily="2" charset="0"/>
      <p:regular r:id="rId49"/>
      <p:bold r:id="rId50"/>
      <p:italic r:id="rId51"/>
      <p:boldItalic r:id="rId52"/>
    </p:embeddedFont>
    <p:embeddedFont>
      <p:font typeface="Tw Cen MT" panose="020B0602020104020603" pitchFamily="34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4" roundtripDataSignature="AMtx7mi43qeBuG6xuqWiq1Kh9QyGOyIi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EC59AD-9B0E-479D-B81E-1619A979BF62}" v="8" dt="2026-09-29T22:03:27.814"/>
  </p1510:revLst>
</p1510:revInfo>
</file>

<file path=ppt/tableStyles.xml><?xml version="1.0" encoding="utf-8"?>
<a:tblStyleLst xmlns:a="http://schemas.openxmlformats.org/drawingml/2006/main" def="{D3E55744-8061-4CE5-AF87-22040F36E0A0}">
  <a:tblStyle styleId="{D3E55744-8061-4CE5-AF87-22040F36E0A0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F6E8"/>
          </a:solidFill>
        </a:fill>
      </a:tcStyle>
    </a:wholeTbl>
    <a:band1H>
      <a:tcTxStyle/>
      <a:tcStyle>
        <a:tcBdr/>
        <a:fill>
          <a:solidFill>
            <a:srgbClr val="DDED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DED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EFA4B2-A90F-452C-A374-82A2C123D84D}" styleName="Table_1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customschemas.google.com/relationships/presentationmetadata" Target="metadata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Maillot" userId="fa14b39d-e966-4ebb-a436-4f96f84b9577" providerId="ADAL" clId="{152A8D8E-FC9A-4326-9172-4A160D290924}"/>
    <pc:docChg chg="undo custSel addSld delSld modSld sldOrd">
      <pc:chgData name="Marcos Maillot" userId="fa14b39d-e966-4ebb-a436-4f96f84b9577" providerId="ADAL" clId="{152A8D8E-FC9A-4326-9172-4A160D290924}" dt="2026-09-29T22:03:29.378" v="1868" actId="6549"/>
      <pc:docMkLst>
        <pc:docMk/>
      </pc:docMkLst>
      <pc:sldChg chg="modSp mod">
        <pc:chgData name="Marcos Maillot" userId="fa14b39d-e966-4ebb-a436-4f96f84b9577" providerId="ADAL" clId="{152A8D8E-FC9A-4326-9172-4A160D290924}" dt="2026-09-29T22:03:29.378" v="1868" actId="6549"/>
        <pc:sldMkLst>
          <pc:docMk/>
          <pc:sldMk cId="0" sldId="257"/>
        </pc:sldMkLst>
        <pc:spChg chg="mod">
          <ac:chgData name="Marcos Maillot" userId="fa14b39d-e966-4ebb-a436-4f96f84b9577" providerId="ADAL" clId="{152A8D8E-FC9A-4326-9172-4A160D290924}" dt="2026-09-29T22:03:29.378" v="1868" actId="6549"/>
          <ac:spMkLst>
            <pc:docMk/>
            <pc:sldMk cId="0" sldId="257"/>
            <ac:spMk id="82" creationId="{00000000-0000-0000-0000-000000000000}"/>
          </ac:spMkLst>
        </pc:spChg>
        <pc:spChg chg="mod">
          <ac:chgData name="Marcos Maillot" userId="fa14b39d-e966-4ebb-a436-4f96f84b9577" providerId="ADAL" clId="{152A8D8E-FC9A-4326-9172-4A160D290924}" dt="2026-09-29T22:03:26.123" v="1864" actId="21"/>
          <ac:spMkLst>
            <pc:docMk/>
            <pc:sldMk cId="0" sldId="257"/>
            <ac:spMk id="84" creationId="{00000000-0000-0000-0000-000000000000}"/>
          </ac:spMkLst>
        </pc:spChg>
      </pc:sldChg>
      <pc:sldChg chg="addSp delSp modSp del mod">
        <pc:chgData name="Marcos Maillot" userId="fa14b39d-e966-4ebb-a436-4f96f84b9577" providerId="ADAL" clId="{152A8D8E-FC9A-4326-9172-4A160D290924}" dt="2026-09-29T21:15:07.385" v="1699" actId="47"/>
        <pc:sldMkLst>
          <pc:docMk/>
          <pc:sldMk cId="0" sldId="280"/>
        </pc:sldMkLst>
      </pc:sldChg>
      <pc:sldChg chg="addSp delSp modSp del mod">
        <pc:chgData name="Marcos Maillot" userId="fa14b39d-e966-4ebb-a436-4f96f84b9577" providerId="ADAL" clId="{152A8D8E-FC9A-4326-9172-4A160D290924}" dt="2026-09-29T21:15:07.385" v="1699" actId="47"/>
        <pc:sldMkLst>
          <pc:docMk/>
          <pc:sldMk cId="0" sldId="281"/>
        </pc:sldMkLst>
      </pc:sldChg>
      <pc:sldChg chg="addSp delSp modSp del mod">
        <pc:chgData name="Marcos Maillot" userId="fa14b39d-e966-4ebb-a436-4f96f84b9577" providerId="ADAL" clId="{152A8D8E-FC9A-4326-9172-4A160D290924}" dt="2026-09-29T21:15:07.385" v="1699" actId="47"/>
        <pc:sldMkLst>
          <pc:docMk/>
          <pc:sldMk cId="0" sldId="282"/>
        </pc:sldMkLst>
      </pc:sldChg>
      <pc:sldChg chg="addSp delSp modSp del mod">
        <pc:chgData name="Marcos Maillot" userId="fa14b39d-e966-4ebb-a436-4f96f84b9577" providerId="ADAL" clId="{152A8D8E-FC9A-4326-9172-4A160D290924}" dt="2026-09-29T21:15:07.385" v="1699" actId="47"/>
        <pc:sldMkLst>
          <pc:docMk/>
          <pc:sldMk cId="0" sldId="283"/>
        </pc:sldMkLst>
      </pc:sldChg>
      <pc:sldChg chg="addSp delSp modSp del mod">
        <pc:chgData name="Marcos Maillot" userId="fa14b39d-e966-4ebb-a436-4f96f84b9577" providerId="ADAL" clId="{152A8D8E-FC9A-4326-9172-4A160D290924}" dt="2026-09-29T21:15:07.385" v="1699" actId="47"/>
        <pc:sldMkLst>
          <pc:docMk/>
          <pc:sldMk cId="0" sldId="284"/>
        </pc:sldMkLst>
      </pc:sldChg>
      <pc:sldChg chg="addSp delSp modSp del mod">
        <pc:chgData name="Marcos Maillot" userId="fa14b39d-e966-4ebb-a436-4f96f84b9577" providerId="ADAL" clId="{152A8D8E-FC9A-4326-9172-4A160D290924}" dt="2026-09-29T21:15:07.385" v="1699" actId="47"/>
        <pc:sldMkLst>
          <pc:docMk/>
          <pc:sldMk cId="0" sldId="285"/>
        </pc:sldMkLst>
      </pc:sldChg>
      <pc:sldChg chg="addSp delSp modSp del mod">
        <pc:chgData name="Marcos Maillot" userId="fa14b39d-e966-4ebb-a436-4f96f84b9577" providerId="ADAL" clId="{152A8D8E-FC9A-4326-9172-4A160D290924}" dt="2026-09-29T21:15:07.385" v="1699" actId="47"/>
        <pc:sldMkLst>
          <pc:docMk/>
          <pc:sldMk cId="0" sldId="286"/>
        </pc:sldMkLst>
      </pc:sldChg>
      <pc:sldChg chg="addSp delSp modSp del mod">
        <pc:chgData name="Marcos Maillot" userId="fa14b39d-e966-4ebb-a436-4f96f84b9577" providerId="ADAL" clId="{152A8D8E-FC9A-4326-9172-4A160D290924}" dt="2026-09-29T21:15:07.385" v="1699" actId="47"/>
        <pc:sldMkLst>
          <pc:docMk/>
          <pc:sldMk cId="0" sldId="287"/>
        </pc:sldMkLst>
      </pc:sldChg>
      <pc:sldChg chg="delSp del mod">
        <pc:chgData name="Marcos Maillot" userId="fa14b39d-e966-4ebb-a436-4f96f84b9577" providerId="ADAL" clId="{152A8D8E-FC9A-4326-9172-4A160D290924}" dt="2026-09-29T21:15:07.385" v="1699" actId="47"/>
        <pc:sldMkLst>
          <pc:docMk/>
          <pc:sldMk cId="0" sldId="288"/>
        </pc:sldMkLst>
      </pc:sldChg>
      <pc:sldChg chg="del">
        <pc:chgData name="Marcos Maillot" userId="fa14b39d-e966-4ebb-a436-4f96f84b9577" providerId="ADAL" clId="{152A8D8E-FC9A-4326-9172-4A160D290924}" dt="2026-09-29T21:15:07.385" v="1699" actId="47"/>
        <pc:sldMkLst>
          <pc:docMk/>
          <pc:sldMk cId="0" sldId="289"/>
        </pc:sldMkLst>
      </pc:sldChg>
      <pc:sldChg chg="addSp delSp modSp mod">
        <pc:chgData name="Marcos Maillot" userId="fa14b39d-e966-4ebb-a436-4f96f84b9577" providerId="ADAL" clId="{152A8D8E-FC9A-4326-9172-4A160D290924}" dt="2026-09-29T21:33:53.131" v="1839" actId="1076"/>
        <pc:sldMkLst>
          <pc:docMk/>
          <pc:sldMk cId="3064181911" sldId="295"/>
        </pc:sldMkLst>
        <pc:spChg chg="mod">
          <ac:chgData name="Marcos Maillot" userId="fa14b39d-e966-4ebb-a436-4f96f84b9577" providerId="ADAL" clId="{152A8D8E-FC9A-4326-9172-4A160D290924}" dt="2026-09-29T21:19:48.424" v="1725" actId="1076"/>
          <ac:spMkLst>
            <pc:docMk/>
            <pc:sldMk cId="3064181911" sldId="295"/>
            <ac:spMk id="4" creationId="{12370932-5AE9-1D53-79C5-7ECEDDABBF7F}"/>
          </ac:spMkLst>
        </pc:spChg>
        <pc:spChg chg="del mod">
          <ac:chgData name="Marcos Maillot" userId="fa14b39d-e966-4ebb-a436-4f96f84b9577" providerId="ADAL" clId="{152A8D8E-FC9A-4326-9172-4A160D290924}" dt="2026-09-29T21:33:23.743" v="1826" actId="478"/>
          <ac:spMkLst>
            <pc:docMk/>
            <pc:sldMk cId="3064181911" sldId="295"/>
            <ac:spMk id="6" creationId="{680751A2-BC9E-0E52-827C-A35BA93EDF5F}"/>
          </ac:spMkLst>
        </pc:spChg>
        <pc:spChg chg="del mod">
          <ac:chgData name="Marcos Maillot" userId="fa14b39d-e966-4ebb-a436-4f96f84b9577" providerId="ADAL" clId="{152A8D8E-FC9A-4326-9172-4A160D290924}" dt="2026-09-29T21:33:19.593" v="1823" actId="478"/>
          <ac:spMkLst>
            <pc:docMk/>
            <pc:sldMk cId="3064181911" sldId="295"/>
            <ac:spMk id="8" creationId="{9F734DE2-F282-0BE7-B8DD-4BF48C91805E}"/>
          </ac:spMkLst>
        </pc:spChg>
        <pc:spChg chg="add del mod">
          <ac:chgData name="Marcos Maillot" userId="fa14b39d-e966-4ebb-a436-4f96f84b9577" providerId="ADAL" clId="{152A8D8E-FC9A-4326-9172-4A160D290924}" dt="2026-09-29T21:33:27.808" v="1831" actId="478"/>
          <ac:spMkLst>
            <pc:docMk/>
            <pc:sldMk cId="3064181911" sldId="295"/>
            <ac:spMk id="9" creationId="{1C5AAA22-F007-157E-14D2-F9A6FB9178F1}"/>
          </ac:spMkLst>
        </pc:spChg>
        <pc:spChg chg="del mod">
          <ac:chgData name="Marcos Maillot" userId="fa14b39d-e966-4ebb-a436-4f96f84b9577" providerId="ADAL" clId="{152A8D8E-FC9A-4326-9172-4A160D290924}" dt="2026-09-29T21:33:24.855" v="1827" actId="478"/>
          <ac:spMkLst>
            <pc:docMk/>
            <pc:sldMk cId="3064181911" sldId="295"/>
            <ac:spMk id="10" creationId="{6B4A93BA-BBF1-200A-33A5-9EDC6860B6B2}"/>
          </ac:spMkLst>
        </pc:spChg>
        <pc:spChg chg="add del mod">
          <ac:chgData name="Marcos Maillot" userId="fa14b39d-e966-4ebb-a436-4f96f84b9577" providerId="ADAL" clId="{152A8D8E-FC9A-4326-9172-4A160D290924}" dt="2026-09-29T21:33:20.976" v="1824" actId="478"/>
          <ac:spMkLst>
            <pc:docMk/>
            <pc:sldMk cId="3064181911" sldId="295"/>
            <ac:spMk id="13" creationId="{E5931629-ACC5-109C-D8E6-206815966480}"/>
          </ac:spMkLst>
        </pc:spChg>
        <pc:spChg chg="add del mod">
          <ac:chgData name="Marcos Maillot" userId="fa14b39d-e966-4ebb-a436-4f96f84b9577" providerId="ADAL" clId="{152A8D8E-FC9A-4326-9172-4A160D290924}" dt="2026-09-29T21:33:25.959" v="1828" actId="478"/>
          <ac:spMkLst>
            <pc:docMk/>
            <pc:sldMk cId="3064181911" sldId="295"/>
            <ac:spMk id="15" creationId="{2C342849-7EAD-064C-5A24-0C0CE5EF33E4}"/>
          </ac:spMkLst>
        </pc:spChg>
        <pc:spChg chg="add del mod">
          <ac:chgData name="Marcos Maillot" userId="fa14b39d-e966-4ebb-a436-4f96f84b9577" providerId="ADAL" clId="{152A8D8E-FC9A-4326-9172-4A160D290924}" dt="2026-09-29T21:33:22.746" v="1825" actId="478"/>
          <ac:spMkLst>
            <pc:docMk/>
            <pc:sldMk cId="3064181911" sldId="295"/>
            <ac:spMk id="17" creationId="{BB99E3A6-C979-A63F-CC45-B0198AD32838}"/>
          </ac:spMkLst>
        </pc:spChg>
        <pc:spChg chg="add mod">
          <ac:chgData name="Marcos Maillot" userId="fa14b39d-e966-4ebb-a436-4f96f84b9577" providerId="ADAL" clId="{152A8D8E-FC9A-4326-9172-4A160D290924}" dt="2026-09-29T21:33:45.743" v="1837" actId="1076"/>
          <ac:spMkLst>
            <pc:docMk/>
            <pc:sldMk cId="3064181911" sldId="295"/>
            <ac:spMk id="19" creationId="{CA962D56-4451-3320-9F71-E3FECDB96318}"/>
          </ac:spMkLst>
        </pc:spChg>
        <pc:spChg chg="add mod">
          <ac:chgData name="Marcos Maillot" userId="fa14b39d-e966-4ebb-a436-4f96f84b9577" providerId="ADAL" clId="{152A8D8E-FC9A-4326-9172-4A160D290924}" dt="2026-09-29T21:33:45.743" v="1837" actId="1076"/>
          <ac:spMkLst>
            <pc:docMk/>
            <pc:sldMk cId="3064181911" sldId="295"/>
            <ac:spMk id="21" creationId="{E62D4122-6A7B-34D6-0678-02D0D15BA191}"/>
          </ac:spMkLst>
        </pc:spChg>
        <pc:spChg chg="add mod">
          <ac:chgData name="Marcos Maillot" userId="fa14b39d-e966-4ebb-a436-4f96f84b9577" providerId="ADAL" clId="{152A8D8E-FC9A-4326-9172-4A160D290924}" dt="2026-09-29T21:33:48.194" v="1838" actId="1076"/>
          <ac:spMkLst>
            <pc:docMk/>
            <pc:sldMk cId="3064181911" sldId="295"/>
            <ac:spMk id="23" creationId="{0EB5BF16-18E9-D49B-A5E3-B16C69651668}"/>
          </ac:spMkLst>
        </pc:spChg>
        <pc:picChg chg="mod modCrop">
          <ac:chgData name="Marcos Maillot" userId="fa14b39d-e966-4ebb-a436-4f96f84b9577" providerId="ADAL" clId="{152A8D8E-FC9A-4326-9172-4A160D290924}" dt="2026-09-29T21:33:53.131" v="1839" actId="1076"/>
          <ac:picMkLst>
            <pc:docMk/>
            <pc:sldMk cId="3064181911" sldId="295"/>
            <ac:picMk id="2" creationId="{CD5FBCD3-7FFB-B68B-0977-0638AF76795B}"/>
          </ac:picMkLst>
        </pc:picChg>
        <pc:picChg chg="add del mod modCrop">
          <ac:chgData name="Marcos Maillot" userId="fa14b39d-e966-4ebb-a436-4f96f84b9577" providerId="ADAL" clId="{152A8D8E-FC9A-4326-9172-4A160D290924}" dt="2026-09-29T21:33:26.436" v="1829" actId="478"/>
          <ac:picMkLst>
            <pc:docMk/>
            <pc:sldMk cId="3064181911" sldId="295"/>
            <ac:picMk id="5" creationId="{D935FE3B-0F5F-2A7D-7CF6-98FCE0D65701}"/>
          </ac:picMkLst>
        </pc:picChg>
      </pc:sldChg>
      <pc:sldChg chg="addSp delSp mod">
        <pc:chgData name="Marcos Maillot" userId="fa14b39d-e966-4ebb-a436-4f96f84b9577" providerId="ADAL" clId="{152A8D8E-FC9A-4326-9172-4A160D290924}" dt="2026-09-29T21:34:44.450" v="1842" actId="478"/>
        <pc:sldMkLst>
          <pc:docMk/>
          <pc:sldMk cId="238751435" sldId="296"/>
        </pc:sldMkLst>
        <pc:picChg chg="add del">
          <ac:chgData name="Marcos Maillot" userId="fa14b39d-e966-4ebb-a436-4f96f84b9577" providerId="ADAL" clId="{152A8D8E-FC9A-4326-9172-4A160D290924}" dt="2026-09-29T21:34:44.450" v="1842" actId="478"/>
          <ac:picMkLst>
            <pc:docMk/>
            <pc:sldMk cId="238751435" sldId="296"/>
            <ac:picMk id="7" creationId="{1F0B3C7C-9DFD-893C-3D6C-6CE875375E16}"/>
          </ac:picMkLst>
        </pc:picChg>
      </pc:sldChg>
      <pc:sldChg chg="ord">
        <pc:chgData name="Marcos Maillot" userId="fa14b39d-e966-4ebb-a436-4f96f84b9577" providerId="ADAL" clId="{152A8D8E-FC9A-4326-9172-4A160D290924}" dt="2026-09-29T21:15:21.392" v="1701"/>
        <pc:sldMkLst>
          <pc:docMk/>
          <pc:sldMk cId="3287222978" sldId="305"/>
        </pc:sldMkLst>
      </pc:sldChg>
      <pc:sldChg chg="add del">
        <pc:chgData name="Marcos Maillot" userId="fa14b39d-e966-4ebb-a436-4f96f84b9577" providerId="ADAL" clId="{152A8D8E-FC9A-4326-9172-4A160D290924}" dt="2026-09-29T21:19:05.684" v="1716" actId="47"/>
        <pc:sldMkLst>
          <pc:docMk/>
          <pc:sldMk cId="1679758598" sldId="306"/>
        </pc:sldMkLst>
      </pc:sldChg>
      <pc:sldChg chg="addSp delSp modSp add mod">
        <pc:chgData name="Marcos Maillot" userId="fa14b39d-e966-4ebb-a436-4f96f84b9577" providerId="ADAL" clId="{152A8D8E-FC9A-4326-9172-4A160D290924}" dt="2026-09-29T21:33:15.164" v="1822" actId="1076"/>
        <pc:sldMkLst>
          <pc:docMk/>
          <pc:sldMk cId="3256459870" sldId="307"/>
        </pc:sldMkLst>
        <pc:spChg chg="del">
          <ac:chgData name="Marcos Maillot" userId="fa14b39d-e966-4ebb-a436-4f96f84b9577" providerId="ADAL" clId="{152A8D8E-FC9A-4326-9172-4A160D290924}" dt="2026-09-29T21:16:18.300" v="1707" actId="478"/>
          <ac:spMkLst>
            <pc:docMk/>
            <pc:sldMk cId="3256459870" sldId="307"/>
            <ac:spMk id="3" creationId="{0D2D629C-3706-CD2A-A705-AEE105DDD6F4}"/>
          </ac:spMkLst>
        </pc:spChg>
        <pc:spChg chg="add mod">
          <ac:chgData name="Marcos Maillot" userId="fa14b39d-e966-4ebb-a436-4f96f84b9577" providerId="ADAL" clId="{152A8D8E-FC9A-4326-9172-4A160D290924}" dt="2026-09-29T21:16:22.905" v="1709" actId="1076"/>
          <ac:spMkLst>
            <pc:docMk/>
            <pc:sldMk cId="3256459870" sldId="307"/>
            <ac:spMk id="6" creationId="{EA5CBCE8-C48C-CE3E-3484-A7B154510ABF}"/>
          </ac:spMkLst>
        </pc:spChg>
        <pc:spChg chg="del mod">
          <ac:chgData name="Marcos Maillot" userId="fa14b39d-e966-4ebb-a436-4f96f84b9577" providerId="ADAL" clId="{152A8D8E-FC9A-4326-9172-4A160D290924}" dt="2026-09-29T21:32:54.935" v="1817" actId="478"/>
          <ac:spMkLst>
            <pc:docMk/>
            <pc:sldMk cId="3256459870" sldId="307"/>
            <ac:spMk id="140" creationId="{C55F4DA9-B060-23F6-D35A-E22C7E88E240}"/>
          </ac:spMkLst>
        </pc:spChg>
        <pc:picChg chg="add mod">
          <ac:chgData name="Marcos Maillot" userId="fa14b39d-e966-4ebb-a436-4f96f84b9577" providerId="ADAL" clId="{152A8D8E-FC9A-4326-9172-4A160D290924}" dt="2026-09-29T21:16:24.870" v="1710" actId="1076"/>
          <ac:picMkLst>
            <pc:docMk/>
            <pc:sldMk cId="3256459870" sldId="307"/>
            <ac:picMk id="4" creationId="{AA9DEA8B-DF64-B671-F28D-023F3E8D3C46}"/>
          </ac:picMkLst>
        </pc:picChg>
        <pc:picChg chg="add mod">
          <ac:chgData name="Marcos Maillot" userId="fa14b39d-e966-4ebb-a436-4f96f84b9577" providerId="ADAL" clId="{152A8D8E-FC9A-4326-9172-4A160D290924}" dt="2026-09-29T21:33:15.164" v="1822" actId="1076"/>
          <ac:picMkLst>
            <pc:docMk/>
            <pc:sldMk cId="3256459870" sldId="307"/>
            <ac:picMk id="8" creationId="{552FB749-1AF9-A8EE-CD17-FE4700B80DCB}"/>
          </ac:picMkLst>
        </pc:picChg>
        <pc:picChg chg="del">
          <ac:chgData name="Marcos Maillot" userId="fa14b39d-e966-4ebb-a436-4f96f84b9577" providerId="ADAL" clId="{152A8D8E-FC9A-4326-9172-4A160D290924}" dt="2026-09-29T21:16:08.012" v="1704" actId="478"/>
          <ac:picMkLst>
            <pc:docMk/>
            <pc:sldMk cId="3256459870" sldId="307"/>
            <ac:picMk id="141" creationId="{F41CD764-B55B-B67C-61BC-E790D7BA5211}"/>
          </ac:picMkLst>
        </pc:picChg>
      </pc:sldChg>
      <pc:sldChg chg="add">
        <pc:chgData name="Marcos Maillot" userId="fa14b39d-e966-4ebb-a436-4f96f84b9577" providerId="ADAL" clId="{152A8D8E-FC9A-4326-9172-4A160D290924}" dt="2026-09-29T21:33:01.447" v="1818"/>
        <pc:sldMkLst>
          <pc:docMk/>
          <pc:sldMk cId="2462849948" sldId="308"/>
        </pc:sldMkLst>
      </pc:sldChg>
      <pc:sldChg chg="delSp modSp add mod">
        <pc:chgData name="Marcos Maillot" userId="fa14b39d-e966-4ebb-a436-4f96f84b9577" providerId="ADAL" clId="{152A8D8E-FC9A-4326-9172-4A160D290924}" dt="2026-09-29T21:35:41.818" v="1858" actId="1076"/>
        <pc:sldMkLst>
          <pc:docMk/>
          <pc:sldMk cId="1108619703" sldId="309"/>
        </pc:sldMkLst>
        <pc:spChg chg="del">
          <ac:chgData name="Marcos Maillot" userId="fa14b39d-e966-4ebb-a436-4f96f84b9577" providerId="ADAL" clId="{152A8D8E-FC9A-4326-9172-4A160D290924}" dt="2026-09-29T21:35:26.413" v="1849" actId="478"/>
          <ac:spMkLst>
            <pc:docMk/>
            <pc:sldMk cId="1108619703" sldId="309"/>
            <ac:spMk id="4" creationId="{04E70C1E-6710-E80D-8F53-EB9A45891032}"/>
          </ac:spMkLst>
        </pc:spChg>
        <pc:spChg chg="del mod">
          <ac:chgData name="Marcos Maillot" userId="fa14b39d-e966-4ebb-a436-4f96f84b9577" providerId="ADAL" clId="{152A8D8E-FC9A-4326-9172-4A160D290924}" dt="2026-09-29T21:35:27.689" v="1850" actId="478"/>
          <ac:spMkLst>
            <pc:docMk/>
            <pc:sldMk cId="1108619703" sldId="309"/>
            <ac:spMk id="5" creationId="{23353DCA-212D-0E8A-C267-2F505E722A29}"/>
          </ac:spMkLst>
        </pc:spChg>
        <pc:spChg chg="del">
          <ac:chgData name="Marcos Maillot" userId="fa14b39d-e966-4ebb-a436-4f96f84b9577" providerId="ADAL" clId="{152A8D8E-FC9A-4326-9172-4A160D290924}" dt="2026-09-29T21:35:35.365" v="1855" actId="478"/>
          <ac:spMkLst>
            <pc:docMk/>
            <pc:sldMk cId="1108619703" sldId="309"/>
            <ac:spMk id="6" creationId="{019660C0-EECE-99E6-32D1-0B29ACDC6E0A}"/>
          </ac:spMkLst>
        </pc:spChg>
        <pc:spChg chg="del">
          <ac:chgData name="Marcos Maillot" userId="fa14b39d-e966-4ebb-a436-4f96f84b9577" providerId="ADAL" clId="{152A8D8E-FC9A-4326-9172-4A160D290924}" dt="2026-09-29T21:35:30.940" v="1852" actId="478"/>
          <ac:spMkLst>
            <pc:docMk/>
            <pc:sldMk cId="1108619703" sldId="309"/>
            <ac:spMk id="8" creationId="{BFDC3690-E595-7D4E-D76B-9FEEDA4E6745}"/>
          </ac:spMkLst>
        </pc:spChg>
        <pc:spChg chg="del">
          <ac:chgData name="Marcos Maillot" userId="fa14b39d-e966-4ebb-a436-4f96f84b9577" providerId="ADAL" clId="{152A8D8E-FC9A-4326-9172-4A160D290924}" dt="2026-09-29T21:35:23.841" v="1846" actId="478"/>
          <ac:spMkLst>
            <pc:docMk/>
            <pc:sldMk cId="1108619703" sldId="309"/>
            <ac:spMk id="239" creationId="{0CE9FAC1-16FC-A87C-C141-E02EF828F44D}"/>
          </ac:spMkLst>
        </pc:spChg>
        <pc:picChg chg="del">
          <ac:chgData name="Marcos Maillot" userId="fa14b39d-e966-4ebb-a436-4f96f84b9577" providerId="ADAL" clId="{152A8D8E-FC9A-4326-9172-4A160D290924}" dt="2026-09-29T21:35:24.495" v="1847" actId="478"/>
          <ac:picMkLst>
            <pc:docMk/>
            <pc:sldMk cId="1108619703" sldId="309"/>
            <ac:picMk id="3" creationId="{0E6BE239-652A-7BAD-0789-6E7928A3CD35}"/>
          </ac:picMkLst>
        </pc:picChg>
        <pc:picChg chg="mod modCrop">
          <ac:chgData name="Marcos Maillot" userId="fa14b39d-e966-4ebb-a436-4f96f84b9577" providerId="ADAL" clId="{152A8D8E-FC9A-4326-9172-4A160D290924}" dt="2026-09-29T21:35:41.818" v="1858" actId="1076"/>
          <ac:picMkLst>
            <pc:docMk/>
            <pc:sldMk cId="1108619703" sldId="309"/>
            <ac:picMk id="7" creationId="{FBE9A510-65D2-D2F3-535A-A51C6CF5E97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1c03c1d1e6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21c03c1d1e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1c03c1d1e6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21c03c1d1e6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1c03c1d1e6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21c03c1d1e6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1c03c1d1e6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21c03c1d1e6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1c03c1d1e6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21c03c1d1e6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1c03c1d1e6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1c03c1d1e6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1c03c1d1e6_1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21c03c1d1e6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1c03c1d1e6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21c03c1d1e6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1c03c1d1e6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21c03c1d1e6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1c03c1d1e6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1c03c1d1e6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1c03c1d1e6_1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21c03c1d1e6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1c03c1d1e6_1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21c03c1d1e6_1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1c03c1d1e6_1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21c03c1d1e6_1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1c03c1d1e6_1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21c03c1d1e6_1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>
          <a:extLst>
            <a:ext uri="{FF2B5EF4-FFF2-40B4-BE49-F238E27FC236}">
              <a16:creationId xmlns:a16="http://schemas.microsoft.com/office/drawing/2014/main" id="{62EC2F3F-C276-C3B1-89B4-E87826512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1c03c1d1e6_1_187:notes">
            <a:extLst>
              <a:ext uri="{FF2B5EF4-FFF2-40B4-BE49-F238E27FC236}">
                <a16:creationId xmlns:a16="http://schemas.microsoft.com/office/drawing/2014/main" id="{5FB7851C-EA85-9DC7-13BA-E33F6D0753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21c03c1d1e6_1_187:notes">
            <a:extLst>
              <a:ext uri="{FF2B5EF4-FFF2-40B4-BE49-F238E27FC236}">
                <a16:creationId xmlns:a16="http://schemas.microsoft.com/office/drawing/2014/main" id="{7E7E0079-7AD6-9223-572A-44BBD28ABD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21308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c03c1d1e6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1c03c1d1e6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c03c1d1e6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1c03c1d1e6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42200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c03c1d1e6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1c03c1d1e6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20749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c03c1d1e6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1c03c1d1e6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58664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c03c1d1e6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1c03c1d1e6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10768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1c03c1d1e6_1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21c03c1d1e6_1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02E7E95F-B0B7-1DA4-E07C-5228DE3CA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1c03c1d1e6_1_133:notes">
            <a:extLst>
              <a:ext uri="{FF2B5EF4-FFF2-40B4-BE49-F238E27FC236}">
                <a16:creationId xmlns:a16="http://schemas.microsoft.com/office/drawing/2014/main" id="{BA5C56EF-E8BF-5FD6-C195-2D63E44F39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21c03c1d1e6_1_133:notes">
            <a:extLst>
              <a:ext uri="{FF2B5EF4-FFF2-40B4-BE49-F238E27FC236}">
                <a16:creationId xmlns:a16="http://schemas.microsoft.com/office/drawing/2014/main" id="{8B45F95B-9A33-FB06-3478-2F208C79D9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4681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15F3D490-9250-E122-674D-A994A3929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1c03c1d1e6_1_133:notes">
            <a:extLst>
              <a:ext uri="{FF2B5EF4-FFF2-40B4-BE49-F238E27FC236}">
                <a16:creationId xmlns:a16="http://schemas.microsoft.com/office/drawing/2014/main" id="{DF1BF5C1-345C-DF2A-3031-571908C40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21c03c1d1e6_1_133:notes">
            <a:extLst>
              <a:ext uri="{FF2B5EF4-FFF2-40B4-BE49-F238E27FC236}">
                <a16:creationId xmlns:a16="http://schemas.microsoft.com/office/drawing/2014/main" id="{4F4990A1-AC80-A1B2-1BA6-A3BFFB3B5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40156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BA0BFBEC-3082-A4B4-B939-9DA92C336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1c03c1d1e6_1_54:notes">
            <a:extLst>
              <a:ext uri="{FF2B5EF4-FFF2-40B4-BE49-F238E27FC236}">
                <a16:creationId xmlns:a16="http://schemas.microsoft.com/office/drawing/2014/main" id="{E0668A18-EC53-8C3B-99AC-6884C7240A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1c03c1d1e6_1_54:notes">
            <a:extLst>
              <a:ext uri="{FF2B5EF4-FFF2-40B4-BE49-F238E27FC236}">
                <a16:creationId xmlns:a16="http://schemas.microsoft.com/office/drawing/2014/main" id="{B9859D4F-679F-B379-7121-ED3AF74EED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74724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EE32EBE8-B3E9-9822-2C00-1A5FA011B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1c03c1d1e6_1_133:notes">
            <a:extLst>
              <a:ext uri="{FF2B5EF4-FFF2-40B4-BE49-F238E27FC236}">
                <a16:creationId xmlns:a16="http://schemas.microsoft.com/office/drawing/2014/main" id="{2D9ED638-900E-9186-4000-4E3CE00B92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21c03c1d1e6_1_133:notes">
            <a:extLst>
              <a:ext uri="{FF2B5EF4-FFF2-40B4-BE49-F238E27FC236}">
                <a16:creationId xmlns:a16="http://schemas.microsoft.com/office/drawing/2014/main" id="{3B4158B8-EB69-A5BA-0809-D4788370E4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24980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3B9BF6A6-A5D8-DDF0-73A9-E6A905F86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1c03c1d1e6_1_133:notes">
            <a:extLst>
              <a:ext uri="{FF2B5EF4-FFF2-40B4-BE49-F238E27FC236}">
                <a16:creationId xmlns:a16="http://schemas.microsoft.com/office/drawing/2014/main" id="{6C9E317F-F3CC-512F-FAB9-8D50B7AC8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21c03c1d1e6_1_133:notes">
            <a:extLst>
              <a:ext uri="{FF2B5EF4-FFF2-40B4-BE49-F238E27FC236}">
                <a16:creationId xmlns:a16="http://schemas.microsoft.com/office/drawing/2014/main" id="{E1B6E134-80D2-54B5-1741-3246407F30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50674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636F6FC-6B20-4A09-78AE-73427ED5D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1c03c1d1e6_1_133:notes">
            <a:extLst>
              <a:ext uri="{FF2B5EF4-FFF2-40B4-BE49-F238E27FC236}">
                <a16:creationId xmlns:a16="http://schemas.microsoft.com/office/drawing/2014/main" id="{5E9F8F94-4E55-64CD-826D-0BC0EA6908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21c03c1d1e6_1_133:notes">
            <a:extLst>
              <a:ext uri="{FF2B5EF4-FFF2-40B4-BE49-F238E27FC236}">
                <a16:creationId xmlns:a16="http://schemas.microsoft.com/office/drawing/2014/main" id="{38E6BA19-7EA1-E428-77C1-D8F47405EB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03103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1c03c1d1e6_1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3" name="Google Shape;243;g21c03c1d1e6_1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1c03c1d1e6_1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21c03c1d1e6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1c03c1d1e6_1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1c03c1d1e6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1c03c1d1e6_1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1c03c1d1e6_1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1c03c1d1e6_1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21c03c1d1e6_1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1c03c1d1e6_1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21c03c1d1e6_1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19902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A2A4804A-5D4A-B11C-EECC-67BC383D6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1c03c1d1e6_1_166:notes">
            <a:extLst>
              <a:ext uri="{FF2B5EF4-FFF2-40B4-BE49-F238E27FC236}">
                <a16:creationId xmlns:a16="http://schemas.microsoft.com/office/drawing/2014/main" id="{6F122FF8-7439-7C4D-A1FD-4217FCB232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1c03c1d1e6_1_166:notes">
            <a:extLst>
              <a:ext uri="{FF2B5EF4-FFF2-40B4-BE49-F238E27FC236}">
                <a16:creationId xmlns:a16="http://schemas.microsoft.com/office/drawing/2014/main" id="{6696A255-5FAA-EB11-7AA3-E3BD8AF961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248545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818A81E5-C69D-AC31-7D56-764B1E6D0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1c03c1d1e6_1_166:notes">
            <a:extLst>
              <a:ext uri="{FF2B5EF4-FFF2-40B4-BE49-F238E27FC236}">
                <a16:creationId xmlns:a16="http://schemas.microsoft.com/office/drawing/2014/main" id="{33FE7F35-3A4E-268C-2BF4-07470D2D09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1c03c1d1e6_1_166:notes">
            <a:extLst>
              <a:ext uri="{FF2B5EF4-FFF2-40B4-BE49-F238E27FC236}">
                <a16:creationId xmlns:a16="http://schemas.microsoft.com/office/drawing/2014/main" id="{3D3E8B93-F51E-DF92-2F7C-F278FD9C98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75330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3F966463-874B-8803-4AC2-2E873287B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1c03c1d1e6_1_166:notes">
            <a:extLst>
              <a:ext uri="{FF2B5EF4-FFF2-40B4-BE49-F238E27FC236}">
                <a16:creationId xmlns:a16="http://schemas.microsoft.com/office/drawing/2014/main" id="{388C37CF-849D-4CC7-8F86-4E21BD4ACA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1c03c1d1e6_1_166:notes">
            <a:extLst>
              <a:ext uri="{FF2B5EF4-FFF2-40B4-BE49-F238E27FC236}">
                <a16:creationId xmlns:a16="http://schemas.microsoft.com/office/drawing/2014/main" id="{2E53BA2B-EFEA-A948-411A-A9C84BA983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7864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5CB82D01-A95D-8A72-661B-EF677A7A2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1c03c1d1e6_1_166:notes">
            <a:extLst>
              <a:ext uri="{FF2B5EF4-FFF2-40B4-BE49-F238E27FC236}">
                <a16:creationId xmlns:a16="http://schemas.microsoft.com/office/drawing/2014/main" id="{B93B4556-DB0C-9820-15D3-C3EBD286DC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1c03c1d1e6_1_166:notes">
            <a:extLst>
              <a:ext uri="{FF2B5EF4-FFF2-40B4-BE49-F238E27FC236}">
                <a16:creationId xmlns:a16="http://schemas.microsoft.com/office/drawing/2014/main" id="{1802E6D3-0EC5-BFC1-382C-77D3D3F707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78163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0FC61544-D494-2828-FB39-84F14937F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1c03c1d1e6_1_166:notes">
            <a:extLst>
              <a:ext uri="{FF2B5EF4-FFF2-40B4-BE49-F238E27FC236}">
                <a16:creationId xmlns:a16="http://schemas.microsoft.com/office/drawing/2014/main" id="{7CD5A272-1863-0AE0-E646-DED0848040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1c03c1d1e6_1_166:notes">
            <a:extLst>
              <a:ext uri="{FF2B5EF4-FFF2-40B4-BE49-F238E27FC236}">
                <a16:creationId xmlns:a16="http://schemas.microsoft.com/office/drawing/2014/main" id="{E0D66FCD-51FC-4F0B-8D86-4CA90D3499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931177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6ACE47A9-7D7C-9257-5E85-28A665FA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1c03c1d1e6_1_166:notes">
            <a:extLst>
              <a:ext uri="{FF2B5EF4-FFF2-40B4-BE49-F238E27FC236}">
                <a16:creationId xmlns:a16="http://schemas.microsoft.com/office/drawing/2014/main" id="{E5C7D5E6-9A5C-AFB2-C3E2-B2B10A43E9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1c03c1d1e6_1_166:notes">
            <a:extLst>
              <a:ext uri="{FF2B5EF4-FFF2-40B4-BE49-F238E27FC236}">
                <a16:creationId xmlns:a16="http://schemas.microsoft.com/office/drawing/2014/main" id="{1AB0CD72-5814-4951-6146-4D557337ED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9673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3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4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5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4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6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8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8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8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9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4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0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50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50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5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1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1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1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2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52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5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1c03c1d1e6_1_13"/>
          <p:cNvSpPr txBox="1"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5" name="Google Shape;65;g21c03c1d1e6_1_13"/>
          <p:cNvSpPr txBox="1">
            <a:spLocks noGrp="1"/>
          </p:cNvSpPr>
          <p:nvPr>
            <p:ph type="body" idx="1"/>
          </p:nvPr>
        </p:nvSpPr>
        <p:spPr>
          <a:xfrm>
            <a:off x="856059" y="1687115"/>
            <a:ext cx="7429499" cy="265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1pPr>
            <a:lvl2pPr marL="914400" lvl="1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2pPr>
            <a:lvl3pPr marL="1371600" lvl="2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3pPr>
            <a:lvl4pPr marL="1828800" lvl="3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4pPr>
            <a:lvl5pPr marL="2286000" lvl="4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5pPr>
            <a:lvl6pPr marL="2743200" lvl="5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6pPr>
            <a:lvl7pPr marL="3200400" lvl="6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7pPr>
            <a:lvl8pPr marL="3657600" lvl="7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8pPr>
            <a:lvl9pPr marL="4114800" lvl="8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9pPr>
          </a:lstStyle>
          <a:p>
            <a:endParaRPr/>
          </a:p>
        </p:txBody>
      </p:sp>
      <p:sp>
        <p:nvSpPr>
          <p:cNvPr id="66" name="Google Shape;66;g21c03c1d1e6_1_13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7" name="Google Shape;67;g21c03c1d1e6_1_13"/>
          <p:cNvSpPr txBox="1">
            <a:spLocks noGrp="1"/>
          </p:cNvSpPr>
          <p:nvPr>
            <p:ph type="ftr" idx="11"/>
          </p:nvPr>
        </p:nvSpPr>
        <p:spPr>
          <a:xfrm>
            <a:off x="856058" y="4412456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8" name="Google Shape;68;g21c03c1d1e6_1_13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100"/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4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>
            <a:spLocks noGrp="1"/>
          </p:cNvSpPr>
          <p:nvPr>
            <p:ph type="ctrTitle"/>
          </p:nvPr>
        </p:nvSpPr>
        <p:spPr>
          <a:xfrm>
            <a:off x="1465500" y="372650"/>
            <a:ext cx="62130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Aprendizaje Profundo</a:t>
            </a:r>
            <a:endParaRPr/>
          </a:p>
        </p:txBody>
      </p:sp>
      <p:sp>
        <p:nvSpPr>
          <p:cNvPr id="74" name="Google Shape;74;p1"/>
          <p:cNvSpPr txBox="1">
            <a:spLocks noGrp="1"/>
          </p:cNvSpPr>
          <p:nvPr>
            <p:ph type="subTitle" idx="1"/>
          </p:nvPr>
        </p:nvSpPr>
        <p:spPr>
          <a:xfrm>
            <a:off x="460950" y="1379610"/>
            <a:ext cx="8222100" cy="1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900"/>
              <a:t>Facultad de Ingeniería</a:t>
            </a:r>
            <a:endParaRPr sz="29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900"/>
              <a:t>Universidad de Buenos Aires</a:t>
            </a:r>
            <a:endParaRPr sz="2900"/>
          </a:p>
        </p:txBody>
      </p:sp>
      <p:sp>
        <p:nvSpPr>
          <p:cNvPr id="75" name="Google Shape;75;p1"/>
          <p:cNvSpPr txBox="1">
            <a:spLocks noGrp="1"/>
          </p:cNvSpPr>
          <p:nvPr>
            <p:ph type="subTitle" idx="1"/>
          </p:nvPr>
        </p:nvSpPr>
        <p:spPr>
          <a:xfrm>
            <a:off x="198125" y="3661752"/>
            <a:ext cx="8222100" cy="1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600" dirty="0"/>
              <a:t>Profesores: </a:t>
            </a:r>
            <a:endParaRPr sz="2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/>
              <a:t>		</a:t>
            </a:r>
            <a:r>
              <a:rPr lang="pt-BR" sz="2600" dirty="0"/>
              <a:t>Marcos Maillot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/>
              <a:t>		Gerardo Vilcamiza</a:t>
            </a:r>
          </a:p>
        </p:txBody>
      </p:sp>
      <p:pic>
        <p:nvPicPr>
          <p:cNvPr id="76" name="Google Shape;7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1900" y="2437800"/>
            <a:ext cx="1500200" cy="15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471900" y="174125"/>
            <a:ext cx="8222100" cy="13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818">
                <a:latin typeface="Arial"/>
                <a:ea typeface="Arial"/>
                <a:cs typeface="Arial"/>
                <a:sym typeface="Arial"/>
              </a:rPr>
              <a:t>Redes Recurrentes</a:t>
            </a:r>
            <a:endParaRPr sz="2818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818">
                <a:latin typeface="Arial"/>
                <a:ea typeface="Arial"/>
                <a:cs typeface="Arial"/>
                <a:sym typeface="Arial"/>
              </a:rPr>
              <a:t>Recurrent Neural Network (RNN)</a:t>
            </a:r>
            <a:endParaRPr sz="2208"/>
          </a:p>
        </p:txBody>
      </p:sp>
      <p:sp>
        <p:nvSpPr>
          <p:cNvPr id="82" name="Google Shape;82;p2"/>
          <p:cNvSpPr txBox="1">
            <a:spLocks noGrp="1"/>
          </p:cNvSpPr>
          <p:nvPr>
            <p:ph type="body" idx="1"/>
          </p:nvPr>
        </p:nvSpPr>
        <p:spPr>
          <a:xfrm>
            <a:off x="471900" y="1986025"/>
            <a:ext cx="3358800" cy="30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Introducción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Neurona recurrente básica. Unfolding de una RNN.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Practica en pytorch (práctica  teórica)</a:t>
            </a:r>
          </a:p>
          <a:p>
            <a:pPr marL="0" indent="0">
              <a:lnSpc>
                <a:spcPct val="95000"/>
              </a:lnSpc>
              <a:spcBef>
                <a:spcPts val="1200"/>
              </a:spcBef>
              <a:buSzPts val="1018"/>
              <a:buNone/>
            </a:pPr>
            <a:r>
              <a:rPr lang="es-ES" dirty="0">
                <a:solidFill>
                  <a:schemeClr val="dk2"/>
                </a:solidFill>
              </a:rPr>
              <a:t>Implementación (práctica - predecir serie temporal – práctica 2) 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endParaRPr dirty="0">
              <a:solidFill>
                <a:schemeClr val="dk2"/>
              </a:solidFill>
            </a:endParaRPr>
          </a:p>
        </p:txBody>
      </p:sp>
      <p:pic>
        <p:nvPicPr>
          <p:cNvPr id="83" name="Google Shape;8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 txBox="1">
            <a:spLocks noGrp="1"/>
          </p:cNvSpPr>
          <p:nvPr>
            <p:ph type="body" idx="1"/>
          </p:nvPr>
        </p:nvSpPr>
        <p:spPr>
          <a:xfrm>
            <a:off x="4070850" y="1928300"/>
            <a:ext cx="4100100" cy="30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dk2"/>
                </a:solidFill>
              </a:rPr>
              <a:t> . Back propagation through time (BPTT) (</a:t>
            </a:r>
            <a:r>
              <a:rPr lang="en-US" dirty="0" err="1">
                <a:solidFill>
                  <a:schemeClr val="dk2"/>
                </a:solidFill>
              </a:rPr>
              <a:t>básico</a:t>
            </a:r>
            <a:r>
              <a:rPr lang="en-US" dirty="0">
                <a:solidFill>
                  <a:schemeClr val="dk2"/>
                </a:solidFill>
              </a:rPr>
              <a:t>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dk2"/>
                </a:solidFill>
              </a:rPr>
              <a:t>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dk2"/>
                </a:solidFill>
              </a:rPr>
              <a:t>. Arquitectura enconder-decoder (seq to seq)</a:t>
            </a: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1c03c1d1e6_1_8"/>
          <p:cNvSpPr txBox="1"/>
          <p:nvPr/>
        </p:nvSpPr>
        <p:spPr>
          <a:xfrm>
            <a:off x="251250" y="964189"/>
            <a:ext cx="8641500" cy="2927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latin typeface="Twentieth Century"/>
                <a:ea typeface="Twentieth Century"/>
                <a:cs typeface="Twentieth Century"/>
                <a:sym typeface="Twentieth Century"/>
              </a:rPr>
              <a:t>Arquitectura clásica para el procesamiento de secuencias (</a:t>
            </a:r>
            <a:r>
              <a:rPr lang="es-ES" sz="2100" b="0" i="0" u="none" strike="noStrike" cap="none" dirty="0">
                <a:latin typeface="Twentieth Century"/>
                <a:ea typeface="Twentieth Century"/>
                <a:cs typeface="Twentieth Century"/>
                <a:sym typeface="Twentieth Century"/>
              </a:rPr>
              <a:t>datos en los que el orden y la dependencia entre elementos sucesivos contienen información relevante</a:t>
            </a:r>
            <a:r>
              <a:rPr lang="en" sz="2100" b="0" i="0" u="none" strike="noStrike" cap="none" dirty="0">
                <a:latin typeface="Twentieth Century"/>
                <a:ea typeface="Twentieth Century"/>
                <a:cs typeface="Twentieth Century"/>
                <a:sym typeface="Twentieth Century"/>
              </a:rPr>
              <a:t>):</a:t>
            </a:r>
            <a:endParaRPr sz="1100" dirty="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latin typeface="Twentieth Century"/>
                <a:ea typeface="Twentieth Century"/>
                <a:cs typeface="Twentieth Century"/>
                <a:sym typeface="Twentieth Century"/>
              </a:rPr>
              <a:t>	- señales temporales</a:t>
            </a:r>
            <a:endParaRPr sz="1100" dirty="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latin typeface="Twentieth Century"/>
                <a:ea typeface="Twentieth Century"/>
                <a:cs typeface="Twentieth Century"/>
                <a:sym typeface="Twentieth Century"/>
              </a:rPr>
              <a:t>	- texto</a:t>
            </a:r>
            <a:endParaRPr sz="1100" dirty="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latin typeface="Twentieth Century"/>
                <a:ea typeface="Twentieth Century"/>
                <a:cs typeface="Twentieth Century"/>
                <a:sym typeface="Twentieth Century"/>
              </a:rPr>
              <a:t>	- habla</a:t>
            </a:r>
            <a:endParaRPr sz="1100" dirty="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latin typeface="Twentieth Century"/>
                <a:ea typeface="Twentieth Century"/>
                <a:cs typeface="Twentieth Century"/>
                <a:sym typeface="Twentieth Century"/>
              </a:rPr>
              <a:t>	- música</a:t>
            </a:r>
            <a:endParaRPr sz="1100" dirty="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latin typeface="Twentieth Century"/>
                <a:ea typeface="Twentieth Century"/>
                <a:cs typeface="Twentieth Century"/>
                <a:sym typeface="Twentieth Century"/>
              </a:rPr>
              <a:t>	- etc</a:t>
            </a:r>
            <a:endParaRPr sz="2100" b="0" i="0" u="none" strike="noStrike" cap="none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b="0" i="0" u="none" strike="noStrike" cap="none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0" name="Google Shape;90;g21c03c1d1e6_1_8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Introducción</a:t>
            </a:r>
            <a:endParaRPr/>
          </a:p>
        </p:txBody>
      </p:sp>
      <p:sp>
        <p:nvSpPr>
          <p:cNvPr id="3" name="Google Shape;89;g21c03c1d1e6_1_8">
            <a:extLst>
              <a:ext uri="{FF2B5EF4-FFF2-40B4-BE49-F238E27FC236}">
                <a16:creationId xmlns:a16="http://schemas.microsoft.com/office/drawing/2014/main" id="{A113C52D-EE94-BFA4-349E-AC3C8A942E62}"/>
              </a:ext>
            </a:extLst>
          </p:cNvPr>
          <p:cNvSpPr txBox="1"/>
          <p:nvPr/>
        </p:nvSpPr>
        <p:spPr>
          <a:xfrm>
            <a:off x="381618" y="4236959"/>
            <a:ext cx="8641500" cy="760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b="0" i="0" u="none" strike="noStrike" cap="none" dirty="0">
                <a:latin typeface="Twentieth Century"/>
                <a:ea typeface="Twentieth Century"/>
                <a:cs typeface="Twentieth Century"/>
                <a:sym typeface="Twentieth Century"/>
              </a:rPr>
              <a:t>Las RNN están diseñadas para procesar datos secuenciales, utilizando un estado interno que incorpora información de los pasos anteriores</a:t>
            </a:r>
            <a:endParaRPr sz="2100" b="0" i="0" u="none" strike="noStrike" cap="none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1c03c1d1e6_1_19"/>
          <p:cNvSpPr txBox="1"/>
          <p:nvPr/>
        </p:nvSpPr>
        <p:spPr>
          <a:xfrm>
            <a:off x="215950" y="795184"/>
            <a:ext cx="817785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 </a:t>
            </a:r>
            <a:r>
              <a:rPr lang="en" sz="2100" b="1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cada paso</a:t>
            </a:r>
            <a:r>
              <a:rPr lang="en" sz="21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se repiten los </a:t>
            </a:r>
            <a:r>
              <a:rPr lang="en" sz="2100" b="1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mismos cálculos </a:t>
            </a:r>
            <a:r>
              <a:rPr lang="en" sz="210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(recurrencia)</a:t>
            </a:r>
            <a:r>
              <a:rPr lang="en" sz="21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empleando </a:t>
            </a:r>
            <a:r>
              <a:rPr lang="en" sz="2100" b="1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datos del paso actual</a:t>
            </a:r>
            <a:r>
              <a:rPr lang="en" sz="21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 </a:t>
            </a:r>
            <a:r>
              <a:rPr lang="en" sz="2100" b="1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datos del “estado oculto” del paso anterior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sobre toda la secuencia a procesar.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96" name="Google Shape;96;g21c03c1d1e6_1_19"/>
          <p:cNvSpPr/>
          <p:nvPr/>
        </p:nvSpPr>
        <p:spPr>
          <a:xfrm>
            <a:off x="103092" y="1949430"/>
            <a:ext cx="6169447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Los pasos, no son necesariamente en unidad tiempo!!</a:t>
            </a:r>
            <a:endParaRPr sz="1100" dirty="0"/>
          </a:p>
        </p:txBody>
      </p:sp>
      <p:graphicFrame>
        <p:nvGraphicFramePr>
          <p:cNvPr id="97" name="Google Shape;97;g21c03c1d1e6_1_19"/>
          <p:cNvGraphicFramePr/>
          <p:nvPr/>
        </p:nvGraphicFramePr>
        <p:xfrm>
          <a:off x="329633" y="2887190"/>
          <a:ext cx="5436800" cy="432000"/>
        </p:xfrm>
        <a:graphic>
          <a:graphicData uri="http://schemas.openxmlformats.org/drawingml/2006/table">
            <a:tbl>
              <a:tblPr>
                <a:noFill/>
                <a:tableStyleId>{D3E55744-8061-4CE5-AF87-22040F36E0A0}</a:tableStyleId>
              </a:tblPr>
              <a:tblGrid>
                <a:gridCol w="6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X(t=0)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X(t=1)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X(t=2)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X(t=3)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X(t=4)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X(t=5)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…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</a:t>
                      </a:r>
                      <a:r>
                        <a:rPr lang="en" sz="1800" u="none" strike="noStrike" cap="none"/>
                        <a:t>τ</a:t>
                      </a:r>
                      <a:r>
                        <a:rPr lang="en" sz="1400" u="none" strike="noStrike" cap="none"/>
                        <a:t>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8" name="Google Shape;98;g21c03c1d1e6_1_19"/>
          <p:cNvSpPr txBox="1"/>
          <p:nvPr/>
        </p:nvSpPr>
        <p:spPr>
          <a:xfrm>
            <a:off x="215950" y="2517457"/>
            <a:ext cx="3485193" cy="346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highlight>
                  <a:schemeClr val="lt1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Temperatura f(t):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99" name="Google Shape;99;g21c03c1d1e6_1_19"/>
          <p:cNvSpPr txBox="1"/>
          <p:nvPr/>
        </p:nvSpPr>
        <p:spPr>
          <a:xfrm>
            <a:off x="215949" y="3439258"/>
            <a:ext cx="3485193" cy="346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highlight>
                  <a:schemeClr val="lt1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Mensaje:</a:t>
            </a:r>
            <a:endParaRPr sz="1100" dirty="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graphicFrame>
        <p:nvGraphicFramePr>
          <p:cNvPr id="100" name="Google Shape;100;g21c03c1d1e6_1_19"/>
          <p:cNvGraphicFramePr/>
          <p:nvPr>
            <p:extLst>
              <p:ext uri="{D42A27DB-BD31-4B8C-83A1-F6EECF244321}">
                <p14:modId xmlns:p14="http://schemas.microsoft.com/office/powerpoint/2010/main" val="84495278"/>
              </p:ext>
            </p:extLst>
          </p:nvPr>
        </p:nvGraphicFramePr>
        <p:xfrm>
          <a:off x="283563" y="3808991"/>
          <a:ext cx="5988975" cy="432000"/>
        </p:xfrm>
        <a:graphic>
          <a:graphicData uri="http://schemas.openxmlformats.org/drawingml/2006/table">
            <a:tbl>
              <a:tblPr>
                <a:noFill/>
                <a:tableStyleId>{D3E55744-8061-4CE5-AF87-22040F36E0A0}</a:tableStyleId>
              </a:tblPr>
              <a:tblGrid>
                <a:gridCol w="74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7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 dirty="0"/>
                        <a:t>Este</a:t>
                      </a:r>
                      <a:endParaRPr sz="1100" dirty="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es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un 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mensaje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para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la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red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 dirty="0"/>
                        <a:t>neuronal</a:t>
                      </a:r>
                      <a:endParaRPr sz="1100" dirty="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3" name="Google Shape;103;g21c03c1d1e6_1_19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Introducción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10;g21c03c1d1e6_1_31">
            <a:extLst>
              <a:ext uri="{FF2B5EF4-FFF2-40B4-BE49-F238E27FC236}">
                <a16:creationId xmlns:a16="http://schemas.microsoft.com/office/drawing/2014/main" id="{B4369622-59BB-DC6C-4161-607BD83A51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8817" b="30423"/>
          <a:stretch>
            <a:fillRect/>
          </a:stretch>
        </p:blipFill>
        <p:spPr>
          <a:xfrm>
            <a:off x="4077288" y="4061287"/>
            <a:ext cx="5058950" cy="47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21c03c1d1e6_1_31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 dirty="0"/>
          </a:p>
        </p:txBody>
      </p:sp>
      <p:pic>
        <p:nvPicPr>
          <p:cNvPr id="109" name="Google Shape;109;g21c03c1d1e6_1_31"/>
          <p:cNvPicPr preferRelativeResize="0"/>
          <p:nvPr/>
        </p:nvPicPr>
        <p:blipFill rotWithShape="1">
          <a:blip r:embed="rId4">
            <a:alphaModFix/>
          </a:blip>
          <a:srcRect t="37445" r="78933" b="-1"/>
          <a:stretch/>
        </p:blipFill>
        <p:spPr>
          <a:xfrm>
            <a:off x="1966677" y="2073813"/>
            <a:ext cx="1287886" cy="2653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1c03c1d1e6_1_31"/>
          <p:cNvPicPr preferRelativeResize="0"/>
          <p:nvPr/>
        </p:nvPicPr>
        <p:blipFill rotWithShape="1">
          <a:blip r:embed="rId3">
            <a:alphaModFix/>
          </a:blip>
          <a:srcRect t="-1" b="48558"/>
          <a:stretch>
            <a:fillRect/>
          </a:stretch>
        </p:blipFill>
        <p:spPr>
          <a:xfrm>
            <a:off x="3865900" y="1779390"/>
            <a:ext cx="5058950" cy="116890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21c03c1d1e6_1_31"/>
          <p:cNvSpPr/>
          <p:nvPr/>
        </p:nvSpPr>
        <p:spPr>
          <a:xfrm>
            <a:off x="1884605" y="3129806"/>
            <a:ext cx="1573700" cy="154069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3" name="Google Shape;113;g21c03c1d1e6_1_31"/>
          <p:cNvSpPr/>
          <p:nvPr/>
        </p:nvSpPr>
        <p:spPr>
          <a:xfrm>
            <a:off x="4059095" y="1976863"/>
            <a:ext cx="4813763" cy="92055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4" name="Google Shape;114;g21c03c1d1e6_1_31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Redes recurrentes - Neurona recurrente básica - ecuaciones</a:t>
            </a:r>
            <a:endParaRPr dirty="0"/>
          </a:p>
        </p:txBody>
      </p:sp>
      <p:sp>
        <p:nvSpPr>
          <p:cNvPr id="3" name="Google Shape;113;g21c03c1d1e6_1_31">
            <a:extLst>
              <a:ext uri="{FF2B5EF4-FFF2-40B4-BE49-F238E27FC236}">
                <a16:creationId xmlns:a16="http://schemas.microsoft.com/office/drawing/2014/main" id="{A5A36FCB-F18E-990C-B1E9-D87CCA6C4CF6}"/>
              </a:ext>
            </a:extLst>
          </p:cNvPr>
          <p:cNvSpPr/>
          <p:nvPr/>
        </p:nvSpPr>
        <p:spPr>
          <a:xfrm>
            <a:off x="4129280" y="4022164"/>
            <a:ext cx="4813763" cy="602700"/>
          </a:xfrm>
          <a:prstGeom prst="rect">
            <a:avLst/>
          </a:prstGeom>
          <a:noFill/>
          <a:ln w="381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B050"/>
              </a:solidFill>
              <a:highlight>
                <a:srgbClr val="FFFF00"/>
              </a:highlight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" name="Google Shape;112;g21c03c1d1e6_1_31">
            <a:extLst>
              <a:ext uri="{FF2B5EF4-FFF2-40B4-BE49-F238E27FC236}">
                <a16:creationId xmlns:a16="http://schemas.microsoft.com/office/drawing/2014/main" id="{39CBA3CA-596B-98B7-04DC-72F7697B20E3}"/>
              </a:ext>
            </a:extLst>
          </p:cNvPr>
          <p:cNvSpPr/>
          <p:nvPr/>
        </p:nvSpPr>
        <p:spPr>
          <a:xfrm>
            <a:off x="1866411" y="1976863"/>
            <a:ext cx="1573700" cy="1055994"/>
          </a:xfrm>
          <a:prstGeom prst="rect">
            <a:avLst/>
          </a:prstGeom>
          <a:noFill/>
          <a:ln w="381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111;g21c03c1d1e6_1_31">
            <a:extLst>
              <a:ext uri="{FF2B5EF4-FFF2-40B4-BE49-F238E27FC236}">
                <a16:creationId xmlns:a16="http://schemas.microsoft.com/office/drawing/2014/main" id="{50341C08-1128-7469-E21C-FA14A1B651DE}"/>
              </a:ext>
            </a:extLst>
          </p:cNvPr>
          <p:cNvSpPr txBox="1"/>
          <p:nvPr/>
        </p:nvSpPr>
        <p:spPr>
          <a:xfrm>
            <a:off x="4129280" y="1446677"/>
            <a:ext cx="3918168" cy="39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Neurona(s) recurrente(s):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11" name="Google Shape;111;g21c03c1d1e6_1_31">
            <a:extLst>
              <a:ext uri="{FF2B5EF4-FFF2-40B4-BE49-F238E27FC236}">
                <a16:creationId xmlns:a16="http://schemas.microsoft.com/office/drawing/2014/main" id="{3A93F0AF-D7C6-10E6-BAF3-D7815B37C5C8}"/>
              </a:ext>
            </a:extLst>
          </p:cNvPr>
          <p:cNvSpPr txBox="1"/>
          <p:nvPr/>
        </p:nvSpPr>
        <p:spPr>
          <a:xfrm>
            <a:off x="4059095" y="3322134"/>
            <a:ext cx="4813763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Output ( se emplea para “combinar” varias neuronas recurrentes)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14" name="Google Shape;111;g21c03c1d1e6_1_31">
            <a:extLst>
              <a:ext uri="{FF2B5EF4-FFF2-40B4-BE49-F238E27FC236}">
                <a16:creationId xmlns:a16="http://schemas.microsoft.com/office/drawing/2014/main" id="{F1E3B7E4-C368-BF9C-4926-C79CB5551EFF}"/>
              </a:ext>
            </a:extLst>
          </p:cNvPr>
          <p:cNvSpPr txBox="1"/>
          <p:nvPr/>
        </p:nvSpPr>
        <p:spPr>
          <a:xfrm>
            <a:off x="15481" y="3118037"/>
            <a:ext cx="1765648" cy="155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i="1" dirty="0">
                <a:solidFill>
                  <a:schemeClr val="dk2"/>
                </a:solidFill>
                <a:latin typeface="Times New Roman" panose="02020603050405020304" pitchFamily="18" charset="0"/>
                <a:ea typeface="Twentieth Century"/>
                <a:cs typeface="Times New Roman" panose="02020603050405020304" pitchFamily="18" charset="0"/>
                <a:sym typeface="Twentieth Century"/>
              </a:rPr>
              <a:t>h</a:t>
            </a:r>
            <a:r>
              <a:rPr lang="en" sz="2100" i="1" dirty="0">
                <a:solidFill>
                  <a:schemeClr val="dk2"/>
                </a:solidFill>
                <a:latin typeface="Times New Roman" panose="02020603050405020304" pitchFamily="18" charset="0"/>
                <a:ea typeface="Twentieth Century"/>
                <a:cs typeface="Times New Roman" panose="02020603050405020304" pitchFamily="18" charset="0"/>
                <a:sym typeface="Twentieth Century"/>
              </a:rPr>
              <a:t>(t)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es el “estado oculto” de la neurona recurrente.</a:t>
            </a:r>
            <a:endParaRPr sz="11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1c03c1d1e6_1_41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pic>
        <p:nvPicPr>
          <p:cNvPr id="120" name="Google Shape;120;g21c03c1d1e6_1_41"/>
          <p:cNvPicPr preferRelativeResize="0"/>
          <p:nvPr/>
        </p:nvPicPr>
        <p:blipFill rotWithShape="1">
          <a:blip r:embed="rId3">
            <a:alphaModFix/>
          </a:blip>
          <a:srcRect t="38451"/>
          <a:stretch/>
        </p:blipFill>
        <p:spPr>
          <a:xfrm>
            <a:off x="0" y="2255028"/>
            <a:ext cx="6288110" cy="26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21c03c1d1e6_1_41"/>
          <p:cNvPicPr preferRelativeResize="0"/>
          <p:nvPr/>
        </p:nvPicPr>
        <p:blipFill rotWithShape="1">
          <a:blip r:embed="rId4">
            <a:alphaModFix/>
          </a:blip>
          <a:srcRect b="28849"/>
          <a:stretch/>
        </p:blipFill>
        <p:spPr>
          <a:xfrm>
            <a:off x="5403593" y="850882"/>
            <a:ext cx="3635403" cy="116179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21c03c1d1e6_1_41"/>
          <p:cNvSpPr/>
          <p:nvPr/>
        </p:nvSpPr>
        <p:spPr>
          <a:xfrm>
            <a:off x="6544611" y="4005667"/>
            <a:ext cx="2217813" cy="76126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</a:t>
            </a: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</a:t>
            </a:r>
            <a:r>
              <a:rPr lang="en" sz="2100" b="1" i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</a:t>
            </a: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 b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son los mismos!!</a:t>
            </a:r>
            <a:endParaRPr sz="1100" dirty="0"/>
          </a:p>
        </p:txBody>
      </p:sp>
      <p:sp>
        <p:nvSpPr>
          <p:cNvPr id="123" name="Google Shape;123;g21c03c1d1e6_1_41"/>
          <p:cNvSpPr/>
          <p:nvPr/>
        </p:nvSpPr>
        <p:spPr>
          <a:xfrm>
            <a:off x="6740049" y="4766929"/>
            <a:ext cx="194124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Parameters sharing</a:t>
            </a:r>
            <a:endParaRPr sz="1800" dirty="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4" name="Google Shape;124;g21c03c1d1e6_1_41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Redes recurrentes - Neurona recurrente básica - ecuaciones</a:t>
            </a:r>
            <a:endParaRPr dirty="0"/>
          </a:p>
        </p:txBody>
      </p:sp>
      <p:sp>
        <p:nvSpPr>
          <p:cNvPr id="3" name="Google Shape;111;g21c03c1d1e6_1_31">
            <a:extLst>
              <a:ext uri="{FF2B5EF4-FFF2-40B4-BE49-F238E27FC236}">
                <a16:creationId xmlns:a16="http://schemas.microsoft.com/office/drawing/2014/main" id="{9E7DED33-DF46-909D-E6F2-FE3C6DBB25DA}"/>
              </a:ext>
            </a:extLst>
          </p:cNvPr>
          <p:cNvSpPr txBox="1"/>
          <p:nvPr/>
        </p:nvSpPr>
        <p:spPr>
          <a:xfrm>
            <a:off x="351584" y="1036537"/>
            <a:ext cx="4550922" cy="9761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 “estado oculto” </a:t>
            </a:r>
            <a:r>
              <a:rPr lang="en" sz="2100" i="1" dirty="0">
                <a:solidFill>
                  <a:schemeClr val="dk2"/>
                </a:solidFill>
                <a:latin typeface="Times New Roman" panose="02020603050405020304" pitchFamily="18" charset="0"/>
                <a:ea typeface="Twentieth Century"/>
                <a:cs typeface="Times New Roman" panose="02020603050405020304" pitchFamily="18" charset="0"/>
                <a:sym typeface="Twentieth Century"/>
              </a:rPr>
              <a:t>h(t)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es lo que permite “transferir” información del pasado al paso actual.</a:t>
            </a:r>
            <a:endParaRPr sz="1100" dirty="0">
              <a:solidFill>
                <a:schemeClr val="dk2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7C0338-60D3-DD26-EA7F-3092CEBB07DA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2627045" y="2012673"/>
            <a:ext cx="5986" cy="15678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1ABE1D9-B65D-0CB5-12C4-800C525E85B8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2627045" y="2012673"/>
            <a:ext cx="810218" cy="13000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F2A1F86-2635-C8A1-2E81-A23902F5DA66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2627045" y="2012673"/>
            <a:ext cx="1702584" cy="13000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D4C7D6-3BDC-1DF7-9361-940CDAEC53D8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2627045" y="2012673"/>
            <a:ext cx="2776548" cy="13000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A760D6E-B921-7F92-C360-E313145D02AB}"/>
              </a:ext>
            </a:extLst>
          </p:cNvPr>
          <p:cNvCxnSpPr>
            <a:cxnSpLocks/>
          </p:cNvCxnSpPr>
          <p:nvPr/>
        </p:nvCxnSpPr>
        <p:spPr>
          <a:xfrm>
            <a:off x="1762699" y="1652530"/>
            <a:ext cx="2478795" cy="0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DCF529-3C70-92BC-24F0-4DEE8DE89F4C}"/>
              </a:ext>
            </a:extLst>
          </p:cNvPr>
          <p:cNvCxnSpPr>
            <a:cxnSpLocks/>
          </p:cNvCxnSpPr>
          <p:nvPr/>
        </p:nvCxnSpPr>
        <p:spPr>
          <a:xfrm>
            <a:off x="7249098" y="1265103"/>
            <a:ext cx="616945" cy="0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E8D9C6F-DA73-9253-3EF7-CAB3B3FA0234}"/>
              </a:ext>
            </a:extLst>
          </p:cNvPr>
          <p:cNvCxnSpPr>
            <a:cxnSpLocks/>
          </p:cNvCxnSpPr>
          <p:nvPr/>
        </p:nvCxnSpPr>
        <p:spPr>
          <a:xfrm>
            <a:off x="471890" y="1926115"/>
            <a:ext cx="1169623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9017DA8-0A93-6658-BB06-FB13F2FBB17F}"/>
              </a:ext>
            </a:extLst>
          </p:cNvPr>
          <p:cNvCxnSpPr>
            <a:cxnSpLocks/>
          </p:cNvCxnSpPr>
          <p:nvPr/>
        </p:nvCxnSpPr>
        <p:spPr>
          <a:xfrm>
            <a:off x="5611508" y="1648857"/>
            <a:ext cx="414719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Google Shape;111;g21c03c1d1e6_1_31">
            <a:extLst>
              <a:ext uri="{FF2B5EF4-FFF2-40B4-BE49-F238E27FC236}">
                <a16:creationId xmlns:a16="http://schemas.microsoft.com/office/drawing/2014/main" id="{C9934D1F-3095-C1D1-57E1-D57C44157F06}"/>
              </a:ext>
            </a:extLst>
          </p:cNvPr>
          <p:cNvSpPr txBox="1"/>
          <p:nvPr/>
        </p:nvSpPr>
        <p:spPr>
          <a:xfrm>
            <a:off x="6311476" y="2280450"/>
            <a:ext cx="2727520" cy="1386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0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neurona recurrente tiene de parámetros: 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" sz="20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 (entrada – hidden)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2"/>
                </a:solidFill>
                <a:latin typeface="Twentieth Century"/>
                <a:sym typeface="Twentieth Century"/>
              </a:rPr>
              <a:t>W</a:t>
            </a:r>
            <a:r>
              <a:rPr lang="en" sz="2000" dirty="0">
                <a:solidFill>
                  <a:schemeClr val="dk2"/>
                </a:solidFill>
                <a:latin typeface="Twentieth Century"/>
                <a:sym typeface="Twentieth Century"/>
              </a:rPr>
              <a:t> (hidden-hidden)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2"/>
                </a:solidFill>
                <a:latin typeface="Twentieth Century"/>
                <a:sym typeface="Twentieth Century"/>
              </a:rPr>
              <a:t>b</a:t>
            </a:r>
            <a:r>
              <a:rPr lang="en" sz="2000" dirty="0">
                <a:solidFill>
                  <a:schemeClr val="dk2"/>
                </a:solidFill>
                <a:latin typeface="Twentieth Century"/>
                <a:sym typeface="Twentieth Century"/>
              </a:rPr>
              <a:t> (bias)</a:t>
            </a:r>
            <a:endParaRPr sz="105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1c03c1d1e6_1_49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pic>
        <p:nvPicPr>
          <p:cNvPr id="130" name="Google Shape;130;g21c03c1d1e6_1_49"/>
          <p:cNvPicPr preferRelativeResize="0"/>
          <p:nvPr/>
        </p:nvPicPr>
        <p:blipFill rotWithShape="1">
          <a:blip r:embed="rId3">
            <a:alphaModFix/>
          </a:blip>
          <a:srcRect t="49743"/>
          <a:stretch/>
        </p:blipFill>
        <p:spPr>
          <a:xfrm>
            <a:off x="39575" y="1702200"/>
            <a:ext cx="9064849" cy="3178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21c03c1d1e6_1_49"/>
          <p:cNvPicPr preferRelativeResize="0"/>
          <p:nvPr/>
        </p:nvPicPr>
        <p:blipFill rotWithShape="1">
          <a:blip r:embed="rId3">
            <a:alphaModFix/>
          </a:blip>
          <a:srcRect t="34136" r="19328" b="52929"/>
          <a:stretch/>
        </p:blipFill>
        <p:spPr>
          <a:xfrm>
            <a:off x="178625" y="776875"/>
            <a:ext cx="8271614" cy="92533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21c03c1d1e6_1_49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Redes recurrentes - Neurona recurrente básica – ejemplo de cálculo</a:t>
            </a:r>
            <a:endParaRPr dirty="0"/>
          </a:p>
        </p:txBody>
      </p:sp>
      <p:pic>
        <p:nvPicPr>
          <p:cNvPr id="133" name="Google Shape;133;g21c03c1d1e6_1_49"/>
          <p:cNvPicPr preferRelativeResize="0"/>
          <p:nvPr/>
        </p:nvPicPr>
        <p:blipFill rotWithShape="1">
          <a:blip r:embed="rId3">
            <a:alphaModFix/>
          </a:blip>
          <a:srcRect l="10260" r="75323" b="69085"/>
          <a:stretch/>
        </p:blipFill>
        <p:spPr>
          <a:xfrm>
            <a:off x="8036725" y="3381050"/>
            <a:ext cx="1067699" cy="1597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21c03c1d1e6_1_49"/>
          <p:cNvPicPr preferRelativeResize="0"/>
          <p:nvPr/>
        </p:nvPicPr>
        <p:blipFill rotWithShape="1">
          <a:blip r:embed="rId3">
            <a:alphaModFix/>
          </a:blip>
          <a:srcRect l="38363" t="9125" r="20692" b="72913"/>
          <a:stretch/>
        </p:blipFill>
        <p:spPr>
          <a:xfrm>
            <a:off x="5084660" y="4053275"/>
            <a:ext cx="3023139" cy="92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c03c1d1e6_1_54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Pytorch</a:t>
            </a:r>
            <a:endParaRPr sz="2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0" name="Google Shape;140;g21c03c1d1e6_1_54"/>
          <p:cNvSpPr/>
          <p:nvPr/>
        </p:nvSpPr>
        <p:spPr>
          <a:xfrm>
            <a:off x="492617" y="4216893"/>
            <a:ext cx="7449904" cy="807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torch.nn.RNN(</a:t>
            </a:r>
            <a:r>
              <a:rPr lang="en" sz="15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input_size, hidden_size, num_layers=1, nonlinearity=‘tanh’, …</a:t>
            </a:r>
            <a:br>
              <a:rPr lang="en" sz="15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bias=True, batch_first=False, dropout=0, bidirectional=False</a:t>
            </a:r>
            <a:r>
              <a:rPr lang="en" sz="15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" sz="33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dirty="0">
              <a:solidFill>
                <a:schemeClr val="dk2"/>
              </a:solidFill>
            </a:endParaRPr>
          </a:p>
        </p:txBody>
      </p:sp>
      <p:pic>
        <p:nvPicPr>
          <p:cNvPr id="141" name="Google Shape;141;g21c03c1d1e6_1_54"/>
          <p:cNvPicPr preferRelativeResize="0"/>
          <p:nvPr/>
        </p:nvPicPr>
        <p:blipFill rotWithShape="1">
          <a:blip r:embed="rId3">
            <a:alphaModFix/>
          </a:blip>
          <a:srcRect r="1431"/>
          <a:stretch>
            <a:fillRect/>
          </a:stretch>
        </p:blipFill>
        <p:spPr>
          <a:xfrm>
            <a:off x="171450" y="1171575"/>
            <a:ext cx="8675095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21c03c1d1e6_1_54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Redes recurrentes - Implementación en pytorch</a:t>
            </a:r>
            <a:endParaRPr dirty="0"/>
          </a:p>
        </p:txBody>
      </p:sp>
      <p:sp>
        <p:nvSpPr>
          <p:cNvPr id="3" name="Google Shape;122;g21c03c1d1e6_1_41">
            <a:extLst>
              <a:ext uri="{FF2B5EF4-FFF2-40B4-BE49-F238E27FC236}">
                <a16:creationId xmlns:a16="http://schemas.microsoft.com/office/drawing/2014/main" id="{843EB048-3F8E-02D7-E46B-125C369A3CF1}"/>
              </a:ext>
            </a:extLst>
          </p:cNvPr>
          <p:cNvSpPr/>
          <p:nvPr/>
        </p:nvSpPr>
        <p:spPr>
          <a:xfrm>
            <a:off x="5894830" y="736097"/>
            <a:ext cx="3077720" cy="43547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i="1" dirty="0">
                <a:solidFill>
                  <a:srgbClr val="FF0000"/>
                </a:solidFill>
                <a:latin typeface="Twentieth Century"/>
                <a:sym typeface="Twentieth Century"/>
              </a:rPr>
              <a:t>S</a:t>
            </a:r>
            <a:r>
              <a:rPr lang="en" sz="2100" b="1" i="1" dirty="0">
                <a:solidFill>
                  <a:srgbClr val="FF0000"/>
                </a:solidFill>
                <a:latin typeface="Twentieth Century"/>
                <a:sym typeface="Twentieth Century"/>
              </a:rPr>
              <a:t>imple RNN Elman (1990)</a:t>
            </a:r>
            <a:endParaRPr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1c03c1d1e6_1_145"/>
          <p:cNvSpPr txBox="1"/>
          <p:nvPr/>
        </p:nvSpPr>
        <p:spPr>
          <a:xfrm>
            <a:off x="2044342" y="774713"/>
            <a:ext cx="4813500" cy="6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latin typeface="Twentieth Century"/>
                <a:ea typeface="Twentieth Century"/>
                <a:cs typeface="Twentieth Century"/>
                <a:sym typeface="Twentieth Century"/>
              </a:rPr>
              <a:t>Bi-directional </a:t>
            </a:r>
            <a:endParaRPr sz="24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2" name="Google Shape;252;g21c03c1d1e6_1_145"/>
          <p:cNvSpPr txBox="1"/>
          <p:nvPr/>
        </p:nvSpPr>
        <p:spPr>
          <a:xfrm>
            <a:off x="1173245" y="4210024"/>
            <a:ext cx="6555668" cy="392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latin typeface="Twentieth Century"/>
                <a:ea typeface="Twentieth Century"/>
                <a:cs typeface="Twentieth Century"/>
                <a:sym typeface="Twentieth Century"/>
              </a:rPr>
              <a:t>Para la traducción, suele ser útil tener la frase entera.</a:t>
            </a:r>
            <a:endParaRPr sz="1100"/>
          </a:p>
        </p:txBody>
      </p:sp>
      <p:pic>
        <p:nvPicPr>
          <p:cNvPr id="253" name="Google Shape;253;g21c03c1d1e6_1_1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911" y="1555124"/>
            <a:ext cx="6868339" cy="242729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21c03c1d1e6_1_1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Birideccionalidad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1c03c1d1e6_1_60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sp>
        <p:nvSpPr>
          <p:cNvPr id="148" name="Google Shape;148;g21c03c1d1e6_1_60"/>
          <p:cNvSpPr txBox="1"/>
          <p:nvPr/>
        </p:nvSpPr>
        <p:spPr>
          <a:xfrm>
            <a:off x="516181" y="4716035"/>
            <a:ext cx="859665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Básica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49" name="Google Shape;149;g21c03c1d1e6_1_60"/>
          <p:cNvSpPr txBox="1"/>
          <p:nvPr/>
        </p:nvSpPr>
        <p:spPr>
          <a:xfrm>
            <a:off x="2608285" y="4696716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Varias hidden</a:t>
            </a:r>
            <a:endParaRPr sz="15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0" name="Google Shape;150;g21c03c1d1e6_1_60"/>
          <p:cNvSpPr txBox="1"/>
          <p:nvPr/>
        </p:nvSpPr>
        <p:spPr>
          <a:xfrm>
            <a:off x="5102092" y="4578347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Input multivariable</a:t>
            </a:r>
            <a:endParaRPr sz="15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1" name="Google Shape;151;g21c03c1d1e6_1_60"/>
          <p:cNvSpPr txBox="1"/>
          <p:nvPr/>
        </p:nvSpPr>
        <p:spPr>
          <a:xfrm>
            <a:off x="7243032" y="4695142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layers</a:t>
            </a:r>
            <a:endParaRPr sz="15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52" name="Google Shape;152;g21c03c1d1e6_1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22" y="1052272"/>
            <a:ext cx="3907631" cy="37861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1c03c1d1e6_1_60"/>
          <p:cNvSpPr/>
          <p:nvPr/>
        </p:nvSpPr>
        <p:spPr>
          <a:xfrm>
            <a:off x="2021003" y="740776"/>
            <a:ext cx="7624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Pytorch</a:t>
            </a: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54" name="Google Shape;154;g21c03c1d1e6_1_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78264" y="2720632"/>
            <a:ext cx="1866275" cy="158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21c03c1d1e6_1_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2204006" y="2180339"/>
            <a:ext cx="2344483" cy="2185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21c03c1d1e6_1_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>
            <a:off x="4596185" y="2369524"/>
            <a:ext cx="2344481" cy="1807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21c03c1d1e6_1_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0">
            <a:off x="6260084" y="1735063"/>
            <a:ext cx="3315094" cy="210532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21c03c1d1e6_1_60"/>
          <p:cNvSpPr txBox="1"/>
          <p:nvPr/>
        </p:nvSpPr>
        <p:spPr>
          <a:xfrm>
            <a:off x="4047019" y="615104"/>
            <a:ext cx="3679985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n" sz="18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colab RNN_teoria.ipynb</a:t>
            </a:r>
            <a:endParaRPr sz="18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9" name="Google Shape;159;g21c03c1d1e6_1_60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1c03c1d1e6_1_75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graphicFrame>
        <p:nvGraphicFramePr>
          <p:cNvPr id="165" name="Google Shape;165;g21c03c1d1e6_1_75"/>
          <p:cNvGraphicFramePr/>
          <p:nvPr/>
        </p:nvGraphicFramePr>
        <p:xfrm>
          <a:off x="2306392" y="2494541"/>
          <a:ext cx="4879975" cy="197372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66" name="Google Shape;166;g21c03c1d1e6_1_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22" y="1052272"/>
            <a:ext cx="3907631" cy="37861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1c03c1d1e6_1_75"/>
          <p:cNvSpPr txBox="1"/>
          <p:nvPr/>
        </p:nvSpPr>
        <p:spPr>
          <a:xfrm>
            <a:off x="516181" y="4716035"/>
            <a:ext cx="859665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Básica</a:t>
            </a:r>
            <a:endParaRPr sz="1100"/>
          </a:p>
        </p:txBody>
      </p:sp>
      <p:pic>
        <p:nvPicPr>
          <p:cNvPr id="168" name="Google Shape;168;g21c03c1d1e6_1_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78264" y="2720632"/>
            <a:ext cx="1866275" cy="1583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21c03c1d1e6_1_7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1c03c1d1e6_1_83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sp>
        <p:nvSpPr>
          <p:cNvPr id="175" name="Google Shape;175;g21c03c1d1e6_1_83"/>
          <p:cNvSpPr txBox="1"/>
          <p:nvPr/>
        </p:nvSpPr>
        <p:spPr>
          <a:xfrm>
            <a:off x="271263" y="4677398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Varias hidden</a:t>
            </a:r>
            <a:endParaRPr sz="15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76" name="Google Shape;176;g21c03c1d1e6_1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22" y="1052272"/>
            <a:ext cx="3907631" cy="37861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7" name="Google Shape;177;g21c03c1d1e6_1_83"/>
          <p:cNvGraphicFramePr/>
          <p:nvPr/>
        </p:nvGraphicFramePr>
        <p:xfrm>
          <a:off x="4131972" y="2507397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Wih</a:t>
                      </a:r>
                      <a:endParaRPr sz="1400" dirty="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Bih</a:t>
                      </a:r>
                      <a:endParaRPr sz="1400" dirty="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Whh</a:t>
                      </a:r>
                      <a:endParaRPr sz="1400" dirty="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bhh</a:t>
                      </a:r>
                      <a:endParaRPr sz="1400" dirty="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 dirty="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78" name="Google Shape;178;g21c03c1d1e6_1_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95524" y="2346788"/>
            <a:ext cx="2232177" cy="208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21c03c1d1e6_1_83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1c03c1d1e6_1_91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sp>
        <p:nvSpPr>
          <p:cNvPr id="185" name="Google Shape;185;g21c03c1d1e6_1_91"/>
          <p:cNvSpPr txBox="1"/>
          <p:nvPr/>
        </p:nvSpPr>
        <p:spPr>
          <a:xfrm>
            <a:off x="411871" y="4464328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Input multivariable</a:t>
            </a:r>
            <a:endParaRPr sz="15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86" name="Google Shape;186;g21c03c1d1e6_1_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22" y="1052272"/>
            <a:ext cx="3907631" cy="378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21c03c1d1e6_1_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24550" y="2292250"/>
            <a:ext cx="2344481" cy="18070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8" name="Google Shape;188;g21c03c1d1e6_1_91"/>
          <p:cNvGraphicFramePr/>
          <p:nvPr/>
        </p:nvGraphicFramePr>
        <p:xfrm>
          <a:off x="4131972" y="2507397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9" name="Google Shape;189;g21c03c1d1e6_1_91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1c03c1d1e6_1_99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sp>
        <p:nvSpPr>
          <p:cNvPr id="195" name="Google Shape;195;g21c03c1d1e6_1_99"/>
          <p:cNvSpPr txBox="1"/>
          <p:nvPr/>
        </p:nvSpPr>
        <p:spPr>
          <a:xfrm>
            <a:off x="355735" y="4704783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layers</a:t>
            </a:r>
            <a:endParaRPr sz="15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96" name="Google Shape;196;g21c03c1d1e6_1_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1616" y="783164"/>
            <a:ext cx="3907631" cy="378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21c03c1d1e6_1_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-516892" y="1941307"/>
            <a:ext cx="3315094" cy="210532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8" name="Google Shape;198;g21c03c1d1e6_1_99"/>
          <p:cNvGraphicFramePr/>
          <p:nvPr>
            <p:extLst>
              <p:ext uri="{D42A27DB-BD31-4B8C-83A1-F6EECF244321}">
                <p14:modId xmlns:p14="http://schemas.microsoft.com/office/powerpoint/2010/main" val="3278869483"/>
              </p:ext>
            </p:extLst>
          </p:nvPr>
        </p:nvGraphicFramePr>
        <p:xfrm>
          <a:off x="4131972" y="2507397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/>
                        <a:t>y</a:t>
                      </a:r>
                      <a:endParaRPr sz="1400" dirty="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 dirty="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9" name="Google Shape;199;g21c03c1d1e6_1_99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g21c03c1d1e6_1_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-630182" y="1949050"/>
            <a:ext cx="3952298" cy="224744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21c03c1d1e6_1_107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sp>
        <p:nvSpPr>
          <p:cNvPr id="206" name="Google Shape;206;g21c03c1d1e6_1_107"/>
          <p:cNvSpPr txBox="1"/>
          <p:nvPr/>
        </p:nvSpPr>
        <p:spPr>
          <a:xfrm>
            <a:off x="0" y="4651515"/>
            <a:ext cx="3679984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n" sz="18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Ejercicio 1 (ver datos en colab)</a:t>
            </a:r>
            <a:endParaRPr sz="1100"/>
          </a:p>
        </p:txBody>
      </p:sp>
      <p:pic>
        <p:nvPicPr>
          <p:cNvPr id="207" name="Google Shape;207;g21c03c1d1e6_1_10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43" y="668527"/>
            <a:ext cx="3907631" cy="37861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8" name="Google Shape;208;g21c03c1d1e6_1_107"/>
          <p:cNvGraphicFramePr/>
          <p:nvPr/>
        </p:nvGraphicFramePr>
        <p:xfrm>
          <a:off x="4041734" y="687860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9" name="Google Shape;209;g21c03c1d1e6_1_107"/>
          <p:cNvGraphicFramePr/>
          <p:nvPr/>
        </p:nvGraphicFramePr>
        <p:xfrm>
          <a:off x="4041735" y="2169199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0" name="Google Shape;210;g21c03c1d1e6_1_107"/>
          <p:cNvGraphicFramePr/>
          <p:nvPr/>
        </p:nvGraphicFramePr>
        <p:xfrm>
          <a:off x="4041736" y="3639182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1" name="Google Shape;211;g21c03c1d1e6_1_107"/>
          <p:cNvSpPr txBox="1"/>
          <p:nvPr/>
        </p:nvSpPr>
        <p:spPr>
          <a:xfrm>
            <a:off x="3008065" y="1293803"/>
            <a:ext cx="103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Ejemplo A</a:t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2" name="Google Shape;212;g21c03c1d1e6_1_107"/>
          <p:cNvSpPr txBox="1"/>
          <p:nvPr/>
        </p:nvSpPr>
        <p:spPr>
          <a:xfrm>
            <a:off x="3008065" y="2856657"/>
            <a:ext cx="103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Ejemplo B</a:t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3" name="Google Shape;213;g21c03c1d1e6_1_107"/>
          <p:cNvSpPr txBox="1"/>
          <p:nvPr/>
        </p:nvSpPr>
        <p:spPr>
          <a:xfrm>
            <a:off x="3008065" y="4233167"/>
            <a:ext cx="103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Ejemplo C</a:t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4" name="Google Shape;214;g21c03c1d1e6_1_107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1c03c1d1e6_1_120"/>
          <p:cNvSpPr txBox="1"/>
          <p:nvPr/>
        </p:nvSpPr>
        <p:spPr>
          <a:xfrm>
            <a:off x="4197697" y="2488808"/>
            <a:ext cx="4315136" cy="331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None/>
            </a:pPr>
            <a:r>
              <a:rPr lang="en" sz="30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</a:t>
            </a: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30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pensar</a:t>
            </a: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!</a:t>
            </a:r>
            <a:endParaRPr sz="1100"/>
          </a:p>
        </p:txBody>
      </p:sp>
      <p:pic>
        <p:nvPicPr>
          <p:cNvPr id="220" name="Google Shape;220;g21c03c1d1e6_1_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101" y="790275"/>
            <a:ext cx="2699926" cy="427427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21c03c1d1e6_1_120"/>
          <p:cNvSpPr/>
          <p:nvPr/>
        </p:nvSpPr>
        <p:spPr>
          <a:xfrm>
            <a:off x="3727108" y="4712811"/>
            <a:ext cx="204887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“El pensador” de Rodin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2" name="Google Shape;222;g21c03c1d1e6_1_120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>
          <a:extLst>
            <a:ext uri="{FF2B5EF4-FFF2-40B4-BE49-F238E27FC236}">
              <a16:creationId xmlns:a16="http://schemas.microsoft.com/office/drawing/2014/main" id="{BDD74143-2164-77C0-83ED-DEF9947D1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1c03c1d1e6_1_187">
            <a:extLst>
              <a:ext uri="{FF2B5EF4-FFF2-40B4-BE49-F238E27FC236}">
                <a16:creationId xmlns:a16="http://schemas.microsoft.com/office/drawing/2014/main" id="{5C39E0F3-E62F-E193-7ACD-6228B5987A20}"/>
              </a:ext>
            </a:extLst>
          </p:cNvPr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vs Tapped Delayed MLP</a:t>
            </a:r>
            <a:endParaRPr sz="1100"/>
          </a:p>
        </p:txBody>
      </p:sp>
      <p:graphicFrame>
        <p:nvGraphicFramePr>
          <p:cNvPr id="301" name="Google Shape;301;g21c03c1d1e6_1_187">
            <a:extLst>
              <a:ext uri="{FF2B5EF4-FFF2-40B4-BE49-F238E27FC236}">
                <a16:creationId xmlns:a16="http://schemas.microsoft.com/office/drawing/2014/main" id="{52591B72-B4E4-C293-19D5-B4EC71E4C869}"/>
              </a:ext>
            </a:extLst>
          </p:cNvPr>
          <p:cNvGraphicFramePr/>
          <p:nvPr/>
        </p:nvGraphicFramePr>
        <p:xfrm>
          <a:off x="714776" y="1185909"/>
          <a:ext cx="7389000" cy="432000"/>
        </p:xfrm>
        <a:graphic>
          <a:graphicData uri="http://schemas.openxmlformats.org/drawingml/2006/table">
            <a:tbl>
              <a:tblPr>
                <a:noFill/>
                <a:tableStyleId>{D3E55744-8061-4CE5-AF87-22040F36E0A0}</a:tableStyleId>
              </a:tblPr>
              <a:tblGrid>
                <a:gridCol w="73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X(t=0)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X(t=1)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X(t=2)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X(t=3)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X(t=4)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X(t=5)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X(t=6)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" sz="1400"/>
                        <a:t>X(t=7)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…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" sz="1400"/>
                        <a:t>X(t=</a:t>
                      </a:r>
                      <a:r>
                        <a:rPr lang="en" sz="1800"/>
                        <a:t>τ</a:t>
                      </a:r>
                      <a:r>
                        <a:rPr lang="en" sz="1400"/>
                        <a:t>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2" name="Google Shape;302;g21c03c1d1e6_1_187">
            <a:extLst>
              <a:ext uri="{FF2B5EF4-FFF2-40B4-BE49-F238E27FC236}">
                <a16:creationId xmlns:a16="http://schemas.microsoft.com/office/drawing/2014/main" id="{0592CCB7-7276-6148-EE47-2B7906307CCD}"/>
              </a:ext>
            </a:extLst>
          </p:cNvPr>
          <p:cNvSpPr txBox="1"/>
          <p:nvPr/>
        </p:nvSpPr>
        <p:spPr>
          <a:xfrm>
            <a:off x="2868923" y="4658677"/>
            <a:ext cx="3679984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n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colab RNN_signal_TP.ipynb</a:t>
            </a:r>
            <a:endParaRPr sz="18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03" name="Google Shape;303;g21c03c1d1e6_1_187">
            <a:extLst>
              <a:ext uri="{FF2B5EF4-FFF2-40B4-BE49-F238E27FC236}">
                <a16:creationId xmlns:a16="http://schemas.microsoft.com/office/drawing/2014/main" id="{6069436A-8B5E-29B9-0FEB-352F3DBFF7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3446748"/>
            <a:ext cx="1557636" cy="1282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21c03c1d1e6_1_187">
            <a:extLst>
              <a:ext uri="{FF2B5EF4-FFF2-40B4-BE49-F238E27FC236}">
                <a16:creationId xmlns:a16="http://schemas.microsoft.com/office/drawing/2014/main" id="{FCFE5376-AA56-7CD3-E0A6-1422B434E35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1669797"/>
            <a:ext cx="1794424" cy="140145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21c03c1d1e6_1_187">
            <a:extLst>
              <a:ext uri="{FF2B5EF4-FFF2-40B4-BE49-F238E27FC236}">
                <a16:creationId xmlns:a16="http://schemas.microsoft.com/office/drawing/2014/main" id="{E1F4211D-371B-8607-A14C-4FDB138AB9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de modelos</a:t>
            </a:r>
            <a:endParaRPr/>
          </a:p>
        </p:txBody>
      </p:sp>
      <p:sp>
        <p:nvSpPr>
          <p:cNvPr id="2" name="Google Shape;302;g21c03c1d1e6_1_187">
            <a:extLst>
              <a:ext uri="{FF2B5EF4-FFF2-40B4-BE49-F238E27FC236}">
                <a16:creationId xmlns:a16="http://schemas.microsoft.com/office/drawing/2014/main" id="{5A68E864-3E72-8447-847E-405211CE274D}"/>
              </a:ext>
            </a:extLst>
          </p:cNvPr>
          <p:cNvSpPr txBox="1"/>
          <p:nvPr/>
        </p:nvSpPr>
        <p:spPr>
          <a:xfrm>
            <a:off x="3629220" y="3006400"/>
            <a:ext cx="3679984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n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vs</a:t>
            </a:r>
            <a:endParaRPr sz="18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FADA3B-2DF3-C768-10F5-20B34CC04F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808" r="48797" b="33475"/>
          <a:stretch>
            <a:fillRect/>
          </a:stretch>
        </p:blipFill>
        <p:spPr>
          <a:xfrm>
            <a:off x="196175" y="1882345"/>
            <a:ext cx="4111606" cy="2771258"/>
          </a:xfrm>
          <a:prstGeom prst="rect">
            <a:avLst/>
          </a:prstGeom>
        </p:spPr>
      </p:pic>
      <p:sp>
        <p:nvSpPr>
          <p:cNvPr id="5" name="Google Shape;302;g21c03c1d1e6_1_187">
            <a:extLst>
              <a:ext uri="{FF2B5EF4-FFF2-40B4-BE49-F238E27FC236}">
                <a16:creationId xmlns:a16="http://schemas.microsoft.com/office/drawing/2014/main" id="{F29D2CB9-75FF-7BC2-CEEB-14A555CEA8F3}"/>
              </a:ext>
            </a:extLst>
          </p:cNvPr>
          <p:cNvSpPr txBox="1"/>
          <p:nvPr/>
        </p:nvSpPr>
        <p:spPr>
          <a:xfrm>
            <a:off x="1502091" y="714098"/>
            <a:ext cx="5455600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s-E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</a:t>
            </a:r>
            <a:r>
              <a:rPr lang="en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redicción serie temporal 1 muestra a futuro</a:t>
            </a:r>
            <a:endParaRPr sz="18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" name="Google Shape;302;g21c03c1d1e6_1_187">
            <a:extLst>
              <a:ext uri="{FF2B5EF4-FFF2-40B4-BE49-F238E27FC236}">
                <a16:creationId xmlns:a16="http://schemas.microsoft.com/office/drawing/2014/main" id="{05A359D3-77CE-0F01-9A64-E53CE1A15A0B}"/>
              </a:ext>
            </a:extLst>
          </p:cNvPr>
          <p:cNvSpPr txBox="1"/>
          <p:nvPr/>
        </p:nvSpPr>
        <p:spPr>
          <a:xfrm>
            <a:off x="6630643" y="1906340"/>
            <a:ext cx="2028428" cy="811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s-E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</a:t>
            </a:r>
            <a:r>
              <a:rPr lang="en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rq. “rigida” a la longitud del input.</a:t>
            </a:r>
            <a:endParaRPr sz="18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302;g21c03c1d1e6_1_187">
            <a:extLst>
              <a:ext uri="{FF2B5EF4-FFF2-40B4-BE49-F238E27FC236}">
                <a16:creationId xmlns:a16="http://schemas.microsoft.com/office/drawing/2014/main" id="{872CA8CF-16A3-5FFD-1DC6-45FD7BAC59F4}"/>
              </a:ext>
            </a:extLst>
          </p:cNvPr>
          <p:cNvSpPr txBox="1"/>
          <p:nvPr/>
        </p:nvSpPr>
        <p:spPr>
          <a:xfrm>
            <a:off x="6731222" y="3700645"/>
            <a:ext cx="2028428" cy="811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s-E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</a:t>
            </a:r>
            <a:r>
              <a:rPr lang="en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rq. </a:t>
            </a:r>
            <a:r>
              <a:rPr lang="es-E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 “fija”</a:t>
            </a:r>
            <a:r>
              <a:rPr lang="en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a la longitud del input.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endParaRPr sz="18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3287222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1c03c1d1e6_1_126"/>
          <p:cNvSpPr txBox="1"/>
          <p:nvPr/>
        </p:nvSpPr>
        <p:spPr>
          <a:xfrm>
            <a:off x="222160" y="0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sp>
        <p:nvSpPr>
          <p:cNvPr id="228" name="Google Shape;228;g21c03c1d1e6_1_126"/>
          <p:cNvSpPr txBox="1"/>
          <p:nvPr/>
        </p:nvSpPr>
        <p:spPr>
          <a:xfrm>
            <a:off x="6562579" y="3890445"/>
            <a:ext cx="2317652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desarrollo teórico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29" name="Google Shape;229;g21c03c1d1e6_1_1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596" y="730106"/>
            <a:ext cx="8736806" cy="1250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21c03c1d1e6_1_126" descr="Imagen de la pantalla de un video juego&#10;&#10;Descripción generada automáticamente con confianza baja"/>
          <p:cNvPicPr preferRelativeResize="0"/>
          <p:nvPr/>
        </p:nvPicPr>
        <p:blipFill rotWithShape="1">
          <a:blip r:embed="rId4">
            <a:alphaModFix/>
          </a:blip>
          <a:srcRect t="53333" b="9993"/>
          <a:stretch/>
        </p:blipFill>
        <p:spPr>
          <a:xfrm>
            <a:off x="456087" y="2173705"/>
            <a:ext cx="5589503" cy="27287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21c03c1d1e6_1_12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1c03c1d1e6_1_126"/>
          <p:cNvSpPr txBox="1"/>
          <p:nvPr/>
        </p:nvSpPr>
        <p:spPr>
          <a:xfrm>
            <a:off x="222160" y="0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sp>
        <p:nvSpPr>
          <p:cNvPr id="231" name="Google Shape;231;g21c03c1d1e6_1_12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F1DAAD6-642B-8E32-7DA6-4C42DEB7A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567" y="743184"/>
            <a:ext cx="6820387" cy="418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23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1c03c1d1e6_1_126"/>
          <p:cNvSpPr txBox="1"/>
          <p:nvPr/>
        </p:nvSpPr>
        <p:spPr>
          <a:xfrm>
            <a:off x="222160" y="0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sp>
        <p:nvSpPr>
          <p:cNvPr id="231" name="Google Shape;231;g21c03c1d1e6_1_12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03D3F5-78BB-F2CD-C53D-8B1DBEE31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60" y="1183753"/>
            <a:ext cx="3003975" cy="112727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10F3932-C008-1E37-1FF6-D1612E568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984" y="1159608"/>
            <a:ext cx="4638403" cy="230284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086223D-3C92-320C-FDA4-2986A3EC8B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416" y="3557727"/>
            <a:ext cx="7127167" cy="138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29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1c03c1d1e6_1_126"/>
          <p:cNvSpPr txBox="1"/>
          <p:nvPr/>
        </p:nvSpPr>
        <p:spPr>
          <a:xfrm>
            <a:off x="222160" y="0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sp>
        <p:nvSpPr>
          <p:cNvPr id="231" name="Google Shape;231;g21c03c1d1e6_1_12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F6C8A2-6E4B-CC35-FBCA-FE785C2AC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60" y="885652"/>
            <a:ext cx="4733925" cy="4857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9CEA9F8-4C91-6372-E31C-322AD64E5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4981" y="885652"/>
            <a:ext cx="4377049" cy="21348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F1E6A7D-9012-4072-5AB5-CCB5A5C9F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85" y="3102531"/>
            <a:ext cx="7194129" cy="191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16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1c03c1d1e6_1_126"/>
          <p:cNvSpPr txBox="1"/>
          <p:nvPr/>
        </p:nvSpPr>
        <p:spPr>
          <a:xfrm>
            <a:off x="222160" y="0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sp>
        <p:nvSpPr>
          <p:cNvPr id="231" name="Google Shape;231;g21c03c1d1e6_1_12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1E56B2D-1A7E-B595-8FDB-6BA836414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60" y="844856"/>
            <a:ext cx="3343275" cy="4572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B87B3A4-251A-0315-F9EE-DAD61ADCB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641" y="954899"/>
            <a:ext cx="4611769" cy="217664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1ECE62E-087E-6FA4-B8E1-ECB992A699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529" y="3131545"/>
            <a:ext cx="7135774" cy="189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021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1c03c1d1e6_1_133"/>
          <p:cNvSpPr txBox="1"/>
          <p:nvPr/>
        </p:nvSpPr>
        <p:spPr>
          <a:xfrm>
            <a:off x="186760" y="950300"/>
            <a:ext cx="8770500" cy="6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Problemas de la RNN básica con el BPTT</a:t>
            </a:r>
            <a:endParaRPr sz="1100" dirty="0">
              <a:solidFill>
                <a:srgbClr val="FF0000"/>
              </a:solidFill>
            </a:endParaRPr>
          </a:p>
        </p:txBody>
      </p:sp>
      <p:sp>
        <p:nvSpPr>
          <p:cNvPr id="237" name="Google Shape;237;g21c03c1d1e6_1_133"/>
          <p:cNvSpPr/>
          <p:nvPr/>
        </p:nvSpPr>
        <p:spPr>
          <a:xfrm>
            <a:off x="289774" y="1906300"/>
            <a:ext cx="8306873" cy="71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Vanishing gradient </a:t>
            </a: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pérdida de aportes de long-term states</a:t>
            </a:r>
            <a:endParaRPr sz="21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(gradientes próximos a cero)</a:t>
            </a:r>
            <a:endParaRPr sz="21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8" name="Google Shape;238;g21c03c1d1e6_1_133"/>
          <p:cNvSpPr/>
          <p:nvPr/>
        </p:nvSpPr>
        <p:spPr>
          <a:xfrm>
            <a:off x="-95517" y="3128793"/>
            <a:ext cx="8914326" cy="71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Exploding gradient </a:t>
            </a: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se soluciona con clipping gradient</a:t>
            </a:r>
            <a:endParaRPr sz="21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(gradientes mayores a 1)</a:t>
            </a:r>
            <a:endParaRPr sz="21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0" name="Google Shape;240;g21c03c1d1e6_1_133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8989BDB-79B9-F6F2-549F-1A2E919CA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1c03c1d1e6_1_133">
            <a:extLst>
              <a:ext uri="{FF2B5EF4-FFF2-40B4-BE49-F238E27FC236}">
                <a16:creationId xmlns:a16="http://schemas.microsoft.com/office/drawing/2014/main" id="{BFAE2EAB-886F-BCFE-64F8-DCB85D8E60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2626D50-BB0A-7CE8-CED4-13918AAE117F}"/>
              </a:ext>
            </a:extLst>
          </p:cNvPr>
          <p:cNvSpPr txBox="1"/>
          <p:nvPr/>
        </p:nvSpPr>
        <p:spPr>
          <a:xfrm>
            <a:off x="230269" y="4778254"/>
            <a:ext cx="8826600" cy="27315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SimpleRNNRegressor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input_size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num_layers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n_out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N_FUTURE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4A0F87A-9C8A-8663-A914-A1281A91E6AA}"/>
              </a:ext>
            </a:extLst>
          </p:cNvPr>
          <p:cNvSpPr txBox="1"/>
          <p:nvPr/>
        </p:nvSpPr>
        <p:spPr>
          <a:xfrm>
            <a:off x="230269" y="434605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Ver: </a:t>
            </a:r>
            <a:r>
              <a:rPr lang="es-ES" dirty="0" err="1"/>
              <a:t>RNN_vanishing_gradient.ipynb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2FB5EA-6C73-74B0-148C-BF82AE7B5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" y="700087"/>
            <a:ext cx="822007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558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A5BFCBEE-6674-5364-871A-B54E1694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1c03c1d1e6_1_133">
            <a:extLst>
              <a:ext uri="{FF2B5EF4-FFF2-40B4-BE49-F238E27FC236}">
                <a16:creationId xmlns:a16="http://schemas.microsoft.com/office/drawing/2014/main" id="{59943719-B7F0-CEF9-97F4-CC2E49510DF5}"/>
              </a:ext>
            </a:extLst>
          </p:cNvPr>
          <p:cNvSpPr/>
          <p:nvPr/>
        </p:nvSpPr>
        <p:spPr>
          <a:xfrm>
            <a:off x="10650" y="847946"/>
            <a:ext cx="891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Solución con otras RNN mas avanzadas (LSTM y GRU)</a:t>
            </a:r>
            <a:endParaRPr sz="1100" dirty="0"/>
          </a:p>
        </p:txBody>
      </p:sp>
      <p:sp>
        <p:nvSpPr>
          <p:cNvPr id="240" name="Google Shape;240;g21c03c1d1e6_1_133">
            <a:extLst>
              <a:ext uri="{FF2B5EF4-FFF2-40B4-BE49-F238E27FC236}">
                <a16:creationId xmlns:a16="http://schemas.microsoft.com/office/drawing/2014/main" id="{3BABCE10-BCB8-343F-0B95-7530854B2D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5FBCD3-7FFB-B68B-0977-0638AF7679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2"/>
          <a:stretch>
            <a:fillRect/>
          </a:stretch>
        </p:blipFill>
        <p:spPr>
          <a:xfrm>
            <a:off x="947085" y="1158559"/>
            <a:ext cx="6545080" cy="332887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EE894D3-9313-884A-867C-991982DDDFD3}"/>
              </a:ext>
            </a:extLst>
          </p:cNvPr>
          <p:cNvSpPr/>
          <p:nvPr/>
        </p:nvSpPr>
        <p:spPr>
          <a:xfrm>
            <a:off x="98250" y="4661047"/>
            <a:ext cx="66661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/>
              <a:t>https://blog.floydhub.com/long-short-term-memory-from-zero-to-hero-with-pytorch/</a:t>
            </a:r>
          </a:p>
        </p:txBody>
      </p:sp>
      <p:sp>
        <p:nvSpPr>
          <p:cNvPr id="4" name="Google Shape;122;g21c03c1d1e6_1_41">
            <a:extLst>
              <a:ext uri="{FF2B5EF4-FFF2-40B4-BE49-F238E27FC236}">
                <a16:creationId xmlns:a16="http://schemas.microsoft.com/office/drawing/2014/main" id="{12370932-5AE9-1D53-79C5-7ECEDDABBF7F}"/>
              </a:ext>
            </a:extLst>
          </p:cNvPr>
          <p:cNvSpPr/>
          <p:nvPr/>
        </p:nvSpPr>
        <p:spPr>
          <a:xfrm>
            <a:off x="7238776" y="4533346"/>
            <a:ext cx="1580232" cy="43547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i="1" dirty="0">
                <a:solidFill>
                  <a:srgbClr val="FF0000"/>
                </a:solidFill>
                <a:latin typeface="Twentieth Century"/>
                <a:sym typeface="Twentieth Century"/>
              </a:rPr>
              <a:t>LSTM (1997)</a:t>
            </a:r>
            <a:endParaRPr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962D56-4451-3320-9F71-E3FECDB96318}"/>
              </a:ext>
            </a:extLst>
          </p:cNvPr>
          <p:cNvSpPr txBox="1"/>
          <p:nvPr/>
        </p:nvSpPr>
        <p:spPr>
          <a:xfrm>
            <a:off x="3416568" y="3631251"/>
            <a:ext cx="1280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FF0000"/>
                </a:solidFill>
              </a:rPr>
              <a:t>i-Input gate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2D4122-6A7B-34D6-0678-02D0D15BA191}"/>
              </a:ext>
            </a:extLst>
          </p:cNvPr>
          <p:cNvSpPr txBox="1"/>
          <p:nvPr/>
        </p:nvSpPr>
        <p:spPr>
          <a:xfrm>
            <a:off x="1458236" y="2883817"/>
            <a:ext cx="115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FF0000"/>
                </a:solidFill>
              </a:rPr>
              <a:t>f-</a:t>
            </a:r>
            <a:r>
              <a:rPr lang="es-AR" sz="1400" dirty="0" err="1">
                <a:solidFill>
                  <a:srgbClr val="FF0000"/>
                </a:solidFill>
              </a:rPr>
              <a:t>forget</a:t>
            </a:r>
            <a:r>
              <a:rPr lang="es-AR" sz="1400" dirty="0">
                <a:solidFill>
                  <a:srgbClr val="FF0000"/>
                </a:solidFill>
              </a:rPr>
              <a:t> gate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B5BF16-18E9-D49B-A5E3-B16C69651668}"/>
              </a:ext>
            </a:extLst>
          </p:cNvPr>
          <p:cNvSpPr txBox="1"/>
          <p:nvPr/>
        </p:nvSpPr>
        <p:spPr>
          <a:xfrm>
            <a:off x="5112011" y="3967068"/>
            <a:ext cx="1280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FF0000"/>
                </a:solidFill>
              </a:rPr>
              <a:t>o-output gate</a:t>
            </a:r>
          </a:p>
        </p:txBody>
      </p:sp>
    </p:spTree>
    <p:extLst>
      <p:ext uri="{BB962C8B-B14F-4D97-AF65-F5344CB8AC3E}">
        <p14:creationId xmlns:p14="http://schemas.microsoft.com/office/powerpoint/2010/main" val="3064181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03F1A39A-008F-459E-99BB-2030B1A0F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c03c1d1e6_1_54">
            <a:extLst>
              <a:ext uri="{FF2B5EF4-FFF2-40B4-BE49-F238E27FC236}">
                <a16:creationId xmlns:a16="http://schemas.microsoft.com/office/drawing/2014/main" id="{B1BFEBB1-A88C-857A-FDF0-CF095EC2240B}"/>
              </a:ext>
            </a:extLst>
          </p:cNvPr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Pytorch</a:t>
            </a:r>
            <a:endParaRPr sz="2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2" name="Google Shape;142;g21c03c1d1e6_1_54">
            <a:extLst>
              <a:ext uri="{FF2B5EF4-FFF2-40B4-BE49-F238E27FC236}">
                <a16:creationId xmlns:a16="http://schemas.microsoft.com/office/drawing/2014/main" id="{0FD50346-CA8C-3494-A145-116BFCCB92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Redes recurrentes - Implementación en pytorch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9DEA8B-DF64-B671-F28D-023F3E8D3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96" y="895252"/>
            <a:ext cx="8649907" cy="1810003"/>
          </a:xfrm>
          <a:prstGeom prst="rect">
            <a:avLst/>
          </a:prstGeom>
        </p:spPr>
      </p:pic>
      <p:sp>
        <p:nvSpPr>
          <p:cNvPr id="6" name="Google Shape;122;g21c03c1d1e6_1_41">
            <a:extLst>
              <a:ext uri="{FF2B5EF4-FFF2-40B4-BE49-F238E27FC236}">
                <a16:creationId xmlns:a16="http://schemas.microsoft.com/office/drawing/2014/main" id="{EA5CBCE8-C48C-CE3E-3484-A7B154510ABF}"/>
              </a:ext>
            </a:extLst>
          </p:cNvPr>
          <p:cNvSpPr/>
          <p:nvPr/>
        </p:nvSpPr>
        <p:spPr>
          <a:xfrm>
            <a:off x="7437080" y="758140"/>
            <a:ext cx="1580232" cy="43547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i="1" dirty="0">
                <a:solidFill>
                  <a:srgbClr val="FF0000"/>
                </a:solidFill>
                <a:latin typeface="Twentieth Century"/>
                <a:sym typeface="Twentieth Century"/>
              </a:rPr>
              <a:t>LSTM (1997)</a:t>
            </a:r>
            <a:endParaRPr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2FB749-1AF9-A8EE-CD17-FE4700B80D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25"/>
          <a:stretch>
            <a:fillRect/>
          </a:stretch>
        </p:blipFill>
        <p:spPr>
          <a:xfrm>
            <a:off x="2258993" y="2842367"/>
            <a:ext cx="4275712" cy="193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4598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C4839160-C299-63CC-5615-B7C92C54A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1c03c1d1e6_1_133">
            <a:extLst>
              <a:ext uri="{FF2B5EF4-FFF2-40B4-BE49-F238E27FC236}">
                <a16:creationId xmlns:a16="http://schemas.microsoft.com/office/drawing/2014/main" id="{10AE078A-2D1A-19B1-3FF7-013C7A706546}"/>
              </a:ext>
            </a:extLst>
          </p:cNvPr>
          <p:cNvSpPr/>
          <p:nvPr/>
        </p:nvSpPr>
        <p:spPr>
          <a:xfrm>
            <a:off x="10650" y="847946"/>
            <a:ext cx="891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Solución con otras RNN mas avanzadas (LSTM y GRU)</a:t>
            </a:r>
            <a:endParaRPr sz="1100" dirty="0"/>
          </a:p>
        </p:txBody>
      </p:sp>
      <p:sp>
        <p:nvSpPr>
          <p:cNvPr id="240" name="Google Shape;240;g21c03c1d1e6_1_133">
            <a:extLst>
              <a:ext uri="{FF2B5EF4-FFF2-40B4-BE49-F238E27FC236}">
                <a16:creationId xmlns:a16="http://schemas.microsoft.com/office/drawing/2014/main" id="{AC7F29AD-E97A-1631-3467-698A355631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6B0192-39ED-42DF-2F8F-2F46E43DC2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2"/>
          <a:stretch>
            <a:fillRect/>
          </a:stretch>
        </p:blipFill>
        <p:spPr>
          <a:xfrm>
            <a:off x="10650" y="1272262"/>
            <a:ext cx="5707640" cy="29029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B7686E-7016-F54F-915E-5656662AB95F}"/>
              </a:ext>
            </a:extLst>
          </p:cNvPr>
          <p:cNvSpPr txBox="1"/>
          <p:nvPr/>
        </p:nvSpPr>
        <p:spPr>
          <a:xfrm>
            <a:off x="2288839" y="3563461"/>
            <a:ext cx="1280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FF0000"/>
                </a:solidFill>
              </a:rPr>
              <a:t>i-Input gate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4A27CD-CC40-0814-3EF2-535579C97849}"/>
              </a:ext>
            </a:extLst>
          </p:cNvPr>
          <p:cNvSpPr txBox="1"/>
          <p:nvPr/>
        </p:nvSpPr>
        <p:spPr>
          <a:xfrm>
            <a:off x="330507" y="2816027"/>
            <a:ext cx="115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FF0000"/>
                </a:solidFill>
              </a:rPr>
              <a:t>f-</a:t>
            </a:r>
            <a:r>
              <a:rPr lang="es-AR" sz="1400" dirty="0" err="1">
                <a:solidFill>
                  <a:srgbClr val="FF0000"/>
                </a:solidFill>
              </a:rPr>
              <a:t>forget</a:t>
            </a:r>
            <a:r>
              <a:rPr lang="es-AR" sz="1400" dirty="0">
                <a:solidFill>
                  <a:srgbClr val="FF0000"/>
                </a:solidFill>
              </a:rPr>
              <a:t> gate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BA5CA8-B9C8-D15B-D717-3A29D4BB97FD}"/>
              </a:ext>
            </a:extLst>
          </p:cNvPr>
          <p:cNvSpPr txBox="1"/>
          <p:nvPr/>
        </p:nvSpPr>
        <p:spPr>
          <a:xfrm>
            <a:off x="3984282" y="3542907"/>
            <a:ext cx="1280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FF0000"/>
                </a:solidFill>
              </a:rPr>
              <a:t>o-output gate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136E23-CB2E-930C-D68A-8031DE3AB2A4}"/>
              </a:ext>
            </a:extLst>
          </p:cNvPr>
          <p:cNvSpPr/>
          <p:nvPr/>
        </p:nvSpPr>
        <p:spPr>
          <a:xfrm>
            <a:off x="98250" y="4661047"/>
            <a:ext cx="66661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/>
              <a:t>https://blog.floydhub.com/long-short-term-memory-from-zero-to-hero-with-pytorch/</a:t>
            </a:r>
          </a:p>
        </p:txBody>
      </p:sp>
      <p:sp>
        <p:nvSpPr>
          <p:cNvPr id="4" name="Google Shape;122;g21c03c1d1e6_1_41">
            <a:extLst>
              <a:ext uri="{FF2B5EF4-FFF2-40B4-BE49-F238E27FC236}">
                <a16:creationId xmlns:a16="http://schemas.microsoft.com/office/drawing/2014/main" id="{EB0C91FF-2804-DD54-47B4-C398F5FC1AFA}"/>
              </a:ext>
            </a:extLst>
          </p:cNvPr>
          <p:cNvSpPr/>
          <p:nvPr/>
        </p:nvSpPr>
        <p:spPr>
          <a:xfrm>
            <a:off x="7238776" y="4533346"/>
            <a:ext cx="1580232" cy="43547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i="1" dirty="0">
                <a:solidFill>
                  <a:srgbClr val="FF0000"/>
                </a:solidFill>
                <a:latin typeface="Twentieth Century"/>
                <a:sym typeface="Twentieth Century"/>
              </a:rPr>
              <a:t>LSTM (1997)</a:t>
            </a:r>
            <a:endParaRPr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72B4D-6FBE-D233-DF83-334F002C27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25"/>
          <a:stretch>
            <a:fillRect/>
          </a:stretch>
        </p:blipFill>
        <p:spPr>
          <a:xfrm>
            <a:off x="5718289" y="1833459"/>
            <a:ext cx="3390887" cy="15377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1B2F3E-288F-0BCC-0140-3263C79F4990}"/>
                  </a:ext>
                </a:extLst>
              </p:cNvPr>
              <p:cNvSpPr txBox="1"/>
              <p:nvPr/>
            </p:nvSpPr>
            <p:spPr>
              <a:xfrm>
                <a:off x="4537176" y="4110350"/>
                <a:ext cx="4572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dirty="0" err="1"/>
                  <a:t>i</a:t>
                </a:r>
                <a:r>
                  <a:rPr lang="es-ES" dirty="0" err="1">
                    <a:effectLst/>
                  </a:rPr>
                  <a:t>t</a:t>
                </a:r>
                <a:r>
                  <a:rPr lang="es-ES" dirty="0"/>
                  <a:t>​,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dirty="0"/>
                  <a:t> are </a:t>
                </a:r>
                <a:r>
                  <a:rPr lang="es-ES" dirty="0" err="1"/>
                  <a:t>the</a:t>
                </a:r>
                <a:r>
                  <a:rPr lang="es-ES" dirty="0"/>
                  <a:t> input, </a:t>
                </a:r>
                <a:r>
                  <a:rPr lang="es-ES" dirty="0" err="1"/>
                  <a:t>forget</a:t>
                </a:r>
                <a:r>
                  <a:rPr lang="es-ES" dirty="0"/>
                  <a:t>, </a:t>
                </a:r>
                <a:r>
                  <a:rPr lang="es-ES" dirty="0" err="1"/>
                  <a:t>cell</a:t>
                </a:r>
                <a:r>
                  <a:rPr lang="es-ES" dirty="0"/>
                  <a:t>, and output gates,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1B2F3E-288F-0BCC-0140-3263C79F4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176" y="4110350"/>
                <a:ext cx="4572000" cy="307777"/>
              </a:xfrm>
              <a:prstGeom prst="rect">
                <a:avLst/>
              </a:prstGeom>
              <a:blipFill>
                <a:blip r:embed="rId5"/>
                <a:stretch>
                  <a:fillRect l="-400" t="-1961" b="-1960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5112C43-F16D-1BCD-5883-D316D704639D}"/>
              </a:ext>
            </a:extLst>
          </p:cNvPr>
          <p:cNvSpPr txBox="1"/>
          <p:nvPr/>
        </p:nvSpPr>
        <p:spPr>
          <a:xfrm>
            <a:off x="3708141" y="2024175"/>
            <a:ext cx="1280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FF0000"/>
                </a:solidFill>
              </a:rPr>
              <a:t>c-</a:t>
            </a:r>
            <a:r>
              <a:rPr lang="es-AR" sz="1400" dirty="0" err="1">
                <a:solidFill>
                  <a:srgbClr val="FF0000"/>
                </a:solidFill>
              </a:rPr>
              <a:t>cell</a:t>
            </a:r>
            <a:endParaRPr lang="es-AR" sz="14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B58178-88C5-83DF-E1D0-D97421713513}"/>
              </a:ext>
            </a:extLst>
          </p:cNvPr>
          <p:cNvSpPr txBox="1"/>
          <p:nvPr/>
        </p:nvSpPr>
        <p:spPr>
          <a:xfrm>
            <a:off x="4308211" y="3083864"/>
            <a:ext cx="1280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h</a:t>
            </a:r>
            <a:r>
              <a:rPr lang="es-AR" sz="1400" dirty="0">
                <a:solidFill>
                  <a:srgbClr val="FF0000"/>
                </a:solidFill>
              </a:rPr>
              <a:t>-</a:t>
            </a:r>
            <a:r>
              <a:rPr lang="es-AR" sz="1400" dirty="0" err="1">
                <a:solidFill>
                  <a:srgbClr val="FF0000"/>
                </a:solidFill>
              </a:rPr>
              <a:t>hidden</a:t>
            </a:r>
            <a:endParaRPr lang="es-AR" sz="14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5D8E87-23EA-3BB2-25B3-B54128BB8132}"/>
              </a:ext>
            </a:extLst>
          </p:cNvPr>
          <p:cNvSpPr txBox="1"/>
          <p:nvPr/>
        </p:nvSpPr>
        <p:spPr>
          <a:xfrm>
            <a:off x="3256550" y="2769845"/>
            <a:ext cx="1280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FF0000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462849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6748909B-8DF3-148F-A399-0EE473002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BCD5B1-74EF-2478-979A-41633BC357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609" t="12548" r="18573" b="8029"/>
          <a:stretch/>
        </p:blipFill>
        <p:spPr>
          <a:xfrm>
            <a:off x="466323" y="1180091"/>
            <a:ext cx="5053127" cy="3591982"/>
          </a:xfrm>
          <a:prstGeom prst="rect">
            <a:avLst/>
          </a:prstGeom>
        </p:spPr>
      </p:pic>
      <p:sp>
        <p:nvSpPr>
          <p:cNvPr id="239" name="Google Shape;239;g21c03c1d1e6_1_133">
            <a:extLst>
              <a:ext uri="{FF2B5EF4-FFF2-40B4-BE49-F238E27FC236}">
                <a16:creationId xmlns:a16="http://schemas.microsoft.com/office/drawing/2014/main" id="{95CA89FD-2F4A-8478-5E4E-1D05F7CF1665}"/>
              </a:ext>
            </a:extLst>
          </p:cNvPr>
          <p:cNvSpPr/>
          <p:nvPr/>
        </p:nvSpPr>
        <p:spPr>
          <a:xfrm>
            <a:off x="54450" y="727107"/>
            <a:ext cx="891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Solución con otras RNN mas avanzadas (LSTM y GRU)</a:t>
            </a:r>
            <a:endParaRPr sz="1100" dirty="0"/>
          </a:p>
        </p:txBody>
      </p:sp>
      <p:sp>
        <p:nvSpPr>
          <p:cNvPr id="240" name="Google Shape;240;g21c03c1d1e6_1_133">
            <a:extLst>
              <a:ext uri="{FF2B5EF4-FFF2-40B4-BE49-F238E27FC236}">
                <a16:creationId xmlns:a16="http://schemas.microsoft.com/office/drawing/2014/main" id="{3CBDDE66-D116-26DF-3BDF-09DC57CD7E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CFD0A2-88F0-4AE4-7F1B-9F16BBC3122C}"/>
              </a:ext>
            </a:extLst>
          </p:cNvPr>
          <p:cNvSpPr txBox="1"/>
          <p:nvPr/>
        </p:nvSpPr>
        <p:spPr>
          <a:xfrm>
            <a:off x="2126255" y="2145984"/>
            <a:ext cx="115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 err="1">
                <a:solidFill>
                  <a:srgbClr val="FF0000"/>
                </a:solidFill>
              </a:rPr>
              <a:t>reset</a:t>
            </a:r>
            <a:r>
              <a:rPr lang="es-AR" sz="1400" dirty="0">
                <a:solidFill>
                  <a:srgbClr val="FF0000"/>
                </a:solidFill>
              </a:rPr>
              <a:t> gate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4E8ACB-9FB5-EF51-BBFD-4D43E4723E28}"/>
              </a:ext>
            </a:extLst>
          </p:cNvPr>
          <p:cNvSpPr txBox="1"/>
          <p:nvPr/>
        </p:nvSpPr>
        <p:spPr>
          <a:xfrm>
            <a:off x="974993" y="1478857"/>
            <a:ext cx="115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 err="1">
                <a:solidFill>
                  <a:srgbClr val="FF0000"/>
                </a:solidFill>
              </a:rPr>
              <a:t>update</a:t>
            </a:r>
            <a:r>
              <a:rPr lang="es-AR" sz="1400" dirty="0">
                <a:solidFill>
                  <a:srgbClr val="FF0000"/>
                </a:solidFill>
              </a:rPr>
              <a:t> gate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3B887-C749-C288-7354-0A08D04B3CA0}"/>
              </a:ext>
            </a:extLst>
          </p:cNvPr>
          <p:cNvSpPr/>
          <p:nvPr/>
        </p:nvSpPr>
        <p:spPr>
          <a:xfrm>
            <a:off x="252146" y="4733631"/>
            <a:ext cx="61596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/>
              <a:t>https://towardsdatascience.com/understanding-gru-networks-2ef37df6c9be</a:t>
            </a:r>
          </a:p>
        </p:txBody>
      </p:sp>
      <p:sp>
        <p:nvSpPr>
          <p:cNvPr id="5" name="Google Shape;122;g21c03c1d1e6_1_41">
            <a:extLst>
              <a:ext uri="{FF2B5EF4-FFF2-40B4-BE49-F238E27FC236}">
                <a16:creationId xmlns:a16="http://schemas.microsoft.com/office/drawing/2014/main" id="{B6062897-DD13-45DD-B53A-8A970A48CF9D}"/>
              </a:ext>
            </a:extLst>
          </p:cNvPr>
          <p:cNvSpPr/>
          <p:nvPr/>
        </p:nvSpPr>
        <p:spPr>
          <a:xfrm>
            <a:off x="7227759" y="3790151"/>
            <a:ext cx="1580232" cy="43547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i="1" dirty="0">
                <a:solidFill>
                  <a:srgbClr val="FF0000"/>
                </a:solidFill>
                <a:latin typeface="Twentieth Century"/>
                <a:sym typeface="Twentieth Century"/>
              </a:rPr>
              <a:t>GRU (2014)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238751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397FA75-1CCC-F941-FDE3-76324BB80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1c03c1d1e6_1_133">
            <a:extLst>
              <a:ext uri="{FF2B5EF4-FFF2-40B4-BE49-F238E27FC236}">
                <a16:creationId xmlns:a16="http://schemas.microsoft.com/office/drawing/2014/main" id="{2EA1114D-9032-CE87-0CA5-265727A41F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E9A510-65D2-D2F3-535A-A51C6CF5E9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5" t="18206" r="48072" b="14137"/>
          <a:stretch>
            <a:fillRect/>
          </a:stretch>
        </p:blipFill>
        <p:spPr>
          <a:xfrm>
            <a:off x="1938066" y="802858"/>
            <a:ext cx="5597471" cy="418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6197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g21c03c1d1e6_1_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867" y="1043643"/>
            <a:ext cx="8080892" cy="367490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21c03c1d1e6_1_140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¡Un merecido descanso!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1c03c1d1e6_1_151"/>
          <p:cNvSpPr/>
          <p:nvPr/>
        </p:nvSpPr>
        <p:spPr>
          <a:xfrm>
            <a:off x="222159" y="4901126"/>
            <a:ext cx="798812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https://towardsdatascience.com/what-is-an-encoder-decoder-model-86b3d57c5e1a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60" name="Google Shape;260;g21c03c1d1e6_1_151"/>
          <p:cNvPicPr preferRelativeResize="0"/>
          <p:nvPr/>
        </p:nvPicPr>
        <p:blipFill rotWithShape="1">
          <a:blip r:embed="rId3">
            <a:alphaModFix/>
          </a:blip>
          <a:srcRect t="16398" b="28055"/>
          <a:stretch/>
        </p:blipFill>
        <p:spPr>
          <a:xfrm>
            <a:off x="902929" y="1070598"/>
            <a:ext cx="7307351" cy="214545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21c03c1d1e6_1_151"/>
          <p:cNvSpPr/>
          <p:nvPr/>
        </p:nvSpPr>
        <p:spPr>
          <a:xfrm>
            <a:off x="3860355" y="3216049"/>
            <a:ext cx="4868303" cy="168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RNN de distinto tamaño.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Hidden state que “resume” toda la información de la input.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Flexibilidad máxima para inputs/outputs de distinta longitud.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500" dirty="0">
              <a:solidFill>
                <a:srgbClr val="FF0000"/>
              </a:solidFill>
              <a:latin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sym typeface="Twentieth Century"/>
              </a:rPr>
              <a:t>Cada modelo lee/escribe de forma recurrente.</a:t>
            </a:r>
            <a:endParaRPr sz="1100" dirty="0"/>
          </a:p>
        </p:txBody>
      </p:sp>
      <p:pic>
        <p:nvPicPr>
          <p:cNvPr id="262" name="Google Shape;262;g21c03c1d1e6_1_151"/>
          <p:cNvPicPr preferRelativeResize="0"/>
          <p:nvPr/>
        </p:nvPicPr>
        <p:blipFill rotWithShape="1">
          <a:blip r:embed="rId4">
            <a:alphaModFix/>
          </a:blip>
          <a:srcRect l="3577" t="7243" r="3320" b="11375"/>
          <a:stretch/>
        </p:blipFill>
        <p:spPr>
          <a:xfrm>
            <a:off x="222160" y="3351542"/>
            <a:ext cx="2946044" cy="1552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21c03c1d1e6_1_1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Arquitectura enconder-decoder (seq to seq)</a:t>
            </a:r>
            <a:endParaRPr/>
          </a:p>
        </p:txBody>
      </p:sp>
      <p:sp>
        <p:nvSpPr>
          <p:cNvPr id="3" name="Google Shape;122;g21c03c1d1e6_1_41">
            <a:extLst>
              <a:ext uri="{FF2B5EF4-FFF2-40B4-BE49-F238E27FC236}">
                <a16:creationId xmlns:a16="http://schemas.microsoft.com/office/drawing/2014/main" id="{C8F95CE0-A38E-9EB9-1C36-68D3F203D70D}"/>
              </a:ext>
            </a:extLst>
          </p:cNvPr>
          <p:cNvSpPr/>
          <p:nvPr/>
        </p:nvSpPr>
        <p:spPr>
          <a:xfrm>
            <a:off x="6830458" y="792021"/>
            <a:ext cx="2184639" cy="43547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i="1" dirty="0" err="1">
                <a:solidFill>
                  <a:srgbClr val="FF0000"/>
                </a:solidFill>
                <a:latin typeface="Twentieth Century"/>
                <a:sym typeface="Twentieth Century"/>
              </a:rPr>
              <a:t>enc-dec</a:t>
            </a:r>
            <a:r>
              <a:rPr lang="es-ES" sz="2100" b="1" i="1" dirty="0">
                <a:solidFill>
                  <a:srgbClr val="FF0000"/>
                </a:solidFill>
                <a:latin typeface="Twentieth Century"/>
                <a:sym typeface="Twentieth Century"/>
              </a:rPr>
              <a:t> (2014)</a:t>
            </a:r>
            <a:endParaRPr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21c03c1d1e6_1_1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160" y="1724126"/>
            <a:ext cx="8592315" cy="183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21c03c1d1e6_1_159"/>
          <p:cNvSpPr/>
          <p:nvPr/>
        </p:nvSpPr>
        <p:spPr>
          <a:xfrm>
            <a:off x="222160" y="4678127"/>
            <a:ext cx="453513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https://brunomaga.github.io/AI-Supercomputing-2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70" name="Google Shape;270;g21c03c1d1e6_1_159"/>
          <p:cNvSpPr/>
          <p:nvPr/>
        </p:nvSpPr>
        <p:spPr>
          <a:xfrm>
            <a:off x="3097280" y="3726450"/>
            <a:ext cx="1573872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Unfolded!!!!</a:t>
            </a:r>
            <a:endParaRPr dirty="0"/>
          </a:p>
        </p:txBody>
      </p:sp>
      <p:sp>
        <p:nvSpPr>
          <p:cNvPr id="271" name="Google Shape;271;g21c03c1d1e6_1_15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Arquitectura enconder-decoder (seq to seq)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21c03c1d1e6_1_166"/>
          <p:cNvPicPr preferRelativeResize="0"/>
          <p:nvPr/>
        </p:nvPicPr>
        <p:blipFill rotWithShape="1">
          <a:blip r:embed="rId3">
            <a:alphaModFix/>
          </a:blip>
          <a:srcRect l="37785"/>
          <a:stretch/>
        </p:blipFill>
        <p:spPr>
          <a:xfrm>
            <a:off x="3740620" y="1112010"/>
            <a:ext cx="5345718" cy="183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21c03c1d1e6_1_166"/>
          <p:cNvSpPr/>
          <p:nvPr/>
        </p:nvSpPr>
        <p:spPr>
          <a:xfrm>
            <a:off x="222160" y="4678127"/>
            <a:ext cx="453513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https://brunomaga.github.io/AI-Supercomputing-2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78" name="Google Shape;278;g21c03c1d1e6_1_166"/>
          <p:cNvSpPr/>
          <p:nvPr/>
        </p:nvSpPr>
        <p:spPr>
          <a:xfrm>
            <a:off x="504296" y="3191198"/>
            <a:ext cx="2667413" cy="53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ENCODER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Siempre leen la secuencia entera</a:t>
            </a:r>
            <a:endParaRPr sz="1100"/>
          </a:p>
        </p:txBody>
      </p:sp>
      <p:pic>
        <p:nvPicPr>
          <p:cNvPr id="279" name="Google Shape;279;g21c03c1d1e6_1_166"/>
          <p:cNvPicPr preferRelativeResize="0"/>
          <p:nvPr/>
        </p:nvPicPr>
        <p:blipFill rotWithShape="1">
          <a:blip r:embed="rId3">
            <a:alphaModFix/>
          </a:blip>
          <a:srcRect r="62273"/>
          <a:stretch/>
        </p:blipFill>
        <p:spPr>
          <a:xfrm>
            <a:off x="227129" y="1112010"/>
            <a:ext cx="3241627" cy="183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21c03c1d1e6_1_166"/>
          <p:cNvSpPr/>
          <p:nvPr/>
        </p:nvSpPr>
        <p:spPr>
          <a:xfrm>
            <a:off x="504296" y="3900038"/>
            <a:ext cx="266741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Emiten un hidden state final</a:t>
            </a:r>
            <a:endParaRPr sz="1100"/>
          </a:p>
        </p:txBody>
      </p:sp>
      <p:sp>
        <p:nvSpPr>
          <p:cNvPr id="281" name="Google Shape;281;g21c03c1d1e6_1_166"/>
          <p:cNvSpPr/>
          <p:nvPr/>
        </p:nvSpPr>
        <p:spPr>
          <a:xfrm>
            <a:off x="3652400" y="3191198"/>
            <a:ext cx="4885544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DECODER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Entrenamiento </a:t>
            </a: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for i in range(len(y_deseado):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	genero_token</a:t>
            </a:r>
            <a:endParaRPr sz="15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Uso </a:t>
            </a: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while last_token =! &lt;EOS&gt;: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genero_token</a:t>
            </a:r>
            <a:endParaRPr sz="15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2" name="Google Shape;282;g21c03c1d1e6_1_166"/>
          <p:cNvSpPr/>
          <p:nvPr/>
        </p:nvSpPr>
        <p:spPr>
          <a:xfrm>
            <a:off x="7125838" y="4736501"/>
            <a:ext cx="1960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TEACHER FORCING!!!</a:t>
            </a:r>
            <a:endParaRPr sz="15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3" name="Google Shape;283;g21c03c1d1e6_1_1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Arquitectura enconder-decoder (seq to seq) entrenamiento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1c03c1d1e6_1_177"/>
          <p:cNvSpPr txBox="1"/>
          <p:nvPr/>
        </p:nvSpPr>
        <p:spPr>
          <a:xfrm>
            <a:off x="1185903" y="669650"/>
            <a:ext cx="6454800" cy="6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Arquitecturas flexibles IN/OUT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89" name="Google Shape;289;g21c03c1d1e6_1_1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78939"/>
            <a:ext cx="9143998" cy="286223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21c03c1d1e6_1_177"/>
          <p:cNvSpPr txBox="1"/>
          <p:nvPr/>
        </p:nvSpPr>
        <p:spPr>
          <a:xfrm>
            <a:off x="330020" y="4045863"/>
            <a:ext cx="560232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MLP</a:t>
            </a:r>
            <a:endParaRPr sz="1100"/>
          </a:p>
        </p:txBody>
      </p:sp>
      <p:sp>
        <p:nvSpPr>
          <p:cNvPr id="291" name="Google Shape;291;g21c03c1d1e6_1_177"/>
          <p:cNvSpPr txBox="1"/>
          <p:nvPr/>
        </p:nvSpPr>
        <p:spPr>
          <a:xfrm>
            <a:off x="1418285" y="4045863"/>
            <a:ext cx="1382870" cy="392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Img captioning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2" name="Google Shape;292;g21c03c1d1e6_1_177"/>
          <p:cNvSpPr txBox="1"/>
          <p:nvPr/>
        </p:nvSpPr>
        <p:spPr>
          <a:xfrm>
            <a:off x="3189130" y="3729921"/>
            <a:ext cx="1658292" cy="60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 dirty="0">
                <a:latin typeface="Twentieth Century"/>
                <a:ea typeface="Twentieth Century"/>
                <a:cs typeface="Twentieth Century"/>
                <a:sym typeface="Twentieth Century"/>
              </a:rPr>
              <a:t>Regresión</a:t>
            </a:r>
            <a:endParaRPr sz="1100" dirty="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 dirty="0">
                <a:latin typeface="Twentieth Century"/>
                <a:ea typeface="Twentieth Century"/>
                <a:cs typeface="Twentieth Century"/>
                <a:sym typeface="Twentieth Century"/>
              </a:rPr>
              <a:t>Classificacion</a:t>
            </a:r>
            <a:endParaRPr sz="14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 dirty="0">
                <a:latin typeface="Twentieth Century"/>
                <a:ea typeface="Twentieth Century"/>
                <a:cs typeface="Twentieth Century"/>
                <a:sym typeface="Twentieth Century"/>
              </a:rPr>
              <a:t>Sentiment classification</a:t>
            </a:r>
            <a:endParaRPr sz="14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 dirty="0">
                <a:latin typeface="Twentieth Century"/>
                <a:ea typeface="Twentieth Century"/>
                <a:cs typeface="Twentieth Century"/>
                <a:sym typeface="Twentieth Century"/>
              </a:rPr>
              <a:t>Resumen de videos</a:t>
            </a:r>
            <a:endParaRPr sz="1100" dirty="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3" name="Google Shape;293;g21c03c1d1e6_1_177"/>
          <p:cNvSpPr txBox="1"/>
          <p:nvPr/>
        </p:nvSpPr>
        <p:spPr>
          <a:xfrm>
            <a:off x="5100033" y="4045863"/>
            <a:ext cx="2327857" cy="392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Regresión varios futuros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Traducción</a:t>
            </a:r>
            <a:endParaRPr sz="1100"/>
          </a:p>
        </p:txBody>
      </p:sp>
      <p:sp>
        <p:nvSpPr>
          <p:cNvPr id="294" name="Google Shape;294;g21c03c1d1e6_1_177"/>
          <p:cNvSpPr txBox="1"/>
          <p:nvPr/>
        </p:nvSpPr>
        <p:spPr>
          <a:xfrm>
            <a:off x="7532531" y="4045863"/>
            <a:ext cx="1276618" cy="392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Video class frame lvl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5" name="Google Shape;295;g21c03c1d1e6_1_17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Redes recurrentes - Arquitectura enconder-decoder (seq to seq)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1c03c1d1e6_1_187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vs Tapped Delayed MLP</a:t>
            </a:r>
            <a:endParaRPr sz="1100"/>
          </a:p>
        </p:txBody>
      </p:sp>
      <p:graphicFrame>
        <p:nvGraphicFramePr>
          <p:cNvPr id="301" name="Google Shape;301;g21c03c1d1e6_1_187"/>
          <p:cNvGraphicFramePr/>
          <p:nvPr>
            <p:extLst>
              <p:ext uri="{D42A27DB-BD31-4B8C-83A1-F6EECF244321}">
                <p14:modId xmlns:p14="http://schemas.microsoft.com/office/powerpoint/2010/main" val="950352069"/>
              </p:ext>
            </p:extLst>
          </p:nvPr>
        </p:nvGraphicFramePr>
        <p:xfrm>
          <a:off x="268132" y="1058051"/>
          <a:ext cx="8772744" cy="432000"/>
        </p:xfrm>
        <a:graphic>
          <a:graphicData uri="http://schemas.openxmlformats.org/drawingml/2006/table">
            <a:tbl>
              <a:tblPr>
                <a:noFill/>
                <a:tableStyleId>{D3E55744-8061-4CE5-AF87-22040F36E0A0}</a:tableStyleId>
              </a:tblPr>
              <a:tblGrid>
                <a:gridCol w="73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4772">
                  <a:extLst>
                    <a:ext uri="{9D8B030D-6E8A-4147-A177-3AD203B41FA5}">
                      <a16:colId xmlns:a16="http://schemas.microsoft.com/office/drawing/2014/main" val="2224162106"/>
                    </a:ext>
                  </a:extLst>
                </a:gridCol>
                <a:gridCol w="917352">
                  <a:extLst>
                    <a:ext uri="{9D8B030D-6E8A-4147-A177-3AD203B41FA5}">
                      <a16:colId xmlns:a16="http://schemas.microsoft.com/office/drawing/2014/main" val="85861329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X(t=0)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X(t=1)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X(t=2)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X(t=3)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X(t=4)</a:t>
                      </a:r>
                      <a:endParaRPr sz="1100" dirty="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X(t=5)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X(t=6)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" sz="1400" dirty="0"/>
                        <a:t>X(t=7)</a:t>
                      </a:r>
                      <a:endParaRPr sz="1100" dirty="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…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" sz="1400" dirty="0"/>
                        <a:t>X(t=</a:t>
                      </a:r>
                      <a:r>
                        <a:rPr lang="en" sz="1800" dirty="0"/>
                        <a:t>τ</a:t>
                      </a:r>
                      <a:r>
                        <a:rPr lang="en" sz="1400" dirty="0"/>
                        <a:t>)</a:t>
                      </a:r>
                      <a:endParaRPr sz="1100" dirty="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s-AR" sz="1100" dirty="0"/>
                        <a:t>…</a:t>
                      </a:r>
                      <a:endParaRPr sz="1100" dirty="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  <a:tabLst/>
                        <a:defRPr/>
                      </a:pP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latin typeface="Tw Cen MT"/>
                          <a:sym typeface="Arial"/>
                        </a:rPr>
                        <a:t>X(t=</a:t>
                      </a:r>
                      <a:r>
                        <a:rPr lang="el-GR" sz="1400" b="0" i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τ</a:t>
                      </a:r>
                      <a:r>
                        <a:rPr lang="es-AR" sz="1400" b="0" i="0" u="none" strike="noStrike" cap="none" dirty="0">
                          <a:solidFill>
                            <a:schemeClr val="dk1"/>
                          </a:solidFill>
                          <a:latin typeface="Tw Cen MT"/>
                          <a:sym typeface="Arial"/>
                        </a:rPr>
                        <a:t>+10</a:t>
                      </a:r>
                      <a:r>
                        <a:rPr lang="el-GR" sz="1400" b="0" i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)</a:t>
                      </a: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5" name="Google Shape;305;g21c03c1d1e6_1_18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Redes recurrentes - Implementación de modelos enconder-decoder</a:t>
            </a:r>
            <a:endParaRPr dirty="0"/>
          </a:p>
        </p:txBody>
      </p:sp>
      <p:pic>
        <p:nvPicPr>
          <p:cNvPr id="2" name="Google Shape;268;g21c03c1d1e6_1_159">
            <a:extLst>
              <a:ext uri="{FF2B5EF4-FFF2-40B4-BE49-F238E27FC236}">
                <a16:creationId xmlns:a16="http://schemas.microsoft.com/office/drawing/2014/main" id="{8EE2EC0A-B294-4082-D5F3-773F74E554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654" y="1600631"/>
            <a:ext cx="7262122" cy="1499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540F1F9-F686-BA1A-A203-F0D8D6C7A8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402" t="34971" r="1" b="34303"/>
          <a:stretch>
            <a:fillRect/>
          </a:stretch>
        </p:blipFill>
        <p:spPr>
          <a:xfrm>
            <a:off x="618978" y="3320480"/>
            <a:ext cx="2402777" cy="1652537"/>
          </a:xfrm>
          <a:prstGeom prst="rect">
            <a:avLst/>
          </a:prstGeom>
        </p:spPr>
      </p:pic>
      <p:sp>
        <p:nvSpPr>
          <p:cNvPr id="4" name="Google Shape;302;g21c03c1d1e6_1_187">
            <a:extLst>
              <a:ext uri="{FF2B5EF4-FFF2-40B4-BE49-F238E27FC236}">
                <a16:creationId xmlns:a16="http://schemas.microsoft.com/office/drawing/2014/main" id="{9ED7E9E9-59C9-6343-8F43-CF878350A681}"/>
              </a:ext>
            </a:extLst>
          </p:cNvPr>
          <p:cNvSpPr txBox="1"/>
          <p:nvPr/>
        </p:nvSpPr>
        <p:spPr>
          <a:xfrm>
            <a:off x="1543342" y="616200"/>
            <a:ext cx="5455600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s-ES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</a:t>
            </a:r>
            <a:r>
              <a:rPr lang="en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redicción serie temporal 10 muestra a futuro</a:t>
            </a:r>
            <a:endParaRPr sz="18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25154685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0F5D1FD2-B011-1094-AABC-E01B60BBB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1c03c1d1e6_1_166">
            <a:extLst>
              <a:ext uri="{FF2B5EF4-FFF2-40B4-BE49-F238E27FC236}">
                <a16:creationId xmlns:a16="http://schemas.microsoft.com/office/drawing/2014/main" id="{4D2545CE-9D97-D9E9-78CC-417C0CCDEBFF}"/>
              </a:ext>
            </a:extLst>
          </p:cNvPr>
          <p:cNvSpPr/>
          <p:nvPr/>
        </p:nvSpPr>
        <p:spPr>
          <a:xfrm>
            <a:off x="3443064" y="3368386"/>
            <a:ext cx="2667413" cy="53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ENCODER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Siempre leen la secuencia entera</a:t>
            </a:r>
            <a:endParaRPr sz="1100" dirty="0"/>
          </a:p>
        </p:txBody>
      </p:sp>
      <p:pic>
        <p:nvPicPr>
          <p:cNvPr id="279" name="Google Shape;279;g21c03c1d1e6_1_166">
            <a:extLst>
              <a:ext uri="{FF2B5EF4-FFF2-40B4-BE49-F238E27FC236}">
                <a16:creationId xmlns:a16="http://schemas.microsoft.com/office/drawing/2014/main" id="{EA7E2BBC-3069-251B-26CE-0EB273FBB8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62273"/>
          <a:stretch/>
        </p:blipFill>
        <p:spPr>
          <a:xfrm>
            <a:off x="2365064" y="1009062"/>
            <a:ext cx="3241627" cy="183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21c03c1d1e6_1_166">
            <a:extLst>
              <a:ext uri="{FF2B5EF4-FFF2-40B4-BE49-F238E27FC236}">
                <a16:creationId xmlns:a16="http://schemas.microsoft.com/office/drawing/2014/main" id="{ED2E2AE3-AC0D-1861-15E7-A3BC3315CBC6}"/>
              </a:ext>
            </a:extLst>
          </p:cNvPr>
          <p:cNvSpPr/>
          <p:nvPr/>
        </p:nvSpPr>
        <p:spPr>
          <a:xfrm>
            <a:off x="5729439" y="1822632"/>
            <a:ext cx="266741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Emiten un hidden state final</a:t>
            </a:r>
            <a:endParaRPr sz="1100" dirty="0"/>
          </a:p>
        </p:txBody>
      </p:sp>
      <p:sp>
        <p:nvSpPr>
          <p:cNvPr id="283" name="Google Shape;283;g21c03c1d1e6_1_166">
            <a:extLst>
              <a:ext uri="{FF2B5EF4-FFF2-40B4-BE49-F238E27FC236}">
                <a16:creationId xmlns:a16="http://schemas.microsoft.com/office/drawing/2014/main" id="{5BACD7B2-93BB-03C0-7408-254540BF97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Arquitectura enconder-decoder (seq to seq) entrenamiento</a:t>
            </a:r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0D34D73-EDC4-7385-58EE-79485D90E8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942" t="34971" r="1" b="34303"/>
          <a:stretch>
            <a:fillRect/>
          </a:stretch>
        </p:blipFill>
        <p:spPr>
          <a:xfrm>
            <a:off x="767960" y="3263759"/>
            <a:ext cx="2350048" cy="1652537"/>
          </a:xfrm>
          <a:prstGeom prst="rect">
            <a:avLst/>
          </a:prstGeom>
        </p:spPr>
      </p:pic>
      <p:sp>
        <p:nvSpPr>
          <p:cNvPr id="3" name="Cerrar llave 2">
            <a:extLst>
              <a:ext uri="{FF2B5EF4-FFF2-40B4-BE49-F238E27FC236}">
                <a16:creationId xmlns:a16="http://schemas.microsoft.com/office/drawing/2014/main" id="{2C9AF49B-D757-9073-B95C-52D2D516DD4E}"/>
              </a:ext>
            </a:extLst>
          </p:cNvPr>
          <p:cNvSpPr/>
          <p:nvPr/>
        </p:nvSpPr>
        <p:spPr>
          <a:xfrm rot="16200000">
            <a:off x="1652193" y="2672356"/>
            <a:ext cx="238484" cy="1792276"/>
          </a:xfrm>
          <a:prstGeom prst="rightBrace">
            <a:avLst>
              <a:gd name="adj1" fmla="val 8333"/>
              <a:gd name="adj2" fmla="val 48417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AD2421D7-EEDB-0CF9-E975-AB43E5CC4BC3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1753173" y="3135885"/>
            <a:ext cx="2221052" cy="253583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Cerrar llave 5">
            <a:extLst>
              <a:ext uri="{FF2B5EF4-FFF2-40B4-BE49-F238E27FC236}">
                <a16:creationId xmlns:a16="http://schemas.microsoft.com/office/drawing/2014/main" id="{A626ECD6-707C-E635-A38F-DA62C5FF34D9}"/>
              </a:ext>
            </a:extLst>
          </p:cNvPr>
          <p:cNvSpPr/>
          <p:nvPr/>
        </p:nvSpPr>
        <p:spPr>
          <a:xfrm rot="5400000">
            <a:off x="3723614" y="1949215"/>
            <a:ext cx="440012" cy="1933328"/>
          </a:xfrm>
          <a:prstGeom prst="rightBrace">
            <a:avLst>
              <a:gd name="adj1" fmla="val 8333"/>
              <a:gd name="adj2" fmla="val 48417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Google Shape;280;g21c03c1d1e6_1_166">
            <a:extLst>
              <a:ext uri="{FF2B5EF4-FFF2-40B4-BE49-F238E27FC236}">
                <a16:creationId xmlns:a16="http://schemas.microsoft.com/office/drawing/2014/main" id="{C34A7C7E-D38C-B16A-3476-D7E646797D09}"/>
              </a:ext>
            </a:extLst>
          </p:cNvPr>
          <p:cNvSpPr/>
          <p:nvPr/>
        </p:nvSpPr>
        <p:spPr>
          <a:xfrm>
            <a:off x="196286" y="892759"/>
            <a:ext cx="266741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</a:t>
            </a: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nos interesa ningún output temporal del ENC</a:t>
            </a:r>
            <a:endParaRPr sz="1100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1803B0A-BD5F-8BDF-7783-6478B5984F07}"/>
              </a:ext>
            </a:extLst>
          </p:cNvPr>
          <p:cNvCxnSpPr>
            <a:cxnSpLocks/>
          </p:cNvCxnSpPr>
          <p:nvPr/>
        </p:nvCxnSpPr>
        <p:spPr>
          <a:xfrm>
            <a:off x="2014143" y="1250413"/>
            <a:ext cx="1691583" cy="28321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103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972F5937-5AAD-3073-DB85-E28AF387D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21c03c1d1e6_1_166">
            <a:extLst>
              <a:ext uri="{FF2B5EF4-FFF2-40B4-BE49-F238E27FC236}">
                <a16:creationId xmlns:a16="http://schemas.microsoft.com/office/drawing/2014/main" id="{D799AA08-39B5-BA9C-8A6B-E0A36B98C5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7785"/>
          <a:stretch/>
        </p:blipFill>
        <p:spPr>
          <a:xfrm>
            <a:off x="1137671" y="1512542"/>
            <a:ext cx="6679418" cy="231789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21c03c1d1e6_1_166">
            <a:extLst>
              <a:ext uri="{FF2B5EF4-FFF2-40B4-BE49-F238E27FC236}">
                <a16:creationId xmlns:a16="http://schemas.microsoft.com/office/drawing/2014/main" id="{90ADABC8-E778-1E8E-50B5-54B29F7327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Arquitectura enconder-decoder (seq to seq) entrenamiento</a:t>
            </a:r>
            <a:endParaRPr/>
          </a:p>
        </p:txBody>
      </p:sp>
      <p:sp>
        <p:nvSpPr>
          <p:cNvPr id="2" name="Google Shape;278;g21c03c1d1e6_1_166">
            <a:extLst>
              <a:ext uri="{FF2B5EF4-FFF2-40B4-BE49-F238E27FC236}">
                <a16:creationId xmlns:a16="http://schemas.microsoft.com/office/drawing/2014/main" id="{082B997E-A442-9230-CCA9-AEDC57C8FB9E}"/>
              </a:ext>
            </a:extLst>
          </p:cNvPr>
          <p:cNvSpPr/>
          <p:nvPr/>
        </p:nvSpPr>
        <p:spPr>
          <a:xfrm>
            <a:off x="1906219" y="4286589"/>
            <a:ext cx="1950761" cy="53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Último valor de la serie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</a:t>
            </a:r>
            <a:r>
              <a:rPr lang="es-ES" sz="15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last_sample</a:t>
            </a: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)</a:t>
            </a:r>
            <a:endParaRPr lang="es-ES" sz="1100" dirty="0"/>
          </a:p>
        </p:txBody>
      </p:sp>
      <p:sp>
        <p:nvSpPr>
          <p:cNvPr id="6" name="Google Shape;278;g21c03c1d1e6_1_166">
            <a:extLst>
              <a:ext uri="{FF2B5EF4-FFF2-40B4-BE49-F238E27FC236}">
                <a16:creationId xmlns:a16="http://schemas.microsoft.com/office/drawing/2014/main" id="{B5916165-F354-6CCC-36B6-F5F8F9909EA3}"/>
              </a:ext>
            </a:extLst>
          </p:cNvPr>
          <p:cNvSpPr/>
          <p:nvPr/>
        </p:nvSpPr>
        <p:spPr>
          <a:xfrm>
            <a:off x="162291" y="2234152"/>
            <a:ext cx="1164620" cy="53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Último </a:t>
            </a:r>
            <a:r>
              <a:rPr lang="es-ES" sz="15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hidden_state</a:t>
            </a: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ENC</a:t>
            </a:r>
            <a:endParaRPr lang="es-ES" sz="1100" dirty="0"/>
          </a:p>
        </p:txBody>
      </p:sp>
      <p:sp>
        <p:nvSpPr>
          <p:cNvPr id="7" name="Google Shape;278;g21c03c1d1e6_1_166">
            <a:extLst>
              <a:ext uri="{FF2B5EF4-FFF2-40B4-BE49-F238E27FC236}">
                <a16:creationId xmlns:a16="http://schemas.microsoft.com/office/drawing/2014/main" id="{38C17CAC-84ED-5769-7F95-019B38A882A6}"/>
              </a:ext>
            </a:extLst>
          </p:cNvPr>
          <p:cNvSpPr/>
          <p:nvPr/>
        </p:nvSpPr>
        <p:spPr>
          <a:xfrm>
            <a:off x="1527188" y="1107862"/>
            <a:ext cx="1429144" cy="34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Predicción DEC</a:t>
            </a:r>
            <a:endParaRPr lang="es-ES" sz="11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B970CA6-5170-4526-EF42-92BC2DD04E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156" t="34971" b="34303"/>
          <a:stretch>
            <a:fillRect/>
          </a:stretch>
        </p:blipFill>
        <p:spPr>
          <a:xfrm>
            <a:off x="162290" y="3435180"/>
            <a:ext cx="1450051" cy="1652537"/>
          </a:xfrm>
          <a:prstGeom prst="rect">
            <a:avLst/>
          </a:prstGeom>
        </p:spPr>
      </p:pic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180EEED8-A726-A7B7-E4B9-3B38EEF7EB0F}"/>
              </a:ext>
            </a:extLst>
          </p:cNvPr>
          <p:cNvCxnSpPr>
            <a:cxnSpLocks/>
          </p:cNvCxnSpPr>
          <p:nvPr/>
        </p:nvCxnSpPr>
        <p:spPr>
          <a:xfrm flipV="1">
            <a:off x="1137671" y="3627091"/>
            <a:ext cx="1323791" cy="31239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9A032A58-1C5A-05F1-08B1-D12ED250AF72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221583" y="1449554"/>
            <a:ext cx="20177" cy="3594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915E8F6E-425B-1272-FC94-6A65260C191B}"/>
              </a:ext>
            </a:extLst>
          </p:cNvPr>
          <p:cNvCxnSpPr>
            <a:cxnSpLocks/>
          </p:cNvCxnSpPr>
          <p:nvPr/>
        </p:nvCxnSpPr>
        <p:spPr>
          <a:xfrm flipV="1">
            <a:off x="2461462" y="3627091"/>
            <a:ext cx="0" cy="6111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2624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C8619D86-1E39-225B-77B4-8331D23CE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21c03c1d1e6_1_166">
            <a:extLst>
              <a:ext uri="{FF2B5EF4-FFF2-40B4-BE49-F238E27FC236}">
                <a16:creationId xmlns:a16="http://schemas.microsoft.com/office/drawing/2014/main" id="{943CA926-0B95-4752-3912-E67625C9ED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7785"/>
          <a:stretch/>
        </p:blipFill>
        <p:spPr>
          <a:xfrm>
            <a:off x="1137671" y="1512542"/>
            <a:ext cx="6679418" cy="231789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21c03c1d1e6_1_166">
            <a:extLst>
              <a:ext uri="{FF2B5EF4-FFF2-40B4-BE49-F238E27FC236}">
                <a16:creationId xmlns:a16="http://schemas.microsoft.com/office/drawing/2014/main" id="{C013678D-02A9-469D-E424-9EDB15088C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Arquitectura enconder-decoder (seq to seq) entrenamiento</a:t>
            </a:r>
            <a:endParaRPr/>
          </a:p>
        </p:txBody>
      </p:sp>
      <p:sp>
        <p:nvSpPr>
          <p:cNvPr id="2" name="Google Shape;278;g21c03c1d1e6_1_166">
            <a:extLst>
              <a:ext uri="{FF2B5EF4-FFF2-40B4-BE49-F238E27FC236}">
                <a16:creationId xmlns:a16="http://schemas.microsoft.com/office/drawing/2014/main" id="{E9C15745-F317-4A8B-990F-39E83750ED7E}"/>
              </a:ext>
            </a:extLst>
          </p:cNvPr>
          <p:cNvSpPr/>
          <p:nvPr/>
        </p:nvSpPr>
        <p:spPr>
          <a:xfrm>
            <a:off x="3314774" y="3678629"/>
            <a:ext cx="1257226" cy="53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Último valor PREDICHO!</a:t>
            </a:r>
            <a:endParaRPr lang="es-ES" sz="1100" dirty="0"/>
          </a:p>
        </p:txBody>
      </p:sp>
      <p:sp>
        <p:nvSpPr>
          <p:cNvPr id="6" name="Google Shape;278;g21c03c1d1e6_1_166">
            <a:extLst>
              <a:ext uri="{FF2B5EF4-FFF2-40B4-BE49-F238E27FC236}">
                <a16:creationId xmlns:a16="http://schemas.microsoft.com/office/drawing/2014/main" id="{DC5EC017-0E51-0959-3C83-05556D32F4FB}"/>
              </a:ext>
            </a:extLst>
          </p:cNvPr>
          <p:cNvSpPr/>
          <p:nvPr/>
        </p:nvSpPr>
        <p:spPr>
          <a:xfrm>
            <a:off x="1815050" y="3830436"/>
            <a:ext cx="1164620" cy="53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Último </a:t>
            </a:r>
            <a:r>
              <a:rPr lang="es-ES" sz="15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hidden_state</a:t>
            </a: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DEC</a:t>
            </a:r>
            <a:endParaRPr lang="es-ES" sz="1100" dirty="0"/>
          </a:p>
        </p:txBody>
      </p:sp>
      <p:sp>
        <p:nvSpPr>
          <p:cNvPr id="7" name="Google Shape;278;g21c03c1d1e6_1_166">
            <a:extLst>
              <a:ext uri="{FF2B5EF4-FFF2-40B4-BE49-F238E27FC236}">
                <a16:creationId xmlns:a16="http://schemas.microsoft.com/office/drawing/2014/main" id="{C9B87350-87A0-0F90-371E-9473B3C80AE6}"/>
              </a:ext>
            </a:extLst>
          </p:cNvPr>
          <p:cNvSpPr/>
          <p:nvPr/>
        </p:nvSpPr>
        <p:spPr>
          <a:xfrm>
            <a:off x="2723471" y="1107447"/>
            <a:ext cx="1429144" cy="34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Predicción DEC</a:t>
            </a:r>
            <a:endParaRPr lang="es-ES" sz="1100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78BD7913-1072-F40F-0FA2-BD65E5D8D78D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2622586" y="1891649"/>
            <a:ext cx="927428" cy="15792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0E29BB7-7FE9-BC69-3775-F312D546DF02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3417866" y="1449139"/>
            <a:ext cx="20177" cy="3594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Elipse 2">
            <a:extLst>
              <a:ext uri="{FF2B5EF4-FFF2-40B4-BE49-F238E27FC236}">
                <a16:creationId xmlns:a16="http://schemas.microsoft.com/office/drawing/2014/main" id="{F30897AB-E9AE-31F1-DE8D-11614F7EE57F}"/>
              </a:ext>
            </a:extLst>
          </p:cNvPr>
          <p:cNvSpPr/>
          <p:nvPr/>
        </p:nvSpPr>
        <p:spPr>
          <a:xfrm>
            <a:off x="1938803" y="1711922"/>
            <a:ext cx="683783" cy="3594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826BA89-8DD5-2D94-E08E-C9F3971FE4A1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2397360" y="3389354"/>
            <a:ext cx="680737" cy="4410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715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19F3D597-EFD9-FBD9-B889-3E595CCB1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21c03c1d1e6_1_166">
            <a:extLst>
              <a:ext uri="{FF2B5EF4-FFF2-40B4-BE49-F238E27FC236}">
                <a16:creationId xmlns:a16="http://schemas.microsoft.com/office/drawing/2014/main" id="{CBD8D113-008D-E3B1-A358-253E76262C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7785"/>
          <a:stretch/>
        </p:blipFill>
        <p:spPr>
          <a:xfrm>
            <a:off x="1137671" y="1512542"/>
            <a:ext cx="6679418" cy="231789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21c03c1d1e6_1_166">
            <a:extLst>
              <a:ext uri="{FF2B5EF4-FFF2-40B4-BE49-F238E27FC236}">
                <a16:creationId xmlns:a16="http://schemas.microsoft.com/office/drawing/2014/main" id="{CA50DC0C-534D-33DF-0F64-0C0D390386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Arquitectura enconder-decoder (seq to seq) entrenamiento</a:t>
            </a:r>
            <a:endParaRPr/>
          </a:p>
        </p:txBody>
      </p:sp>
      <p:sp>
        <p:nvSpPr>
          <p:cNvPr id="2" name="Google Shape;278;g21c03c1d1e6_1_166">
            <a:extLst>
              <a:ext uri="{FF2B5EF4-FFF2-40B4-BE49-F238E27FC236}">
                <a16:creationId xmlns:a16="http://schemas.microsoft.com/office/drawing/2014/main" id="{10E2FCE4-D501-EC0E-A8EB-4FDB1F730931}"/>
              </a:ext>
            </a:extLst>
          </p:cNvPr>
          <p:cNvSpPr/>
          <p:nvPr/>
        </p:nvSpPr>
        <p:spPr>
          <a:xfrm>
            <a:off x="4627935" y="3678629"/>
            <a:ext cx="1257226" cy="53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Último valor PREDICHO!</a:t>
            </a:r>
            <a:endParaRPr lang="es-ES" sz="1100" dirty="0"/>
          </a:p>
        </p:txBody>
      </p:sp>
      <p:sp>
        <p:nvSpPr>
          <p:cNvPr id="6" name="Google Shape;278;g21c03c1d1e6_1_166">
            <a:extLst>
              <a:ext uri="{FF2B5EF4-FFF2-40B4-BE49-F238E27FC236}">
                <a16:creationId xmlns:a16="http://schemas.microsoft.com/office/drawing/2014/main" id="{87ADE8E1-CB09-D6DE-C845-E632E8A5F6F0}"/>
              </a:ext>
            </a:extLst>
          </p:cNvPr>
          <p:cNvSpPr/>
          <p:nvPr/>
        </p:nvSpPr>
        <p:spPr>
          <a:xfrm>
            <a:off x="3128211" y="3830436"/>
            <a:ext cx="1164620" cy="53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Último </a:t>
            </a:r>
            <a:r>
              <a:rPr lang="es-ES" sz="15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hidden_state</a:t>
            </a: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DEC</a:t>
            </a:r>
            <a:endParaRPr lang="es-ES" sz="1100" dirty="0"/>
          </a:p>
        </p:txBody>
      </p:sp>
      <p:sp>
        <p:nvSpPr>
          <p:cNvPr id="7" name="Google Shape;278;g21c03c1d1e6_1_166">
            <a:extLst>
              <a:ext uri="{FF2B5EF4-FFF2-40B4-BE49-F238E27FC236}">
                <a16:creationId xmlns:a16="http://schemas.microsoft.com/office/drawing/2014/main" id="{47BCD4B2-EB06-C890-0936-626883FFA06A}"/>
              </a:ext>
            </a:extLst>
          </p:cNvPr>
          <p:cNvSpPr/>
          <p:nvPr/>
        </p:nvSpPr>
        <p:spPr>
          <a:xfrm>
            <a:off x="4036632" y="1107447"/>
            <a:ext cx="1429144" cy="34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Predicción DEC</a:t>
            </a:r>
            <a:endParaRPr lang="es-ES" sz="1100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5945352E-0B70-F5B8-433E-93C9E9F09039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3935747" y="1891649"/>
            <a:ext cx="927428" cy="15792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997C5A99-3289-23E9-53D2-83A5F271674E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4731027" y="1449139"/>
            <a:ext cx="20177" cy="3594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Elipse 2">
            <a:extLst>
              <a:ext uri="{FF2B5EF4-FFF2-40B4-BE49-F238E27FC236}">
                <a16:creationId xmlns:a16="http://schemas.microsoft.com/office/drawing/2014/main" id="{D92097DB-B78F-9269-E406-08EBE9007E00}"/>
              </a:ext>
            </a:extLst>
          </p:cNvPr>
          <p:cNvSpPr/>
          <p:nvPr/>
        </p:nvSpPr>
        <p:spPr>
          <a:xfrm>
            <a:off x="3251964" y="1711922"/>
            <a:ext cx="683783" cy="3594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F9B6A33-CA64-5231-7D72-64C6B3E1829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710521" y="3389354"/>
            <a:ext cx="680737" cy="4410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1617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61BD95F8-FF37-F0EB-3EBC-10E7B1BD0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21c03c1d1e6_1_166">
            <a:extLst>
              <a:ext uri="{FF2B5EF4-FFF2-40B4-BE49-F238E27FC236}">
                <a16:creationId xmlns:a16="http://schemas.microsoft.com/office/drawing/2014/main" id="{E91E3C12-A3CA-1553-F8AF-88E49B7CA8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7785"/>
          <a:stretch/>
        </p:blipFill>
        <p:spPr>
          <a:xfrm>
            <a:off x="1137671" y="1512542"/>
            <a:ext cx="6679418" cy="231789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21c03c1d1e6_1_166">
            <a:extLst>
              <a:ext uri="{FF2B5EF4-FFF2-40B4-BE49-F238E27FC236}">
                <a16:creationId xmlns:a16="http://schemas.microsoft.com/office/drawing/2014/main" id="{B688B2DC-1ABC-AA4E-97AF-987A3B1507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Arquitectura enconder-decoder (seq to seq) entrenamiento</a:t>
            </a:r>
            <a:endParaRPr/>
          </a:p>
        </p:txBody>
      </p:sp>
      <p:sp>
        <p:nvSpPr>
          <p:cNvPr id="2" name="Google Shape;278;g21c03c1d1e6_1_166">
            <a:extLst>
              <a:ext uri="{FF2B5EF4-FFF2-40B4-BE49-F238E27FC236}">
                <a16:creationId xmlns:a16="http://schemas.microsoft.com/office/drawing/2014/main" id="{3313D85C-ED0D-6853-ACE1-02ECF83E8DED}"/>
              </a:ext>
            </a:extLst>
          </p:cNvPr>
          <p:cNvSpPr/>
          <p:nvPr/>
        </p:nvSpPr>
        <p:spPr>
          <a:xfrm>
            <a:off x="5707340" y="3658004"/>
            <a:ext cx="1257226" cy="53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Último valor PREDICHO!</a:t>
            </a:r>
            <a:endParaRPr lang="es-ES" sz="1100" dirty="0"/>
          </a:p>
        </p:txBody>
      </p:sp>
      <p:sp>
        <p:nvSpPr>
          <p:cNvPr id="6" name="Google Shape;278;g21c03c1d1e6_1_166">
            <a:extLst>
              <a:ext uri="{FF2B5EF4-FFF2-40B4-BE49-F238E27FC236}">
                <a16:creationId xmlns:a16="http://schemas.microsoft.com/office/drawing/2014/main" id="{737566A3-BE69-8481-4648-F97E20B6DBC3}"/>
              </a:ext>
            </a:extLst>
          </p:cNvPr>
          <p:cNvSpPr/>
          <p:nvPr/>
        </p:nvSpPr>
        <p:spPr>
          <a:xfrm>
            <a:off x="4207616" y="3809811"/>
            <a:ext cx="1164620" cy="53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Último </a:t>
            </a:r>
            <a:r>
              <a:rPr lang="es-ES" sz="15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hidden_state</a:t>
            </a: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DEC</a:t>
            </a:r>
            <a:endParaRPr lang="es-ES" sz="1100" dirty="0"/>
          </a:p>
        </p:txBody>
      </p:sp>
      <p:sp>
        <p:nvSpPr>
          <p:cNvPr id="7" name="Google Shape;278;g21c03c1d1e6_1_166">
            <a:extLst>
              <a:ext uri="{FF2B5EF4-FFF2-40B4-BE49-F238E27FC236}">
                <a16:creationId xmlns:a16="http://schemas.microsoft.com/office/drawing/2014/main" id="{D7E13C95-BCB1-B88A-08FA-0658B4AB0CCE}"/>
              </a:ext>
            </a:extLst>
          </p:cNvPr>
          <p:cNvSpPr/>
          <p:nvPr/>
        </p:nvSpPr>
        <p:spPr>
          <a:xfrm>
            <a:off x="5116037" y="1086822"/>
            <a:ext cx="1429144" cy="34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Predicción DEC</a:t>
            </a:r>
            <a:endParaRPr lang="es-ES" sz="1100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56CF63DE-2267-6E91-B559-D97832428C89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5015152" y="1871024"/>
            <a:ext cx="927428" cy="15792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A3D651BD-9198-849F-012D-4844E535DEF7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5810432" y="1428514"/>
            <a:ext cx="20177" cy="3594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Elipse 2">
            <a:extLst>
              <a:ext uri="{FF2B5EF4-FFF2-40B4-BE49-F238E27FC236}">
                <a16:creationId xmlns:a16="http://schemas.microsoft.com/office/drawing/2014/main" id="{27F2E980-6E32-C70E-E374-8FF49296AEE4}"/>
              </a:ext>
            </a:extLst>
          </p:cNvPr>
          <p:cNvSpPr/>
          <p:nvPr/>
        </p:nvSpPr>
        <p:spPr>
          <a:xfrm>
            <a:off x="4331369" y="1691297"/>
            <a:ext cx="683783" cy="3594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39CF1C43-CF7B-63C6-9718-25B7EC0E4493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789926" y="3368729"/>
            <a:ext cx="680737" cy="4410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9781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47967203-C7D8-F3D2-9DE0-2D7A5B4C6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21c03c1d1e6_1_166">
            <a:extLst>
              <a:ext uri="{FF2B5EF4-FFF2-40B4-BE49-F238E27FC236}">
                <a16:creationId xmlns:a16="http://schemas.microsoft.com/office/drawing/2014/main" id="{76D93DB7-58C5-8B76-DE31-830AD3B0FC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7785"/>
          <a:stretch/>
        </p:blipFill>
        <p:spPr>
          <a:xfrm>
            <a:off x="1137671" y="1512542"/>
            <a:ext cx="6679418" cy="231789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21c03c1d1e6_1_166">
            <a:extLst>
              <a:ext uri="{FF2B5EF4-FFF2-40B4-BE49-F238E27FC236}">
                <a16:creationId xmlns:a16="http://schemas.microsoft.com/office/drawing/2014/main" id="{8EE1274E-6D77-EABE-7378-19E7E2EB9A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Arquitectura enconder-decoder (seq to seq) entrenamiento</a:t>
            </a:r>
            <a:endParaRPr/>
          </a:p>
        </p:txBody>
      </p:sp>
      <p:sp>
        <p:nvSpPr>
          <p:cNvPr id="2" name="Google Shape;278;g21c03c1d1e6_1_166">
            <a:extLst>
              <a:ext uri="{FF2B5EF4-FFF2-40B4-BE49-F238E27FC236}">
                <a16:creationId xmlns:a16="http://schemas.microsoft.com/office/drawing/2014/main" id="{54EE10A5-F951-DE06-9647-8C2CF043A8C9}"/>
              </a:ext>
            </a:extLst>
          </p:cNvPr>
          <p:cNvSpPr/>
          <p:nvPr/>
        </p:nvSpPr>
        <p:spPr>
          <a:xfrm>
            <a:off x="6924248" y="3671754"/>
            <a:ext cx="1257226" cy="53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Último valor PREDICHO!</a:t>
            </a:r>
            <a:endParaRPr lang="es-ES" sz="1100" dirty="0"/>
          </a:p>
        </p:txBody>
      </p:sp>
      <p:sp>
        <p:nvSpPr>
          <p:cNvPr id="6" name="Google Shape;278;g21c03c1d1e6_1_166">
            <a:extLst>
              <a:ext uri="{FF2B5EF4-FFF2-40B4-BE49-F238E27FC236}">
                <a16:creationId xmlns:a16="http://schemas.microsoft.com/office/drawing/2014/main" id="{E73CD117-CC6B-5048-67F9-2A68FB383127}"/>
              </a:ext>
            </a:extLst>
          </p:cNvPr>
          <p:cNvSpPr/>
          <p:nvPr/>
        </p:nvSpPr>
        <p:spPr>
          <a:xfrm>
            <a:off x="5424524" y="3823561"/>
            <a:ext cx="1164620" cy="53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Último </a:t>
            </a:r>
            <a:r>
              <a:rPr lang="es-ES" sz="15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hidden_state</a:t>
            </a: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DEC</a:t>
            </a:r>
            <a:endParaRPr lang="es-ES" sz="1100" dirty="0"/>
          </a:p>
        </p:txBody>
      </p:sp>
      <p:sp>
        <p:nvSpPr>
          <p:cNvPr id="7" name="Google Shape;278;g21c03c1d1e6_1_166">
            <a:extLst>
              <a:ext uri="{FF2B5EF4-FFF2-40B4-BE49-F238E27FC236}">
                <a16:creationId xmlns:a16="http://schemas.microsoft.com/office/drawing/2014/main" id="{ECEE65BC-1843-138D-4B5A-0585F87CD697}"/>
              </a:ext>
            </a:extLst>
          </p:cNvPr>
          <p:cNvSpPr/>
          <p:nvPr/>
        </p:nvSpPr>
        <p:spPr>
          <a:xfrm>
            <a:off x="6332945" y="1100572"/>
            <a:ext cx="1429144" cy="34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Predicción DEC</a:t>
            </a:r>
            <a:endParaRPr lang="es-ES" sz="1100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00908455-BA99-20C0-45AB-183872ADB3F3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6232060" y="1884774"/>
            <a:ext cx="927428" cy="15792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414044FA-51FE-D88E-AE81-60B821709302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7027340" y="1442264"/>
            <a:ext cx="20177" cy="3594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Elipse 2">
            <a:extLst>
              <a:ext uri="{FF2B5EF4-FFF2-40B4-BE49-F238E27FC236}">
                <a16:creationId xmlns:a16="http://schemas.microsoft.com/office/drawing/2014/main" id="{5B4070B7-1F1F-7E00-624F-3EAADD6381B7}"/>
              </a:ext>
            </a:extLst>
          </p:cNvPr>
          <p:cNvSpPr/>
          <p:nvPr/>
        </p:nvSpPr>
        <p:spPr>
          <a:xfrm>
            <a:off x="5548277" y="1705047"/>
            <a:ext cx="683783" cy="3594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0EEEB86-86E6-9F9F-AF9B-759E09F5A8A8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6006834" y="3382479"/>
            <a:ext cx="680737" cy="4410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" name="Google Shape;278;g21c03c1d1e6_1_166">
            <a:extLst>
              <a:ext uri="{FF2B5EF4-FFF2-40B4-BE49-F238E27FC236}">
                <a16:creationId xmlns:a16="http://schemas.microsoft.com/office/drawing/2014/main" id="{2EC8C30C-7925-E2E3-E04F-6B762985DB6A}"/>
              </a:ext>
            </a:extLst>
          </p:cNvPr>
          <p:cNvSpPr/>
          <p:nvPr/>
        </p:nvSpPr>
        <p:spPr>
          <a:xfrm>
            <a:off x="7487303" y="1527558"/>
            <a:ext cx="1429144" cy="1051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 nuestro caso, predecimos 10 muestras a futuro (algo fijo)</a:t>
            </a:r>
            <a:endParaRPr lang="es-ES" sz="1100" dirty="0"/>
          </a:p>
        </p:txBody>
      </p:sp>
      <p:sp>
        <p:nvSpPr>
          <p:cNvPr id="10" name="Google Shape;302;g21c03c1d1e6_1_187">
            <a:extLst>
              <a:ext uri="{FF2B5EF4-FFF2-40B4-BE49-F238E27FC236}">
                <a16:creationId xmlns:a16="http://schemas.microsoft.com/office/drawing/2014/main" id="{4D5EAA44-23CD-D2F7-CE42-7B5D10984928}"/>
              </a:ext>
            </a:extLst>
          </p:cNvPr>
          <p:cNvSpPr txBox="1"/>
          <p:nvPr/>
        </p:nvSpPr>
        <p:spPr>
          <a:xfrm>
            <a:off x="2814761" y="4606398"/>
            <a:ext cx="3679984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n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colab RNN_enc_dec.ipynb</a:t>
            </a:r>
            <a:endParaRPr sz="18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735713991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1606</TotalTime>
  <Words>1581</Words>
  <Application>Microsoft Office PowerPoint</Application>
  <PresentationFormat>On-screen Show (16:9)</PresentationFormat>
  <Paragraphs>313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Tw Cen MT</vt:lpstr>
      <vt:lpstr>Arial</vt:lpstr>
      <vt:lpstr>Times New Roman</vt:lpstr>
      <vt:lpstr>Cambria Math</vt:lpstr>
      <vt:lpstr>Consolas</vt:lpstr>
      <vt:lpstr>Twentieth Century</vt:lpstr>
      <vt:lpstr>Roboto</vt:lpstr>
      <vt:lpstr>Material</vt:lpstr>
      <vt:lpstr>Aprendizaje Profundo</vt:lpstr>
      <vt:lpstr>Redes Recurrentes Recurrent Neural Network (RNN)</vt:lpstr>
      <vt:lpstr>Redes recurrentes - Introducción</vt:lpstr>
      <vt:lpstr>Redes recurrentes - Introducción</vt:lpstr>
      <vt:lpstr>Redes recurrentes - Neurona recurrente básica - ecuaciones</vt:lpstr>
      <vt:lpstr>Redes recurrentes - Neurona recurrente básica - ecuaciones</vt:lpstr>
      <vt:lpstr>Redes recurrentes - Neurona recurrente básica – ejemplo de cálculo</vt:lpstr>
      <vt:lpstr>Redes recurrentes - Implementación en pytorch</vt:lpstr>
      <vt:lpstr>Redes recurrentes - Birideccionalidad</vt:lpstr>
      <vt:lpstr>Redes recurrentes - Implementación en pytorch</vt:lpstr>
      <vt:lpstr>Redes recurrentes - Implementación en pytorch</vt:lpstr>
      <vt:lpstr>Redes recurrentes - Implementación en pytorch</vt:lpstr>
      <vt:lpstr>Redes recurrentes - Implementación en pytorch</vt:lpstr>
      <vt:lpstr>Redes recurrentes - Implementación en pytorch</vt:lpstr>
      <vt:lpstr>Redes recurrentes - Implementación en pytorch</vt:lpstr>
      <vt:lpstr>Redes recurrentes - Implementación en pytorch</vt:lpstr>
      <vt:lpstr>Redes recurrentes - Implementación de modelos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Implementación en pytorch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¡Un merecido descanso! </vt:lpstr>
      <vt:lpstr>Redes recurrentes - Arquitectura enconder-decoder (seq to seq)</vt:lpstr>
      <vt:lpstr>Redes recurrentes - Arquitectura enconder-decoder (seq to seq)</vt:lpstr>
      <vt:lpstr>Redes recurrentes - Arquitectura enconder-decoder (seq to seq) entrenamiento</vt:lpstr>
      <vt:lpstr>Redes recurrentes - Arquitectura enconder-decoder (seq to seq)</vt:lpstr>
      <vt:lpstr>Redes recurrentes - Implementación de modelos enconder-decoder</vt:lpstr>
      <vt:lpstr>Redes recurrentes - Arquitectura enconder-decoder (seq to seq) entrenamiento</vt:lpstr>
      <vt:lpstr>Redes recurrentes - Arquitectura enconder-decoder (seq to seq) entrenamiento</vt:lpstr>
      <vt:lpstr>Redes recurrentes - Arquitectura enconder-decoder (seq to seq) entrenamiento</vt:lpstr>
      <vt:lpstr>Redes recurrentes - Arquitectura enconder-decoder (seq to seq) entrenamiento</vt:lpstr>
      <vt:lpstr>Redes recurrentes - Arquitectura enconder-decoder (seq to seq) entrenamiento</vt:lpstr>
      <vt:lpstr>Redes recurrentes - Arquitectura enconder-decoder (seq to seq) entrenamiento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Marcos Maillot</cp:lastModifiedBy>
  <cp:revision>4</cp:revision>
  <dcterms:modified xsi:type="dcterms:W3CDTF">2026-09-29T22:03:38Z</dcterms:modified>
</cp:coreProperties>
</file>