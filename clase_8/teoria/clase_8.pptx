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89" r:id="rId9"/>
    <p:sldId id="265" r:id="rId10"/>
    <p:sldId id="262" r:id="rId11"/>
    <p:sldId id="263" r:id="rId12"/>
    <p:sldId id="266" r:id="rId13"/>
    <p:sldId id="276" r:id="rId14"/>
    <p:sldId id="267" r:id="rId15"/>
    <p:sldId id="268" r:id="rId16"/>
    <p:sldId id="270" r:id="rId17"/>
    <p:sldId id="279" r:id="rId18"/>
    <p:sldId id="277" r:id="rId19"/>
    <p:sldId id="280" r:id="rId20"/>
    <p:sldId id="282" r:id="rId21"/>
    <p:sldId id="281" r:id="rId22"/>
    <p:sldId id="283" r:id="rId23"/>
    <p:sldId id="284" r:id="rId24"/>
    <p:sldId id="287" r:id="rId25"/>
    <p:sldId id="285" r:id="rId26"/>
    <p:sldId id="286" r:id="rId27"/>
    <p:sldId id="288" r:id="rId28"/>
    <p:sldId id="272" r:id="rId29"/>
    <p:sldId id="273" r:id="rId30"/>
    <p:sldId id="274" r:id="rId31"/>
    <p:sldId id="275" r:id="rId32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4"/>
    </p:embeddedFont>
    <p:embeddedFont>
      <p:font typeface="Consolas" panose="020B0609020204030204" pitchFamily="49" charset="0"/>
      <p:regular r:id="rId35"/>
      <p:bold r:id="rId36"/>
      <p:italic r:id="rId37"/>
      <p:boldItalic r:id="rId38"/>
    </p:embeddedFont>
    <p:embeddedFont>
      <p:font typeface="Roboto" panose="02000000000000000000" pitchFamily="2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3" roundtripDataSignature="AMtx7miTlHx5yX8y6UIlPPbgbTlcU6qf9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customschemas.google.com/relationships/presentationmetadata" Target="metadata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8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152A8D8E-FC9A-4326-9172-4A160D290924}"/>
    <pc:docChg chg="modSld">
      <pc:chgData name="Marcos Maillot" userId="fa14b39d-e966-4ebb-a436-4f96f84b9577" providerId="ADAL" clId="{152A8D8E-FC9A-4326-9172-4A160D290924}" dt="2026-04-22T00:40:28.226" v="3" actId="20577"/>
      <pc:docMkLst>
        <pc:docMk/>
      </pc:docMkLst>
      <pc:sldChg chg="addSp modSp mod">
        <pc:chgData name="Marcos Maillot" userId="fa14b39d-e966-4ebb-a436-4f96f84b9577" providerId="ADAL" clId="{152A8D8E-FC9A-4326-9172-4A160D290924}" dt="2026-04-21T22:52:53.473" v="1" actId="13822"/>
        <pc:sldMkLst>
          <pc:docMk/>
          <pc:sldMk cId="0" sldId="264"/>
        </pc:sldMkLst>
        <pc:cxnChg chg="add mod">
          <ac:chgData name="Marcos Maillot" userId="fa14b39d-e966-4ebb-a436-4f96f84b9577" providerId="ADAL" clId="{152A8D8E-FC9A-4326-9172-4A160D290924}" dt="2026-04-21T22:52:53.473" v="1" actId="13822"/>
          <ac:cxnSpMkLst>
            <pc:docMk/>
            <pc:sldMk cId="0" sldId="264"/>
            <ac:cxnSpMk id="4" creationId="{37719482-AA8E-A7D1-5DCC-DB2C15890F9D}"/>
          </ac:cxnSpMkLst>
        </pc:cxnChg>
      </pc:sldChg>
      <pc:sldChg chg="modSp mod">
        <pc:chgData name="Marcos Maillot" userId="fa14b39d-e966-4ebb-a436-4f96f84b9577" providerId="ADAL" clId="{152A8D8E-FC9A-4326-9172-4A160D290924}" dt="2026-04-22T00:40:28.226" v="3" actId="20577"/>
        <pc:sldMkLst>
          <pc:docMk/>
          <pc:sldMk cId="496538030" sldId="287"/>
        </pc:sldMkLst>
        <pc:spChg chg="mod">
          <ac:chgData name="Marcos Maillot" userId="fa14b39d-e966-4ebb-a436-4f96f84b9577" providerId="ADAL" clId="{152A8D8E-FC9A-4326-9172-4A160D290924}" dt="2026-04-22T00:40:28.226" v="3" actId="20577"/>
          <ac:spMkLst>
            <pc:docMk/>
            <pc:sldMk cId="496538030" sldId="287"/>
            <ac:spMk id="10" creationId="{8942D241-EF00-8ECB-9A4D-3201CC955A9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20569f7507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20569f7507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20569f7507_1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g220569f7507_1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20569f7507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g220569f7507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20569f7507_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220569f7507_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20569f7507_1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g220569f7507_1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>
          <a:extLst>
            <a:ext uri="{FF2B5EF4-FFF2-40B4-BE49-F238E27FC236}">
              <a16:creationId xmlns:a16="http://schemas.microsoft.com/office/drawing/2014/main" id="{70D60262-53BE-A31F-0E87-9EE48D4A2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20569f7507_1_58:notes">
            <a:extLst>
              <a:ext uri="{FF2B5EF4-FFF2-40B4-BE49-F238E27FC236}">
                <a16:creationId xmlns:a16="http://schemas.microsoft.com/office/drawing/2014/main" id="{FC6CC617-624E-253E-BC1F-F2ADF62AFB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g220569f7507_1_58:notes">
            <a:extLst>
              <a:ext uri="{FF2B5EF4-FFF2-40B4-BE49-F238E27FC236}">
                <a16:creationId xmlns:a16="http://schemas.microsoft.com/office/drawing/2014/main" id="{C3A2C141-FCAD-8E5D-F487-F0977380D7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06874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20569f7507_1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g220569f7507_1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20569f7507_1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g220569f7507_1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20569f7507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g220569f7507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20569f7507_1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g220569f7507_1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>
          <a:extLst>
            <a:ext uri="{FF2B5EF4-FFF2-40B4-BE49-F238E27FC236}">
              <a16:creationId xmlns:a16="http://schemas.microsoft.com/office/drawing/2014/main" id="{221A1879-2E44-5792-0D93-E96EE640D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20569f7507_1_129:notes">
            <a:extLst>
              <a:ext uri="{FF2B5EF4-FFF2-40B4-BE49-F238E27FC236}">
                <a16:creationId xmlns:a16="http://schemas.microsoft.com/office/drawing/2014/main" id="{F2A404AD-DD5B-70E3-471D-A5DBA47F22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g220569f7507_1_129:notes">
            <a:extLst>
              <a:ext uri="{FF2B5EF4-FFF2-40B4-BE49-F238E27FC236}">
                <a16:creationId xmlns:a16="http://schemas.microsoft.com/office/drawing/2014/main" id="{676E64D4-E608-D8C8-0805-4CD7A6B219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50534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20569f7507_1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g220569f7507_1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20569f7507_1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g220569f7507_1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20569f7507_1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20569f7507_1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5E35F0FC-1D34-97CF-D03D-A11563767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20569f7507_1_154:notes">
            <a:extLst>
              <a:ext uri="{FF2B5EF4-FFF2-40B4-BE49-F238E27FC236}">
                <a16:creationId xmlns:a16="http://schemas.microsoft.com/office/drawing/2014/main" id="{5A46CD1D-7E77-C4CF-8C7E-D795E0D250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20569f7507_1_154:notes">
            <a:extLst>
              <a:ext uri="{FF2B5EF4-FFF2-40B4-BE49-F238E27FC236}">
                <a16:creationId xmlns:a16="http://schemas.microsoft.com/office/drawing/2014/main" id="{466A0C52-5B8D-E741-156F-EE2F00B3F4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06988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22D88B79-09AE-7890-1DEE-519042BD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E1F92B08-F286-0DC9-0C1F-CD6EBD044D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09051D2C-EB3A-4F4A-2199-DABA9E007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89156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32A47DB7-3E53-8DC9-E4DE-2E24C80AF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9EE5F0C6-BA2F-6757-B892-10E0EED707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316685EC-8797-926C-6C6E-925A270EE6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86841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B7D11466-8DA2-D427-CAB2-3045095AB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3B552CDE-1EA3-45C8-BBB8-655DE1A54E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975EE83C-BC78-394E-1B6E-EE99BAD48D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046601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3BE3F212-7E99-B338-E3FA-7A72AFD94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4C6DA826-65B8-4CFF-71DA-24AC3BB36D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33D9940C-3146-BE31-BF2F-F654BF8389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69887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16F9C7A1-3E7C-0775-85B3-1B4F09EC9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A59308E1-172E-49FB-70ED-5F1A68C0E0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4E9D069B-1367-4C16-B823-99D76D5A65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45431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2BA1C75F-5813-1393-1287-8DF1484E2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CDDBE5EE-3669-DC66-FCC2-66C14859E2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CD4C51B5-63AA-6837-3924-7C59FF54A2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08348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930AD179-A2F6-BB19-86E1-83168140B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FA3A1F15-93B4-CCDD-B65A-5F1CA4E85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081BDA9D-475A-B601-33E8-3B7666AF5D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5592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11A20F22-DDD4-8AC5-90C1-7DE674A27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107F57D5-0ECC-7180-54F3-E20A2968F2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3D2FF015-2732-25BB-1056-EB398EE524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6091216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F2D7B86E-1B48-4778-854D-C157B3CB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AE7C5557-24B8-DD61-F355-6FAE0FA5CE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EEE47C07-033A-30A5-26F6-09D310C7F2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686662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10B8D854-2B53-478F-039C-35304922B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B3A3588C-A7C8-4686-F403-E3DB13B4AC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ED2C6846-A5CC-BBF9-A2D2-620AB86EF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7956843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20569f7507_1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20569f7507_1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20569f7507_1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g220569f7507_1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20569f7507_1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g220569f7507_1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43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7058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4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5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7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8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8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9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0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1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1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2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52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5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1c03c1d1e6_1_13"/>
          <p:cNvSpPr txBox="1"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g21c03c1d1e6_1_13"/>
          <p:cNvSpPr txBox="1">
            <a:spLocks noGrp="1"/>
          </p:cNvSpPr>
          <p:nvPr>
            <p:ph type="body" idx="1"/>
          </p:nvPr>
        </p:nvSpPr>
        <p:spPr>
          <a:xfrm>
            <a:off x="856059" y="1687115"/>
            <a:ext cx="7429499" cy="265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1pPr>
            <a:lvl2pPr marL="914400" lvl="1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2pPr>
            <a:lvl3pPr marL="1371600" lvl="2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3pPr>
            <a:lvl4pPr marL="1828800" lvl="3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4pPr>
            <a:lvl5pPr marL="2286000" lvl="4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5pPr>
            <a:lvl6pPr marL="2743200" lvl="5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6pPr>
            <a:lvl7pPr marL="3200400" lvl="6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7pPr>
            <a:lvl8pPr marL="3657600" lvl="7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8pPr>
            <a:lvl9pPr marL="4114800" lvl="8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g21c03c1d1e6_1_13"/>
          <p:cNvSpPr txBox="1">
            <a:spLocks noGrp="1"/>
          </p:cNvSpPr>
          <p:nvPr>
            <p:ph type="dt" idx="10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" name="Google Shape;67;g21c03c1d1e6_1_13"/>
          <p:cNvSpPr txBox="1">
            <a:spLocks noGrp="1"/>
          </p:cNvSpPr>
          <p:nvPr>
            <p:ph type="ftr" idx="11"/>
          </p:nvPr>
        </p:nvSpPr>
        <p:spPr>
          <a:xfrm>
            <a:off x="856058" y="4412456"/>
            <a:ext cx="467948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8" name="Google Shape;68;g21c03c1d1e6_1_13"/>
          <p:cNvSpPr txBox="1">
            <a:spLocks noGrp="1"/>
          </p:cNvSpPr>
          <p:nvPr>
            <p:ph type="sldNum" idx="12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4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74" name="Google Shape;74;p1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75" name="Google Shape;75;p1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</a:t>
            </a:r>
            <a:r>
              <a:rPr lang="pt-BR" sz="2600" dirty="0"/>
              <a:t>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Gerardo Vilcamiza</a:t>
            </a:r>
            <a:endParaRPr sz="2600" dirty="0"/>
          </a:p>
        </p:txBody>
      </p:sp>
      <p:pic>
        <p:nvPicPr>
          <p:cNvPr id="76" name="Google Shape;7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"/>
          <p:cNvSpPr txBox="1">
            <a:spLocks noGrp="1"/>
          </p:cNvSpPr>
          <p:nvPr>
            <p:ph type="title"/>
          </p:nvPr>
        </p:nvSpPr>
        <p:spPr>
          <a:xfrm>
            <a:off x="460950" y="303000"/>
            <a:ext cx="8222100" cy="9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ts val="2600"/>
              <a:buNone/>
            </a:pPr>
            <a:r>
              <a:rPr lang="en" sz="2100"/>
              <a:t>TRANSFER LEARNING</a:t>
            </a:r>
            <a:endParaRPr sz="2100"/>
          </a:p>
          <a:p>
            <a:pPr marL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ts val="2600"/>
              <a:buNone/>
            </a:pPr>
            <a:r>
              <a:rPr lang="en" sz="2100"/>
              <a:t>GENERATIVE ADVERSARIAL NETWORKS</a:t>
            </a:r>
            <a:endParaRPr sz="2100"/>
          </a:p>
        </p:txBody>
      </p:sp>
      <p:sp>
        <p:nvSpPr>
          <p:cNvPr id="82" name="Google Shape;82;p2"/>
          <p:cNvSpPr txBox="1">
            <a:spLocks noGrp="1"/>
          </p:cNvSpPr>
          <p:nvPr>
            <p:ph type="body" idx="1"/>
          </p:nvPr>
        </p:nvSpPr>
        <p:spPr>
          <a:xfrm>
            <a:off x="1381375" y="1986025"/>
            <a:ext cx="24213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Transfer learning</a:t>
            </a:r>
            <a:endParaRPr dirty="0">
              <a:solidFill>
                <a:schemeClr val="dk2"/>
              </a:solidFill>
            </a:endParaRPr>
          </a:p>
          <a:p>
            <a:pPr>
              <a:buClr>
                <a:schemeClr val="dk2"/>
              </a:buClr>
              <a:buFont typeface="Roboto"/>
              <a:buChar char="-"/>
            </a:pPr>
            <a:r>
              <a:rPr lang="en" dirty="0">
                <a:solidFill>
                  <a:schemeClr val="dk2"/>
                </a:solidFill>
              </a:rPr>
              <a:t>Ventajas</a:t>
            </a:r>
            <a:endParaRPr dirty="0">
              <a:solidFill>
                <a:schemeClr val="dk2"/>
              </a:solidFill>
            </a:endParaRPr>
          </a:p>
          <a:p>
            <a:pPr>
              <a:buClr>
                <a:schemeClr val="dk2"/>
              </a:buClr>
              <a:buFont typeface="Roboto"/>
              <a:buChar char="-"/>
            </a:pPr>
            <a:r>
              <a:rPr lang="en" dirty="0">
                <a:solidFill>
                  <a:schemeClr val="dk2"/>
                </a:solidFill>
              </a:rPr>
              <a:t>Estrategias</a:t>
            </a:r>
            <a:endParaRPr dirty="0">
              <a:solidFill>
                <a:schemeClr val="dk2"/>
              </a:solidFill>
            </a:endParaRPr>
          </a:p>
          <a:p>
            <a:pPr>
              <a:buClr>
                <a:schemeClr val="dk2"/>
              </a:buClr>
              <a:buFont typeface="Roboto"/>
              <a:buChar char="-"/>
            </a:pPr>
            <a:r>
              <a:rPr lang="en" dirty="0">
                <a:solidFill>
                  <a:schemeClr val="dk2"/>
                </a:solidFill>
              </a:rPr>
              <a:t>Ejemplo en colab</a:t>
            </a:r>
            <a:endParaRPr dirty="0">
              <a:solidFill>
                <a:schemeClr val="dk2"/>
              </a:solidFill>
            </a:endParaRPr>
          </a:p>
        </p:txBody>
      </p:sp>
      <p:pic>
        <p:nvPicPr>
          <p:cNvPr id="83" name="Google Shape;8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body" idx="1"/>
          </p:nvPr>
        </p:nvSpPr>
        <p:spPr>
          <a:xfrm>
            <a:off x="4512875" y="1986025"/>
            <a:ext cx="37923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Generative adversarial networks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Introducción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Usos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Ejemplo en colab</a:t>
            </a:r>
            <a:endParaRPr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20569f7507_1_8"/>
          <p:cNvSpPr txBox="1"/>
          <p:nvPr/>
        </p:nvSpPr>
        <p:spPr>
          <a:xfrm>
            <a:off x="2842355" y="139148"/>
            <a:ext cx="3459290" cy="606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</a:t>
            </a:r>
            <a:endParaRPr sz="24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90" name="Google Shape;90;g220569f7507_1_8"/>
          <p:cNvSpPr txBox="1"/>
          <p:nvPr/>
        </p:nvSpPr>
        <p:spPr>
          <a:xfrm>
            <a:off x="251252" y="1047586"/>
            <a:ext cx="8641496" cy="3723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342900" marR="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 se suele diseñar y entrenar un modelo desde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CERO</a:t>
            </a:r>
            <a:endParaRPr sz="1100">
              <a:solidFill>
                <a:schemeClr val="dk2"/>
              </a:solidFill>
            </a:endParaRPr>
          </a:p>
          <a:p>
            <a:pPr marL="342900" marR="0" lvl="0" indent="-203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1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365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emplean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modelos existentes y probados 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 sus parámetros ya entrenados.</a:t>
            </a:r>
            <a:endParaRPr sz="1100">
              <a:solidFill>
                <a:schemeClr val="dk2"/>
              </a:solidFill>
            </a:endParaRPr>
          </a:p>
          <a:p>
            <a:pPr marL="342900" marR="0" lvl="0" indent="-203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365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Normalmente, los modelos que se toma de “base” cumplen una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tarea genérica.</a:t>
            </a:r>
            <a:endParaRPr sz="1100">
              <a:solidFill>
                <a:schemeClr val="dk2"/>
              </a:solidFill>
            </a:endParaRPr>
          </a:p>
          <a:p>
            <a:pPr marL="342900" marR="0" lvl="0" indent="-203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365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Al modelo “base” se le hacen los ajuste necesarios para  la nueva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tarea específica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que deben cumplir.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20569f7507_1_13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</a:t>
            </a:r>
            <a:endParaRPr sz="24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96" name="Google Shape;96;g220569f7507_1_13"/>
          <p:cNvSpPr txBox="1"/>
          <p:nvPr/>
        </p:nvSpPr>
        <p:spPr>
          <a:xfrm>
            <a:off x="358402" y="1752325"/>
            <a:ext cx="2307000" cy="8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Ventajas: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97" name="Google Shape;97;g220569f7507_1_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51176" y="1861852"/>
            <a:ext cx="6216801" cy="3017275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20569f7507_1_13"/>
          <p:cNvSpPr/>
          <p:nvPr/>
        </p:nvSpPr>
        <p:spPr>
          <a:xfrm>
            <a:off x="251252" y="2643357"/>
            <a:ext cx="3602700" cy="14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pocos datos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pre-trained models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pre-trained embeddings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Simulations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Cambio de dominio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20569f7507_1_20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4" name="Google Shape;104;g220569f7507_1_20"/>
          <p:cNvSpPr txBox="1"/>
          <p:nvPr/>
        </p:nvSpPr>
        <p:spPr>
          <a:xfrm>
            <a:off x="179650" y="1253975"/>
            <a:ext cx="2034000" cy="19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Adaptación de modelo base para cumplir la tarea específica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105" name="Google Shape;105;g220569f7507_1_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13654" y="922053"/>
            <a:ext cx="4987799" cy="3299382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g220569f7507_1_20"/>
          <p:cNvSpPr txBox="1"/>
          <p:nvPr/>
        </p:nvSpPr>
        <p:spPr>
          <a:xfrm>
            <a:off x="1949457" y="4474836"/>
            <a:ext cx="5516217" cy="393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reentrena la nueva arquitectura con el dataset específico bajo la tarea específica a cumplir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220569f7507_1_27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¿Qué estrategia usar?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112" name="Google Shape;112;g220569f7507_1_27"/>
          <p:cNvCxnSpPr/>
          <p:nvPr/>
        </p:nvCxnSpPr>
        <p:spPr>
          <a:xfrm>
            <a:off x="914400" y="2782957"/>
            <a:ext cx="6927574" cy="0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13" name="Google Shape;113;g220569f7507_1_27"/>
          <p:cNvCxnSpPr/>
          <p:nvPr/>
        </p:nvCxnSpPr>
        <p:spPr>
          <a:xfrm>
            <a:off x="4204252" y="814403"/>
            <a:ext cx="0" cy="3754562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4" name="Google Shape;114;g220569f7507_1_27"/>
          <p:cNvSpPr txBox="1"/>
          <p:nvPr/>
        </p:nvSpPr>
        <p:spPr>
          <a:xfrm>
            <a:off x="44164" y="2463339"/>
            <a:ext cx="13419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pequeño 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5" name="Google Shape;115;g220569f7507_1_27"/>
          <p:cNvSpPr txBox="1"/>
          <p:nvPr/>
        </p:nvSpPr>
        <p:spPr>
          <a:xfrm>
            <a:off x="7890367" y="2399926"/>
            <a:ext cx="12672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grande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g220569f7507_1_27"/>
          <p:cNvSpPr txBox="1"/>
          <p:nvPr/>
        </p:nvSpPr>
        <p:spPr>
          <a:xfrm>
            <a:off x="3858557" y="579789"/>
            <a:ext cx="1911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semejante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7" name="Google Shape;117;g220569f7507_1_27"/>
          <p:cNvSpPr txBox="1"/>
          <p:nvPr/>
        </p:nvSpPr>
        <p:spPr>
          <a:xfrm>
            <a:off x="3733702" y="4568966"/>
            <a:ext cx="16488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distinto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g220569f7507_1_27"/>
          <p:cNvSpPr txBox="1"/>
          <p:nvPr/>
        </p:nvSpPr>
        <p:spPr>
          <a:xfrm>
            <a:off x="1394564" y="579812"/>
            <a:ext cx="149584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9" name="Google Shape;119;g220569f7507_1_27"/>
          <p:cNvSpPr txBox="1"/>
          <p:nvPr/>
        </p:nvSpPr>
        <p:spPr>
          <a:xfrm>
            <a:off x="6453683" y="533247"/>
            <a:ext cx="123245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0" name="Google Shape;120;g220569f7507_1_27"/>
          <p:cNvSpPr txBox="1"/>
          <p:nvPr/>
        </p:nvSpPr>
        <p:spPr>
          <a:xfrm>
            <a:off x="231521" y="4287688"/>
            <a:ext cx="1809000" cy="7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 desde menor profundidad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1" name="Google Shape;121;g220569f7507_1_27"/>
          <p:cNvSpPr txBox="1"/>
          <p:nvPr/>
        </p:nvSpPr>
        <p:spPr>
          <a:xfrm>
            <a:off x="6821251" y="4520942"/>
            <a:ext cx="213823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 (from pre-trained models)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122" name="Google Shape;122;g220569f7507_1_27"/>
          <p:cNvGrpSpPr/>
          <p:nvPr/>
        </p:nvGrpSpPr>
        <p:grpSpPr>
          <a:xfrm>
            <a:off x="5712752" y="756097"/>
            <a:ext cx="2347622" cy="1899005"/>
            <a:chOff x="989692" y="2516687"/>
            <a:chExt cx="4698135" cy="4095829"/>
          </a:xfrm>
        </p:grpSpPr>
        <p:pic>
          <p:nvPicPr>
            <p:cNvPr id="123" name="Google Shape;123;g220569f7507_1_2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4" name="Google Shape;124;g220569f7507_1_27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25" name="Google Shape;125;g220569f7507_1_27"/>
            <p:cNvSpPr txBox="1"/>
            <p:nvPr/>
          </p:nvSpPr>
          <p:spPr>
            <a:xfrm>
              <a:off x="2763762" y="6015076"/>
              <a:ext cx="2095092" cy="5974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reentrenar</a:t>
              </a:r>
              <a:endParaRPr sz="1100"/>
            </a:p>
          </p:txBody>
        </p:sp>
      </p:grpSp>
      <p:grpSp>
        <p:nvGrpSpPr>
          <p:cNvPr id="126" name="Google Shape;126;g220569f7507_1_27"/>
          <p:cNvGrpSpPr/>
          <p:nvPr/>
        </p:nvGrpSpPr>
        <p:grpSpPr>
          <a:xfrm>
            <a:off x="854585" y="846167"/>
            <a:ext cx="2320231" cy="1808395"/>
            <a:chOff x="1139447" y="1128222"/>
            <a:chExt cx="4698135" cy="4213175"/>
          </a:xfrm>
        </p:grpSpPr>
        <p:pic>
          <p:nvPicPr>
            <p:cNvPr id="127" name="Google Shape;127;g220569f7507_1_27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39447" y="1128222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8" name="Google Shape;128;g220569f7507_1_27"/>
            <p:cNvSpPr/>
            <p:nvPr/>
          </p:nvSpPr>
          <p:spPr>
            <a:xfrm rot="-5400000">
              <a:off x="3866949" y="3979243"/>
              <a:ext cx="466924" cy="827809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29" name="Google Shape;129;g220569f7507_1_27"/>
            <p:cNvSpPr txBox="1"/>
            <p:nvPr/>
          </p:nvSpPr>
          <p:spPr>
            <a:xfrm>
              <a:off x="3454962" y="4696048"/>
              <a:ext cx="1597579" cy="6453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entrenar</a:t>
              </a:r>
              <a:endParaRPr sz="1100"/>
            </a:p>
          </p:txBody>
        </p:sp>
      </p:grpSp>
      <p:pic>
        <p:nvPicPr>
          <p:cNvPr id="130" name="Google Shape;130;g220569f7507_1_2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59877" y="2950618"/>
            <a:ext cx="2378053" cy="157250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g220569f7507_1_27"/>
          <p:cNvSpPr/>
          <p:nvPr/>
        </p:nvSpPr>
        <p:spPr>
          <a:xfrm rot="-5400000">
            <a:off x="2732372" y="4325651"/>
            <a:ext cx="200415" cy="408824"/>
          </a:xfrm>
          <a:prstGeom prst="leftBrace">
            <a:avLst>
              <a:gd name="adj1" fmla="val 8333"/>
              <a:gd name="adj2" fmla="val 50000"/>
            </a:avLst>
          </a:prstGeom>
          <a:noFill/>
          <a:ln w="222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g220569f7507_1_27"/>
          <p:cNvSpPr txBox="1"/>
          <p:nvPr/>
        </p:nvSpPr>
        <p:spPr>
          <a:xfrm>
            <a:off x="2495725" y="4603590"/>
            <a:ext cx="107092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entrenar</a:t>
            </a:r>
            <a:endParaRPr sz="1100"/>
          </a:p>
        </p:txBody>
      </p:sp>
      <p:grpSp>
        <p:nvGrpSpPr>
          <p:cNvPr id="133" name="Google Shape;133;g220569f7507_1_27"/>
          <p:cNvGrpSpPr/>
          <p:nvPr/>
        </p:nvGrpSpPr>
        <p:grpSpPr>
          <a:xfrm>
            <a:off x="4661343" y="3001016"/>
            <a:ext cx="2347622" cy="1899005"/>
            <a:chOff x="989692" y="2516687"/>
            <a:chExt cx="4698135" cy="4095829"/>
          </a:xfrm>
        </p:grpSpPr>
        <p:pic>
          <p:nvPicPr>
            <p:cNvPr id="134" name="Google Shape;134;g220569f7507_1_2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5" name="Google Shape;135;g220569f7507_1_27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36" name="Google Shape;136;g220569f7507_1_27"/>
            <p:cNvSpPr txBox="1"/>
            <p:nvPr/>
          </p:nvSpPr>
          <p:spPr>
            <a:xfrm>
              <a:off x="2763762" y="6015076"/>
              <a:ext cx="2095092" cy="5974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reentrenar</a:t>
              </a:r>
              <a:endParaRPr sz="1100"/>
            </a:p>
          </p:txBody>
        </p:sp>
      </p:grpSp>
      <p:pic>
        <p:nvPicPr>
          <p:cNvPr id="137" name="Google Shape;137;g220569f7507_1_27" descr="Imagen que contiene Gráfico de líneas&#10;&#10;Descripción generada automáticamente"/>
          <p:cNvPicPr preferRelativeResize="0"/>
          <p:nvPr/>
        </p:nvPicPr>
        <p:blipFill rotWithShape="1">
          <a:blip r:embed="rId6">
            <a:alphaModFix/>
          </a:blip>
          <a:srcRect l="21184" r="25224"/>
          <a:stretch/>
        </p:blipFill>
        <p:spPr>
          <a:xfrm>
            <a:off x="7350406" y="3199615"/>
            <a:ext cx="1742942" cy="114488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8" name="Google Shape;138;g220569f7507_1_27"/>
          <p:cNvCxnSpPr/>
          <p:nvPr/>
        </p:nvCxnSpPr>
        <p:spPr>
          <a:xfrm>
            <a:off x="7841974" y="3607904"/>
            <a:ext cx="0" cy="544967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20569f7507_1_5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ejemplo colab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83" name="Google Shape;183;g220569f7507_1_58" descr="Diagrama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 b="5425"/>
          <a:stretch/>
        </p:blipFill>
        <p:spPr>
          <a:xfrm>
            <a:off x="780914" y="968402"/>
            <a:ext cx="7582169" cy="3859202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220569f7507_1_58"/>
          <p:cNvSpPr txBox="1"/>
          <p:nvPr/>
        </p:nvSpPr>
        <p:spPr>
          <a:xfrm>
            <a:off x="1749284" y="814404"/>
            <a:ext cx="6805500" cy="5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Adaptación de modelo base para cumplir la tarea específica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85" name="Google Shape;185;g220569f7507_1_58"/>
          <p:cNvSpPr/>
          <p:nvPr/>
        </p:nvSpPr>
        <p:spPr>
          <a:xfrm>
            <a:off x="7026965" y="3657600"/>
            <a:ext cx="705679" cy="238539"/>
          </a:xfrm>
          <a:prstGeom prst="rect">
            <a:avLst/>
          </a:prstGeom>
          <a:solidFill>
            <a:schemeClr val="lt1"/>
          </a:solidFill>
          <a:ln w="158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g220569f7507_1_58"/>
          <p:cNvSpPr/>
          <p:nvPr/>
        </p:nvSpPr>
        <p:spPr>
          <a:xfrm>
            <a:off x="6689035" y="2890793"/>
            <a:ext cx="337930" cy="1005346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g220569f7507_1_58"/>
          <p:cNvSpPr txBox="1"/>
          <p:nvPr/>
        </p:nvSpPr>
        <p:spPr>
          <a:xfrm>
            <a:off x="7041872" y="3156787"/>
            <a:ext cx="1058003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Nuevo!</a:t>
            </a:r>
            <a:endParaRPr sz="1100"/>
          </a:p>
        </p:txBody>
      </p:sp>
      <p:sp>
        <p:nvSpPr>
          <p:cNvPr id="188" name="Google Shape;188;g220569f7507_1_58"/>
          <p:cNvSpPr txBox="1"/>
          <p:nvPr/>
        </p:nvSpPr>
        <p:spPr>
          <a:xfrm>
            <a:off x="116709" y="997014"/>
            <a:ext cx="1632578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Generic Dataset: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ImageNet 1K</a:t>
            </a:r>
            <a:endParaRPr sz="1100" dirty="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E18405"/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1000 clases</a:t>
            </a:r>
            <a:endParaRPr sz="1100" dirty="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E18405"/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1.281.167 (train set)</a:t>
            </a:r>
            <a:endParaRPr sz="1100" dirty="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E18405"/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RGB</a:t>
            </a:r>
            <a:endParaRPr sz="1100" dirty="0"/>
          </a:p>
        </p:txBody>
      </p:sp>
      <p:sp>
        <p:nvSpPr>
          <p:cNvPr id="189" name="Google Shape;189;g220569f7507_1_58"/>
          <p:cNvSpPr txBox="1"/>
          <p:nvPr/>
        </p:nvSpPr>
        <p:spPr>
          <a:xfrm>
            <a:off x="116709" y="3786802"/>
            <a:ext cx="1632578" cy="122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Specific Dataset:</a:t>
            </a:r>
            <a:endParaRPr sz="11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Bees &amp; ants</a:t>
            </a:r>
            <a:endParaRPr sz="1500" b="1" dirty="0">
              <a:solidFill>
                <a:schemeClr val="accent2">
                  <a:lumMod val="60000"/>
                  <a:lumOff val="40000"/>
                </a:schemeClr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clases</a:t>
            </a:r>
            <a:endParaRPr sz="11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120 (train set)</a:t>
            </a:r>
            <a:endParaRPr sz="11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RGB</a:t>
            </a:r>
            <a:endParaRPr sz="11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90" name="Google Shape;190;g220569f7507_1_58"/>
          <p:cNvSpPr txBox="1"/>
          <p:nvPr/>
        </p:nvSpPr>
        <p:spPr>
          <a:xfrm rot="-5400000">
            <a:off x="1110345" y="2812331"/>
            <a:ext cx="735078" cy="25391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Twentieth Century"/>
                <a:ea typeface="Twentieth Century"/>
                <a:cs typeface="Twentieth Century"/>
                <a:sym typeface="Twentieth Century"/>
              </a:rPr>
              <a:t>400*400</a:t>
            </a:r>
            <a:endParaRPr sz="1100" dirty="0"/>
          </a:p>
        </p:txBody>
      </p:sp>
      <p:sp>
        <p:nvSpPr>
          <p:cNvPr id="191" name="Google Shape;191;g220569f7507_1_58"/>
          <p:cNvSpPr txBox="1"/>
          <p:nvPr/>
        </p:nvSpPr>
        <p:spPr>
          <a:xfrm rot="-5400000">
            <a:off x="5508410" y="1987099"/>
            <a:ext cx="735078" cy="25391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wentieth Century"/>
                <a:ea typeface="Twentieth Century"/>
                <a:cs typeface="Twentieth Century"/>
                <a:sym typeface="Twentieth Century"/>
              </a:rPr>
              <a:t>12*12</a:t>
            </a:r>
            <a:endParaRPr sz="1100"/>
          </a:p>
        </p:txBody>
      </p:sp>
      <p:sp>
        <p:nvSpPr>
          <p:cNvPr id="192" name="Google Shape;192;g220569f7507_1_58"/>
          <p:cNvSpPr txBox="1"/>
          <p:nvPr/>
        </p:nvSpPr>
        <p:spPr>
          <a:xfrm>
            <a:off x="7012265" y="4175098"/>
            <a:ext cx="735078" cy="25391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wentieth Century"/>
                <a:ea typeface="Twentieth Century"/>
                <a:cs typeface="Twentieth Century"/>
                <a:sym typeface="Twentieth Century"/>
              </a:rPr>
              <a:t>2 clases</a:t>
            </a:r>
            <a:endParaRPr sz="1100"/>
          </a:p>
        </p:txBody>
      </p:sp>
      <p:sp>
        <p:nvSpPr>
          <p:cNvPr id="2" name="Google Shape;190;g220569f7507_1_58">
            <a:extLst>
              <a:ext uri="{FF2B5EF4-FFF2-40B4-BE49-F238E27FC236}">
                <a16:creationId xmlns:a16="http://schemas.microsoft.com/office/drawing/2014/main" id="{8A466B22-50EF-EA89-C9E0-5F4E0B13CF57}"/>
              </a:ext>
            </a:extLst>
          </p:cNvPr>
          <p:cNvSpPr txBox="1"/>
          <p:nvPr/>
        </p:nvSpPr>
        <p:spPr>
          <a:xfrm rot="-5400000">
            <a:off x="5985881" y="3323990"/>
            <a:ext cx="1145692" cy="23080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050" dirty="0">
                <a:latin typeface="Twentieth Century"/>
                <a:ea typeface="Twentieth Century"/>
                <a:cs typeface="Twentieth Century"/>
                <a:sym typeface="Twentieth Century"/>
              </a:rPr>
              <a:t>A</a:t>
            </a:r>
            <a:r>
              <a:rPr lang="en" sz="1050" dirty="0">
                <a:latin typeface="Twentieth Century"/>
                <a:ea typeface="Twentieth Century"/>
                <a:cs typeface="Twentieth Century"/>
                <a:sym typeface="Twentieth Century"/>
              </a:rPr>
              <a:t>daptive avg pool</a:t>
            </a:r>
            <a:endParaRPr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>
          <a:extLst>
            <a:ext uri="{FF2B5EF4-FFF2-40B4-BE49-F238E27FC236}">
              <a16:creationId xmlns:a16="http://schemas.microsoft.com/office/drawing/2014/main" id="{C16417C9-AD54-ECB3-AC7F-31BAA7E68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20569f7507_1_58">
            <a:extLst>
              <a:ext uri="{FF2B5EF4-FFF2-40B4-BE49-F238E27FC236}">
                <a16:creationId xmlns:a16="http://schemas.microsoft.com/office/drawing/2014/main" id="{D181B0CA-9A94-F145-0A11-369851D892CA}"/>
              </a:ext>
            </a:extLst>
          </p:cNvPr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ejemplo colab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g220569f7507_1_58">
            <a:extLst>
              <a:ext uri="{FF2B5EF4-FFF2-40B4-BE49-F238E27FC236}">
                <a16:creationId xmlns:a16="http://schemas.microsoft.com/office/drawing/2014/main" id="{9FE15C50-91EB-8231-1BD3-AF6E686FEEB1}"/>
              </a:ext>
            </a:extLst>
          </p:cNvPr>
          <p:cNvSpPr/>
          <p:nvPr/>
        </p:nvSpPr>
        <p:spPr>
          <a:xfrm>
            <a:off x="7026965" y="3657600"/>
            <a:ext cx="705679" cy="238539"/>
          </a:xfrm>
          <a:prstGeom prst="rect">
            <a:avLst/>
          </a:prstGeom>
          <a:solidFill>
            <a:schemeClr val="lt1"/>
          </a:solidFill>
          <a:ln w="158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8" name="Google Shape;188;g220569f7507_1_58">
            <a:extLst>
              <a:ext uri="{FF2B5EF4-FFF2-40B4-BE49-F238E27FC236}">
                <a16:creationId xmlns:a16="http://schemas.microsoft.com/office/drawing/2014/main" id="{85EFED1F-D331-EC19-956B-94E1086689D4}"/>
              </a:ext>
            </a:extLst>
          </p:cNvPr>
          <p:cNvSpPr txBox="1"/>
          <p:nvPr/>
        </p:nvSpPr>
        <p:spPr>
          <a:xfrm>
            <a:off x="116709" y="997014"/>
            <a:ext cx="1632578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Generic Dataset: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ImageNet 1K</a:t>
            </a:r>
            <a:endParaRPr sz="1100" dirty="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E18405"/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1000 clases</a:t>
            </a:r>
            <a:endParaRPr sz="1100" dirty="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E18405"/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1.281.167 (train set)</a:t>
            </a:r>
            <a:endParaRPr sz="1100" dirty="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E18405"/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RGB</a:t>
            </a:r>
            <a:endParaRPr sz="11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31BF0DE-0DEF-E765-21E7-2349496B8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451258"/>
            <a:ext cx="4345583" cy="2467474"/>
          </a:xfrm>
          <a:prstGeom prst="rect">
            <a:avLst/>
          </a:prstGeom>
        </p:spPr>
      </p:pic>
      <p:sp>
        <p:nvSpPr>
          <p:cNvPr id="5" name="Google Shape;189;g220569f7507_1_58">
            <a:extLst>
              <a:ext uri="{FF2B5EF4-FFF2-40B4-BE49-F238E27FC236}">
                <a16:creationId xmlns:a16="http://schemas.microsoft.com/office/drawing/2014/main" id="{9A2C3519-D87B-C2AE-3908-92EA2224EDA0}"/>
              </a:ext>
            </a:extLst>
          </p:cNvPr>
          <p:cNvSpPr txBox="1"/>
          <p:nvPr/>
        </p:nvSpPr>
        <p:spPr>
          <a:xfrm>
            <a:off x="5394387" y="997014"/>
            <a:ext cx="1632578" cy="122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Specific Dataset:</a:t>
            </a:r>
            <a:endParaRPr sz="11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Bees &amp; ants</a:t>
            </a:r>
            <a:endParaRPr sz="1500" b="1" dirty="0">
              <a:solidFill>
                <a:schemeClr val="accent2">
                  <a:lumMod val="60000"/>
                  <a:lumOff val="40000"/>
                </a:schemeClr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clases</a:t>
            </a:r>
            <a:endParaRPr sz="11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120 (train set)</a:t>
            </a:r>
            <a:endParaRPr sz="11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RGB</a:t>
            </a:r>
            <a:endParaRPr sz="11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8962820-3F73-979C-5059-57F2549106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383" y="2571750"/>
            <a:ext cx="4200909" cy="2207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1647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20569f7507_1_7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ejemplo colab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98" name="Google Shape;198;g220569f7507_1_72"/>
          <p:cNvSpPr txBox="1"/>
          <p:nvPr/>
        </p:nvSpPr>
        <p:spPr>
          <a:xfrm>
            <a:off x="113485" y="789727"/>
            <a:ext cx="1985832" cy="393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</a:t>
            </a:r>
            <a:endParaRPr sz="2100" dirty="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199" name="Google Shape;199;g220569f7507_1_72"/>
          <p:cNvGrpSpPr/>
          <p:nvPr/>
        </p:nvGrpSpPr>
        <p:grpSpPr>
          <a:xfrm>
            <a:off x="5165183" y="1658233"/>
            <a:ext cx="3523601" cy="3363885"/>
            <a:chOff x="989692" y="1991560"/>
            <a:chExt cx="4698135" cy="4485180"/>
          </a:xfrm>
        </p:grpSpPr>
        <p:pic>
          <p:nvPicPr>
            <p:cNvPr id="200" name="Google Shape;200;g220569f7507_1_7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1" name="Google Shape;201;g220569f7507_1_72"/>
            <p:cNvSpPr txBox="1"/>
            <p:nvPr/>
          </p:nvSpPr>
          <p:spPr>
            <a:xfrm>
              <a:off x="2155339" y="1991560"/>
              <a:ext cx="2366839" cy="5251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100"/>
                <a:buFont typeface="Arial"/>
                <a:buNone/>
              </a:pPr>
              <a:r>
                <a:rPr lang="en" sz="2100">
                  <a:solidFill>
                    <a:schemeClr val="dk2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Fine tuning</a:t>
              </a:r>
              <a:endParaRPr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02" name="Google Shape;202;g220569f7507_1_72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03" name="Google Shape;203;g220569f7507_1_72"/>
            <p:cNvSpPr txBox="1"/>
            <p:nvPr/>
          </p:nvSpPr>
          <p:spPr>
            <a:xfrm>
              <a:off x="2763763" y="6015075"/>
              <a:ext cx="1758415" cy="4616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reentrenar</a:t>
              </a:r>
              <a:endParaRPr sz="1100"/>
            </a:p>
          </p:txBody>
        </p:sp>
      </p:grpSp>
      <p:grpSp>
        <p:nvGrpSpPr>
          <p:cNvPr id="204" name="Google Shape;204;g220569f7507_1_72"/>
          <p:cNvGrpSpPr/>
          <p:nvPr/>
        </p:nvGrpSpPr>
        <p:grpSpPr>
          <a:xfrm>
            <a:off x="561301" y="1577417"/>
            <a:ext cx="3523601" cy="3363885"/>
            <a:chOff x="6504175" y="1991560"/>
            <a:chExt cx="4698135" cy="4485180"/>
          </a:xfrm>
        </p:grpSpPr>
        <p:pic>
          <p:nvPicPr>
            <p:cNvPr id="205" name="Google Shape;205;g220569f7507_1_7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504175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6" name="Google Shape;206;g220569f7507_1_72"/>
            <p:cNvSpPr txBox="1"/>
            <p:nvPr/>
          </p:nvSpPr>
          <p:spPr>
            <a:xfrm>
              <a:off x="7481639" y="1991560"/>
              <a:ext cx="2968284" cy="5251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100"/>
                <a:buFont typeface="Arial"/>
                <a:buNone/>
              </a:pPr>
              <a:r>
                <a:rPr lang="en" sz="2100">
                  <a:solidFill>
                    <a:schemeClr val="dk2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Feature extractor</a:t>
              </a:r>
              <a:endParaRPr sz="1100">
                <a:solidFill>
                  <a:schemeClr val="dk2"/>
                </a:solidFill>
              </a:endParaRPr>
            </a:p>
          </p:txBody>
        </p:sp>
        <p:sp>
          <p:nvSpPr>
            <p:cNvPr id="207" name="Google Shape;207;g220569f7507_1_72"/>
            <p:cNvSpPr/>
            <p:nvPr/>
          </p:nvSpPr>
          <p:spPr>
            <a:xfrm rot="-5400000">
              <a:off x="9231677" y="5367708"/>
              <a:ext cx="466924" cy="827809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08" name="Google Shape;208;g220569f7507_1_72"/>
            <p:cNvSpPr txBox="1"/>
            <p:nvPr/>
          </p:nvSpPr>
          <p:spPr>
            <a:xfrm>
              <a:off x="8822805" y="6015075"/>
              <a:ext cx="1627118" cy="4616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entrenar</a:t>
              </a:r>
              <a:endParaRPr sz="1100" dirty="0"/>
            </a:p>
          </p:txBody>
        </p:sp>
      </p:grpSp>
      <p:sp>
        <p:nvSpPr>
          <p:cNvPr id="2" name="Google Shape;208;g220569f7507_1_72">
            <a:extLst>
              <a:ext uri="{FF2B5EF4-FFF2-40B4-BE49-F238E27FC236}">
                <a16:creationId xmlns:a16="http://schemas.microsoft.com/office/drawing/2014/main" id="{6CE24DBD-9BCC-92C6-C02D-FE232734CD59}"/>
              </a:ext>
            </a:extLst>
          </p:cNvPr>
          <p:cNvSpPr txBox="1"/>
          <p:nvPr/>
        </p:nvSpPr>
        <p:spPr>
          <a:xfrm>
            <a:off x="2097859" y="2999114"/>
            <a:ext cx="1220338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copiar</a:t>
            </a:r>
            <a:endParaRPr sz="1100" dirty="0"/>
          </a:p>
        </p:txBody>
      </p:sp>
      <p:sp>
        <p:nvSpPr>
          <p:cNvPr id="3" name="Google Shape;208;g220569f7507_1_72">
            <a:extLst>
              <a:ext uri="{FF2B5EF4-FFF2-40B4-BE49-F238E27FC236}">
                <a16:creationId xmlns:a16="http://schemas.microsoft.com/office/drawing/2014/main" id="{028E9DD1-A9F2-DEB4-F6D2-89AEF7B841ED}"/>
              </a:ext>
            </a:extLst>
          </p:cNvPr>
          <p:cNvSpPr txBox="1"/>
          <p:nvPr/>
        </p:nvSpPr>
        <p:spPr>
          <a:xfrm>
            <a:off x="6745141" y="3044368"/>
            <a:ext cx="1220338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copiar</a:t>
            </a:r>
            <a:endParaRPr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20569f7507_1_87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¿Qué estrategia usar?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144" name="Google Shape;144;g220569f7507_1_87"/>
          <p:cNvCxnSpPr/>
          <p:nvPr/>
        </p:nvCxnSpPr>
        <p:spPr>
          <a:xfrm>
            <a:off x="872777" y="1639904"/>
            <a:ext cx="6927600" cy="0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45" name="Google Shape;145;g220569f7507_1_87"/>
          <p:cNvCxnSpPr/>
          <p:nvPr/>
        </p:nvCxnSpPr>
        <p:spPr>
          <a:xfrm>
            <a:off x="1918253" y="868458"/>
            <a:ext cx="0" cy="3754562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46" name="Google Shape;146;g220569f7507_1_87"/>
          <p:cNvSpPr txBox="1"/>
          <p:nvPr/>
        </p:nvSpPr>
        <p:spPr>
          <a:xfrm>
            <a:off x="2541" y="1091687"/>
            <a:ext cx="13419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pequeño 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7" name="Google Shape;147;g220569f7507_1_87"/>
          <p:cNvSpPr txBox="1"/>
          <p:nvPr/>
        </p:nvSpPr>
        <p:spPr>
          <a:xfrm>
            <a:off x="7848744" y="1028273"/>
            <a:ext cx="12672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grande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8" name="Google Shape;148;g220569f7507_1_87"/>
          <p:cNvSpPr txBox="1"/>
          <p:nvPr/>
        </p:nvSpPr>
        <p:spPr>
          <a:xfrm>
            <a:off x="2193139" y="669176"/>
            <a:ext cx="1911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semejante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9" name="Google Shape;149;g220569f7507_1_87"/>
          <p:cNvSpPr txBox="1"/>
          <p:nvPr/>
        </p:nvSpPr>
        <p:spPr>
          <a:xfrm>
            <a:off x="1727384" y="4520252"/>
            <a:ext cx="16488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distinto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0" name="Google Shape;150;g220569f7507_1_87"/>
          <p:cNvSpPr txBox="1"/>
          <p:nvPr/>
        </p:nvSpPr>
        <p:spPr>
          <a:xfrm>
            <a:off x="6131159" y="3188248"/>
            <a:ext cx="2546357" cy="930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 (from pre-trained models)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NECESITAMOS MODELOS PRE-ENTRENADOS!!</a:t>
            </a:r>
            <a:endParaRPr sz="14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151" name="Google Shape;151;g220569f7507_1_87"/>
          <p:cNvGrpSpPr/>
          <p:nvPr/>
        </p:nvGrpSpPr>
        <p:grpSpPr>
          <a:xfrm>
            <a:off x="2345649" y="1969894"/>
            <a:ext cx="2795716" cy="2210903"/>
            <a:chOff x="989692" y="2516687"/>
            <a:chExt cx="4698135" cy="3999474"/>
          </a:xfrm>
        </p:grpSpPr>
        <p:pic>
          <p:nvPicPr>
            <p:cNvPr id="152" name="Google Shape;152;g220569f7507_1_8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3" name="Google Shape;153;g220569f7507_1_87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54" name="Google Shape;154;g220569f7507_1_87"/>
            <p:cNvSpPr txBox="1"/>
            <p:nvPr/>
          </p:nvSpPr>
          <p:spPr>
            <a:xfrm>
              <a:off x="2763762" y="6015076"/>
              <a:ext cx="2095092" cy="50108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entrenar</a:t>
              </a:r>
              <a:endParaRPr sz="1100"/>
            </a:p>
          </p:txBody>
        </p:sp>
      </p:grpSp>
      <p:pic>
        <p:nvPicPr>
          <p:cNvPr id="155" name="Google Shape;155;g220569f7507_1_87" descr="Imagen que contiene Gráfico de líneas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 l="21184" r="25224"/>
          <a:stretch/>
        </p:blipFill>
        <p:spPr>
          <a:xfrm>
            <a:off x="6186699" y="1794654"/>
            <a:ext cx="2078096" cy="13650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6" name="Google Shape;156;g220569f7507_1_87"/>
          <p:cNvCxnSpPr/>
          <p:nvPr/>
        </p:nvCxnSpPr>
        <p:spPr>
          <a:xfrm>
            <a:off x="6802210" y="2342935"/>
            <a:ext cx="0" cy="64976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7" name="Google Shape;157;g220569f7507_1_87"/>
          <p:cNvSpPr txBox="1"/>
          <p:nvPr/>
        </p:nvSpPr>
        <p:spPr>
          <a:xfrm>
            <a:off x="5767818" y="4265245"/>
            <a:ext cx="3200675" cy="71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https://pytorch.org/blog/introducing-torchvision-new-multi-weight-support-api/</a:t>
            </a:r>
            <a:endParaRPr sz="1100" dirty="0"/>
          </a:p>
        </p:txBody>
      </p:sp>
      <p:sp>
        <p:nvSpPr>
          <p:cNvPr id="2" name="Google Shape;208;g220569f7507_1_72">
            <a:extLst>
              <a:ext uri="{FF2B5EF4-FFF2-40B4-BE49-F238E27FC236}">
                <a16:creationId xmlns:a16="http://schemas.microsoft.com/office/drawing/2014/main" id="{026C687C-6073-863C-EE88-136DA22135BC}"/>
              </a:ext>
            </a:extLst>
          </p:cNvPr>
          <p:cNvSpPr txBox="1"/>
          <p:nvPr/>
        </p:nvSpPr>
        <p:spPr>
          <a:xfrm>
            <a:off x="3638977" y="2655755"/>
            <a:ext cx="1220338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copiar</a:t>
            </a:r>
            <a:endParaRPr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20569f7507_1_105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¿Qué estrategia usar?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163" name="Google Shape;163;g220569f7507_1_105"/>
          <p:cNvCxnSpPr/>
          <p:nvPr/>
        </p:nvCxnSpPr>
        <p:spPr>
          <a:xfrm>
            <a:off x="914400" y="1759226"/>
            <a:ext cx="6927574" cy="0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64" name="Google Shape;164;g220569f7507_1_105"/>
          <p:cNvCxnSpPr/>
          <p:nvPr/>
        </p:nvCxnSpPr>
        <p:spPr>
          <a:xfrm>
            <a:off x="6216667" y="875707"/>
            <a:ext cx="0" cy="3754562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65" name="Google Shape;165;g220569f7507_1_105"/>
          <p:cNvSpPr txBox="1"/>
          <p:nvPr/>
        </p:nvSpPr>
        <p:spPr>
          <a:xfrm>
            <a:off x="-25334" y="1297580"/>
            <a:ext cx="13419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pequeño 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6" name="Google Shape;166;g220569f7507_1_105"/>
          <p:cNvSpPr txBox="1"/>
          <p:nvPr/>
        </p:nvSpPr>
        <p:spPr>
          <a:xfrm>
            <a:off x="7890366" y="1759226"/>
            <a:ext cx="12672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grande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7" name="Google Shape;167;g220569f7507_1_105"/>
          <p:cNvSpPr txBox="1"/>
          <p:nvPr/>
        </p:nvSpPr>
        <p:spPr>
          <a:xfrm>
            <a:off x="3851207" y="674339"/>
            <a:ext cx="1911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semejante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8" name="Google Shape;168;g220569f7507_1_105"/>
          <p:cNvSpPr txBox="1"/>
          <p:nvPr/>
        </p:nvSpPr>
        <p:spPr>
          <a:xfrm>
            <a:off x="4032407" y="4457069"/>
            <a:ext cx="16488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distinto al generic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9" name="Google Shape;169;g220569f7507_1_105"/>
          <p:cNvSpPr txBox="1"/>
          <p:nvPr/>
        </p:nvSpPr>
        <p:spPr>
          <a:xfrm>
            <a:off x="1541164" y="810262"/>
            <a:ext cx="14958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0" name="Google Shape;170;g220569f7507_1_105"/>
          <p:cNvSpPr txBox="1"/>
          <p:nvPr/>
        </p:nvSpPr>
        <p:spPr>
          <a:xfrm>
            <a:off x="6772858" y="814097"/>
            <a:ext cx="1232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1" name="Google Shape;171;g220569f7507_1_105"/>
          <p:cNvSpPr txBox="1"/>
          <p:nvPr/>
        </p:nvSpPr>
        <p:spPr>
          <a:xfrm>
            <a:off x="177946" y="4086788"/>
            <a:ext cx="1809000" cy="7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 desde menor profundidad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2" name="Google Shape;172;g220569f7507_1_105"/>
          <p:cNvSpPr txBox="1"/>
          <p:nvPr/>
        </p:nvSpPr>
        <p:spPr>
          <a:xfrm>
            <a:off x="6772858" y="3118999"/>
            <a:ext cx="213823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 (from pre-trained models)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73" name="Google Shape;173;g220569f7507_1_10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47033" y="2952112"/>
            <a:ext cx="2378053" cy="1572506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g220569f7507_1_105"/>
          <p:cNvSpPr/>
          <p:nvPr/>
        </p:nvSpPr>
        <p:spPr>
          <a:xfrm rot="-5400000">
            <a:off x="2732372" y="4325651"/>
            <a:ext cx="200415" cy="408824"/>
          </a:xfrm>
          <a:prstGeom prst="leftBrace">
            <a:avLst>
              <a:gd name="adj1" fmla="val 8333"/>
              <a:gd name="adj2" fmla="val 50000"/>
            </a:avLst>
          </a:prstGeom>
          <a:noFill/>
          <a:ln w="222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5" name="Google Shape;175;g220569f7507_1_105"/>
          <p:cNvSpPr txBox="1"/>
          <p:nvPr/>
        </p:nvSpPr>
        <p:spPr>
          <a:xfrm>
            <a:off x="2501531" y="4630270"/>
            <a:ext cx="107092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entrenar</a:t>
            </a:r>
            <a:endParaRPr sz="1100"/>
          </a:p>
        </p:txBody>
      </p:sp>
      <p:sp>
        <p:nvSpPr>
          <p:cNvPr id="176" name="Google Shape;176;g220569f7507_1_105"/>
          <p:cNvSpPr txBox="1"/>
          <p:nvPr/>
        </p:nvSpPr>
        <p:spPr>
          <a:xfrm>
            <a:off x="304408" y="2009421"/>
            <a:ext cx="4691270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https://discuss.pytorch.org/t/how-can-i-replace-the-forward-method-of-a-predefined-torchvision-model-with-my-customized-forward-function/54224/8</a:t>
            </a:r>
            <a:endParaRPr sz="1100" dirty="0"/>
          </a:p>
        </p:txBody>
      </p:sp>
      <p:sp>
        <p:nvSpPr>
          <p:cNvPr id="177" name="Google Shape;177;g220569f7507_1_105"/>
          <p:cNvSpPr txBox="1"/>
          <p:nvPr/>
        </p:nvSpPr>
        <p:spPr>
          <a:xfrm>
            <a:off x="3991376" y="2929046"/>
            <a:ext cx="2005650" cy="1311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https://github.com/mortezamg63/Accessing-and-modifying-different-layers-of-a-pretrained-model-in-pytorch/blob/master/README.md</a:t>
            </a:r>
            <a:endParaRPr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20569f7507_1_124"/>
          <p:cNvSpPr txBox="1"/>
          <p:nvPr/>
        </p:nvSpPr>
        <p:spPr>
          <a:xfrm>
            <a:off x="2175193" y="157412"/>
            <a:ext cx="43152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¡Un merecido descanso!</a:t>
            </a:r>
            <a:endParaRPr sz="1100"/>
          </a:p>
        </p:txBody>
      </p:sp>
      <p:pic>
        <p:nvPicPr>
          <p:cNvPr id="214" name="Google Shape;214;g220569f7507_1_1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867" y="1043643"/>
            <a:ext cx="8080892" cy="3674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>
          <a:extLst>
            <a:ext uri="{FF2B5EF4-FFF2-40B4-BE49-F238E27FC236}">
              <a16:creationId xmlns:a16="http://schemas.microsoft.com/office/drawing/2014/main" id="{1AC41B8B-5F84-85B3-13FC-D9FF58660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20569f7507_1_129">
            <a:extLst>
              <a:ext uri="{FF2B5EF4-FFF2-40B4-BE49-F238E27FC236}">
                <a16:creationId xmlns:a16="http://schemas.microsoft.com/office/drawing/2014/main" id="{F7E019D6-E64C-AD0E-6A04-3FDF00378CC7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20" name="Google Shape;220;g220569f7507_1_129">
            <a:extLst>
              <a:ext uri="{FF2B5EF4-FFF2-40B4-BE49-F238E27FC236}">
                <a16:creationId xmlns:a16="http://schemas.microsoft.com/office/drawing/2014/main" id="{1CA0C463-F9CE-9BBE-AC24-5DE104D50DFA}"/>
              </a:ext>
            </a:extLst>
          </p:cNvPr>
          <p:cNvSpPr txBox="1"/>
          <p:nvPr/>
        </p:nvSpPr>
        <p:spPr>
          <a:xfrm>
            <a:off x="614362" y="1077430"/>
            <a:ext cx="7915275" cy="3727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Configuración de DL que busca 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aprender la distribución de </a:t>
            </a:r>
            <a:r>
              <a:rPr lang="es-ES" sz="2100" b="1" dirty="0" err="1">
                <a:solidFill>
                  <a:schemeClr val="dk2"/>
                </a:solidFill>
                <a:latin typeface="Twentieth Century"/>
                <a:sym typeface="Twentieth Century"/>
              </a:rPr>
              <a:t>prob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 de los datos de entrenamiento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para poder 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generar nuevos datos a partir de esa distribución.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b="1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Se logra entrenando 2 modelos compitiendo: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G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Wingdings" panose="05000000000000000000" pitchFamily="2" charset="2"/>
              </a:rPr>
              <a:t>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generador que busca generar  datos “falsos”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D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Wingdings" panose="05000000000000000000" pitchFamily="2" charset="2"/>
              </a:rPr>
              <a:t>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discriminador que busca identificar datos “verdaderos” o “falsos”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Cuando el sistema “converge” el 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D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no es capaz de distinguir datos reales de falsos (50% de real y 50% de falso)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Ese punto de convergencia es teórico y aún no se ha podido alcanzar.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100" b="1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22678652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20569f7507_1_129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20" name="Google Shape;220;g220569f7507_1_129"/>
          <p:cNvSpPr txBox="1"/>
          <p:nvPr/>
        </p:nvSpPr>
        <p:spPr>
          <a:xfrm>
            <a:off x="1228725" y="594256"/>
            <a:ext cx="7915275" cy="817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redes neuronales enfrentadas:  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enerador - 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iscriminador	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21" name="Google Shape;221;g220569f7507_1_129" descr="Forma&#10;&#10;Descripción generada automáticamente con confianza baj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4363" y="1097324"/>
            <a:ext cx="7915275" cy="34519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220569f7507_1_135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28" name="Google Shape;228;g220569f7507_1_1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89417" y="728084"/>
            <a:ext cx="3672643" cy="441542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g220569f7507_1_135"/>
          <p:cNvSpPr txBox="1"/>
          <p:nvPr/>
        </p:nvSpPr>
        <p:spPr>
          <a:xfrm>
            <a:off x="117195" y="814403"/>
            <a:ext cx="4432267" cy="817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redes neuronales enfrentadas: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enerador - 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iscriminador	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" name="Google Shape;238;g220569f7507_1_144">
            <a:extLst>
              <a:ext uri="{FF2B5EF4-FFF2-40B4-BE49-F238E27FC236}">
                <a16:creationId xmlns:a16="http://schemas.microsoft.com/office/drawing/2014/main" id="{6805E0BA-5B3D-9629-D43D-F1C128B8D5B7}"/>
              </a:ext>
            </a:extLst>
          </p:cNvPr>
          <p:cNvSpPr txBox="1"/>
          <p:nvPr/>
        </p:nvSpPr>
        <p:spPr>
          <a:xfrm>
            <a:off x="117195" y="2884445"/>
            <a:ext cx="4432267" cy="93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entrena de forma indirecta (“supervisada”… pero de distinta forma)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" name="Google Shape;239;g220569f7507_1_144">
            <a:extLst>
              <a:ext uri="{FF2B5EF4-FFF2-40B4-BE49-F238E27FC236}">
                <a16:creationId xmlns:a16="http://schemas.microsoft.com/office/drawing/2014/main" id="{0829DAA1-5D49-B41C-D512-29EFF96AA847}"/>
              </a:ext>
            </a:extLst>
          </p:cNvPr>
          <p:cNvSpPr txBox="1"/>
          <p:nvPr/>
        </p:nvSpPr>
        <p:spPr>
          <a:xfrm>
            <a:off x="139733" y="3945437"/>
            <a:ext cx="4432267" cy="643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determina si una muestra es real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o falsa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0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Google Shape;240;g220569f7507_1_144">
            <a:extLst>
              <a:ext uri="{FF2B5EF4-FFF2-40B4-BE49-F238E27FC236}">
                <a16:creationId xmlns:a16="http://schemas.microsoft.com/office/drawing/2014/main" id="{ECA63837-EE2B-8924-E0B7-602D680265D7}"/>
              </a:ext>
            </a:extLst>
          </p:cNvPr>
          <p:cNvSpPr txBox="1"/>
          <p:nvPr/>
        </p:nvSpPr>
        <p:spPr>
          <a:xfrm>
            <a:off x="139733" y="1799048"/>
            <a:ext cx="4432267" cy="93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entrena para que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falle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entrena para no fallar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20569f7507_1_154"/>
          <p:cNvSpPr txBox="1"/>
          <p:nvPr/>
        </p:nvSpPr>
        <p:spPr>
          <a:xfrm>
            <a:off x="486933" y="1041501"/>
            <a:ext cx="3183622" cy="3413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spcBef>
                <a:spcPts val="800"/>
              </a:spcBef>
              <a:buClr>
                <a:schemeClr val="dk1"/>
              </a:buClr>
              <a:buSzPts val="2100"/>
            </a:pPr>
            <a:r>
              <a:rPr lang="it-IT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it-IT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generator (NN)</a:t>
            </a:r>
            <a:endParaRPr lang="it-IT" sz="1100" dirty="0">
              <a:solidFill>
                <a:schemeClr val="dk2"/>
              </a:solidFill>
            </a:endParaRPr>
          </a:p>
          <a:p>
            <a:pPr lvl="0">
              <a:lnSpc>
                <a:spcPct val="90000"/>
              </a:lnSpc>
              <a:spcBef>
                <a:spcPts val="800"/>
              </a:spcBef>
              <a:buClr>
                <a:schemeClr val="dk1"/>
              </a:buClr>
              <a:buSzPts val="2100"/>
            </a:pPr>
            <a:r>
              <a:rPr lang="it-IT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it-IT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discriminator (NN)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100" i="1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z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vector aleatorio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vector muestra (real)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</a:rPr>
              <a:t>D(x)=1 si x es real</a:t>
            </a: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</a:rPr>
              <a:t>D(x)=0 si x es falsa</a:t>
            </a: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</a:rPr>
              <a:t>G(z) – muestra falsa</a:t>
            </a: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48" name="Google Shape;248;g220569f7507_1_154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– Función de costo</a:t>
            </a:r>
            <a:endParaRPr sz="1100">
              <a:solidFill>
                <a:schemeClr val="dk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B998DA7B-1CC8-C05A-36A7-5A1EA1358482}"/>
                  </a:ext>
                </a:extLst>
              </p:cNvPr>
              <p:cNvSpPr txBox="1"/>
              <p:nvPr/>
            </p:nvSpPr>
            <p:spPr>
              <a:xfrm>
                <a:off x="4163191" y="1841178"/>
                <a:ext cx="3952942" cy="5975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s-A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𝑎𝑡𝑐h</m:t>
                          </m:r>
                        </m:sub>
                        <m:sup/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B998DA7B-1CC8-C05A-36A7-5A1EA1358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191" y="1841178"/>
                <a:ext cx="3952942" cy="5975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EFA4F7BB-CE79-8477-F9F2-C0556723D8B2}"/>
                  </a:ext>
                </a:extLst>
              </p:cNvPr>
              <p:cNvSpPr txBox="1"/>
              <p:nvPr/>
            </p:nvSpPr>
            <p:spPr>
              <a:xfrm>
                <a:off x="4163191" y="2919427"/>
                <a:ext cx="2514214" cy="5975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  <m:r>
                        <a:rPr lang="es-A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𝑎𝑡𝑐h</m:t>
                          </m:r>
                        </m:sub>
                        <m:sup/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EFA4F7BB-CE79-8477-F9F2-C0556723D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191" y="2919427"/>
                <a:ext cx="2514214" cy="5975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67CC578F-808E-85D5-F2AA-6E7186E8DD64}"/>
              </a:ext>
            </a:extLst>
          </p:cNvPr>
          <p:cNvCxnSpPr>
            <a:cxnSpLocks/>
          </p:cNvCxnSpPr>
          <p:nvPr/>
        </p:nvCxnSpPr>
        <p:spPr>
          <a:xfrm flipV="1">
            <a:off x="6476428" y="3526972"/>
            <a:ext cx="0" cy="28875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" name="Google Shape;247;g220569f7507_1_154">
            <a:extLst>
              <a:ext uri="{FF2B5EF4-FFF2-40B4-BE49-F238E27FC236}">
                <a16:creationId xmlns:a16="http://schemas.microsoft.com/office/drawing/2014/main" id="{E877A9B9-AE7B-B777-44CF-35B956790F48}"/>
              </a:ext>
            </a:extLst>
          </p:cNvPr>
          <p:cNvSpPr txBox="1"/>
          <p:nvPr/>
        </p:nvSpPr>
        <p:spPr>
          <a:xfrm>
            <a:off x="5540351" y="3898763"/>
            <a:ext cx="2009658" cy="511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accent3"/>
                </a:solidFill>
                <a:latin typeface="Twentieth Century"/>
                <a:sym typeface="Times New Roman"/>
              </a:rPr>
              <a:t>El objetivo de G es “engañar” a D</a:t>
            </a:r>
            <a:endParaRPr lang="es-ES" sz="2100" dirty="0">
              <a:solidFill>
                <a:schemeClr val="accent3"/>
              </a:solidFill>
              <a:latin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050" dirty="0">
              <a:solidFill>
                <a:schemeClr val="accent3"/>
              </a:solidFill>
            </a:endParaRPr>
          </a:p>
        </p:txBody>
      </p:sp>
      <p:sp>
        <p:nvSpPr>
          <p:cNvPr id="8" name="Google Shape;247;g220569f7507_1_154">
            <a:extLst>
              <a:ext uri="{FF2B5EF4-FFF2-40B4-BE49-F238E27FC236}">
                <a16:creationId xmlns:a16="http://schemas.microsoft.com/office/drawing/2014/main" id="{9571B7AE-717C-9789-D2F1-B55D1C312116}"/>
              </a:ext>
            </a:extLst>
          </p:cNvPr>
          <p:cNvSpPr txBox="1"/>
          <p:nvPr/>
        </p:nvSpPr>
        <p:spPr>
          <a:xfrm>
            <a:off x="5128365" y="1032952"/>
            <a:ext cx="2833630" cy="59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accent3"/>
                </a:solidFill>
                <a:latin typeface="Twentieth Century"/>
                <a:sym typeface="Times New Roman"/>
              </a:rPr>
              <a:t>El objetivo de D es distinguir Real vs </a:t>
            </a:r>
            <a:r>
              <a:rPr lang="es-AR" sz="2100" dirty="0" err="1">
                <a:solidFill>
                  <a:schemeClr val="accent3"/>
                </a:solidFill>
                <a:latin typeface="Twentieth Century"/>
                <a:sym typeface="Times New Roman"/>
              </a:rPr>
              <a:t>Fake</a:t>
            </a:r>
            <a:endParaRPr lang="es-ES" sz="2100" dirty="0">
              <a:solidFill>
                <a:schemeClr val="accent3"/>
              </a:solidFill>
              <a:latin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050" dirty="0">
              <a:solidFill>
                <a:schemeClr val="accent3"/>
              </a:solidFill>
            </a:endParaRPr>
          </a:p>
        </p:txBody>
      </p:sp>
      <p:sp>
        <p:nvSpPr>
          <p:cNvPr id="9" name="Abrir llave 8">
            <a:extLst>
              <a:ext uri="{FF2B5EF4-FFF2-40B4-BE49-F238E27FC236}">
                <a16:creationId xmlns:a16="http://schemas.microsoft.com/office/drawing/2014/main" id="{FEA4A95C-76A8-2D22-1E8F-89654993EF3F}"/>
              </a:ext>
            </a:extLst>
          </p:cNvPr>
          <p:cNvSpPr/>
          <p:nvPr/>
        </p:nvSpPr>
        <p:spPr>
          <a:xfrm rot="5400000">
            <a:off x="6502320" y="286641"/>
            <a:ext cx="259955" cy="2967668"/>
          </a:xfrm>
          <a:prstGeom prst="leftBrace">
            <a:avLst/>
          </a:prstGeom>
          <a:ln w="1905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8826C695-1AEF-F71B-FF69-F5DB2762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20569f7507_1_154">
            <a:extLst>
              <a:ext uri="{FF2B5EF4-FFF2-40B4-BE49-F238E27FC236}">
                <a16:creationId xmlns:a16="http://schemas.microsoft.com/office/drawing/2014/main" id="{56A53342-DBF4-5975-119D-62ED568EF349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– Función de costo</a:t>
            </a:r>
            <a:endParaRPr sz="1100">
              <a:solidFill>
                <a:schemeClr val="dk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F3FDC2F7-BBE0-5220-58CB-79E7756E4BF3}"/>
                  </a:ext>
                </a:extLst>
              </p:cNvPr>
              <p:cNvSpPr txBox="1"/>
              <p:nvPr/>
            </p:nvSpPr>
            <p:spPr>
              <a:xfrm>
                <a:off x="4163191" y="1841178"/>
                <a:ext cx="3952942" cy="5975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s-A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𝑎𝑡𝑐h</m:t>
                          </m:r>
                        </m:sub>
                        <m:sup/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F3FDC2F7-BBE0-5220-58CB-79E7756E4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191" y="1841178"/>
                <a:ext cx="3952942" cy="5975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7365D057-F571-F9FE-FC22-0A27A2BF324E}"/>
                  </a:ext>
                </a:extLst>
              </p:cNvPr>
              <p:cNvSpPr txBox="1"/>
              <p:nvPr/>
            </p:nvSpPr>
            <p:spPr>
              <a:xfrm>
                <a:off x="4163191" y="2919427"/>
                <a:ext cx="2514214" cy="5975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  <m:r>
                        <a:rPr lang="es-A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𝑎𝑡𝑐h</m:t>
                          </m:r>
                        </m:sub>
                        <m:sup/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 xmlns="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7365D057-F571-F9FE-FC22-0A27A2BF3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191" y="2919427"/>
                <a:ext cx="2514214" cy="5975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7E5F8F1B-C23D-3C09-5F17-3B62E88B5C9F}"/>
              </a:ext>
            </a:extLst>
          </p:cNvPr>
          <p:cNvCxnSpPr>
            <a:cxnSpLocks/>
          </p:cNvCxnSpPr>
          <p:nvPr/>
        </p:nvCxnSpPr>
        <p:spPr>
          <a:xfrm flipV="1">
            <a:off x="6476428" y="3526972"/>
            <a:ext cx="0" cy="28875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" name="Google Shape;247;g220569f7507_1_154">
            <a:extLst>
              <a:ext uri="{FF2B5EF4-FFF2-40B4-BE49-F238E27FC236}">
                <a16:creationId xmlns:a16="http://schemas.microsoft.com/office/drawing/2014/main" id="{9F7636BC-0191-94C6-4140-62C7662A45C3}"/>
              </a:ext>
            </a:extLst>
          </p:cNvPr>
          <p:cNvSpPr txBox="1"/>
          <p:nvPr/>
        </p:nvSpPr>
        <p:spPr>
          <a:xfrm>
            <a:off x="5540351" y="3898763"/>
            <a:ext cx="2009658" cy="511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accent3"/>
                </a:solidFill>
                <a:latin typeface="Twentieth Century"/>
                <a:sym typeface="Times New Roman"/>
              </a:rPr>
              <a:t>El objetivo de G es “engañar” a D</a:t>
            </a:r>
            <a:endParaRPr lang="es-ES" sz="2100" dirty="0">
              <a:solidFill>
                <a:schemeClr val="accent3"/>
              </a:solidFill>
              <a:latin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050" dirty="0">
              <a:solidFill>
                <a:schemeClr val="accent3"/>
              </a:solidFill>
            </a:endParaRPr>
          </a:p>
        </p:txBody>
      </p:sp>
      <p:sp>
        <p:nvSpPr>
          <p:cNvPr id="8" name="Google Shape;247;g220569f7507_1_154">
            <a:extLst>
              <a:ext uri="{FF2B5EF4-FFF2-40B4-BE49-F238E27FC236}">
                <a16:creationId xmlns:a16="http://schemas.microsoft.com/office/drawing/2014/main" id="{3A863E5F-14CB-2C3D-E323-28CEF661A49E}"/>
              </a:ext>
            </a:extLst>
          </p:cNvPr>
          <p:cNvSpPr txBox="1"/>
          <p:nvPr/>
        </p:nvSpPr>
        <p:spPr>
          <a:xfrm>
            <a:off x="5128365" y="1032952"/>
            <a:ext cx="2833630" cy="59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accent3"/>
                </a:solidFill>
                <a:latin typeface="Twentieth Century"/>
                <a:sym typeface="Times New Roman"/>
              </a:rPr>
              <a:t>El objetivo de D es distinguir Real vs </a:t>
            </a:r>
            <a:r>
              <a:rPr lang="es-AR" sz="2100" dirty="0" err="1">
                <a:solidFill>
                  <a:schemeClr val="accent3"/>
                </a:solidFill>
                <a:latin typeface="Twentieth Century"/>
                <a:sym typeface="Times New Roman"/>
              </a:rPr>
              <a:t>Fake</a:t>
            </a:r>
            <a:endParaRPr lang="es-ES" sz="2100" dirty="0">
              <a:solidFill>
                <a:schemeClr val="accent3"/>
              </a:solidFill>
              <a:latin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050" dirty="0">
              <a:solidFill>
                <a:schemeClr val="accent3"/>
              </a:solidFill>
            </a:endParaRPr>
          </a:p>
        </p:txBody>
      </p:sp>
      <p:sp>
        <p:nvSpPr>
          <p:cNvPr id="9" name="Abrir llave 8">
            <a:extLst>
              <a:ext uri="{FF2B5EF4-FFF2-40B4-BE49-F238E27FC236}">
                <a16:creationId xmlns:a16="http://schemas.microsoft.com/office/drawing/2014/main" id="{14FA3FF8-8D78-0AEF-8496-C1B8FA595683}"/>
              </a:ext>
            </a:extLst>
          </p:cNvPr>
          <p:cNvSpPr/>
          <p:nvPr/>
        </p:nvSpPr>
        <p:spPr>
          <a:xfrm rot="5400000">
            <a:off x="6502320" y="286641"/>
            <a:ext cx="259955" cy="2967668"/>
          </a:xfrm>
          <a:prstGeom prst="leftBrace">
            <a:avLst/>
          </a:prstGeom>
          <a:ln w="1905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0DC35CA-797E-C19D-6093-FFF88A54A781}"/>
              </a:ext>
            </a:extLst>
          </p:cNvPr>
          <p:cNvSpPr txBox="1"/>
          <p:nvPr/>
        </p:nvSpPr>
        <p:spPr>
          <a:xfrm>
            <a:off x="139223" y="1032952"/>
            <a:ext cx="3876413" cy="36445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En teoría, en el equilibrio ideal de una GAN es: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D(x) = 0.5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D(G(z)) = 0.5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buNone/>
            </a:pP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buNone/>
            </a:pP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porque el discriminador ya no puede distinguir reales de falsas mejor que al azar.</a:t>
            </a:r>
          </a:p>
          <a:p>
            <a:pPr algn="l">
              <a:buNone/>
            </a:pP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buNone/>
            </a:pP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Entonces, si </a:t>
            </a: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D(x) = 0.5</a:t>
            </a: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 y </a:t>
            </a: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D(G(z)) = 0.5</a:t>
            </a: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:</a:t>
            </a:r>
          </a:p>
          <a:p>
            <a:pPr algn="l">
              <a:buNone/>
            </a:pP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BCE(0.5, 1) = -log(0.5) = 0.693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BCE(0.5, 0) = -log(0.5) = 0.693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buNone/>
            </a:pP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buNone/>
            </a:pP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por lo tanto, las pérdidas de equilibrio rondan: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L</a:t>
            </a:r>
            <a:r>
              <a:rPr lang="es-ES" b="0" i="0" baseline="-2500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 = 0.693 + 0.693 = 1.386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L</a:t>
            </a:r>
            <a:r>
              <a:rPr lang="es-ES" b="0" i="0" baseline="-2500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 = 0.693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</p:txBody>
      </p:sp>
    </p:spTree>
    <p:extLst>
      <p:ext uri="{BB962C8B-B14F-4D97-AF65-F5344CB8AC3E}">
        <p14:creationId xmlns:p14="http://schemas.microsoft.com/office/powerpoint/2010/main" val="3480061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DEE781F1-57AC-E6E3-6B6D-A9E2536C9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20569f7507_1_172">
            <a:extLst>
              <a:ext uri="{FF2B5EF4-FFF2-40B4-BE49-F238E27FC236}">
                <a16:creationId xmlns:a16="http://schemas.microsoft.com/office/drawing/2014/main" id="{A2EDDB55-49CB-222B-05D9-0599A6F28B0D}"/>
              </a:ext>
            </a:extLst>
          </p:cNvPr>
          <p:cNvSpPr txBox="1"/>
          <p:nvPr/>
        </p:nvSpPr>
        <p:spPr>
          <a:xfrm>
            <a:off x="358048" y="814403"/>
            <a:ext cx="8427904" cy="373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 GANs es actualmente una especie de “trabajo de artesano”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Algunos trucos son: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TanH como output del generador.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Poner etiquetas reales a muestras falsas para entrenar generador.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sar batch normalization y minibatch.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Evitar Maxpool, usar average pool o hacer downsampling con el stride de conv.</a:t>
            </a:r>
          </a:p>
          <a:p>
            <a:pPr marL="342900" lvl="0" indent="-342900">
              <a:lnSpc>
                <a:spcPct val="90000"/>
              </a:lnSpc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Evitar usar ReLu, usar LeakyReLu.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Usar Adam como optimizador, beta_1 = 0,5, lr=0,0002.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Usar label smoothing (en lugar de 1 – 0; usar 0,9 – 0,1 para las clases real-fake).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639ED827-AF87-178A-F1AA-8E9F6BC77668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Entrenamiento</a:t>
            </a:r>
            <a:endParaRPr sz="11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10863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9E4F9795-F933-BCC1-210A-2F8211B0C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4D45B54C-9538-87B2-3625-112C7589CB40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Implementación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2DB4136E-433B-2E98-EB61-7CF7F2E749B9}"/>
              </a:ext>
            </a:extLst>
          </p:cNvPr>
          <p:cNvSpPr txBox="1"/>
          <p:nvPr/>
        </p:nvSpPr>
        <p:spPr>
          <a:xfrm>
            <a:off x="251252" y="1114299"/>
            <a:ext cx="8641496" cy="1828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Implementación de GANs para generar número nuevos de MNIST</a:t>
            </a: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- VanillaGAN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 GAN implementada con MLP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- DCGAN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 GAN implementada con capas de convolución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" name="Google Shape;221;g220569f7507_1_129" descr="Forma&#10;&#10;Descripción generada automáticamente con confianza baja">
            <a:extLst>
              <a:ext uri="{FF2B5EF4-FFF2-40B4-BE49-F238E27FC236}">
                <a16:creationId xmlns:a16="http://schemas.microsoft.com/office/drawing/2014/main" id="{218FB180-5070-BBD8-09A9-7CF697AE08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91908" y="2571750"/>
            <a:ext cx="4115768" cy="198071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61801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747BE2D2-55C1-6F87-B487-DEF14AFB7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8D004D17-2F5D-9E3D-5971-0171A208E5FB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5A95C271-64BF-3492-754D-4DDA2D021E1A}"/>
              </a:ext>
            </a:extLst>
          </p:cNvPr>
          <p:cNvSpPr txBox="1"/>
          <p:nvPr/>
        </p:nvSpPr>
        <p:spPr>
          <a:xfrm>
            <a:off x="251252" y="1093674"/>
            <a:ext cx="8641496" cy="2598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Experimentos propuestos (tarea para el hogar)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exp1 – Variar tamaño de n_noise (tamaño ruido input generador)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exp2 – Variar lr y beta1 (momentum) del optimizer adam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exp3 – Varia batch_size y n_critic (entrenar mas veces D que G)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exp4 – Entrenamiento extendido (200 epochs)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exp5 – scheduler lr a D y G, para evitar sobreaprendizaje del G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3656110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E559B8C3-065D-AB75-3A84-EEAA93188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DB93D9C9-7E66-758B-D6B7-5FADB12E4A97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99CA9870-1700-3C23-EC5A-63BA4901A497}"/>
              </a:ext>
            </a:extLst>
          </p:cNvPr>
          <p:cNvSpPr txBox="1"/>
          <p:nvPr/>
        </p:nvSpPr>
        <p:spPr>
          <a:xfrm>
            <a:off x="251252" y="954038"/>
            <a:ext cx="8641496" cy="453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exp1 – Variar tamaño de n_noise (tamaño ruido input generador)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86A2053-BCC6-4477-F769-69CCE2D4B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9" y="1546917"/>
            <a:ext cx="2160000" cy="220914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BBB7CDCF-77ED-C2BA-4F56-7893DD39EC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7122" y="1546917"/>
            <a:ext cx="2160000" cy="220914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1653CA5A-0FBA-2BDF-2354-B8349E33FC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0553" y="1546917"/>
            <a:ext cx="2160000" cy="220914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B2F1EA6-4F05-639E-E7FF-12DFC8EAA6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6179" y="1546917"/>
            <a:ext cx="2160000" cy="2209141"/>
          </a:xfrm>
          <a:prstGeom prst="rect">
            <a:avLst/>
          </a:prstGeom>
        </p:spPr>
      </p:pic>
      <p:sp>
        <p:nvSpPr>
          <p:cNvPr id="12" name="Google Shape;295;g220569f7507_1_196">
            <a:extLst>
              <a:ext uri="{FF2B5EF4-FFF2-40B4-BE49-F238E27FC236}">
                <a16:creationId xmlns:a16="http://schemas.microsoft.com/office/drawing/2014/main" id="{7EF8AAB6-78D2-F3DC-1211-A2067CEEEDB7}"/>
              </a:ext>
            </a:extLst>
          </p:cNvPr>
          <p:cNvSpPr txBox="1"/>
          <p:nvPr/>
        </p:nvSpPr>
        <p:spPr>
          <a:xfrm>
            <a:off x="387632" y="3962840"/>
            <a:ext cx="1654300" cy="453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n_noise = 10</a:t>
            </a:r>
          </a:p>
        </p:txBody>
      </p:sp>
      <p:sp>
        <p:nvSpPr>
          <p:cNvPr id="13" name="Google Shape;295;g220569f7507_1_196">
            <a:extLst>
              <a:ext uri="{FF2B5EF4-FFF2-40B4-BE49-F238E27FC236}">
                <a16:creationId xmlns:a16="http://schemas.microsoft.com/office/drawing/2014/main" id="{44A80539-02FE-66FA-5369-29586F05BDE0}"/>
              </a:ext>
            </a:extLst>
          </p:cNvPr>
          <p:cNvSpPr txBox="1"/>
          <p:nvPr/>
        </p:nvSpPr>
        <p:spPr>
          <a:xfrm>
            <a:off x="2485710" y="3962840"/>
            <a:ext cx="1654300" cy="453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n_noise = 50</a:t>
            </a:r>
          </a:p>
        </p:txBody>
      </p:sp>
      <p:sp>
        <p:nvSpPr>
          <p:cNvPr id="14" name="Google Shape;295;g220569f7507_1_196">
            <a:extLst>
              <a:ext uri="{FF2B5EF4-FFF2-40B4-BE49-F238E27FC236}">
                <a16:creationId xmlns:a16="http://schemas.microsoft.com/office/drawing/2014/main" id="{3B23ED33-7D3C-6DC3-EE1F-903B83D54BBA}"/>
              </a:ext>
            </a:extLst>
          </p:cNvPr>
          <p:cNvSpPr txBox="1"/>
          <p:nvPr/>
        </p:nvSpPr>
        <p:spPr>
          <a:xfrm>
            <a:off x="4754522" y="3962839"/>
            <a:ext cx="1654300" cy="453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n_noise = 100</a:t>
            </a:r>
          </a:p>
        </p:txBody>
      </p:sp>
      <p:sp>
        <p:nvSpPr>
          <p:cNvPr id="15" name="Google Shape;295;g220569f7507_1_196">
            <a:extLst>
              <a:ext uri="{FF2B5EF4-FFF2-40B4-BE49-F238E27FC236}">
                <a16:creationId xmlns:a16="http://schemas.microsoft.com/office/drawing/2014/main" id="{D77EDB31-4774-E5F2-18DF-E1A92859CD89}"/>
              </a:ext>
            </a:extLst>
          </p:cNvPr>
          <p:cNvSpPr txBox="1"/>
          <p:nvPr/>
        </p:nvSpPr>
        <p:spPr>
          <a:xfrm>
            <a:off x="7102068" y="3962838"/>
            <a:ext cx="1654300" cy="453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n_noise = 200</a:t>
            </a:r>
          </a:p>
        </p:txBody>
      </p:sp>
    </p:spTree>
    <p:extLst>
      <p:ext uri="{BB962C8B-B14F-4D97-AF65-F5344CB8AC3E}">
        <p14:creationId xmlns:p14="http://schemas.microsoft.com/office/powerpoint/2010/main" val="23527432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A9CAD79F-FADC-75A5-F29B-6DB1F56BC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53C90C5D-705A-7D78-13B2-FFDB8E896A0C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0AC6E18A-8098-5C88-A181-60F98C94D22A}"/>
              </a:ext>
            </a:extLst>
          </p:cNvPr>
          <p:cNvSpPr txBox="1"/>
          <p:nvPr/>
        </p:nvSpPr>
        <p:spPr>
          <a:xfrm>
            <a:off x="0" y="781113"/>
            <a:ext cx="9144000" cy="432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buClr>
                <a:schemeClr val="dk1"/>
              </a:buClr>
              <a:buSzPts val="2100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exp2 – Variar lr y beta1 (momentum) del optimizer adam (media de los gradientes)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C181BB3-8409-97CD-AE88-4BD35408CB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531" y="1450665"/>
            <a:ext cx="2520000" cy="257733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87DA8BB-3167-1D0C-D81A-A4FA5A2B67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3211" y="1450666"/>
            <a:ext cx="2520000" cy="257733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6367148-B6B7-F68D-0940-A0A86A84EF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7979" y="1450665"/>
            <a:ext cx="2520000" cy="2577332"/>
          </a:xfrm>
          <a:prstGeom prst="rect">
            <a:avLst/>
          </a:prstGeom>
        </p:spPr>
      </p:pic>
      <p:sp>
        <p:nvSpPr>
          <p:cNvPr id="9" name="Google Shape;295;g220569f7507_1_196">
            <a:extLst>
              <a:ext uri="{FF2B5EF4-FFF2-40B4-BE49-F238E27FC236}">
                <a16:creationId xmlns:a16="http://schemas.microsoft.com/office/drawing/2014/main" id="{BB5C38BE-2320-B1E5-B983-557D36BF6300}"/>
              </a:ext>
            </a:extLst>
          </p:cNvPr>
          <p:cNvSpPr txBox="1"/>
          <p:nvPr/>
        </p:nvSpPr>
        <p:spPr>
          <a:xfrm>
            <a:off x="613381" y="4211016"/>
            <a:ext cx="1654300" cy="684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 = 0,001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eta = 0,50</a:t>
            </a:r>
          </a:p>
        </p:txBody>
      </p:sp>
      <p:sp>
        <p:nvSpPr>
          <p:cNvPr id="10" name="Google Shape;295;g220569f7507_1_196">
            <a:extLst>
              <a:ext uri="{FF2B5EF4-FFF2-40B4-BE49-F238E27FC236}">
                <a16:creationId xmlns:a16="http://schemas.microsoft.com/office/drawing/2014/main" id="{8CA4D838-FBFF-46F9-CB46-1024F2E3B68D}"/>
              </a:ext>
            </a:extLst>
          </p:cNvPr>
          <p:cNvSpPr txBox="1"/>
          <p:nvPr/>
        </p:nvSpPr>
        <p:spPr>
          <a:xfrm>
            <a:off x="3667111" y="4211016"/>
            <a:ext cx="1654300" cy="684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 = 0,0002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eta = 0,50</a:t>
            </a:r>
          </a:p>
        </p:txBody>
      </p:sp>
      <p:sp>
        <p:nvSpPr>
          <p:cNvPr id="11" name="Google Shape;295;g220569f7507_1_196">
            <a:extLst>
              <a:ext uri="{FF2B5EF4-FFF2-40B4-BE49-F238E27FC236}">
                <a16:creationId xmlns:a16="http://schemas.microsoft.com/office/drawing/2014/main" id="{9556C75D-B014-9D94-2BB8-1485093881D7}"/>
              </a:ext>
            </a:extLst>
          </p:cNvPr>
          <p:cNvSpPr txBox="1"/>
          <p:nvPr/>
        </p:nvSpPr>
        <p:spPr>
          <a:xfrm>
            <a:off x="6597087" y="4211016"/>
            <a:ext cx="1654300" cy="684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 = 0,0002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eta = 0,90</a:t>
            </a:r>
          </a:p>
        </p:txBody>
      </p:sp>
      <p:sp>
        <p:nvSpPr>
          <p:cNvPr id="3" name="Google Shape;295;g220569f7507_1_196">
            <a:extLst>
              <a:ext uri="{FF2B5EF4-FFF2-40B4-BE49-F238E27FC236}">
                <a16:creationId xmlns:a16="http://schemas.microsoft.com/office/drawing/2014/main" id="{0B85FAE4-F65D-AE44-DDD6-993AFA28B8F5}"/>
              </a:ext>
            </a:extLst>
          </p:cNvPr>
          <p:cNvSpPr txBox="1"/>
          <p:nvPr/>
        </p:nvSpPr>
        <p:spPr>
          <a:xfrm>
            <a:off x="6121363" y="2033120"/>
            <a:ext cx="2353231" cy="1412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400" b="1" dirty="0">
                <a:solidFill>
                  <a:schemeClr val="accent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Demasiada “inercia” del valor medio de los gradientes</a:t>
            </a:r>
            <a:endParaRPr sz="2400" b="1" dirty="0">
              <a:solidFill>
                <a:schemeClr val="accent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4290949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6339EFDD-F7CD-4BC2-5CC3-C67309199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F4A0F5CE-B6C9-D0F4-942E-1438B86EA4C0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4A84F79F-4CB5-4026-9752-5F6DEDF928B7}"/>
              </a:ext>
            </a:extLst>
          </p:cNvPr>
          <p:cNvSpPr txBox="1"/>
          <p:nvPr/>
        </p:nvSpPr>
        <p:spPr>
          <a:xfrm>
            <a:off x="251252" y="831663"/>
            <a:ext cx="8641496" cy="363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exp3 – Varia batch_size y n_critic (entrenar mas veces D que G)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C79DFE8-3F8D-BE36-7874-67F9E4B3B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52" y="1278785"/>
            <a:ext cx="2880000" cy="294552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697C6155-60D6-C03B-C872-2115F40ED6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2750" y="1278785"/>
            <a:ext cx="2880000" cy="2945522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0BB4408-7158-7E08-91A3-0BCD5DF8FE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3192" y="1278785"/>
            <a:ext cx="2880000" cy="2945522"/>
          </a:xfrm>
          <a:prstGeom prst="rect">
            <a:avLst/>
          </a:prstGeom>
        </p:spPr>
      </p:pic>
      <p:sp>
        <p:nvSpPr>
          <p:cNvPr id="9" name="Google Shape;295;g220569f7507_1_196">
            <a:extLst>
              <a:ext uri="{FF2B5EF4-FFF2-40B4-BE49-F238E27FC236}">
                <a16:creationId xmlns:a16="http://schemas.microsoft.com/office/drawing/2014/main" id="{0F10D328-9827-6D3F-74E3-4CFB7A506692}"/>
              </a:ext>
            </a:extLst>
          </p:cNvPr>
          <p:cNvSpPr txBox="1"/>
          <p:nvPr/>
        </p:nvSpPr>
        <p:spPr>
          <a:xfrm>
            <a:off x="611079" y="43893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</a:t>
            </a:r>
          </a:p>
        </p:txBody>
      </p:sp>
      <p:sp>
        <p:nvSpPr>
          <p:cNvPr id="10" name="Google Shape;295;g220569f7507_1_196">
            <a:extLst>
              <a:ext uri="{FF2B5EF4-FFF2-40B4-BE49-F238E27FC236}">
                <a16:creationId xmlns:a16="http://schemas.microsoft.com/office/drawing/2014/main" id="{8984718D-CC04-8D44-0030-74347BBD7FC2}"/>
              </a:ext>
            </a:extLst>
          </p:cNvPr>
          <p:cNvSpPr txBox="1"/>
          <p:nvPr/>
        </p:nvSpPr>
        <p:spPr>
          <a:xfrm>
            <a:off x="3390858" y="43893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64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</a:t>
            </a:r>
          </a:p>
        </p:txBody>
      </p:sp>
      <p:sp>
        <p:nvSpPr>
          <p:cNvPr id="11" name="Google Shape;295;g220569f7507_1_196">
            <a:extLst>
              <a:ext uri="{FF2B5EF4-FFF2-40B4-BE49-F238E27FC236}">
                <a16:creationId xmlns:a16="http://schemas.microsoft.com/office/drawing/2014/main" id="{3C4098F8-F0EC-FCA9-70A3-7D64EB50336A}"/>
              </a:ext>
            </a:extLst>
          </p:cNvPr>
          <p:cNvSpPr txBox="1"/>
          <p:nvPr/>
        </p:nvSpPr>
        <p:spPr>
          <a:xfrm>
            <a:off x="6490511" y="43893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128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</a:t>
            </a:r>
          </a:p>
        </p:txBody>
      </p:sp>
    </p:spTree>
    <p:extLst>
      <p:ext uri="{BB962C8B-B14F-4D97-AF65-F5344CB8AC3E}">
        <p14:creationId xmlns:p14="http://schemas.microsoft.com/office/powerpoint/2010/main" val="35142906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6A890A41-BD00-3642-ABFA-40B00C6D2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BA4F40F1-1A76-64A8-61BE-2CD0D343F51F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9157D0A9-5A07-89D1-69CC-3A9F2B5F88B9}"/>
              </a:ext>
            </a:extLst>
          </p:cNvPr>
          <p:cNvSpPr txBox="1"/>
          <p:nvPr/>
        </p:nvSpPr>
        <p:spPr>
          <a:xfrm>
            <a:off x="251252" y="1093674"/>
            <a:ext cx="8641496" cy="363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exp3 – Varia batch_size y n_critic (entrenar mas veces D que G)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9FBEF20-3EBE-406D-C74D-15E50662C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52" y="1581294"/>
            <a:ext cx="2880000" cy="294552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980B507-12D8-AA18-A4FA-E45F4142C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2750" y="1581294"/>
            <a:ext cx="2880000" cy="294552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7861807-5648-BB7E-04A1-8C8D5E91A2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7406" y="1581294"/>
            <a:ext cx="2880000" cy="2945522"/>
          </a:xfrm>
          <a:prstGeom prst="rect">
            <a:avLst/>
          </a:prstGeom>
        </p:spPr>
      </p:pic>
      <p:sp>
        <p:nvSpPr>
          <p:cNvPr id="8" name="Google Shape;295;g220569f7507_1_196">
            <a:extLst>
              <a:ext uri="{FF2B5EF4-FFF2-40B4-BE49-F238E27FC236}">
                <a16:creationId xmlns:a16="http://schemas.microsoft.com/office/drawing/2014/main" id="{D5CC434B-A0BF-8487-84BF-87CA6F3C65C8}"/>
              </a:ext>
            </a:extLst>
          </p:cNvPr>
          <p:cNvSpPr txBox="1"/>
          <p:nvPr/>
        </p:nvSpPr>
        <p:spPr>
          <a:xfrm>
            <a:off x="611079" y="45268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</a:t>
            </a:r>
          </a:p>
        </p:txBody>
      </p:sp>
      <p:sp>
        <p:nvSpPr>
          <p:cNvPr id="9" name="Google Shape;295;g220569f7507_1_196">
            <a:extLst>
              <a:ext uri="{FF2B5EF4-FFF2-40B4-BE49-F238E27FC236}">
                <a16:creationId xmlns:a16="http://schemas.microsoft.com/office/drawing/2014/main" id="{EDB2AC20-EF5D-DA03-36F8-994D5606737F}"/>
              </a:ext>
            </a:extLst>
          </p:cNvPr>
          <p:cNvSpPr txBox="1"/>
          <p:nvPr/>
        </p:nvSpPr>
        <p:spPr>
          <a:xfrm>
            <a:off x="3390858" y="45268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5</a:t>
            </a:r>
          </a:p>
        </p:txBody>
      </p:sp>
      <p:sp>
        <p:nvSpPr>
          <p:cNvPr id="10" name="Google Shape;295;g220569f7507_1_196">
            <a:extLst>
              <a:ext uri="{FF2B5EF4-FFF2-40B4-BE49-F238E27FC236}">
                <a16:creationId xmlns:a16="http://schemas.microsoft.com/office/drawing/2014/main" id="{8942D241-EF00-8ECB-9A4D-3201CC955A95}"/>
              </a:ext>
            </a:extLst>
          </p:cNvPr>
          <p:cNvSpPr txBox="1"/>
          <p:nvPr/>
        </p:nvSpPr>
        <p:spPr>
          <a:xfrm>
            <a:off x="6490511" y="45268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10</a:t>
            </a:r>
            <a:endParaRPr lang="en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" name="Google Shape;295;g220569f7507_1_196">
            <a:extLst>
              <a:ext uri="{FF2B5EF4-FFF2-40B4-BE49-F238E27FC236}">
                <a16:creationId xmlns:a16="http://schemas.microsoft.com/office/drawing/2014/main" id="{98C8F893-6C47-B9AA-51B0-7277926DFCC3}"/>
              </a:ext>
            </a:extLst>
          </p:cNvPr>
          <p:cNvSpPr txBox="1"/>
          <p:nvPr/>
        </p:nvSpPr>
        <p:spPr>
          <a:xfrm>
            <a:off x="6371381" y="1922045"/>
            <a:ext cx="2353231" cy="2038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400" b="1" dirty="0">
                <a:solidFill>
                  <a:schemeClr val="accent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</a:t>
            </a:r>
            <a:r>
              <a:rPr lang="en" sz="2400" b="1" dirty="0">
                <a:solidFill>
                  <a:schemeClr val="accent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odel collapse!!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400" b="1" dirty="0">
              <a:solidFill>
                <a:schemeClr val="accent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400" b="1" dirty="0">
                <a:solidFill>
                  <a:schemeClr val="accent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El G encuentra “cómodo” solo producir cifras “faciles”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400" b="1" dirty="0">
                <a:solidFill>
                  <a:schemeClr val="accent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2400" b="1" dirty="0">
              <a:solidFill>
                <a:schemeClr val="accent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496538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00C30C6A-63CA-5BA3-744B-668297FB8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8BCF6F4E-FB4E-3788-C389-0F6DEAF97028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CADDCBA7-46E5-C454-6EA8-49718D99C0D1}"/>
              </a:ext>
            </a:extLst>
          </p:cNvPr>
          <p:cNvSpPr txBox="1"/>
          <p:nvPr/>
        </p:nvSpPr>
        <p:spPr>
          <a:xfrm>
            <a:off x="251252" y="1093674"/>
            <a:ext cx="8641496" cy="508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exp4 – Entrenamiento extendido (200 epochs)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58891D0-23A3-54F5-13EF-12F643E866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9857" y="1488827"/>
            <a:ext cx="3937326" cy="155263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301722F-FBC1-0DF5-9C35-36C8FA0EA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232" y="3129350"/>
            <a:ext cx="1800000" cy="184095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6DA0545-9A55-A698-EFAA-7FECA4C43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1236" y="3129349"/>
            <a:ext cx="1800000" cy="1840951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C69F3A7-9C04-56D6-AF24-0C1ADEA0AB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5466" y="3168784"/>
            <a:ext cx="1800000" cy="184095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2956A771-401F-E227-59F6-88FAE83059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2245" y="3184251"/>
            <a:ext cx="1800000" cy="1840951"/>
          </a:xfrm>
          <a:prstGeom prst="rect">
            <a:avLst/>
          </a:prstGeom>
        </p:spPr>
      </p:pic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CE633B78-3673-8A43-9097-7708613A70BD}"/>
              </a:ext>
            </a:extLst>
          </p:cNvPr>
          <p:cNvCxnSpPr>
            <a:cxnSpLocks/>
          </p:cNvCxnSpPr>
          <p:nvPr/>
        </p:nvCxnSpPr>
        <p:spPr>
          <a:xfrm flipH="1">
            <a:off x="2087232" y="2933199"/>
            <a:ext cx="917225" cy="25105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5BDE8546-D52F-B0F9-D39E-6F512BF44F3E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3381236" y="2952917"/>
            <a:ext cx="473459" cy="1764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65D3F733-DF42-CCD8-189B-22774BD4FDAC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4785131" y="2981180"/>
            <a:ext cx="730335" cy="18760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1F936A48-7E68-AF86-FC1D-DEA293803426}"/>
              </a:ext>
            </a:extLst>
          </p:cNvPr>
          <p:cNvCxnSpPr>
            <a:cxnSpLocks/>
          </p:cNvCxnSpPr>
          <p:nvPr/>
        </p:nvCxnSpPr>
        <p:spPr>
          <a:xfrm>
            <a:off x="6084541" y="2933199"/>
            <a:ext cx="707704" cy="23558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430D180E-6B15-032F-FB1F-51402EEFAC75}"/>
              </a:ext>
            </a:extLst>
          </p:cNvPr>
          <p:cNvSpPr txBox="1"/>
          <p:nvPr/>
        </p:nvSpPr>
        <p:spPr>
          <a:xfrm>
            <a:off x="21887" y="1569319"/>
            <a:ext cx="213004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D sigue mejorando como clasificador real/falso, pero G ya alcanzó un nivel visual aceptable y no mejora en la métrica adversaria al mismo ritmo.</a:t>
            </a:r>
            <a:endParaRPr lang="es-ES" sz="1200" dirty="0">
              <a:solidFill>
                <a:schemeClr val="accent3"/>
              </a:solidFill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0308AC55-6AF4-83B5-2679-9FA1BE57331B}"/>
              </a:ext>
            </a:extLst>
          </p:cNvPr>
          <p:cNvSpPr txBox="1"/>
          <p:nvPr/>
        </p:nvSpPr>
        <p:spPr>
          <a:xfrm>
            <a:off x="6415466" y="971045"/>
            <a:ext cx="2703932" cy="1946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al principio ambos mejoran rápido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después 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 aprende una frontera de decisión bastante buena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más adelante 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 ya produce dígitos razonables, pero corregir defectos finos es mucho más difícil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entonces 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 sigue mejorando un poco, y ese pequeño margen ya alcanza para hacer subir </a:t>
            </a:r>
            <a:r>
              <a:rPr lang="es-ES" sz="1200" b="0" i="0" dirty="0" err="1">
                <a:solidFill>
                  <a:schemeClr val="accent3"/>
                </a:solidFill>
                <a:effectLst/>
                <a:latin typeface="Consolas" panose="020B0609020204030204" pitchFamily="49" charset="0"/>
              </a:rPr>
              <a:t>G_loss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598751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08F786FB-164D-BA01-720E-A7C8CBF50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F9871FBA-7658-D0EB-599C-308338962F8B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7EC07DDC-1D67-7F7F-52FF-E6CCA171393A}"/>
              </a:ext>
            </a:extLst>
          </p:cNvPr>
          <p:cNvSpPr txBox="1"/>
          <p:nvPr/>
        </p:nvSpPr>
        <p:spPr>
          <a:xfrm>
            <a:off x="251252" y="695805"/>
            <a:ext cx="8641496" cy="30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exp5 – scheduler lr a D y G, para evitar sobreaprendizaje del G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479E7DC-7BC7-DA7D-4B70-A05B8821D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8469" y="1065653"/>
            <a:ext cx="3600000" cy="128700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59678E6-5AFD-B08D-D96C-33A2C9451C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6599" y="2345215"/>
            <a:ext cx="3441870" cy="141961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A860AAC-64BA-B4BD-36B2-3A84F8911A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" y="3613526"/>
            <a:ext cx="1440000" cy="1472761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D212FEE-571E-0D3B-C29E-6824184973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9015" y="3632222"/>
            <a:ext cx="1440000" cy="147276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A7FAFBD2-AF15-E607-3BB4-C34CE7B915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9756" y="3586789"/>
            <a:ext cx="1440000" cy="147276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B5196221-21DC-0C0F-8BD9-8B7B5A767F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59756" y="3218599"/>
            <a:ext cx="1800000" cy="1840951"/>
          </a:xfrm>
          <a:prstGeom prst="rect">
            <a:avLst/>
          </a:prstGeom>
        </p:spPr>
      </p:pic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A5FFA43E-3508-BA26-AE43-2EE7C9FE39A8}"/>
              </a:ext>
            </a:extLst>
          </p:cNvPr>
          <p:cNvCxnSpPr>
            <a:cxnSpLocks/>
          </p:cNvCxnSpPr>
          <p:nvPr/>
        </p:nvCxnSpPr>
        <p:spPr>
          <a:xfrm flipH="1">
            <a:off x="1544688" y="3586789"/>
            <a:ext cx="1634416" cy="6157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2E3D83F4-A469-4469-CDBE-0276439BF7B6}"/>
              </a:ext>
            </a:extLst>
          </p:cNvPr>
          <p:cNvCxnSpPr>
            <a:cxnSpLocks/>
          </p:cNvCxnSpPr>
          <p:nvPr/>
        </p:nvCxnSpPr>
        <p:spPr>
          <a:xfrm flipH="1">
            <a:off x="3402723" y="3704581"/>
            <a:ext cx="473459" cy="1764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5C25090F-362D-77AF-7EE3-C1B627BF981B}"/>
              </a:ext>
            </a:extLst>
          </p:cNvPr>
          <p:cNvCxnSpPr>
            <a:cxnSpLocks/>
          </p:cNvCxnSpPr>
          <p:nvPr/>
        </p:nvCxnSpPr>
        <p:spPr>
          <a:xfrm>
            <a:off x="4969218" y="3729120"/>
            <a:ext cx="850538" cy="40390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2717843D-6F1E-A95D-1425-57BBFB1422FC}"/>
              </a:ext>
            </a:extLst>
          </p:cNvPr>
          <p:cNvCxnSpPr>
            <a:cxnSpLocks/>
          </p:cNvCxnSpPr>
          <p:nvPr/>
        </p:nvCxnSpPr>
        <p:spPr>
          <a:xfrm flipV="1">
            <a:off x="5803277" y="3540162"/>
            <a:ext cx="1456479" cy="1260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04904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BF00FC04-BBED-3C5E-7ADB-5D575B50B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A1DA6A0C-A8E0-4D34-1363-34167DEC411E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8BD79883-E5E6-642C-C252-5EB7BF91EEB7}"/>
              </a:ext>
            </a:extLst>
          </p:cNvPr>
          <p:cNvSpPr txBox="1"/>
          <p:nvPr/>
        </p:nvSpPr>
        <p:spPr>
          <a:xfrm>
            <a:off x="198806" y="2098134"/>
            <a:ext cx="8641496" cy="30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exp4 vs exp5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AE038DC2-7961-FC40-EC70-D8BDCCF6D2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302" y="743140"/>
            <a:ext cx="3240000" cy="331371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2F070547-85A4-FF11-E854-1A463D4D41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556" y="746586"/>
            <a:ext cx="3240000" cy="3313712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7A5B8291-69D2-6171-598D-0994D895990B}"/>
              </a:ext>
            </a:extLst>
          </p:cNvPr>
          <p:cNvSpPr txBox="1"/>
          <p:nvPr/>
        </p:nvSpPr>
        <p:spPr>
          <a:xfrm>
            <a:off x="1589887" y="4225576"/>
            <a:ext cx="555343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b="0" i="0" dirty="0">
                <a:solidFill>
                  <a:schemeClr val="accent3"/>
                </a:solidFill>
                <a:effectLst/>
                <a:latin typeface="Segoe WPC"/>
              </a:rPr>
              <a:t>Que el discriminador esté alrededor de </a:t>
            </a:r>
            <a:r>
              <a:rPr lang="es-ES" b="0" i="0" dirty="0">
                <a:solidFill>
                  <a:schemeClr val="accent3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s-ES" b="0" i="0" dirty="0">
                <a:solidFill>
                  <a:schemeClr val="accent3"/>
                </a:solidFill>
                <a:effectLst/>
                <a:latin typeface="Segoe WPC"/>
              </a:rPr>
              <a:t> quiere decir: “ya no distingue con mucha confianza entre real y falso”. Eso es estabilidad adversaria, no garantía de mejores dígitos.</a:t>
            </a:r>
            <a:endParaRPr lang="es-E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34969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20569f7507_1_172"/>
          <p:cNvSpPr txBox="1"/>
          <p:nvPr/>
        </p:nvSpPr>
        <p:spPr>
          <a:xfrm>
            <a:off x="222275" y="814403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Conditionals GANs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le pasa un ‘label’ para que genere algo bajo ese ‘label’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69" name="Google Shape;269;g220569f7507_1_172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Implementación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270" name="Google Shape;270;g220569f7507_1_1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41863" y="1986797"/>
            <a:ext cx="5699757" cy="2316974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g220569f7507_1_172"/>
          <p:cNvSpPr/>
          <p:nvPr/>
        </p:nvSpPr>
        <p:spPr>
          <a:xfrm>
            <a:off x="112689" y="4661781"/>
            <a:ext cx="886066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https://machinelearningmastery.com/impressive-applications-of-generative-adversarial-networks/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20569f7507_1_179"/>
          <p:cNvSpPr txBox="1"/>
          <p:nvPr/>
        </p:nvSpPr>
        <p:spPr>
          <a:xfrm>
            <a:off x="251252" y="704466"/>
            <a:ext cx="8641496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Super resolution GANs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77" name="Google Shape;277;g220569f7507_1_179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– Otros ejemplos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78" name="Google Shape;278;g220569f7507_1_179"/>
          <p:cNvSpPr/>
          <p:nvPr/>
        </p:nvSpPr>
        <p:spPr>
          <a:xfrm>
            <a:off x="112689" y="4661781"/>
            <a:ext cx="8860666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https://www.researchgate.net/publication/361868139_SWCGAN_Generative_Adversarial_Network_Combining_Swin_Transformer_and_CNN_for_Remote_Sensing_Image_Super-Resolution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79" name="Google Shape;279;g220569f7507_1_179"/>
          <p:cNvPicPr preferRelativeResize="0"/>
          <p:nvPr/>
        </p:nvPicPr>
        <p:blipFill rotWithShape="1">
          <a:blip r:embed="rId3">
            <a:alphaModFix/>
          </a:blip>
          <a:srcRect l="5651" t="45941" r="72717" b="20227"/>
          <a:stretch/>
        </p:blipFill>
        <p:spPr>
          <a:xfrm>
            <a:off x="1456555" y="1093304"/>
            <a:ext cx="6175988" cy="33457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20569f7507_1_186"/>
          <p:cNvSpPr txBox="1"/>
          <p:nvPr/>
        </p:nvSpPr>
        <p:spPr>
          <a:xfrm>
            <a:off x="251252" y="704466"/>
            <a:ext cx="8641496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Remote Sensing Image to Map Translation GANs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5" name="Google Shape;285;g220569f7507_1_186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– Otros ejemplos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86" name="Google Shape;286;g220569f7507_1_186"/>
          <p:cNvSpPr/>
          <p:nvPr/>
        </p:nvSpPr>
        <p:spPr>
          <a:xfrm>
            <a:off x="112689" y="4661781"/>
            <a:ext cx="886066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https://www.mdpi.com/2072-4292/13/10/1936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87" name="Google Shape;287;g220569f7507_1_186" descr="Forma&#10;&#10;Descripción generada automáticamente con confianza baj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7342" y="1408377"/>
            <a:ext cx="6949316" cy="303065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g220569f7507_1_186" descr="Imagen que contiene Aplicación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 r="79198" b="51977"/>
          <a:stretch/>
        </p:blipFill>
        <p:spPr>
          <a:xfrm>
            <a:off x="448971" y="2762299"/>
            <a:ext cx="1517626" cy="15246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g220569f7507_1_186"/>
          <p:cNvPicPr preferRelativeResize="0"/>
          <p:nvPr/>
        </p:nvPicPr>
        <p:blipFill rotWithShape="1">
          <a:blip r:embed="rId5">
            <a:alphaModFix/>
          </a:blip>
          <a:srcRect l="20282" r="59793" b="52174"/>
          <a:stretch/>
        </p:blipFill>
        <p:spPr>
          <a:xfrm>
            <a:off x="3919627" y="3104779"/>
            <a:ext cx="1055138" cy="11021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g220569f7507_1_186"/>
          <p:cNvPicPr preferRelativeResize="0"/>
          <p:nvPr/>
        </p:nvPicPr>
        <p:blipFill rotWithShape="1">
          <a:blip r:embed="rId5">
            <a:alphaModFix/>
          </a:blip>
          <a:srcRect l="20282" r="59793" b="52931"/>
          <a:stretch/>
        </p:blipFill>
        <p:spPr>
          <a:xfrm>
            <a:off x="3330720" y="1453624"/>
            <a:ext cx="1241279" cy="1276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20569f7507_1_196"/>
          <p:cNvSpPr txBox="1"/>
          <p:nvPr/>
        </p:nvSpPr>
        <p:spPr>
          <a:xfrm>
            <a:off x="251252" y="1114299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GANs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- ver colab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6" name="Google Shape;296;g220569f7507_1_196"/>
          <p:cNvSpPr/>
          <p:nvPr/>
        </p:nvSpPr>
        <p:spPr>
          <a:xfrm>
            <a:off x="2450749" y="1972520"/>
            <a:ext cx="400013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https://github.com/Yangyangii/GAN-Tutorial</a:t>
            </a:r>
            <a:endParaRPr sz="1100" dirty="0"/>
          </a:p>
        </p:txBody>
      </p:sp>
      <p:sp>
        <p:nvSpPr>
          <p:cNvPr id="297" name="Google Shape;297;g220569f7507_1_196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98" name="Google Shape;298;g220569f7507_1_196"/>
          <p:cNvSpPr txBox="1"/>
          <p:nvPr/>
        </p:nvSpPr>
        <p:spPr>
          <a:xfrm>
            <a:off x="4450816" y="4155548"/>
            <a:ext cx="46958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https://github.com/hindupuravinash/the-gan-zoo</a:t>
            </a:r>
            <a:endParaRPr sz="1100" dirty="0"/>
          </a:p>
        </p:txBody>
      </p:sp>
      <p:sp>
        <p:nvSpPr>
          <p:cNvPr id="299" name="Google Shape;299;g220569f7507_1_196"/>
          <p:cNvSpPr txBox="1"/>
          <p:nvPr/>
        </p:nvSpPr>
        <p:spPr>
          <a:xfrm>
            <a:off x="87424" y="3893847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https://arxiv.org/abs/1606.03498</a:t>
            </a:r>
            <a:endParaRPr dirty="0"/>
          </a:p>
        </p:txBody>
      </p:sp>
      <p:sp>
        <p:nvSpPr>
          <p:cNvPr id="300" name="Google Shape;300;g220569f7507_1_196"/>
          <p:cNvSpPr txBox="1"/>
          <p:nvPr/>
        </p:nvSpPr>
        <p:spPr>
          <a:xfrm>
            <a:off x="120325" y="3049798"/>
            <a:ext cx="2414834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How to train GANs: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52BA9D1-0C1A-6AF6-A3CD-CDB983D8E434}"/>
              </a:ext>
            </a:extLst>
          </p:cNvPr>
          <p:cNvSpPr txBox="1"/>
          <p:nvPr/>
        </p:nvSpPr>
        <p:spPr>
          <a:xfrm>
            <a:off x="87424" y="3565447"/>
            <a:ext cx="3327655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https://neptune.ai/blog/gan-loss-functions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1A771BC-9320-4477-D4CE-E48E835C0A6D}"/>
              </a:ext>
            </a:extLst>
          </p:cNvPr>
          <p:cNvSpPr txBox="1"/>
          <p:nvPr/>
        </p:nvSpPr>
        <p:spPr>
          <a:xfrm>
            <a:off x="4450816" y="3529259"/>
            <a:ext cx="3680827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https://docs.pytorch.org/tutorials/beginner/dcgan_faces_tutorial.html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65C14E4-B3EF-D19C-1D43-2D916429F03D}"/>
              </a:ext>
            </a:extLst>
          </p:cNvPr>
          <p:cNvSpPr txBox="1"/>
          <p:nvPr/>
        </p:nvSpPr>
        <p:spPr>
          <a:xfrm>
            <a:off x="4450816" y="4472539"/>
            <a:ext cx="4693184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https://github.com/nashory/gans-awesome-applications</a:t>
            </a:r>
          </a:p>
        </p:txBody>
      </p:sp>
      <p:sp>
        <p:nvSpPr>
          <p:cNvPr id="8" name="Google Shape;300;g220569f7507_1_196">
            <a:extLst>
              <a:ext uri="{FF2B5EF4-FFF2-40B4-BE49-F238E27FC236}">
                <a16:creationId xmlns:a16="http://schemas.microsoft.com/office/drawing/2014/main" id="{6512D101-6837-A73E-D75D-958F6A99344A}"/>
              </a:ext>
            </a:extLst>
          </p:cNvPr>
          <p:cNvSpPr txBox="1"/>
          <p:nvPr/>
        </p:nvSpPr>
        <p:spPr>
          <a:xfrm>
            <a:off x="5468807" y="2979754"/>
            <a:ext cx="2414834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as sobre GANs: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D79F49-D78E-CC45-08B2-8B5CF4768294}"/>
              </a:ext>
            </a:extLst>
          </p:cNvPr>
          <p:cNvSpPr txBox="1"/>
          <p:nvPr/>
        </p:nvSpPr>
        <p:spPr>
          <a:xfrm>
            <a:off x="120325" y="4204101"/>
            <a:ext cx="3206769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https://github.com/soumith/ganhacks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B8CC89-ED55-C9D3-89AC-203C814D0040}"/>
              </a:ext>
            </a:extLst>
          </p:cNvPr>
          <p:cNvSpPr txBox="1"/>
          <p:nvPr/>
        </p:nvSpPr>
        <p:spPr>
          <a:xfrm>
            <a:off x="120324" y="4517436"/>
            <a:ext cx="3449141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https://dropsofai.com/best-practices-for-training-stable-gans/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1423</TotalTime>
  <Words>1627</Words>
  <Application>Microsoft Office PowerPoint</Application>
  <PresentationFormat>Presentación en pantalla (16:9)</PresentationFormat>
  <Paragraphs>259</Paragraphs>
  <Slides>31</Slides>
  <Notes>31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31</vt:i4>
      </vt:variant>
    </vt:vector>
  </HeadingPairs>
  <TitlesOfParts>
    <vt:vector size="39" baseType="lpstr">
      <vt:lpstr>Roboto</vt:lpstr>
      <vt:lpstr>Consolas</vt:lpstr>
      <vt:lpstr>Times New Roman</vt:lpstr>
      <vt:lpstr>Arial</vt:lpstr>
      <vt:lpstr>Twentieth Century</vt:lpstr>
      <vt:lpstr>Cambria Math</vt:lpstr>
      <vt:lpstr>Segoe WPC</vt:lpstr>
      <vt:lpstr>Material</vt:lpstr>
      <vt:lpstr>Aprendizaje Profundo</vt:lpstr>
      <vt:lpstr>TRANSFER LEARNING GENERATIVE ADVERSARIAL NETWORKS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14</cp:revision>
  <cp:lastPrinted>2026-04-21T15:09:08Z</cp:lastPrinted>
  <dcterms:modified xsi:type="dcterms:W3CDTF">2026-06-16T18:56:36Z</dcterms:modified>
</cp:coreProperties>
</file>