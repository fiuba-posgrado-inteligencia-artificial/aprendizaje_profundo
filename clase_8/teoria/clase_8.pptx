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5" r:id="rId9"/>
    <p:sldId id="262" r:id="rId10"/>
    <p:sldId id="263" r:id="rId11"/>
    <p:sldId id="266" r:id="rId12"/>
    <p:sldId id="276" r:id="rId13"/>
    <p:sldId id="267" r:id="rId14"/>
    <p:sldId id="268" r:id="rId15"/>
    <p:sldId id="270" r:id="rId16"/>
    <p:sldId id="279" r:id="rId17"/>
    <p:sldId id="277" r:id="rId18"/>
    <p:sldId id="280" r:id="rId19"/>
    <p:sldId id="282" r:id="rId20"/>
    <p:sldId id="281" r:id="rId21"/>
    <p:sldId id="283" r:id="rId22"/>
    <p:sldId id="284" r:id="rId23"/>
    <p:sldId id="287" r:id="rId24"/>
    <p:sldId id="285" r:id="rId25"/>
    <p:sldId id="286" r:id="rId26"/>
    <p:sldId id="288" r:id="rId27"/>
    <p:sldId id="272" r:id="rId28"/>
    <p:sldId id="273" r:id="rId29"/>
    <p:sldId id="274" r:id="rId30"/>
    <p:sldId id="275" r:id="rId31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33"/>
    </p:embeddedFont>
    <p:embeddedFont>
      <p:font typeface="Consolas" panose="020B0609020204030204" pitchFamily="49" charset="0"/>
      <p:regular r:id="rId34"/>
      <p:bold r:id="rId35"/>
      <p:italic r:id="rId36"/>
      <p:boldItalic r:id="rId37"/>
    </p:embeddedFont>
    <p:embeddedFont>
      <p:font typeface="Roboto" panose="02000000000000000000" pitchFamily="2" charset="0"/>
      <p:regular r:id="rId38"/>
      <p:bold r:id="rId39"/>
      <p:italic r:id="rId40"/>
      <p:boldItalic r:id="rId4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42" roundtripDataSignature="AMtx7miTlHx5yX8y6UIlPPbgbTlcU6qf9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516" y="-34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7.fntdata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customschemas.google.com/relationships/presentationmetadata" Target="metadata"/><Relationship Id="rId47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font" Target="fonts/font8.fntdata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font" Target="fonts/font6.fntdata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font" Target="fonts/font9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cos Maillot" userId="fa14b39d-e966-4ebb-a436-4f96f84b9577" providerId="ADAL" clId="{152A8D8E-FC9A-4326-9172-4A160D290924}"/>
    <pc:docChg chg="modSld">
      <pc:chgData name="Marcos Maillot" userId="fa14b39d-e966-4ebb-a436-4f96f84b9577" providerId="ADAL" clId="{152A8D8E-FC9A-4326-9172-4A160D290924}" dt="2026-04-22T00:40:28.226" v="3" actId="20577"/>
      <pc:docMkLst>
        <pc:docMk/>
      </pc:docMkLst>
      <pc:sldChg chg="addSp modSp mod">
        <pc:chgData name="Marcos Maillot" userId="fa14b39d-e966-4ebb-a436-4f96f84b9577" providerId="ADAL" clId="{152A8D8E-FC9A-4326-9172-4A160D290924}" dt="2026-04-21T22:52:53.473" v="1" actId="13822"/>
        <pc:sldMkLst>
          <pc:docMk/>
          <pc:sldMk cId="0" sldId="264"/>
        </pc:sldMkLst>
        <pc:cxnChg chg="add mod">
          <ac:chgData name="Marcos Maillot" userId="fa14b39d-e966-4ebb-a436-4f96f84b9577" providerId="ADAL" clId="{152A8D8E-FC9A-4326-9172-4A160D290924}" dt="2026-04-21T22:52:53.473" v="1" actId="13822"/>
          <ac:cxnSpMkLst>
            <pc:docMk/>
            <pc:sldMk cId="0" sldId="264"/>
            <ac:cxnSpMk id="4" creationId="{37719482-AA8E-A7D1-5DCC-DB2C15890F9D}"/>
          </ac:cxnSpMkLst>
        </pc:cxnChg>
      </pc:sldChg>
      <pc:sldChg chg="modSp mod">
        <pc:chgData name="Marcos Maillot" userId="fa14b39d-e966-4ebb-a436-4f96f84b9577" providerId="ADAL" clId="{152A8D8E-FC9A-4326-9172-4A160D290924}" dt="2026-04-22T00:40:28.226" v="3" actId="20577"/>
        <pc:sldMkLst>
          <pc:docMk/>
          <pc:sldMk cId="496538030" sldId="287"/>
        </pc:sldMkLst>
        <pc:spChg chg="mod">
          <ac:chgData name="Marcos Maillot" userId="fa14b39d-e966-4ebb-a436-4f96f84b9577" providerId="ADAL" clId="{152A8D8E-FC9A-4326-9172-4A160D290924}" dt="2026-04-22T00:40:28.226" v="3" actId="20577"/>
          <ac:spMkLst>
            <pc:docMk/>
            <pc:sldMk cId="496538030" sldId="287"/>
            <ac:spMk id="10" creationId="{8942D241-EF00-8ECB-9A4D-3201CC955A95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1" name="Google Shape;7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" name="Google Shape;7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220569f7507_1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g220569f7507_1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220569f7507_1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g220569f7507_1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220569f7507_1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" name="Google Shape;101;g220569f7507_1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220569f7507_1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g220569f7507_1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220569f7507_1_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g220569f7507_1_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220569f7507_1_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g220569f7507_1_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220569f7507_1_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g220569f7507_1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220569f7507_1_1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g220569f7507_1_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220569f7507_1_1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g220569f7507_1_1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>
          <a:extLst>
            <a:ext uri="{FF2B5EF4-FFF2-40B4-BE49-F238E27FC236}">
              <a16:creationId xmlns:a16="http://schemas.microsoft.com/office/drawing/2014/main" id="{221A1879-2E44-5792-0D93-E96EE640D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220569f7507_1_129:notes">
            <a:extLst>
              <a:ext uri="{FF2B5EF4-FFF2-40B4-BE49-F238E27FC236}">
                <a16:creationId xmlns:a16="http://schemas.microsoft.com/office/drawing/2014/main" id="{F2A404AD-DD5B-70E3-471D-A5DBA47F22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g220569f7507_1_129:notes">
            <a:extLst>
              <a:ext uri="{FF2B5EF4-FFF2-40B4-BE49-F238E27FC236}">
                <a16:creationId xmlns:a16="http://schemas.microsoft.com/office/drawing/2014/main" id="{676E64D4-E608-D8C8-0805-4CD7A6B219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4505340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220569f7507_1_1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g220569f7507_1_1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220569f7507_1_1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4" name="Google Shape;224;g220569f7507_1_1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220569f7507_1_1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g220569f7507_1_1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>
          <a:extLst>
            <a:ext uri="{FF2B5EF4-FFF2-40B4-BE49-F238E27FC236}">
              <a16:creationId xmlns:a16="http://schemas.microsoft.com/office/drawing/2014/main" id="{5E35F0FC-1D34-97CF-D03D-A11563767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220569f7507_1_154:notes">
            <a:extLst>
              <a:ext uri="{FF2B5EF4-FFF2-40B4-BE49-F238E27FC236}">
                <a16:creationId xmlns:a16="http://schemas.microsoft.com/office/drawing/2014/main" id="{5A46CD1D-7E77-C4CF-8C7E-D795E0D250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g220569f7507_1_154:notes">
            <a:extLst>
              <a:ext uri="{FF2B5EF4-FFF2-40B4-BE49-F238E27FC236}">
                <a16:creationId xmlns:a16="http://schemas.microsoft.com/office/drawing/2014/main" id="{466A0C52-5B8D-E741-156F-EE2F00B3F4F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9069880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22D88B79-09AE-7890-1DEE-519042BD5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220569f7507_1_172:notes">
            <a:extLst>
              <a:ext uri="{FF2B5EF4-FFF2-40B4-BE49-F238E27FC236}">
                <a16:creationId xmlns:a16="http://schemas.microsoft.com/office/drawing/2014/main" id="{E1F92B08-F286-0DC9-0C1F-CD6EBD044D4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g220569f7507_1_172:notes">
            <a:extLst>
              <a:ext uri="{FF2B5EF4-FFF2-40B4-BE49-F238E27FC236}">
                <a16:creationId xmlns:a16="http://schemas.microsoft.com/office/drawing/2014/main" id="{09051D2C-EB3A-4F4A-2199-DABA9E007A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8891569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32A47DB7-3E53-8DC9-E4DE-2E24C80AF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220569f7507_1_172:notes">
            <a:extLst>
              <a:ext uri="{FF2B5EF4-FFF2-40B4-BE49-F238E27FC236}">
                <a16:creationId xmlns:a16="http://schemas.microsoft.com/office/drawing/2014/main" id="{9EE5F0C6-BA2F-6757-B892-10E0EED707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g220569f7507_1_172:notes">
            <a:extLst>
              <a:ext uri="{FF2B5EF4-FFF2-40B4-BE49-F238E27FC236}">
                <a16:creationId xmlns:a16="http://schemas.microsoft.com/office/drawing/2014/main" id="{316685EC-8797-926C-6C6E-925A270EE6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0868410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B7D11466-8DA2-D427-CAB2-3045095AB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220569f7507_1_172:notes">
            <a:extLst>
              <a:ext uri="{FF2B5EF4-FFF2-40B4-BE49-F238E27FC236}">
                <a16:creationId xmlns:a16="http://schemas.microsoft.com/office/drawing/2014/main" id="{3B552CDE-1EA3-45C8-BBB8-655DE1A54E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g220569f7507_1_172:notes">
            <a:extLst>
              <a:ext uri="{FF2B5EF4-FFF2-40B4-BE49-F238E27FC236}">
                <a16:creationId xmlns:a16="http://schemas.microsoft.com/office/drawing/2014/main" id="{975EE83C-BC78-394E-1B6E-EE99BAD48D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0466011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3BE3F212-7E99-B338-E3FA-7A72AFD94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220569f7507_1_172:notes">
            <a:extLst>
              <a:ext uri="{FF2B5EF4-FFF2-40B4-BE49-F238E27FC236}">
                <a16:creationId xmlns:a16="http://schemas.microsoft.com/office/drawing/2014/main" id="{4C6DA826-65B8-4CFF-71DA-24AC3BB36D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g220569f7507_1_172:notes">
            <a:extLst>
              <a:ext uri="{FF2B5EF4-FFF2-40B4-BE49-F238E27FC236}">
                <a16:creationId xmlns:a16="http://schemas.microsoft.com/office/drawing/2014/main" id="{33D9940C-3146-BE31-BF2F-F654BF8389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7698876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16F9C7A1-3E7C-0775-85B3-1B4F09EC9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220569f7507_1_172:notes">
            <a:extLst>
              <a:ext uri="{FF2B5EF4-FFF2-40B4-BE49-F238E27FC236}">
                <a16:creationId xmlns:a16="http://schemas.microsoft.com/office/drawing/2014/main" id="{A59308E1-172E-49FB-70ED-5F1A68C0E0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g220569f7507_1_172:notes">
            <a:extLst>
              <a:ext uri="{FF2B5EF4-FFF2-40B4-BE49-F238E27FC236}">
                <a16:creationId xmlns:a16="http://schemas.microsoft.com/office/drawing/2014/main" id="{4E9D069B-1367-4C16-B823-99D76D5A65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1454317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2BA1C75F-5813-1393-1287-8DF1484E21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220569f7507_1_172:notes">
            <a:extLst>
              <a:ext uri="{FF2B5EF4-FFF2-40B4-BE49-F238E27FC236}">
                <a16:creationId xmlns:a16="http://schemas.microsoft.com/office/drawing/2014/main" id="{CDDBE5EE-3669-DC66-FCC2-66C14859E2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g220569f7507_1_172:notes">
            <a:extLst>
              <a:ext uri="{FF2B5EF4-FFF2-40B4-BE49-F238E27FC236}">
                <a16:creationId xmlns:a16="http://schemas.microsoft.com/office/drawing/2014/main" id="{CD4C51B5-63AA-6837-3924-7C59FF54A2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1083488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930AD179-A2F6-BB19-86E1-83168140BC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220569f7507_1_172:notes">
            <a:extLst>
              <a:ext uri="{FF2B5EF4-FFF2-40B4-BE49-F238E27FC236}">
                <a16:creationId xmlns:a16="http://schemas.microsoft.com/office/drawing/2014/main" id="{FA3A1F15-93B4-CCDD-B65A-5F1CA4E852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g220569f7507_1_172:notes">
            <a:extLst>
              <a:ext uri="{FF2B5EF4-FFF2-40B4-BE49-F238E27FC236}">
                <a16:creationId xmlns:a16="http://schemas.microsoft.com/office/drawing/2014/main" id="{081BDA9D-475A-B601-33E8-3B7666AF5D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5592053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11A20F22-DDD4-8AC5-90C1-7DE674A27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220569f7507_1_172:notes">
            <a:extLst>
              <a:ext uri="{FF2B5EF4-FFF2-40B4-BE49-F238E27FC236}">
                <a16:creationId xmlns:a16="http://schemas.microsoft.com/office/drawing/2014/main" id="{107F57D5-0ECC-7180-54F3-E20A2968F2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g220569f7507_1_172:notes">
            <a:extLst>
              <a:ext uri="{FF2B5EF4-FFF2-40B4-BE49-F238E27FC236}">
                <a16:creationId xmlns:a16="http://schemas.microsoft.com/office/drawing/2014/main" id="{3D2FF015-2732-25BB-1056-EB398EE524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6091216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F2D7B86E-1B48-4778-854D-C157B3CBE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220569f7507_1_172:notes">
            <a:extLst>
              <a:ext uri="{FF2B5EF4-FFF2-40B4-BE49-F238E27FC236}">
                <a16:creationId xmlns:a16="http://schemas.microsoft.com/office/drawing/2014/main" id="{AE7C5557-24B8-DD61-F355-6FAE0FA5CE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g220569f7507_1_172:notes">
            <a:extLst>
              <a:ext uri="{FF2B5EF4-FFF2-40B4-BE49-F238E27FC236}">
                <a16:creationId xmlns:a16="http://schemas.microsoft.com/office/drawing/2014/main" id="{EEE47C07-033A-30A5-26F6-09D310C7F2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6866628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10B8D854-2B53-478F-039C-35304922B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220569f7507_1_172:notes">
            <a:extLst>
              <a:ext uri="{FF2B5EF4-FFF2-40B4-BE49-F238E27FC236}">
                <a16:creationId xmlns:a16="http://schemas.microsoft.com/office/drawing/2014/main" id="{B3A3588C-A7C8-4686-F403-E3DB13B4AC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g220569f7507_1_172:notes">
            <a:extLst>
              <a:ext uri="{FF2B5EF4-FFF2-40B4-BE49-F238E27FC236}">
                <a16:creationId xmlns:a16="http://schemas.microsoft.com/office/drawing/2014/main" id="{ED2C6846-A5CC-BBF9-A2D2-620AB86EF9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7956843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220569f7507_1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g220569f7507_1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220569f7507_1_1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4" name="Google Shape;274;g220569f7507_1_1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20569f7507_1_1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2" name="Google Shape;282;g220569f7507_1_1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220569f7507_1_1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3" name="Google Shape;293;g220569f7507_1_1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/>
          <p:nvPr/>
        </p:nvSpPr>
        <p:spPr>
          <a:xfrm flipH="1">
            <a:off x="8246400" y="4245925"/>
            <a:ext cx="897600" cy="897600"/>
          </a:xfrm>
          <a:prstGeom prst="rtTriangl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43"/>
          <p:cNvSpPr/>
          <p:nvPr/>
        </p:nvSpPr>
        <p:spPr>
          <a:xfrm flipH="1">
            <a:off x="8246400" y="4245875"/>
            <a:ext cx="897600" cy="897600"/>
          </a:xfrm>
          <a:prstGeom prst="round1Rect">
            <a:avLst>
              <a:gd name="adj" fmla="val 16667"/>
            </a:avLst>
          </a:prstGeom>
          <a:solidFill>
            <a:schemeClr val="lt1">
              <a:alpha val="67058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43"/>
          <p:cNvSpPr txBox="1">
            <a:spLocks noGrp="1"/>
          </p:cNvSpPr>
          <p:nvPr>
            <p:ph type="ctrTitle"/>
          </p:nvPr>
        </p:nvSpPr>
        <p:spPr>
          <a:xfrm>
            <a:off x="390525" y="1819275"/>
            <a:ext cx="8222100" cy="9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3" name="Google Shape;13;p43"/>
          <p:cNvSpPr txBox="1">
            <a:spLocks noGrp="1"/>
          </p:cNvSpPr>
          <p:nvPr>
            <p:ph type="subTitle" idx="1"/>
          </p:nvPr>
        </p:nvSpPr>
        <p:spPr>
          <a:xfrm>
            <a:off x="390525" y="2789130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4"/>
          <p:cNvSpPr/>
          <p:nvPr/>
        </p:nvSpPr>
        <p:spPr>
          <a:xfrm rot="10800000" flipH="1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44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44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4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44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5"/>
          <p:cNvSpPr/>
          <p:nvPr/>
        </p:nvSpPr>
        <p:spPr>
          <a:xfrm rot="10800000" flipH="1">
            <a:off x="0" y="656400"/>
            <a:ext cx="9144000" cy="448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5"/>
          <p:cNvSpPr/>
          <p:nvPr/>
        </p:nvSpPr>
        <p:spPr>
          <a:xfrm>
            <a:off x="0" y="65635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45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25" name="Google Shape;25;p45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6"/>
          <p:cNvSpPr txBox="1">
            <a:spLocks noGrp="1"/>
          </p:cNvSpPr>
          <p:nvPr>
            <p:ph type="title"/>
          </p:nvPr>
        </p:nvSpPr>
        <p:spPr>
          <a:xfrm>
            <a:off x="460950" y="2065350"/>
            <a:ext cx="8222100" cy="101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28" name="Google Shape;28;p46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47"/>
          <p:cNvSpPr/>
          <p:nvPr/>
        </p:nvSpPr>
        <p:spPr>
          <a:xfrm rot="10800000" flipH="1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47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7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7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9999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4" name="Google Shape;34;p47"/>
          <p:cNvSpPr txBox="1">
            <a:spLocks noGrp="1"/>
          </p:cNvSpPr>
          <p:nvPr>
            <p:ph type="body" idx="2"/>
          </p:nvPr>
        </p:nvSpPr>
        <p:spPr>
          <a:xfrm>
            <a:off x="4694250" y="1919075"/>
            <a:ext cx="39999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5" name="Google Shape;35;p47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48"/>
          <p:cNvSpPr txBox="1"/>
          <p:nvPr/>
        </p:nvSpPr>
        <p:spPr>
          <a:xfrm rot="10800000" flipH="1">
            <a:off x="3276600" y="25"/>
            <a:ext cx="58674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48"/>
          <p:cNvSpPr/>
          <p:nvPr/>
        </p:nvSpPr>
        <p:spPr>
          <a:xfrm rot="-5400000">
            <a:off x="759150" y="2517450"/>
            <a:ext cx="51435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48"/>
          <p:cNvSpPr txBox="1">
            <a:spLocks noGrp="1"/>
          </p:cNvSpPr>
          <p:nvPr>
            <p:ph type="title"/>
          </p:nvPr>
        </p:nvSpPr>
        <p:spPr>
          <a:xfrm>
            <a:off x="226078" y="357800"/>
            <a:ext cx="2808000" cy="95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0" name="Google Shape;40;p48"/>
          <p:cNvSpPr txBox="1">
            <a:spLocks noGrp="1"/>
          </p:cNvSpPr>
          <p:nvPr>
            <p:ph type="body" idx="1"/>
          </p:nvPr>
        </p:nvSpPr>
        <p:spPr>
          <a:xfrm>
            <a:off x="226075" y="1465800"/>
            <a:ext cx="2808000" cy="31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1" name="Google Shape;41;p48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49"/>
          <p:cNvSpPr txBox="1">
            <a:spLocks noGrp="1"/>
          </p:cNvSpPr>
          <p:nvPr>
            <p:ph type="title"/>
          </p:nvPr>
        </p:nvSpPr>
        <p:spPr>
          <a:xfrm>
            <a:off x="490250" y="488250"/>
            <a:ext cx="6227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sp>
        <p:nvSpPr>
          <p:cNvPr id="44" name="Google Shape;44;p49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50"/>
          <p:cNvSpPr/>
          <p:nvPr/>
        </p:nvSpPr>
        <p:spPr>
          <a:xfrm flipH="1">
            <a:off x="0" y="0"/>
            <a:ext cx="45720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50"/>
          <p:cNvSpPr/>
          <p:nvPr/>
        </p:nvSpPr>
        <p:spPr>
          <a:xfrm rot="5400000">
            <a:off x="1946425" y="2517750"/>
            <a:ext cx="51429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p50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9" name="Google Shape;49;p50"/>
          <p:cNvSpPr txBox="1">
            <a:spLocks noGrp="1"/>
          </p:cNvSpPr>
          <p:nvPr>
            <p:ph type="subTitle" idx="1"/>
          </p:nvPr>
        </p:nvSpPr>
        <p:spPr>
          <a:xfrm>
            <a:off x="265500" y="2779467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0" name="Google Shape;50;p50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50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51"/>
          <p:cNvSpPr txBox="1"/>
          <p:nvPr/>
        </p:nvSpPr>
        <p:spPr>
          <a:xfrm rot="10800000" flipH="1">
            <a:off x="0" y="0"/>
            <a:ext cx="9144000" cy="46959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51"/>
          <p:cNvSpPr/>
          <p:nvPr/>
        </p:nvSpPr>
        <p:spPr>
          <a:xfrm rot="10800000" flipH="1">
            <a:off x="0" y="4622725"/>
            <a:ext cx="9144000" cy="741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51"/>
          <p:cNvSpPr txBox="1">
            <a:spLocks noGrp="1"/>
          </p:cNvSpPr>
          <p:nvPr>
            <p:ph type="body" idx="1"/>
          </p:nvPr>
        </p:nvSpPr>
        <p:spPr>
          <a:xfrm>
            <a:off x="57150" y="4696825"/>
            <a:ext cx="8382000" cy="4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</a:lstStyle>
          <a:p>
            <a:endParaRPr/>
          </a:p>
        </p:txBody>
      </p:sp>
      <p:sp>
        <p:nvSpPr>
          <p:cNvPr id="56" name="Google Shape;56;p51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accent4"/>
        </a:solidFill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52"/>
          <p:cNvSpPr txBox="1">
            <a:spLocks noGrp="1"/>
          </p:cNvSpPr>
          <p:nvPr>
            <p:ph type="title" hasCustomPrompt="1"/>
          </p:nvPr>
        </p:nvSpPr>
        <p:spPr>
          <a:xfrm>
            <a:off x="475500" y="1258525"/>
            <a:ext cx="82221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" name="Google Shape;59;p52"/>
          <p:cNvSpPr txBox="1">
            <a:spLocks noGrp="1"/>
          </p:cNvSpPr>
          <p:nvPr>
            <p:ph type="body" idx="1"/>
          </p:nvPr>
        </p:nvSpPr>
        <p:spPr>
          <a:xfrm>
            <a:off x="475500" y="3304625"/>
            <a:ext cx="82221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0" name="Google Shape;60;p52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4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53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21c03c1d1e6_1_13"/>
          <p:cNvSpPr txBox="1">
            <a:spLocks noGrp="1"/>
          </p:cNvSpPr>
          <p:nvPr>
            <p:ph type="title"/>
          </p:nvPr>
        </p:nvSpPr>
        <p:spPr>
          <a:xfrm>
            <a:off x="856060" y="463888"/>
            <a:ext cx="7429499" cy="1108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65" name="Google Shape;65;g21c03c1d1e6_1_13"/>
          <p:cNvSpPr txBox="1">
            <a:spLocks noGrp="1"/>
          </p:cNvSpPr>
          <p:nvPr>
            <p:ph type="body" idx="1"/>
          </p:nvPr>
        </p:nvSpPr>
        <p:spPr>
          <a:xfrm>
            <a:off x="856059" y="1687115"/>
            <a:ext cx="7429499" cy="26562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36550" algn="l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  <a:defRPr sz="1100"/>
            </a:lvl1pPr>
            <a:lvl2pPr marL="914400" lvl="1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○"/>
              <a:defRPr sz="1100"/>
            </a:lvl2pPr>
            <a:lvl3pPr marL="1371600" lvl="2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■"/>
              <a:defRPr sz="1100"/>
            </a:lvl3pPr>
            <a:lvl4pPr marL="1828800" lvl="3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  <a:defRPr sz="1100"/>
            </a:lvl4pPr>
            <a:lvl5pPr marL="2286000" lvl="4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○"/>
              <a:defRPr sz="1100"/>
            </a:lvl5pPr>
            <a:lvl6pPr marL="2743200" lvl="5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■"/>
              <a:defRPr sz="1100"/>
            </a:lvl6pPr>
            <a:lvl7pPr marL="3200400" lvl="6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  <a:defRPr sz="1100"/>
            </a:lvl7pPr>
            <a:lvl8pPr marL="3657600" lvl="7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○"/>
              <a:defRPr sz="1100"/>
            </a:lvl8pPr>
            <a:lvl9pPr marL="4114800" lvl="8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■"/>
              <a:defRPr sz="1100"/>
            </a:lvl9pPr>
          </a:lstStyle>
          <a:p>
            <a:endParaRPr/>
          </a:p>
        </p:txBody>
      </p:sp>
      <p:sp>
        <p:nvSpPr>
          <p:cNvPr id="66" name="Google Shape;66;g21c03c1d1e6_1_13"/>
          <p:cNvSpPr txBox="1">
            <a:spLocks noGrp="1"/>
          </p:cNvSpPr>
          <p:nvPr>
            <p:ph type="dt" idx="10"/>
          </p:nvPr>
        </p:nvSpPr>
        <p:spPr>
          <a:xfrm>
            <a:off x="5592691" y="4412457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7" name="Google Shape;67;g21c03c1d1e6_1_13"/>
          <p:cNvSpPr txBox="1">
            <a:spLocks noGrp="1"/>
          </p:cNvSpPr>
          <p:nvPr>
            <p:ph type="ftr" idx="11"/>
          </p:nvPr>
        </p:nvSpPr>
        <p:spPr>
          <a:xfrm>
            <a:off x="856058" y="4412456"/>
            <a:ext cx="4679482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8" name="Google Shape;68;g21c03c1d1e6_1_13"/>
          <p:cNvSpPr txBox="1">
            <a:spLocks noGrp="1"/>
          </p:cNvSpPr>
          <p:nvPr>
            <p:ph type="sldNum" idx="12"/>
          </p:nvPr>
        </p:nvSpPr>
        <p:spPr>
          <a:xfrm>
            <a:off x="7707241" y="4412456"/>
            <a:ext cx="578317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terial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2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42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42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"/>
          <p:cNvSpPr txBox="1">
            <a:spLocks noGrp="1"/>
          </p:cNvSpPr>
          <p:nvPr>
            <p:ph type="ctrTitle"/>
          </p:nvPr>
        </p:nvSpPr>
        <p:spPr>
          <a:xfrm>
            <a:off x="1465500" y="372650"/>
            <a:ext cx="6213000" cy="9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/>
              <a:t>Aprendizaje Profundo</a:t>
            </a:r>
            <a:endParaRPr/>
          </a:p>
        </p:txBody>
      </p:sp>
      <p:sp>
        <p:nvSpPr>
          <p:cNvPr id="74" name="Google Shape;74;p1"/>
          <p:cNvSpPr txBox="1">
            <a:spLocks noGrp="1"/>
          </p:cNvSpPr>
          <p:nvPr>
            <p:ph type="subTitle" idx="1"/>
          </p:nvPr>
        </p:nvSpPr>
        <p:spPr>
          <a:xfrm>
            <a:off x="460950" y="1379610"/>
            <a:ext cx="8222100" cy="164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2900"/>
              <a:t>Facultad de Ingeniería</a:t>
            </a:r>
            <a:endParaRPr sz="290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2900"/>
              <a:t>Universidad de Buenos Aires</a:t>
            </a:r>
            <a:endParaRPr sz="2900"/>
          </a:p>
        </p:txBody>
      </p:sp>
      <p:sp>
        <p:nvSpPr>
          <p:cNvPr id="75" name="Google Shape;75;p1"/>
          <p:cNvSpPr txBox="1">
            <a:spLocks noGrp="1"/>
          </p:cNvSpPr>
          <p:nvPr>
            <p:ph type="subTitle" idx="1"/>
          </p:nvPr>
        </p:nvSpPr>
        <p:spPr>
          <a:xfrm>
            <a:off x="198125" y="3661752"/>
            <a:ext cx="8222100" cy="137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2600" dirty="0"/>
              <a:t>Profesores: </a:t>
            </a:r>
            <a:endParaRPr sz="26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dirty="0"/>
              <a:t>		</a:t>
            </a:r>
            <a:r>
              <a:rPr lang="pt-BR" sz="2600" dirty="0"/>
              <a:t>Marcos Maillot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/>
              <a:t>		Gerardo Vilcamiza</a:t>
            </a:r>
            <a:endParaRPr sz="2600" dirty="0"/>
          </a:p>
        </p:txBody>
      </p:sp>
      <p:pic>
        <p:nvPicPr>
          <p:cNvPr id="76" name="Google Shape;76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21900" y="2437800"/>
            <a:ext cx="1500200" cy="150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"/>
          <p:cNvSpPr txBox="1">
            <a:spLocks noGrp="1"/>
          </p:cNvSpPr>
          <p:nvPr>
            <p:ph type="title"/>
          </p:nvPr>
        </p:nvSpPr>
        <p:spPr>
          <a:xfrm>
            <a:off x="460950" y="303000"/>
            <a:ext cx="8222100" cy="9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SzPts val="2600"/>
              <a:buNone/>
            </a:pPr>
            <a:r>
              <a:rPr lang="en" sz="2100"/>
              <a:t>TRANSFER LEARNING</a:t>
            </a:r>
            <a:endParaRPr sz="2100"/>
          </a:p>
          <a:p>
            <a:pPr marL="0" lvl="0" indent="0" algn="ctr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SzPts val="2600"/>
              <a:buNone/>
            </a:pPr>
            <a:r>
              <a:rPr lang="en" sz="2100"/>
              <a:t>GENERATIVE ADVERSARIAL NETWORKS</a:t>
            </a:r>
            <a:endParaRPr sz="2100"/>
          </a:p>
        </p:txBody>
      </p:sp>
      <p:sp>
        <p:nvSpPr>
          <p:cNvPr id="82" name="Google Shape;82;p2"/>
          <p:cNvSpPr txBox="1">
            <a:spLocks noGrp="1"/>
          </p:cNvSpPr>
          <p:nvPr>
            <p:ph type="body" idx="1"/>
          </p:nvPr>
        </p:nvSpPr>
        <p:spPr>
          <a:xfrm>
            <a:off x="1381375" y="1986025"/>
            <a:ext cx="2421300" cy="305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n" dirty="0">
                <a:solidFill>
                  <a:schemeClr val="dk2"/>
                </a:solidFill>
              </a:rPr>
              <a:t>. Transfer learning</a:t>
            </a:r>
            <a:endParaRPr dirty="0">
              <a:solidFill>
                <a:schemeClr val="dk2"/>
              </a:solidFill>
            </a:endParaRPr>
          </a:p>
          <a:p>
            <a:pPr>
              <a:buClr>
                <a:schemeClr val="dk2"/>
              </a:buClr>
              <a:buFont typeface="Roboto"/>
              <a:buChar char="-"/>
            </a:pPr>
            <a:r>
              <a:rPr lang="en" dirty="0">
                <a:solidFill>
                  <a:schemeClr val="dk2"/>
                </a:solidFill>
              </a:rPr>
              <a:t>Ventajas</a:t>
            </a:r>
            <a:endParaRPr dirty="0">
              <a:solidFill>
                <a:schemeClr val="dk2"/>
              </a:solidFill>
            </a:endParaRPr>
          </a:p>
          <a:p>
            <a:pPr>
              <a:buClr>
                <a:schemeClr val="dk2"/>
              </a:buClr>
              <a:buFont typeface="Roboto"/>
              <a:buChar char="-"/>
            </a:pPr>
            <a:r>
              <a:rPr lang="en" dirty="0">
                <a:solidFill>
                  <a:schemeClr val="dk2"/>
                </a:solidFill>
              </a:rPr>
              <a:t>Estrategias</a:t>
            </a:r>
            <a:endParaRPr dirty="0">
              <a:solidFill>
                <a:schemeClr val="dk2"/>
              </a:solidFill>
            </a:endParaRPr>
          </a:p>
          <a:p>
            <a:pPr>
              <a:buClr>
                <a:schemeClr val="dk2"/>
              </a:buClr>
              <a:buFont typeface="Roboto"/>
              <a:buChar char="-"/>
            </a:pPr>
            <a:r>
              <a:rPr lang="en" dirty="0">
                <a:solidFill>
                  <a:schemeClr val="dk2"/>
                </a:solidFill>
              </a:rPr>
              <a:t>Ejemplo en colab</a:t>
            </a:r>
            <a:endParaRPr dirty="0">
              <a:solidFill>
                <a:schemeClr val="dk2"/>
              </a:solidFill>
            </a:endParaRPr>
          </a:p>
        </p:txBody>
      </p:sp>
      <p:pic>
        <p:nvPicPr>
          <p:cNvPr id="83" name="Google Shape;83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2"/>
          <p:cNvSpPr txBox="1">
            <a:spLocks noGrp="1"/>
          </p:cNvSpPr>
          <p:nvPr>
            <p:ph type="body" idx="1"/>
          </p:nvPr>
        </p:nvSpPr>
        <p:spPr>
          <a:xfrm>
            <a:off x="4512875" y="1986025"/>
            <a:ext cx="3792300" cy="305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dirty="0">
                <a:solidFill>
                  <a:schemeClr val="dk2"/>
                </a:solidFill>
              </a:rPr>
              <a:t>. Generative adversarial networks</a:t>
            </a:r>
            <a:endParaRPr dirty="0">
              <a:solidFill>
                <a:schemeClr val="dk2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dirty="0">
                <a:solidFill>
                  <a:schemeClr val="dk2"/>
                </a:solidFill>
              </a:rPr>
              <a:t>Introducción</a:t>
            </a:r>
            <a:endParaRPr dirty="0">
              <a:solidFill>
                <a:schemeClr val="dk2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dirty="0">
                <a:solidFill>
                  <a:schemeClr val="dk2"/>
                </a:solidFill>
              </a:rPr>
              <a:t>Usos</a:t>
            </a:r>
            <a:endParaRPr dirty="0">
              <a:solidFill>
                <a:schemeClr val="dk2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dirty="0">
                <a:solidFill>
                  <a:schemeClr val="dk2"/>
                </a:solidFill>
              </a:rPr>
              <a:t>Ejemplo en colab</a:t>
            </a:r>
            <a:endParaRPr dirty="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20569f7507_1_8"/>
          <p:cNvSpPr txBox="1"/>
          <p:nvPr/>
        </p:nvSpPr>
        <p:spPr>
          <a:xfrm>
            <a:off x="2842355" y="139148"/>
            <a:ext cx="3459290" cy="606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Transfer Learning</a:t>
            </a:r>
            <a:endParaRPr sz="2400" b="0" i="0" u="none" strike="noStrike" cap="none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90" name="Google Shape;90;g220569f7507_1_8"/>
          <p:cNvSpPr txBox="1"/>
          <p:nvPr/>
        </p:nvSpPr>
        <p:spPr>
          <a:xfrm>
            <a:off x="251252" y="1047586"/>
            <a:ext cx="8641496" cy="3723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342900" marR="0" lvl="0" indent="-3365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Arial"/>
              <a:buChar char="•"/>
            </a:pPr>
            <a:r>
              <a:rPr lang="en" sz="21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No se suele diseñar y entrenar un modelo desde </a:t>
            </a:r>
            <a:r>
              <a:rPr lang="en" sz="2100" b="1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CERO</a:t>
            </a:r>
            <a:endParaRPr sz="1100">
              <a:solidFill>
                <a:schemeClr val="dk2"/>
              </a:solidFill>
            </a:endParaRPr>
          </a:p>
          <a:p>
            <a:pPr marL="342900" marR="0" lvl="0" indent="-2032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b="1" i="0" u="none" strike="noStrike" cap="none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342900" marR="0" lvl="0" indent="-3365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Arial"/>
              <a:buChar char="•"/>
            </a:pPr>
            <a:r>
              <a:rPr lang="en" sz="21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 emplean </a:t>
            </a:r>
            <a:r>
              <a:rPr lang="en" sz="2100" b="1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modelos existentes y probados </a:t>
            </a:r>
            <a:r>
              <a:rPr lang="en" sz="21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con sus parámetros ya entrenados.</a:t>
            </a:r>
            <a:endParaRPr sz="1100">
              <a:solidFill>
                <a:schemeClr val="dk2"/>
              </a:solidFill>
            </a:endParaRPr>
          </a:p>
          <a:p>
            <a:pPr marL="342900" marR="0" lvl="0" indent="-2032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b="0" i="0" u="none" strike="noStrike" cap="none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342900" marR="0" lvl="0" indent="-3365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Arial"/>
              <a:buChar char="•"/>
            </a:pPr>
            <a:r>
              <a:rPr lang="en" sz="21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Normalmente, los modelos que se toma de “base” cumplen una </a:t>
            </a:r>
            <a:r>
              <a:rPr lang="en" sz="2100" b="1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tarea genérica.</a:t>
            </a:r>
            <a:endParaRPr sz="1100">
              <a:solidFill>
                <a:schemeClr val="dk2"/>
              </a:solidFill>
            </a:endParaRPr>
          </a:p>
          <a:p>
            <a:pPr marL="342900" marR="0" lvl="0" indent="-2032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b="0" i="0" u="none" strike="noStrike" cap="none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342900" marR="0" lvl="0" indent="-3365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Arial"/>
              <a:buChar char="•"/>
            </a:pPr>
            <a:r>
              <a:rPr lang="en" sz="21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Al modelo “base” se le hacen los ajuste necesarios para  la nueva </a:t>
            </a:r>
            <a:r>
              <a:rPr lang="en" sz="2100" b="1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tarea específica</a:t>
            </a:r>
            <a:r>
              <a:rPr lang="en" sz="21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que deben cumplir.</a:t>
            </a:r>
            <a:endParaRPr sz="11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220569f7507_1_13"/>
          <p:cNvSpPr txBox="1"/>
          <p:nvPr/>
        </p:nvSpPr>
        <p:spPr>
          <a:xfrm>
            <a:off x="-119743" y="0"/>
            <a:ext cx="93834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Transfer Learning</a:t>
            </a:r>
            <a:endParaRPr sz="2400" b="0" i="0" u="none" strike="noStrike" cap="none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96" name="Google Shape;96;g220569f7507_1_13"/>
          <p:cNvSpPr txBox="1"/>
          <p:nvPr/>
        </p:nvSpPr>
        <p:spPr>
          <a:xfrm>
            <a:off x="358402" y="1752325"/>
            <a:ext cx="2307000" cy="81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Ventajas:</a:t>
            </a:r>
            <a:endParaRPr sz="1100">
              <a:solidFill>
                <a:schemeClr val="dk2"/>
              </a:solidFill>
            </a:endParaRPr>
          </a:p>
        </p:txBody>
      </p:sp>
      <p:pic>
        <p:nvPicPr>
          <p:cNvPr id="97" name="Google Shape;97;g220569f7507_1_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851176" y="1861852"/>
            <a:ext cx="6216801" cy="3017275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20569f7507_1_13"/>
          <p:cNvSpPr/>
          <p:nvPr/>
        </p:nvSpPr>
        <p:spPr>
          <a:xfrm>
            <a:off x="251252" y="2643357"/>
            <a:ext cx="3602700" cy="14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pocos datos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pre-trained models</a:t>
            </a: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pre-trained embeddings</a:t>
            </a: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Simulations</a:t>
            </a: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Cambio de dominio</a:t>
            </a:r>
            <a:endParaRPr sz="11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220569f7507_1_20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Transfer Learning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04" name="Google Shape;104;g220569f7507_1_20"/>
          <p:cNvSpPr txBox="1"/>
          <p:nvPr/>
        </p:nvSpPr>
        <p:spPr>
          <a:xfrm>
            <a:off x="179650" y="1253975"/>
            <a:ext cx="2034000" cy="19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Adaptación de modelo base para cumplir la tarea específica</a:t>
            </a:r>
            <a:endParaRPr sz="1100">
              <a:solidFill>
                <a:schemeClr val="dk2"/>
              </a:solidFill>
            </a:endParaRPr>
          </a:p>
        </p:txBody>
      </p:sp>
      <p:pic>
        <p:nvPicPr>
          <p:cNvPr id="105" name="Google Shape;105;g220569f7507_1_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13654" y="922053"/>
            <a:ext cx="4987799" cy="3299382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g220569f7507_1_20"/>
          <p:cNvSpPr txBox="1"/>
          <p:nvPr/>
        </p:nvSpPr>
        <p:spPr>
          <a:xfrm>
            <a:off x="1949457" y="4474836"/>
            <a:ext cx="5516217" cy="3938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 reentrena la nueva arquitectura con el dataset específico bajo la tarea específica a cumplir</a:t>
            </a:r>
            <a:endParaRPr sz="11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220569f7507_1_27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Transfer Learning - ¿Qué estrategia usar?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ctr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</a:pP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cxnSp>
        <p:nvCxnSpPr>
          <p:cNvPr id="112" name="Google Shape;112;g220569f7507_1_27"/>
          <p:cNvCxnSpPr/>
          <p:nvPr/>
        </p:nvCxnSpPr>
        <p:spPr>
          <a:xfrm>
            <a:off x="914400" y="2782957"/>
            <a:ext cx="6927574" cy="0"/>
          </a:xfrm>
          <a:prstGeom prst="straightConnector1">
            <a:avLst/>
          </a:prstGeom>
          <a:noFill/>
          <a:ln w="76200" cap="flat" cmpd="sng">
            <a:solidFill>
              <a:schemeClr val="accent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113" name="Google Shape;113;g220569f7507_1_27"/>
          <p:cNvCxnSpPr/>
          <p:nvPr/>
        </p:nvCxnSpPr>
        <p:spPr>
          <a:xfrm>
            <a:off x="4204252" y="814403"/>
            <a:ext cx="0" cy="3754562"/>
          </a:xfrm>
          <a:prstGeom prst="straightConnector1">
            <a:avLst/>
          </a:prstGeom>
          <a:noFill/>
          <a:ln w="76200" cap="flat" cmpd="sng">
            <a:solidFill>
              <a:schemeClr val="accent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14" name="Google Shape;114;g220569f7507_1_27"/>
          <p:cNvSpPr txBox="1"/>
          <p:nvPr/>
        </p:nvSpPr>
        <p:spPr>
          <a:xfrm>
            <a:off x="44164" y="2463339"/>
            <a:ext cx="1341900" cy="6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Dataset pequeño </a:t>
            </a: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5" name="Google Shape;115;g220569f7507_1_27"/>
          <p:cNvSpPr txBox="1"/>
          <p:nvPr/>
        </p:nvSpPr>
        <p:spPr>
          <a:xfrm>
            <a:off x="7890367" y="2399926"/>
            <a:ext cx="1267200" cy="6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Dataset grande</a:t>
            </a: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g220569f7507_1_27"/>
          <p:cNvSpPr txBox="1"/>
          <p:nvPr/>
        </p:nvSpPr>
        <p:spPr>
          <a:xfrm>
            <a:off x="3858557" y="579789"/>
            <a:ext cx="1911600" cy="6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Dataset semejante al generic</a:t>
            </a: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7" name="Google Shape;117;g220569f7507_1_27"/>
          <p:cNvSpPr txBox="1"/>
          <p:nvPr/>
        </p:nvSpPr>
        <p:spPr>
          <a:xfrm>
            <a:off x="3733702" y="4568966"/>
            <a:ext cx="1648800" cy="6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Dataset distinto al generic</a:t>
            </a: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g220569f7507_1_27"/>
          <p:cNvSpPr txBox="1"/>
          <p:nvPr/>
        </p:nvSpPr>
        <p:spPr>
          <a:xfrm>
            <a:off x="1394564" y="579812"/>
            <a:ext cx="1495841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feature extractor</a:t>
            </a:r>
            <a:endParaRPr sz="140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9" name="Google Shape;119;g220569f7507_1_27"/>
          <p:cNvSpPr txBox="1"/>
          <p:nvPr/>
        </p:nvSpPr>
        <p:spPr>
          <a:xfrm>
            <a:off x="6453683" y="533247"/>
            <a:ext cx="1232452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fine tunning</a:t>
            </a:r>
            <a:endParaRPr sz="140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20" name="Google Shape;120;g220569f7507_1_27"/>
          <p:cNvSpPr txBox="1"/>
          <p:nvPr/>
        </p:nvSpPr>
        <p:spPr>
          <a:xfrm>
            <a:off x="231521" y="4287688"/>
            <a:ext cx="1809000" cy="71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feature extractor desde menor profundidad</a:t>
            </a:r>
            <a:endParaRPr sz="140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21" name="Google Shape;121;g220569f7507_1_27"/>
          <p:cNvSpPr txBox="1"/>
          <p:nvPr/>
        </p:nvSpPr>
        <p:spPr>
          <a:xfrm>
            <a:off x="6821251" y="4520942"/>
            <a:ext cx="2138230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fine tunning (from pre-trained models)</a:t>
            </a:r>
            <a:endParaRPr sz="140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grpSp>
        <p:nvGrpSpPr>
          <p:cNvPr id="122" name="Google Shape;122;g220569f7507_1_27"/>
          <p:cNvGrpSpPr/>
          <p:nvPr/>
        </p:nvGrpSpPr>
        <p:grpSpPr>
          <a:xfrm>
            <a:off x="5712752" y="756097"/>
            <a:ext cx="2347622" cy="1899005"/>
            <a:chOff x="989692" y="2516687"/>
            <a:chExt cx="4698135" cy="4095829"/>
          </a:xfrm>
        </p:grpSpPr>
        <p:pic>
          <p:nvPicPr>
            <p:cNvPr id="123" name="Google Shape;123;g220569f7507_1_27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989692" y="2516687"/>
              <a:ext cx="4698135" cy="310777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4" name="Google Shape;124;g220569f7507_1_27"/>
            <p:cNvSpPr/>
            <p:nvPr/>
          </p:nvSpPr>
          <p:spPr>
            <a:xfrm rot="-5400000">
              <a:off x="3115799" y="4850874"/>
              <a:ext cx="466924" cy="1861478"/>
            </a:xfrm>
            <a:prstGeom prst="leftBrace">
              <a:avLst>
                <a:gd name="adj1" fmla="val 8333"/>
                <a:gd name="adj2" fmla="val 50000"/>
              </a:avLst>
            </a:prstGeom>
            <a:noFill/>
            <a:ln w="2222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125" name="Google Shape;125;g220569f7507_1_27"/>
            <p:cNvSpPr txBox="1"/>
            <p:nvPr/>
          </p:nvSpPr>
          <p:spPr>
            <a:xfrm>
              <a:off x="2763762" y="6015076"/>
              <a:ext cx="2095092" cy="59744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rgbClr val="FF0000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reentrenar</a:t>
              </a:r>
              <a:endParaRPr sz="1100"/>
            </a:p>
          </p:txBody>
        </p:sp>
      </p:grpSp>
      <p:grpSp>
        <p:nvGrpSpPr>
          <p:cNvPr id="126" name="Google Shape;126;g220569f7507_1_27"/>
          <p:cNvGrpSpPr/>
          <p:nvPr/>
        </p:nvGrpSpPr>
        <p:grpSpPr>
          <a:xfrm>
            <a:off x="854585" y="846167"/>
            <a:ext cx="2320231" cy="1808395"/>
            <a:chOff x="1139447" y="1128222"/>
            <a:chExt cx="4698135" cy="4213175"/>
          </a:xfrm>
        </p:grpSpPr>
        <p:pic>
          <p:nvPicPr>
            <p:cNvPr id="127" name="Google Shape;127;g220569f7507_1_27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139447" y="1128222"/>
              <a:ext cx="4698135" cy="310777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8" name="Google Shape;128;g220569f7507_1_27"/>
            <p:cNvSpPr/>
            <p:nvPr/>
          </p:nvSpPr>
          <p:spPr>
            <a:xfrm rot="-5400000">
              <a:off x="3866949" y="3979243"/>
              <a:ext cx="466924" cy="827809"/>
            </a:xfrm>
            <a:prstGeom prst="leftBrace">
              <a:avLst>
                <a:gd name="adj1" fmla="val 8333"/>
                <a:gd name="adj2" fmla="val 50000"/>
              </a:avLst>
            </a:prstGeom>
            <a:noFill/>
            <a:ln w="2222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129" name="Google Shape;129;g220569f7507_1_27"/>
            <p:cNvSpPr txBox="1"/>
            <p:nvPr/>
          </p:nvSpPr>
          <p:spPr>
            <a:xfrm>
              <a:off x="3454962" y="4696048"/>
              <a:ext cx="1597579" cy="6453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rgbClr val="FF0000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entrenar</a:t>
              </a:r>
              <a:endParaRPr sz="1100"/>
            </a:p>
          </p:txBody>
        </p:sp>
      </p:grpSp>
      <p:pic>
        <p:nvPicPr>
          <p:cNvPr id="130" name="Google Shape;130;g220569f7507_1_2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559877" y="2950618"/>
            <a:ext cx="2378053" cy="1572506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g220569f7507_1_27"/>
          <p:cNvSpPr/>
          <p:nvPr/>
        </p:nvSpPr>
        <p:spPr>
          <a:xfrm rot="-5400000">
            <a:off x="2732372" y="4325651"/>
            <a:ext cx="200415" cy="408824"/>
          </a:xfrm>
          <a:prstGeom prst="leftBrace">
            <a:avLst>
              <a:gd name="adj1" fmla="val 8333"/>
              <a:gd name="adj2" fmla="val 50000"/>
            </a:avLst>
          </a:prstGeom>
          <a:noFill/>
          <a:ln w="222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g220569f7507_1_27"/>
          <p:cNvSpPr txBox="1"/>
          <p:nvPr/>
        </p:nvSpPr>
        <p:spPr>
          <a:xfrm>
            <a:off x="2495725" y="4603590"/>
            <a:ext cx="107092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entrenar</a:t>
            </a:r>
            <a:endParaRPr sz="1100"/>
          </a:p>
        </p:txBody>
      </p:sp>
      <p:grpSp>
        <p:nvGrpSpPr>
          <p:cNvPr id="133" name="Google Shape;133;g220569f7507_1_27"/>
          <p:cNvGrpSpPr/>
          <p:nvPr/>
        </p:nvGrpSpPr>
        <p:grpSpPr>
          <a:xfrm>
            <a:off x="4661343" y="3001016"/>
            <a:ext cx="2347622" cy="1899005"/>
            <a:chOff x="989692" y="2516687"/>
            <a:chExt cx="4698135" cy="4095829"/>
          </a:xfrm>
        </p:grpSpPr>
        <p:pic>
          <p:nvPicPr>
            <p:cNvPr id="134" name="Google Shape;134;g220569f7507_1_27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989692" y="2516687"/>
              <a:ext cx="4698135" cy="310777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5" name="Google Shape;135;g220569f7507_1_27"/>
            <p:cNvSpPr/>
            <p:nvPr/>
          </p:nvSpPr>
          <p:spPr>
            <a:xfrm rot="-5400000">
              <a:off x="3115799" y="4850874"/>
              <a:ext cx="466924" cy="1861478"/>
            </a:xfrm>
            <a:prstGeom prst="leftBrace">
              <a:avLst>
                <a:gd name="adj1" fmla="val 8333"/>
                <a:gd name="adj2" fmla="val 50000"/>
              </a:avLst>
            </a:prstGeom>
            <a:noFill/>
            <a:ln w="2222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136" name="Google Shape;136;g220569f7507_1_27"/>
            <p:cNvSpPr txBox="1"/>
            <p:nvPr/>
          </p:nvSpPr>
          <p:spPr>
            <a:xfrm>
              <a:off x="2763762" y="6015076"/>
              <a:ext cx="2095092" cy="59744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rgbClr val="FF0000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reentrenar</a:t>
              </a:r>
              <a:endParaRPr sz="1100"/>
            </a:p>
          </p:txBody>
        </p:sp>
      </p:grpSp>
      <p:pic>
        <p:nvPicPr>
          <p:cNvPr id="137" name="Google Shape;137;g220569f7507_1_27" descr="Imagen que contiene Gráfico de líneas&#10;&#10;Descripción generada automáticamente"/>
          <p:cNvPicPr preferRelativeResize="0"/>
          <p:nvPr/>
        </p:nvPicPr>
        <p:blipFill rotWithShape="1">
          <a:blip r:embed="rId6">
            <a:alphaModFix/>
          </a:blip>
          <a:srcRect l="21184" r="25224"/>
          <a:stretch/>
        </p:blipFill>
        <p:spPr>
          <a:xfrm>
            <a:off x="7350406" y="3199615"/>
            <a:ext cx="1742942" cy="114488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8" name="Google Shape;138;g220569f7507_1_27"/>
          <p:cNvCxnSpPr/>
          <p:nvPr/>
        </p:nvCxnSpPr>
        <p:spPr>
          <a:xfrm>
            <a:off x="7841974" y="3607904"/>
            <a:ext cx="0" cy="544967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220569f7507_1_58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Transfer Learning - ejemplo colab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83" name="Google Shape;183;g220569f7507_1_58" descr="Diagrama&#10;&#10;Descripción generada automáticamente"/>
          <p:cNvPicPr preferRelativeResize="0"/>
          <p:nvPr/>
        </p:nvPicPr>
        <p:blipFill rotWithShape="1">
          <a:blip r:embed="rId3">
            <a:alphaModFix/>
          </a:blip>
          <a:srcRect b="5425"/>
          <a:stretch/>
        </p:blipFill>
        <p:spPr>
          <a:xfrm>
            <a:off x="780914" y="968402"/>
            <a:ext cx="7582169" cy="3859202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g220569f7507_1_58"/>
          <p:cNvSpPr txBox="1"/>
          <p:nvPr/>
        </p:nvSpPr>
        <p:spPr>
          <a:xfrm>
            <a:off x="1749284" y="814404"/>
            <a:ext cx="6805500" cy="5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Adaptación de modelo base para cumplir la tarea específica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185" name="Google Shape;185;g220569f7507_1_58"/>
          <p:cNvSpPr/>
          <p:nvPr/>
        </p:nvSpPr>
        <p:spPr>
          <a:xfrm>
            <a:off x="7026965" y="3657600"/>
            <a:ext cx="705679" cy="238539"/>
          </a:xfrm>
          <a:prstGeom prst="rect">
            <a:avLst/>
          </a:prstGeom>
          <a:solidFill>
            <a:schemeClr val="lt1"/>
          </a:solidFill>
          <a:ln w="158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g220569f7507_1_58"/>
          <p:cNvSpPr/>
          <p:nvPr/>
        </p:nvSpPr>
        <p:spPr>
          <a:xfrm>
            <a:off x="6689035" y="2890793"/>
            <a:ext cx="337930" cy="1005346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g220569f7507_1_58"/>
          <p:cNvSpPr txBox="1"/>
          <p:nvPr/>
        </p:nvSpPr>
        <p:spPr>
          <a:xfrm>
            <a:off x="7041872" y="3156787"/>
            <a:ext cx="1058003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Nuevo!</a:t>
            </a:r>
            <a:endParaRPr sz="1100"/>
          </a:p>
        </p:txBody>
      </p:sp>
      <p:sp>
        <p:nvSpPr>
          <p:cNvPr id="188" name="Google Shape;188;g220569f7507_1_58"/>
          <p:cNvSpPr txBox="1"/>
          <p:nvPr/>
        </p:nvSpPr>
        <p:spPr>
          <a:xfrm>
            <a:off x="116709" y="997014"/>
            <a:ext cx="1632578" cy="14542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 dirty="0">
                <a:solidFill>
                  <a:srgbClr val="E18405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Generic Dataset:</a:t>
            </a:r>
            <a:endParaRPr sz="11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 dirty="0">
                <a:solidFill>
                  <a:srgbClr val="E18405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ImageNet 1K</a:t>
            </a:r>
            <a:endParaRPr sz="1100" dirty="0"/>
          </a:p>
          <a:p>
            <a:pPr marL="254000" marR="0" lvl="0" indent="-247650" algn="l" rtl="0">
              <a:spcBef>
                <a:spcPts val="0"/>
              </a:spcBef>
              <a:spcAft>
                <a:spcPts val="0"/>
              </a:spcAft>
              <a:buClr>
                <a:srgbClr val="E18405"/>
              </a:buClr>
              <a:buSzPts val="1500"/>
              <a:buFont typeface="Twentieth Century"/>
              <a:buChar char="-"/>
            </a:pPr>
            <a:r>
              <a:rPr lang="en" sz="1500" b="1" dirty="0">
                <a:solidFill>
                  <a:srgbClr val="E18405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1000 clases</a:t>
            </a:r>
            <a:endParaRPr sz="1100" dirty="0"/>
          </a:p>
          <a:p>
            <a:pPr marL="254000" marR="0" lvl="0" indent="-247650" algn="l" rtl="0">
              <a:spcBef>
                <a:spcPts val="0"/>
              </a:spcBef>
              <a:spcAft>
                <a:spcPts val="0"/>
              </a:spcAft>
              <a:buClr>
                <a:srgbClr val="E18405"/>
              </a:buClr>
              <a:buSzPts val="1500"/>
              <a:buFont typeface="Twentieth Century"/>
              <a:buChar char="-"/>
            </a:pPr>
            <a:r>
              <a:rPr lang="en" sz="1500" b="1" dirty="0">
                <a:solidFill>
                  <a:srgbClr val="E18405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1.281.167 (train set)</a:t>
            </a:r>
            <a:endParaRPr sz="1100" dirty="0"/>
          </a:p>
          <a:p>
            <a:pPr marL="254000" marR="0" lvl="0" indent="-247650" algn="l" rtl="0">
              <a:spcBef>
                <a:spcPts val="0"/>
              </a:spcBef>
              <a:spcAft>
                <a:spcPts val="0"/>
              </a:spcAft>
              <a:buClr>
                <a:srgbClr val="E18405"/>
              </a:buClr>
              <a:buSzPts val="1500"/>
              <a:buFont typeface="Twentieth Century"/>
              <a:buChar char="-"/>
            </a:pPr>
            <a:r>
              <a:rPr lang="en" sz="1500" b="1" dirty="0">
                <a:solidFill>
                  <a:srgbClr val="E18405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RGB</a:t>
            </a:r>
            <a:endParaRPr sz="1100" dirty="0"/>
          </a:p>
        </p:txBody>
      </p:sp>
      <p:sp>
        <p:nvSpPr>
          <p:cNvPr id="189" name="Google Shape;189;g220569f7507_1_58"/>
          <p:cNvSpPr txBox="1"/>
          <p:nvPr/>
        </p:nvSpPr>
        <p:spPr>
          <a:xfrm>
            <a:off x="116709" y="3786802"/>
            <a:ext cx="1632578" cy="1223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Specific Dataset:</a:t>
            </a:r>
            <a:endParaRPr sz="110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Bees &amp; ants</a:t>
            </a:r>
            <a:endParaRPr sz="1500" b="1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54000" marR="0" lvl="0" indent="-2476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500"/>
              <a:buFont typeface="Twentieth Century"/>
              <a:buChar char="-"/>
            </a:pPr>
            <a:r>
              <a:rPr lang="en" sz="15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2 clases</a:t>
            </a:r>
            <a:endParaRPr sz="1100"/>
          </a:p>
          <a:p>
            <a:pPr marL="254000" marR="0" lvl="0" indent="-2476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500"/>
              <a:buFont typeface="Twentieth Century"/>
              <a:buChar char="-"/>
            </a:pPr>
            <a:r>
              <a:rPr lang="en" sz="15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120 (train set)</a:t>
            </a:r>
            <a:endParaRPr sz="1100"/>
          </a:p>
          <a:p>
            <a:pPr marL="254000" marR="0" lvl="0" indent="-2476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500"/>
              <a:buFont typeface="Twentieth Century"/>
              <a:buChar char="-"/>
            </a:pPr>
            <a:r>
              <a:rPr lang="en" sz="15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RGB</a:t>
            </a:r>
            <a:endParaRPr sz="1100"/>
          </a:p>
        </p:txBody>
      </p:sp>
      <p:sp>
        <p:nvSpPr>
          <p:cNvPr id="190" name="Google Shape;190;g220569f7507_1_58"/>
          <p:cNvSpPr txBox="1"/>
          <p:nvPr/>
        </p:nvSpPr>
        <p:spPr>
          <a:xfrm rot="-5400000">
            <a:off x="1110345" y="2812331"/>
            <a:ext cx="735078" cy="25391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latin typeface="Twentieth Century"/>
                <a:ea typeface="Twentieth Century"/>
                <a:cs typeface="Twentieth Century"/>
                <a:sym typeface="Twentieth Century"/>
              </a:rPr>
              <a:t>400*400</a:t>
            </a:r>
            <a:endParaRPr sz="1100" dirty="0"/>
          </a:p>
        </p:txBody>
      </p:sp>
      <p:sp>
        <p:nvSpPr>
          <p:cNvPr id="191" name="Google Shape;191;g220569f7507_1_58"/>
          <p:cNvSpPr txBox="1"/>
          <p:nvPr/>
        </p:nvSpPr>
        <p:spPr>
          <a:xfrm rot="-5400000">
            <a:off x="5508410" y="1987099"/>
            <a:ext cx="735078" cy="253915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Twentieth Century"/>
                <a:ea typeface="Twentieth Century"/>
                <a:cs typeface="Twentieth Century"/>
                <a:sym typeface="Twentieth Century"/>
              </a:rPr>
              <a:t>12*12</a:t>
            </a:r>
            <a:endParaRPr sz="1100"/>
          </a:p>
        </p:txBody>
      </p:sp>
      <p:sp>
        <p:nvSpPr>
          <p:cNvPr id="192" name="Google Shape;192;g220569f7507_1_58"/>
          <p:cNvSpPr txBox="1"/>
          <p:nvPr/>
        </p:nvSpPr>
        <p:spPr>
          <a:xfrm>
            <a:off x="7012265" y="4175098"/>
            <a:ext cx="735078" cy="253915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Twentieth Century"/>
                <a:ea typeface="Twentieth Century"/>
                <a:cs typeface="Twentieth Century"/>
                <a:sym typeface="Twentieth Century"/>
              </a:rPr>
              <a:t>2 clases</a:t>
            </a:r>
            <a:endParaRPr sz="1100"/>
          </a:p>
        </p:txBody>
      </p:sp>
      <p:sp>
        <p:nvSpPr>
          <p:cNvPr id="2" name="Google Shape;190;g220569f7507_1_58">
            <a:extLst>
              <a:ext uri="{FF2B5EF4-FFF2-40B4-BE49-F238E27FC236}">
                <a16:creationId xmlns:a16="http://schemas.microsoft.com/office/drawing/2014/main" id="{8A466B22-50EF-EA89-C9E0-5F4E0B13CF57}"/>
              </a:ext>
            </a:extLst>
          </p:cNvPr>
          <p:cNvSpPr txBox="1"/>
          <p:nvPr/>
        </p:nvSpPr>
        <p:spPr>
          <a:xfrm rot="-5400000">
            <a:off x="5985881" y="3323990"/>
            <a:ext cx="1145692" cy="23080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AR" sz="1050" dirty="0">
                <a:latin typeface="Twentieth Century"/>
                <a:ea typeface="Twentieth Century"/>
                <a:cs typeface="Twentieth Century"/>
                <a:sym typeface="Twentieth Century"/>
              </a:rPr>
              <a:t>A</a:t>
            </a:r>
            <a:r>
              <a:rPr lang="en" sz="1050" dirty="0">
                <a:latin typeface="Twentieth Century"/>
                <a:ea typeface="Twentieth Century"/>
                <a:cs typeface="Twentieth Century"/>
                <a:sym typeface="Twentieth Century"/>
              </a:rPr>
              <a:t>daptive avg pool</a:t>
            </a:r>
            <a:endParaRPr sz="100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7719482-AA8E-A7D1-5DCC-DB2C15890F9D}"/>
              </a:ext>
            </a:extLst>
          </p:cNvPr>
          <p:cNvCxnSpPr/>
          <p:nvPr/>
        </p:nvCxnSpPr>
        <p:spPr>
          <a:xfrm>
            <a:off x="4120308" y="1652530"/>
            <a:ext cx="165253" cy="3084723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220569f7507_1_72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Transfer Learning - ejemplo colab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98" name="Google Shape;198;g220569f7507_1_72"/>
          <p:cNvSpPr txBox="1"/>
          <p:nvPr/>
        </p:nvSpPr>
        <p:spPr>
          <a:xfrm>
            <a:off x="113485" y="789727"/>
            <a:ext cx="1985832" cy="3938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n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Ver Colab</a:t>
            </a:r>
            <a:endParaRPr sz="2100" dirty="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grpSp>
        <p:nvGrpSpPr>
          <p:cNvPr id="199" name="Google Shape;199;g220569f7507_1_72"/>
          <p:cNvGrpSpPr/>
          <p:nvPr/>
        </p:nvGrpSpPr>
        <p:grpSpPr>
          <a:xfrm>
            <a:off x="5165183" y="1658233"/>
            <a:ext cx="3523601" cy="3363885"/>
            <a:chOff x="989692" y="1991560"/>
            <a:chExt cx="4698135" cy="4485180"/>
          </a:xfrm>
        </p:grpSpPr>
        <p:pic>
          <p:nvPicPr>
            <p:cNvPr id="200" name="Google Shape;200;g220569f7507_1_72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989692" y="2516687"/>
              <a:ext cx="4698135" cy="310777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01" name="Google Shape;201;g220569f7507_1_72"/>
            <p:cNvSpPr txBox="1"/>
            <p:nvPr/>
          </p:nvSpPr>
          <p:spPr>
            <a:xfrm>
              <a:off x="2155339" y="1991560"/>
              <a:ext cx="2366839" cy="52512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100"/>
                <a:buFont typeface="Arial"/>
                <a:buNone/>
              </a:pPr>
              <a:r>
                <a:rPr lang="en" sz="2100">
                  <a:solidFill>
                    <a:schemeClr val="dk2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Fine tuning</a:t>
              </a:r>
              <a:endParaRPr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202" name="Google Shape;202;g220569f7507_1_72"/>
            <p:cNvSpPr/>
            <p:nvPr/>
          </p:nvSpPr>
          <p:spPr>
            <a:xfrm rot="-5400000">
              <a:off x="3115799" y="4850874"/>
              <a:ext cx="466924" cy="1861478"/>
            </a:xfrm>
            <a:prstGeom prst="leftBrace">
              <a:avLst>
                <a:gd name="adj1" fmla="val 8333"/>
                <a:gd name="adj2" fmla="val 50000"/>
              </a:avLst>
            </a:prstGeom>
            <a:noFill/>
            <a:ln w="2222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203" name="Google Shape;203;g220569f7507_1_72"/>
            <p:cNvSpPr txBox="1"/>
            <p:nvPr/>
          </p:nvSpPr>
          <p:spPr>
            <a:xfrm>
              <a:off x="2763763" y="6015075"/>
              <a:ext cx="1758415" cy="46166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rgbClr val="FF0000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reentrenar</a:t>
              </a:r>
              <a:endParaRPr sz="1100"/>
            </a:p>
          </p:txBody>
        </p:sp>
      </p:grpSp>
      <p:grpSp>
        <p:nvGrpSpPr>
          <p:cNvPr id="204" name="Google Shape;204;g220569f7507_1_72"/>
          <p:cNvGrpSpPr/>
          <p:nvPr/>
        </p:nvGrpSpPr>
        <p:grpSpPr>
          <a:xfrm>
            <a:off x="561301" y="1577417"/>
            <a:ext cx="3523601" cy="3363885"/>
            <a:chOff x="6504175" y="1991560"/>
            <a:chExt cx="4698135" cy="4485180"/>
          </a:xfrm>
        </p:grpSpPr>
        <p:pic>
          <p:nvPicPr>
            <p:cNvPr id="205" name="Google Shape;205;g220569f7507_1_72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6504175" y="2516687"/>
              <a:ext cx="4698135" cy="310777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06" name="Google Shape;206;g220569f7507_1_72"/>
            <p:cNvSpPr txBox="1"/>
            <p:nvPr/>
          </p:nvSpPr>
          <p:spPr>
            <a:xfrm>
              <a:off x="7481639" y="1991560"/>
              <a:ext cx="2968284" cy="52512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100"/>
                <a:buFont typeface="Arial"/>
                <a:buNone/>
              </a:pPr>
              <a:r>
                <a:rPr lang="en" sz="2100">
                  <a:solidFill>
                    <a:schemeClr val="dk2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Feature extractor</a:t>
              </a:r>
              <a:endParaRPr sz="1100">
                <a:solidFill>
                  <a:schemeClr val="dk2"/>
                </a:solidFill>
              </a:endParaRPr>
            </a:p>
          </p:txBody>
        </p:sp>
        <p:sp>
          <p:nvSpPr>
            <p:cNvPr id="207" name="Google Shape;207;g220569f7507_1_72"/>
            <p:cNvSpPr/>
            <p:nvPr/>
          </p:nvSpPr>
          <p:spPr>
            <a:xfrm rot="-5400000">
              <a:off x="9231677" y="5367708"/>
              <a:ext cx="466924" cy="827809"/>
            </a:xfrm>
            <a:prstGeom prst="leftBrace">
              <a:avLst>
                <a:gd name="adj1" fmla="val 8333"/>
                <a:gd name="adj2" fmla="val 50000"/>
              </a:avLst>
            </a:prstGeom>
            <a:noFill/>
            <a:ln w="2222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208" name="Google Shape;208;g220569f7507_1_72"/>
            <p:cNvSpPr txBox="1"/>
            <p:nvPr/>
          </p:nvSpPr>
          <p:spPr>
            <a:xfrm>
              <a:off x="8822805" y="6015075"/>
              <a:ext cx="1627118" cy="46166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dirty="0">
                  <a:solidFill>
                    <a:srgbClr val="FF0000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entrenar</a:t>
              </a:r>
              <a:endParaRPr sz="1100" dirty="0"/>
            </a:p>
          </p:txBody>
        </p:sp>
      </p:grpSp>
      <p:sp>
        <p:nvSpPr>
          <p:cNvPr id="2" name="Google Shape;208;g220569f7507_1_72">
            <a:extLst>
              <a:ext uri="{FF2B5EF4-FFF2-40B4-BE49-F238E27FC236}">
                <a16:creationId xmlns:a16="http://schemas.microsoft.com/office/drawing/2014/main" id="{6CE24DBD-9BCC-92C6-C02D-FE232734CD59}"/>
              </a:ext>
            </a:extLst>
          </p:cNvPr>
          <p:cNvSpPr txBox="1"/>
          <p:nvPr/>
        </p:nvSpPr>
        <p:spPr>
          <a:xfrm>
            <a:off x="2097859" y="2999114"/>
            <a:ext cx="1220338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copiar</a:t>
            </a:r>
            <a:endParaRPr sz="1100" dirty="0"/>
          </a:p>
        </p:txBody>
      </p:sp>
      <p:sp>
        <p:nvSpPr>
          <p:cNvPr id="3" name="Google Shape;208;g220569f7507_1_72">
            <a:extLst>
              <a:ext uri="{FF2B5EF4-FFF2-40B4-BE49-F238E27FC236}">
                <a16:creationId xmlns:a16="http://schemas.microsoft.com/office/drawing/2014/main" id="{028E9DD1-A9F2-DEB4-F6D2-89AEF7B841ED}"/>
              </a:ext>
            </a:extLst>
          </p:cNvPr>
          <p:cNvSpPr txBox="1"/>
          <p:nvPr/>
        </p:nvSpPr>
        <p:spPr>
          <a:xfrm>
            <a:off x="6745141" y="3044368"/>
            <a:ext cx="1220338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copiar</a:t>
            </a:r>
            <a:endParaRPr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220569f7507_1_87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Transfer Learning - ¿Qué estrategia usar?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ctr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</a:pP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cxnSp>
        <p:nvCxnSpPr>
          <p:cNvPr id="144" name="Google Shape;144;g220569f7507_1_87"/>
          <p:cNvCxnSpPr/>
          <p:nvPr/>
        </p:nvCxnSpPr>
        <p:spPr>
          <a:xfrm>
            <a:off x="872777" y="1639904"/>
            <a:ext cx="6927600" cy="0"/>
          </a:xfrm>
          <a:prstGeom prst="straightConnector1">
            <a:avLst/>
          </a:prstGeom>
          <a:noFill/>
          <a:ln w="76200" cap="flat" cmpd="sng">
            <a:solidFill>
              <a:schemeClr val="accent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145" name="Google Shape;145;g220569f7507_1_87"/>
          <p:cNvCxnSpPr/>
          <p:nvPr/>
        </p:nvCxnSpPr>
        <p:spPr>
          <a:xfrm>
            <a:off x="1918253" y="868458"/>
            <a:ext cx="0" cy="3754562"/>
          </a:xfrm>
          <a:prstGeom prst="straightConnector1">
            <a:avLst/>
          </a:prstGeom>
          <a:noFill/>
          <a:ln w="76200" cap="flat" cmpd="sng">
            <a:solidFill>
              <a:schemeClr val="accent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46" name="Google Shape;146;g220569f7507_1_87"/>
          <p:cNvSpPr txBox="1"/>
          <p:nvPr/>
        </p:nvSpPr>
        <p:spPr>
          <a:xfrm>
            <a:off x="2541" y="1091687"/>
            <a:ext cx="1341900" cy="6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Dataset pequeño </a:t>
            </a: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47" name="Google Shape;147;g220569f7507_1_87"/>
          <p:cNvSpPr txBox="1"/>
          <p:nvPr/>
        </p:nvSpPr>
        <p:spPr>
          <a:xfrm>
            <a:off x="7848744" y="1028273"/>
            <a:ext cx="1267200" cy="6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Dataset grande</a:t>
            </a: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48" name="Google Shape;148;g220569f7507_1_87"/>
          <p:cNvSpPr txBox="1"/>
          <p:nvPr/>
        </p:nvSpPr>
        <p:spPr>
          <a:xfrm>
            <a:off x="2193139" y="669176"/>
            <a:ext cx="1911600" cy="6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Dataset semejante al generic</a:t>
            </a: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49" name="Google Shape;149;g220569f7507_1_87"/>
          <p:cNvSpPr txBox="1"/>
          <p:nvPr/>
        </p:nvSpPr>
        <p:spPr>
          <a:xfrm>
            <a:off x="1727384" y="4520252"/>
            <a:ext cx="1648800" cy="6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Dataset distinto al generic</a:t>
            </a: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50" name="Google Shape;150;g220569f7507_1_87"/>
          <p:cNvSpPr txBox="1"/>
          <p:nvPr/>
        </p:nvSpPr>
        <p:spPr>
          <a:xfrm>
            <a:off x="6131159" y="3188248"/>
            <a:ext cx="2546357" cy="9309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fine tunning (from pre-trained models)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NECESITAMOS MODELOS PRE-ENTRENADOS!!</a:t>
            </a:r>
            <a:endParaRPr sz="14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grpSp>
        <p:nvGrpSpPr>
          <p:cNvPr id="151" name="Google Shape;151;g220569f7507_1_87"/>
          <p:cNvGrpSpPr/>
          <p:nvPr/>
        </p:nvGrpSpPr>
        <p:grpSpPr>
          <a:xfrm>
            <a:off x="2345649" y="1969894"/>
            <a:ext cx="2795716" cy="2210903"/>
            <a:chOff x="989692" y="2516687"/>
            <a:chExt cx="4698135" cy="3999474"/>
          </a:xfrm>
        </p:grpSpPr>
        <p:pic>
          <p:nvPicPr>
            <p:cNvPr id="152" name="Google Shape;152;g220569f7507_1_87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989692" y="2516687"/>
              <a:ext cx="4698135" cy="310777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53" name="Google Shape;153;g220569f7507_1_87"/>
            <p:cNvSpPr/>
            <p:nvPr/>
          </p:nvSpPr>
          <p:spPr>
            <a:xfrm rot="-5400000">
              <a:off x="3115799" y="4850874"/>
              <a:ext cx="466924" cy="1861478"/>
            </a:xfrm>
            <a:prstGeom prst="leftBrace">
              <a:avLst>
                <a:gd name="adj1" fmla="val 8333"/>
                <a:gd name="adj2" fmla="val 50000"/>
              </a:avLst>
            </a:prstGeom>
            <a:noFill/>
            <a:ln w="2222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154" name="Google Shape;154;g220569f7507_1_87"/>
            <p:cNvSpPr txBox="1"/>
            <p:nvPr/>
          </p:nvSpPr>
          <p:spPr>
            <a:xfrm>
              <a:off x="2763762" y="6015076"/>
              <a:ext cx="2095092" cy="50108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rgbClr val="FF0000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entrenar</a:t>
              </a:r>
              <a:endParaRPr sz="1100"/>
            </a:p>
          </p:txBody>
        </p:sp>
      </p:grpSp>
      <p:pic>
        <p:nvPicPr>
          <p:cNvPr id="155" name="Google Shape;155;g220569f7507_1_87" descr="Imagen que contiene Gráfico de líneas&#10;&#10;Descripción generada automáticamente"/>
          <p:cNvPicPr preferRelativeResize="0"/>
          <p:nvPr/>
        </p:nvPicPr>
        <p:blipFill rotWithShape="1">
          <a:blip r:embed="rId4">
            <a:alphaModFix/>
          </a:blip>
          <a:srcRect l="21184" r="25224"/>
          <a:stretch/>
        </p:blipFill>
        <p:spPr>
          <a:xfrm>
            <a:off x="6186699" y="1794654"/>
            <a:ext cx="2078096" cy="136503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56" name="Google Shape;156;g220569f7507_1_87"/>
          <p:cNvCxnSpPr/>
          <p:nvPr/>
        </p:nvCxnSpPr>
        <p:spPr>
          <a:xfrm>
            <a:off x="6802210" y="2342935"/>
            <a:ext cx="0" cy="64976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7" name="Google Shape;157;g220569f7507_1_87"/>
          <p:cNvSpPr txBox="1"/>
          <p:nvPr/>
        </p:nvSpPr>
        <p:spPr>
          <a:xfrm>
            <a:off x="5767818" y="4265245"/>
            <a:ext cx="3200675" cy="715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AR" sz="14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https://pytorch.org/blog/introducing-torchvision-new-multi-weight-support-api/</a:t>
            </a:r>
            <a:endParaRPr sz="1100" dirty="0"/>
          </a:p>
        </p:txBody>
      </p:sp>
      <p:sp>
        <p:nvSpPr>
          <p:cNvPr id="2" name="Google Shape;208;g220569f7507_1_72">
            <a:extLst>
              <a:ext uri="{FF2B5EF4-FFF2-40B4-BE49-F238E27FC236}">
                <a16:creationId xmlns:a16="http://schemas.microsoft.com/office/drawing/2014/main" id="{026C687C-6073-863C-EE88-136DA22135BC}"/>
              </a:ext>
            </a:extLst>
          </p:cNvPr>
          <p:cNvSpPr txBox="1"/>
          <p:nvPr/>
        </p:nvSpPr>
        <p:spPr>
          <a:xfrm>
            <a:off x="3638977" y="2655755"/>
            <a:ext cx="1220338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copiar</a:t>
            </a:r>
            <a:endParaRPr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220569f7507_1_105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Transfer Learning - ¿Qué estrategia usar?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ctr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</a:pP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cxnSp>
        <p:nvCxnSpPr>
          <p:cNvPr id="163" name="Google Shape;163;g220569f7507_1_105"/>
          <p:cNvCxnSpPr/>
          <p:nvPr/>
        </p:nvCxnSpPr>
        <p:spPr>
          <a:xfrm>
            <a:off x="914400" y="1759226"/>
            <a:ext cx="6927574" cy="0"/>
          </a:xfrm>
          <a:prstGeom prst="straightConnector1">
            <a:avLst/>
          </a:prstGeom>
          <a:noFill/>
          <a:ln w="76200" cap="flat" cmpd="sng">
            <a:solidFill>
              <a:schemeClr val="accent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164" name="Google Shape;164;g220569f7507_1_105"/>
          <p:cNvCxnSpPr/>
          <p:nvPr/>
        </p:nvCxnSpPr>
        <p:spPr>
          <a:xfrm>
            <a:off x="6216667" y="875707"/>
            <a:ext cx="0" cy="3754562"/>
          </a:xfrm>
          <a:prstGeom prst="straightConnector1">
            <a:avLst/>
          </a:prstGeom>
          <a:noFill/>
          <a:ln w="76200" cap="flat" cmpd="sng">
            <a:solidFill>
              <a:schemeClr val="accent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65" name="Google Shape;165;g220569f7507_1_105"/>
          <p:cNvSpPr txBox="1"/>
          <p:nvPr/>
        </p:nvSpPr>
        <p:spPr>
          <a:xfrm>
            <a:off x="-25334" y="1297580"/>
            <a:ext cx="1341900" cy="6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Dataset pequeño </a:t>
            </a: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6" name="Google Shape;166;g220569f7507_1_105"/>
          <p:cNvSpPr txBox="1"/>
          <p:nvPr/>
        </p:nvSpPr>
        <p:spPr>
          <a:xfrm>
            <a:off x="7890366" y="1759226"/>
            <a:ext cx="1267200" cy="6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Dataset grande</a:t>
            </a: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7" name="Google Shape;167;g220569f7507_1_105"/>
          <p:cNvSpPr txBox="1"/>
          <p:nvPr/>
        </p:nvSpPr>
        <p:spPr>
          <a:xfrm>
            <a:off x="3851207" y="674339"/>
            <a:ext cx="1911600" cy="6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Dataset semejante al generic</a:t>
            </a: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8" name="Google Shape;168;g220569f7507_1_105"/>
          <p:cNvSpPr txBox="1"/>
          <p:nvPr/>
        </p:nvSpPr>
        <p:spPr>
          <a:xfrm>
            <a:off x="4032407" y="4457069"/>
            <a:ext cx="1648800" cy="6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Dataset distinto al generic</a:t>
            </a:r>
            <a:endParaRPr sz="18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9" name="Google Shape;169;g220569f7507_1_105"/>
          <p:cNvSpPr txBox="1"/>
          <p:nvPr/>
        </p:nvSpPr>
        <p:spPr>
          <a:xfrm>
            <a:off x="1541164" y="810262"/>
            <a:ext cx="14958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feature extractor</a:t>
            </a:r>
            <a:endParaRPr sz="140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70" name="Google Shape;170;g220569f7507_1_105"/>
          <p:cNvSpPr txBox="1"/>
          <p:nvPr/>
        </p:nvSpPr>
        <p:spPr>
          <a:xfrm>
            <a:off x="6772858" y="814097"/>
            <a:ext cx="12324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fine tunning</a:t>
            </a:r>
            <a:endParaRPr sz="140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71" name="Google Shape;171;g220569f7507_1_105"/>
          <p:cNvSpPr txBox="1"/>
          <p:nvPr/>
        </p:nvSpPr>
        <p:spPr>
          <a:xfrm>
            <a:off x="177946" y="4086788"/>
            <a:ext cx="1809000" cy="71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feature extractor desde menor profundidad</a:t>
            </a:r>
            <a:endParaRPr sz="140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72" name="Google Shape;172;g220569f7507_1_105"/>
          <p:cNvSpPr txBox="1"/>
          <p:nvPr/>
        </p:nvSpPr>
        <p:spPr>
          <a:xfrm>
            <a:off x="6772858" y="3118999"/>
            <a:ext cx="2138230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fine tunning (from pre-trained models)</a:t>
            </a:r>
            <a:endParaRPr sz="140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73" name="Google Shape;173;g220569f7507_1_10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47033" y="2952112"/>
            <a:ext cx="2378053" cy="1572506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g220569f7507_1_105"/>
          <p:cNvSpPr/>
          <p:nvPr/>
        </p:nvSpPr>
        <p:spPr>
          <a:xfrm rot="-5400000">
            <a:off x="2732372" y="4325651"/>
            <a:ext cx="200415" cy="408824"/>
          </a:xfrm>
          <a:prstGeom prst="leftBrace">
            <a:avLst>
              <a:gd name="adj1" fmla="val 8333"/>
              <a:gd name="adj2" fmla="val 50000"/>
            </a:avLst>
          </a:prstGeom>
          <a:noFill/>
          <a:ln w="222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75" name="Google Shape;175;g220569f7507_1_105"/>
          <p:cNvSpPr txBox="1"/>
          <p:nvPr/>
        </p:nvSpPr>
        <p:spPr>
          <a:xfrm>
            <a:off x="2501531" y="4630270"/>
            <a:ext cx="1070921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entrenar</a:t>
            </a:r>
            <a:endParaRPr sz="1100"/>
          </a:p>
        </p:txBody>
      </p:sp>
      <p:sp>
        <p:nvSpPr>
          <p:cNvPr id="176" name="Google Shape;176;g220569f7507_1_105"/>
          <p:cNvSpPr txBox="1"/>
          <p:nvPr/>
        </p:nvSpPr>
        <p:spPr>
          <a:xfrm>
            <a:off x="304408" y="2009421"/>
            <a:ext cx="4691270" cy="692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https://discuss.pytorch.org/t/how-can-i-replace-the-forward-method-of-a-predefined-torchvision-model-with-my-customized-forward-function/54224/8</a:t>
            </a:r>
            <a:endParaRPr sz="1100" dirty="0"/>
          </a:p>
        </p:txBody>
      </p:sp>
      <p:sp>
        <p:nvSpPr>
          <p:cNvPr id="177" name="Google Shape;177;g220569f7507_1_105"/>
          <p:cNvSpPr txBox="1"/>
          <p:nvPr/>
        </p:nvSpPr>
        <p:spPr>
          <a:xfrm>
            <a:off x="3991376" y="2929046"/>
            <a:ext cx="2005650" cy="1311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https://github.com/mortezamg63/Accessing-and-modifying-different-layers-of-a-pretrained-model-in-pytorch/blob/master/README.md</a:t>
            </a:r>
            <a:endParaRPr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20569f7507_1_124"/>
          <p:cNvSpPr txBox="1"/>
          <p:nvPr/>
        </p:nvSpPr>
        <p:spPr>
          <a:xfrm>
            <a:off x="2175193" y="157412"/>
            <a:ext cx="4315200" cy="33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¡Un merecido descanso!</a:t>
            </a:r>
            <a:endParaRPr sz="1100"/>
          </a:p>
        </p:txBody>
      </p:sp>
      <p:pic>
        <p:nvPicPr>
          <p:cNvPr id="214" name="Google Shape;214;g220569f7507_1_12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98867" y="1043643"/>
            <a:ext cx="8080892" cy="36749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>
          <a:extLst>
            <a:ext uri="{FF2B5EF4-FFF2-40B4-BE49-F238E27FC236}">
              <a16:creationId xmlns:a16="http://schemas.microsoft.com/office/drawing/2014/main" id="{1AC41B8B-5F84-85B3-13FC-D9FF58660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220569f7507_1_129">
            <a:extLst>
              <a:ext uri="{FF2B5EF4-FFF2-40B4-BE49-F238E27FC236}">
                <a16:creationId xmlns:a16="http://schemas.microsoft.com/office/drawing/2014/main" id="{F7E019D6-E64C-AD0E-6A04-3FDF00378CC7}"/>
              </a:ext>
            </a:extLst>
          </p:cNvPr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220" name="Google Shape;220;g220569f7507_1_129">
            <a:extLst>
              <a:ext uri="{FF2B5EF4-FFF2-40B4-BE49-F238E27FC236}">
                <a16:creationId xmlns:a16="http://schemas.microsoft.com/office/drawing/2014/main" id="{1CA0C463-F9CE-9BBE-AC24-5DE104D50DFA}"/>
              </a:ext>
            </a:extLst>
          </p:cNvPr>
          <p:cNvSpPr txBox="1"/>
          <p:nvPr/>
        </p:nvSpPr>
        <p:spPr>
          <a:xfrm>
            <a:off x="614362" y="1077430"/>
            <a:ext cx="7915275" cy="3727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chemeClr val="dk2"/>
                </a:solidFill>
                <a:latin typeface="Twentieth Century"/>
                <a:sym typeface="Twentieth Century"/>
              </a:rPr>
              <a:t>Configuración de DL que busca </a:t>
            </a:r>
            <a:r>
              <a:rPr lang="es-ES" sz="2100" b="1" dirty="0">
                <a:solidFill>
                  <a:schemeClr val="dk2"/>
                </a:solidFill>
                <a:latin typeface="Twentieth Century"/>
                <a:sym typeface="Twentieth Century"/>
              </a:rPr>
              <a:t>aprender la distribución de </a:t>
            </a:r>
            <a:r>
              <a:rPr lang="es-ES" sz="2100" b="1" dirty="0" err="1">
                <a:solidFill>
                  <a:schemeClr val="dk2"/>
                </a:solidFill>
                <a:latin typeface="Twentieth Century"/>
                <a:sym typeface="Twentieth Century"/>
              </a:rPr>
              <a:t>prob</a:t>
            </a:r>
            <a:r>
              <a:rPr lang="es-ES" sz="2100" b="1" dirty="0">
                <a:solidFill>
                  <a:schemeClr val="dk2"/>
                </a:solidFill>
                <a:latin typeface="Twentieth Century"/>
                <a:sym typeface="Twentieth Century"/>
              </a:rPr>
              <a:t> de los datos de entrenamiento</a:t>
            </a:r>
            <a:r>
              <a:rPr lang="es-ES" sz="2100" dirty="0">
                <a:solidFill>
                  <a:schemeClr val="dk2"/>
                </a:solidFill>
                <a:latin typeface="Twentieth Century"/>
                <a:sym typeface="Twentieth Century"/>
              </a:rPr>
              <a:t> para poder </a:t>
            </a:r>
            <a:r>
              <a:rPr lang="es-ES" sz="2100" b="1" dirty="0">
                <a:solidFill>
                  <a:schemeClr val="dk2"/>
                </a:solidFill>
                <a:latin typeface="Twentieth Century"/>
                <a:sym typeface="Twentieth Century"/>
              </a:rPr>
              <a:t>generar nuevos datos a partir de esa distribución.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lang="es-ES" sz="2100" b="1" dirty="0">
              <a:solidFill>
                <a:schemeClr val="dk2"/>
              </a:solidFill>
              <a:latin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chemeClr val="dk2"/>
                </a:solidFill>
                <a:latin typeface="Twentieth Century"/>
                <a:sym typeface="Twentieth Century"/>
              </a:rPr>
              <a:t>Se logra entrenando 2 modelos compitiendo: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b="1" dirty="0">
                <a:solidFill>
                  <a:schemeClr val="dk2"/>
                </a:solidFill>
                <a:latin typeface="Twentieth Century"/>
                <a:sym typeface="Twentieth Century"/>
              </a:rPr>
              <a:t>G</a:t>
            </a:r>
            <a:r>
              <a:rPr lang="es-ES" sz="2100" dirty="0">
                <a:solidFill>
                  <a:schemeClr val="dk2"/>
                </a:solidFill>
                <a:latin typeface="Twentieth Century"/>
                <a:sym typeface="Wingdings" panose="05000000000000000000" pitchFamily="2" charset="2"/>
              </a:rPr>
              <a:t></a:t>
            </a:r>
            <a:r>
              <a:rPr lang="es-ES" sz="2100" dirty="0">
                <a:solidFill>
                  <a:schemeClr val="dk2"/>
                </a:solidFill>
                <a:latin typeface="Twentieth Century"/>
                <a:sym typeface="Twentieth Century"/>
              </a:rPr>
              <a:t> generador que busca generar  datos “falsos”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b="1" dirty="0">
                <a:solidFill>
                  <a:schemeClr val="dk2"/>
                </a:solidFill>
                <a:latin typeface="Twentieth Century"/>
                <a:sym typeface="Twentieth Century"/>
              </a:rPr>
              <a:t>D</a:t>
            </a:r>
            <a:r>
              <a:rPr lang="es-ES" sz="2100" dirty="0">
                <a:solidFill>
                  <a:schemeClr val="dk2"/>
                </a:solidFill>
                <a:latin typeface="Twentieth Century"/>
                <a:sym typeface="Wingdings" panose="05000000000000000000" pitchFamily="2" charset="2"/>
              </a:rPr>
              <a:t></a:t>
            </a:r>
            <a:r>
              <a:rPr lang="es-ES" sz="2100" dirty="0">
                <a:solidFill>
                  <a:schemeClr val="dk2"/>
                </a:solidFill>
                <a:latin typeface="Twentieth Century"/>
                <a:sym typeface="Twentieth Century"/>
              </a:rPr>
              <a:t> discriminador que busca identificar datos “verdaderos” o “falsos”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lang="es-ES" sz="2100" dirty="0">
              <a:solidFill>
                <a:schemeClr val="dk2"/>
              </a:solidFill>
              <a:latin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lang="es-ES" sz="2100" dirty="0">
              <a:solidFill>
                <a:schemeClr val="dk2"/>
              </a:solidFill>
              <a:latin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chemeClr val="dk2"/>
                </a:solidFill>
                <a:latin typeface="Twentieth Century"/>
                <a:sym typeface="Twentieth Century"/>
              </a:rPr>
              <a:t>Cuando el sistema “converge” el </a:t>
            </a:r>
            <a:r>
              <a:rPr lang="es-ES" sz="2100" b="1" dirty="0">
                <a:solidFill>
                  <a:schemeClr val="dk2"/>
                </a:solidFill>
                <a:latin typeface="Twentieth Century"/>
                <a:sym typeface="Twentieth Century"/>
              </a:rPr>
              <a:t>D</a:t>
            </a:r>
            <a:r>
              <a:rPr lang="es-ES" sz="2100" dirty="0">
                <a:solidFill>
                  <a:schemeClr val="dk2"/>
                </a:solidFill>
                <a:latin typeface="Twentieth Century"/>
                <a:sym typeface="Twentieth Century"/>
              </a:rPr>
              <a:t> no es capaz de distinguir datos reales de falsos (50% de real y 50% de falso)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lang="es-ES" sz="2100" dirty="0">
              <a:solidFill>
                <a:schemeClr val="dk2"/>
              </a:solidFill>
              <a:latin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chemeClr val="dk2"/>
                </a:solidFill>
                <a:latin typeface="Twentieth Century"/>
                <a:sym typeface="Twentieth Century"/>
              </a:rPr>
              <a:t>Ese punto de convergencia es teórico y aún no se ha podido alcanzar.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lang="es-ES" sz="2100" dirty="0">
              <a:solidFill>
                <a:schemeClr val="dk2"/>
              </a:solidFill>
              <a:latin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lang="es-ES" sz="2100" dirty="0">
              <a:solidFill>
                <a:schemeClr val="dk2"/>
              </a:solidFill>
              <a:latin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lang="es-ES" sz="2100" dirty="0">
              <a:solidFill>
                <a:schemeClr val="dk2"/>
              </a:solidFill>
              <a:latin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sz="1100" b="1" dirty="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  <p:extLst>
      <p:ext uri="{BB962C8B-B14F-4D97-AF65-F5344CB8AC3E}">
        <p14:creationId xmlns:p14="http://schemas.microsoft.com/office/powerpoint/2010/main" val="22678652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220569f7507_1_129"/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220" name="Google Shape;220;g220569f7507_1_129"/>
          <p:cNvSpPr txBox="1"/>
          <p:nvPr/>
        </p:nvSpPr>
        <p:spPr>
          <a:xfrm>
            <a:off x="1228725" y="594256"/>
            <a:ext cx="7915275" cy="8179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2 redes neuronales enfrentadas:   </a:t>
            </a:r>
            <a:r>
              <a:rPr lang="en" sz="2100" b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</a:t>
            </a: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enerador -  </a:t>
            </a:r>
            <a:r>
              <a:rPr lang="en" sz="2100" b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</a:t>
            </a: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iscriminador	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221" name="Google Shape;221;g220569f7507_1_129" descr="Forma&#10;&#10;Descripción generada automáticamente con confianza baja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14363" y="1097324"/>
            <a:ext cx="7915275" cy="345192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220569f7507_1_135"/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</a:t>
            </a:r>
            <a:endParaRPr sz="1100">
              <a:solidFill>
                <a:schemeClr val="dk2"/>
              </a:solidFill>
            </a:endParaRPr>
          </a:p>
        </p:txBody>
      </p:sp>
      <p:pic>
        <p:nvPicPr>
          <p:cNvPr id="228" name="Google Shape;228;g220569f7507_1_13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989417" y="728084"/>
            <a:ext cx="3672643" cy="4415425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g220569f7507_1_135"/>
          <p:cNvSpPr txBox="1"/>
          <p:nvPr/>
        </p:nvSpPr>
        <p:spPr>
          <a:xfrm>
            <a:off x="117195" y="814403"/>
            <a:ext cx="4432267" cy="8179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2 redes neuronales enfrentadas: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2100" b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</a:t>
            </a: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enerador -  </a:t>
            </a:r>
            <a:r>
              <a:rPr lang="en" sz="2100" b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</a:t>
            </a: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iscriminador	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" name="Google Shape;238;g220569f7507_1_144">
            <a:extLst>
              <a:ext uri="{FF2B5EF4-FFF2-40B4-BE49-F238E27FC236}">
                <a16:creationId xmlns:a16="http://schemas.microsoft.com/office/drawing/2014/main" id="{6805E0BA-5B3D-9629-D43D-F1C128B8D5B7}"/>
              </a:ext>
            </a:extLst>
          </p:cNvPr>
          <p:cNvSpPr txBox="1"/>
          <p:nvPr/>
        </p:nvSpPr>
        <p:spPr>
          <a:xfrm>
            <a:off x="117195" y="2884445"/>
            <a:ext cx="4432267" cy="9398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se entrena de forma indirecta (“supervisada”… pero de distinta forma)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3" name="Google Shape;239;g220569f7507_1_144">
            <a:extLst>
              <a:ext uri="{FF2B5EF4-FFF2-40B4-BE49-F238E27FC236}">
                <a16:creationId xmlns:a16="http://schemas.microsoft.com/office/drawing/2014/main" id="{0829DAA1-5D49-B41C-D512-29EFF96AA847}"/>
              </a:ext>
            </a:extLst>
          </p:cNvPr>
          <p:cNvSpPr txBox="1"/>
          <p:nvPr/>
        </p:nvSpPr>
        <p:spPr>
          <a:xfrm>
            <a:off x="139733" y="3945437"/>
            <a:ext cx="4432267" cy="6432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determina si una muestra es real </a:t>
            </a:r>
            <a:r>
              <a:rPr lang="en" sz="21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o falsa </a:t>
            </a:r>
            <a:r>
              <a:rPr lang="en" sz="21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0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4" name="Google Shape;240;g220569f7507_1_144">
            <a:extLst>
              <a:ext uri="{FF2B5EF4-FFF2-40B4-BE49-F238E27FC236}">
                <a16:creationId xmlns:a16="http://schemas.microsoft.com/office/drawing/2014/main" id="{ECA63837-EE2B-8924-E0B7-602D680265D7}"/>
              </a:ext>
            </a:extLst>
          </p:cNvPr>
          <p:cNvSpPr txBox="1"/>
          <p:nvPr/>
        </p:nvSpPr>
        <p:spPr>
          <a:xfrm>
            <a:off x="139733" y="1799048"/>
            <a:ext cx="4432267" cy="9398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se entrena para que </a:t>
            </a:r>
            <a:r>
              <a:rPr lang="en" sz="21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falle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se entrena para no fallar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220569f7507_1_154"/>
          <p:cNvSpPr txBox="1"/>
          <p:nvPr/>
        </p:nvSpPr>
        <p:spPr>
          <a:xfrm>
            <a:off x="486933" y="1041501"/>
            <a:ext cx="3183622" cy="3413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lvl="0">
              <a:lnSpc>
                <a:spcPct val="90000"/>
              </a:lnSpc>
              <a:spcBef>
                <a:spcPts val="800"/>
              </a:spcBef>
              <a:buClr>
                <a:schemeClr val="dk1"/>
              </a:buClr>
              <a:buSzPts val="2100"/>
            </a:pPr>
            <a:r>
              <a:rPr lang="it-IT" sz="21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</a:t>
            </a:r>
            <a:r>
              <a:rPr lang="it-IT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– generator (NN)</a:t>
            </a:r>
            <a:endParaRPr lang="it-IT" sz="1100" dirty="0">
              <a:solidFill>
                <a:schemeClr val="dk2"/>
              </a:solidFill>
            </a:endParaRPr>
          </a:p>
          <a:p>
            <a:pPr lvl="0">
              <a:lnSpc>
                <a:spcPct val="90000"/>
              </a:lnSpc>
              <a:spcBef>
                <a:spcPts val="800"/>
              </a:spcBef>
              <a:buClr>
                <a:schemeClr val="dk1"/>
              </a:buClr>
              <a:buSzPts val="2100"/>
            </a:pPr>
            <a:r>
              <a:rPr lang="it-IT" sz="21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</a:t>
            </a:r>
            <a:r>
              <a:rPr lang="it-IT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– discriminator (NN)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lang="en" sz="2100" i="1" dirty="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i="1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z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– vector aleatorio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i="1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x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– vector muestra (real)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lang="es-ES" sz="2100" dirty="0">
              <a:solidFill>
                <a:schemeClr val="dk2"/>
              </a:solidFill>
              <a:latin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chemeClr val="dk2"/>
                </a:solidFill>
                <a:latin typeface="Twentieth Century"/>
              </a:rPr>
              <a:t>D(x)=1 si x es real</a:t>
            </a: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chemeClr val="dk2"/>
                </a:solidFill>
                <a:latin typeface="Twentieth Century"/>
              </a:rPr>
              <a:t>D(x)=0 si x es falsa</a:t>
            </a: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chemeClr val="dk2"/>
                </a:solidFill>
                <a:latin typeface="Twentieth Century"/>
              </a:rPr>
              <a:t>G(z) – muestra falsa</a:t>
            </a: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248" name="Google Shape;248;g220569f7507_1_154"/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 – Función de costo</a:t>
            </a:r>
            <a:endParaRPr sz="1100">
              <a:solidFill>
                <a:schemeClr val="dk2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B998DA7B-1CC8-C05A-36A7-5A1EA1358482}"/>
                  </a:ext>
                </a:extLst>
              </p:cNvPr>
              <p:cNvSpPr txBox="1"/>
              <p:nvPr/>
            </p:nvSpPr>
            <p:spPr>
              <a:xfrm>
                <a:off x="4163191" y="1841178"/>
                <a:ext cx="3952942" cy="5975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A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  <m:r>
                        <a:rPr lang="es-AR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s-AR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𝑎𝑡𝑐h</m:t>
                          </m:r>
                        </m:sub>
                        <m:sup/>
                        <m:e>
                          <m: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𝐵𝐶𝐸</m:t>
                          </m:r>
                          <m:d>
                            <m:dPr>
                              <m:ctrlPr>
                                <a:rPr lang="es-A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AR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s-A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AR" sz="16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es-AR" sz="1600" b="0" i="1" smtClean="0">
                                  <a:latin typeface="Cambria Math" panose="02040503050406030204" pitchFamily="18" charset="0"/>
                                </a:rPr>
                                <m:t>,1</m:t>
                              </m:r>
                            </m:e>
                          </m:d>
                          <m: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𝐵𝐶𝐸</m:t>
                          </m:r>
                          <m:d>
                            <m:dPr>
                              <m:ctrlPr>
                                <a:rPr lang="es-A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AR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s-A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AR" sz="1600" b="0" i="1" smtClean="0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  <m:d>
                                    <m:dPr>
                                      <m:ctrlPr>
                                        <a:rPr lang="es-AR" sz="1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s-AR" sz="1600" b="0" i="1" smtClean="0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e>
                                  </m:d>
                                </m:e>
                              </m:d>
                              <m:r>
                                <a:rPr lang="es-AR" sz="1600" b="0" i="1" smtClean="0">
                                  <a:latin typeface="Cambria Math" panose="02040503050406030204" pitchFamily="18" charset="0"/>
                                </a:rPr>
                                <m:t>,0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s-ES" sz="1600" dirty="0"/>
              </a:p>
            </p:txBody>
          </p:sp>
        </mc:Choice>
        <mc:Fallback xmlns="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B998DA7B-1CC8-C05A-36A7-5A1EA1358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3191" y="1841178"/>
                <a:ext cx="3952942" cy="59753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uadroTexto 2">
                <a:extLst>
                  <a:ext uri="{FF2B5EF4-FFF2-40B4-BE49-F238E27FC236}">
                    <a16:creationId xmlns:a16="http://schemas.microsoft.com/office/drawing/2014/main" id="{EFA4F7BB-CE79-8477-F9F2-C0556723D8B2}"/>
                  </a:ext>
                </a:extLst>
              </p:cNvPr>
              <p:cNvSpPr txBox="1"/>
              <p:nvPr/>
            </p:nvSpPr>
            <p:spPr>
              <a:xfrm>
                <a:off x="4163191" y="2919427"/>
                <a:ext cx="2514214" cy="5975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A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sub>
                      </m:sSub>
                      <m:r>
                        <a:rPr lang="es-AR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s-AR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𝑎𝑡𝑐h</m:t>
                          </m:r>
                        </m:sub>
                        <m:sup/>
                        <m:e>
                          <m: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𝐵𝐶𝐸</m:t>
                          </m:r>
                          <m:d>
                            <m:dPr>
                              <m:ctrlPr>
                                <a:rPr lang="es-A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AR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s-A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AR" sz="1600" b="0" i="1" smtClean="0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  <m:d>
                                    <m:dPr>
                                      <m:ctrlPr>
                                        <a:rPr lang="es-AR" sz="1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s-AR" sz="1600" b="0" i="1" smtClean="0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e>
                                  </m:d>
                                </m:e>
                              </m:d>
                              <m:r>
                                <a:rPr lang="es-AR" sz="1600" b="0" i="1" smtClean="0">
                                  <a:latin typeface="Cambria Math" panose="02040503050406030204" pitchFamily="18" charset="0"/>
                                </a:rPr>
                                <m:t>,1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s-ES" sz="1600" dirty="0"/>
              </a:p>
            </p:txBody>
          </p:sp>
        </mc:Choice>
        <mc:Fallback xmlns="">
          <p:sp>
            <p:nvSpPr>
              <p:cNvPr id="3" name="CuadroTexto 2">
                <a:extLst>
                  <a:ext uri="{FF2B5EF4-FFF2-40B4-BE49-F238E27FC236}">
                    <a16:creationId xmlns:a16="http://schemas.microsoft.com/office/drawing/2014/main" id="{EFA4F7BB-CE79-8477-F9F2-C0556723D8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3191" y="2919427"/>
                <a:ext cx="2514214" cy="59753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Conector recto de flecha 4">
            <a:extLst>
              <a:ext uri="{FF2B5EF4-FFF2-40B4-BE49-F238E27FC236}">
                <a16:creationId xmlns:a16="http://schemas.microsoft.com/office/drawing/2014/main" id="{67CC578F-808E-85D5-F2AA-6E7186E8DD64}"/>
              </a:ext>
            </a:extLst>
          </p:cNvPr>
          <p:cNvCxnSpPr>
            <a:cxnSpLocks/>
          </p:cNvCxnSpPr>
          <p:nvPr/>
        </p:nvCxnSpPr>
        <p:spPr>
          <a:xfrm flipV="1">
            <a:off x="6476428" y="3526972"/>
            <a:ext cx="0" cy="28875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7" name="Google Shape;247;g220569f7507_1_154">
            <a:extLst>
              <a:ext uri="{FF2B5EF4-FFF2-40B4-BE49-F238E27FC236}">
                <a16:creationId xmlns:a16="http://schemas.microsoft.com/office/drawing/2014/main" id="{E877A9B9-AE7B-B777-44CF-35B956790F48}"/>
              </a:ext>
            </a:extLst>
          </p:cNvPr>
          <p:cNvSpPr txBox="1"/>
          <p:nvPr/>
        </p:nvSpPr>
        <p:spPr>
          <a:xfrm>
            <a:off x="5540351" y="3898763"/>
            <a:ext cx="2009658" cy="511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chemeClr val="accent3"/>
                </a:solidFill>
                <a:latin typeface="Twentieth Century"/>
                <a:sym typeface="Times New Roman"/>
              </a:rPr>
              <a:t>El objetivo de G es “engañar” a D</a:t>
            </a:r>
            <a:endParaRPr lang="es-ES" sz="2100" dirty="0">
              <a:solidFill>
                <a:schemeClr val="accent3"/>
              </a:solidFill>
              <a:latin typeface="Twentieth Century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sz="1050" dirty="0">
              <a:solidFill>
                <a:schemeClr val="accent3"/>
              </a:solidFill>
            </a:endParaRPr>
          </a:p>
        </p:txBody>
      </p:sp>
      <p:sp>
        <p:nvSpPr>
          <p:cNvPr id="8" name="Google Shape;247;g220569f7507_1_154">
            <a:extLst>
              <a:ext uri="{FF2B5EF4-FFF2-40B4-BE49-F238E27FC236}">
                <a16:creationId xmlns:a16="http://schemas.microsoft.com/office/drawing/2014/main" id="{9571B7AE-717C-9789-D2F1-B55D1C312116}"/>
              </a:ext>
            </a:extLst>
          </p:cNvPr>
          <p:cNvSpPr txBox="1"/>
          <p:nvPr/>
        </p:nvSpPr>
        <p:spPr>
          <a:xfrm>
            <a:off x="5128365" y="1032952"/>
            <a:ext cx="2833630" cy="597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chemeClr val="accent3"/>
                </a:solidFill>
                <a:latin typeface="Twentieth Century"/>
                <a:sym typeface="Times New Roman"/>
              </a:rPr>
              <a:t>El objetivo de D es distinguir Real vs </a:t>
            </a:r>
            <a:r>
              <a:rPr lang="es-AR" sz="2100" dirty="0" err="1">
                <a:solidFill>
                  <a:schemeClr val="accent3"/>
                </a:solidFill>
                <a:latin typeface="Twentieth Century"/>
                <a:sym typeface="Times New Roman"/>
              </a:rPr>
              <a:t>Fake</a:t>
            </a:r>
            <a:endParaRPr lang="es-ES" sz="2100" dirty="0">
              <a:solidFill>
                <a:schemeClr val="accent3"/>
              </a:solidFill>
              <a:latin typeface="Twentieth Century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sz="1050" dirty="0">
              <a:solidFill>
                <a:schemeClr val="accent3"/>
              </a:solidFill>
            </a:endParaRPr>
          </a:p>
        </p:txBody>
      </p:sp>
      <p:sp>
        <p:nvSpPr>
          <p:cNvPr id="9" name="Abrir llave 8">
            <a:extLst>
              <a:ext uri="{FF2B5EF4-FFF2-40B4-BE49-F238E27FC236}">
                <a16:creationId xmlns:a16="http://schemas.microsoft.com/office/drawing/2014/main" id="{FEA4A95C-76A8-2D22-1E8F-89654993EF3F}"/>
              </a:ext>
            </a:extLst>
          </p:cNvPr>
          <p:cNvSpPr/>
          <p:nvPr/>
        </p:nvSpPr>
        <p:spPr>
          <a:xfrm rot="5400000">
            <a:off x="6502320" y="286641"/>
            <a:ext cx="259955" cy="2967668"/>
          </a:xfrm>
          <a:prstGeom prst="leftBrace">
            <a:avLst/>
          </a:prstGeom>
          <a:ln w="19050"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>
          <a:extLst>
            <a:ext uri="{FF2B5EF4-FFF2-40B4-BE49-F238E27FC236}">
              <a16:creationId xmlns:a16="http://schemas.microsoft.com/office/drawing/2014/main" id="{8826C695-1AEF-F71B-FF69-F5DB2762A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220569f7507_1_154">
            <a:extLst>
              <a:ext uri="{FF2B5EF4-FFF2-40B4-BE49-F238E27FC236}">
                <a16:creationId xmlns:a16="http://schemas.microsoft.com/office/drawing/2014/main" id="{56A53342-DBF4-5975-119D-62ED568EF349}"/>
              </a:ext>
            </a:extLst>
          </p:cNvPr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 – Función de costo</a:t>
            </a:r>
            <a:endParaRPr sz="1100">
              <a:solidFill>
                <a:schemeClr val="dk2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F3FDC2F7-BBE0-5220-58CB-79E7756E4BF3}"/>
                  </a:ext>
                </a:extLst>
              </p:cNvPr>
              <p:cNvSpPr txBox="1"/>
              <p:nvPr/>
            </p:nvSpPr>
            <p:spPr>
              <a:xfrm>
                <a:off x="4163191" y="1841178"/>
                <a:ext cx="3952942" cy="5975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A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  <m:r>
                        <a:rPr lang="es-AR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s-AR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𝑎𝑡𝑐h</m:t>
                          </m:r>
                        </m:sub>
                        <m:sup/>
                        <m:e>
                          <m: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𝐵𝐶𝐸</m:t>
                          </m:r>
                          <m:d>
                            <m:dPr>
                              <m:ctrlPr>
                                <a:rPr lang="es-A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AR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s-A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AR" sz="16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es-AR" sz="1600" b="0" i="1" smtClean="0">
                                  <a:latin typeface="Cambria Math" panose="02040503050406030204" pitchFamily="18" charset="0"/>
                                </a:rPr>
                                <m:t>,1</m:t>
                              </m:r>
                            </m:e>
                          </m:d>
                          <m: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𝐵𝐶𝐸</m:t>
                          </m:r>
                          <m:d>
                            <m:dPr>
                              <m:ctrlPr>
                                <a:rPr lang="es-A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AR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s-A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AR" sz="1600" b="0" i="1" smtClean="0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  <m:d>
                                    <m:dPr>
                                      <m:ctrlPr>
                                        <a:rPr lang="es-AR" sz="1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s-AR" sz="1600" b="0" i="1" smtClean="0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e>
                                  </m:d>
                                </m:e>
                              </m:d>
                              <m:r>
                                <a:rPr lang="es-AR" sz="1600" b="0" i="1" smtClean="0">
                                  <a:latin typeface="Cambria Math" panose="02040503050406030204" pitchFamily="18" charset="0"/>
                                </a:rPr>
                                <m:t>,0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s-ES" sz="1600" dirty="0"/>
              </a:p>
            </p:txBody>
          </p:sp>
        </mc:Choice>
        <mc:Fallback xmlns="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F3FDC2F7-BBE0-5220-58CB-79E7756E4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3191" y="1841178"/>
                <a:ext cx="3952942" cy="59753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uadroTexto 2">
                <a:extLst>
                  <a:ext uri="{FF2B5EF4-FFF2-40B4-BE49-F238E27FC236}">
                    <a16:creationId xmlns:a16="http://schemas.microsoft.com/office/drawing/2014/main" id="{7365D057-F571-F9FE-FC22-0A27A2BF324E}"/>
                  </a:ext>
                </a:extLst>
              </p:cNvPr>
              <p:cNvSpPr txBox="1"/>
              <p:nvPr/>
            </p:nvSpPr>
            <p:spPr>
              <a:xfrm>
                <a:off x="4163191" y="2919427"/>
                <a:ext cx="2514214" cy="5975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A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sub>
                      </m:sSub>
                      <m:r>
                        <a:rPr lang="es-AR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s-AR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𝑎𝑡𝑐h</m:t>
                          </m:r>
                        </m:sub>
                        <m:sup/>
                        <m:e>
                          <m: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𝐵𝐶𝐸</m:t>
                          </m:r>
                          <m:d>
                            <m:dPr>
                              <m:ctrlPr>
                                <a:rPr lang="es-A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AR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s-A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AR" sz="1600" b="0" i="1" smtClean="0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  <m:d>
                                    <m:dPr>
                                      <m:ctrlPr>
                                        <a:rPr lang="es-AR" sz="1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s-AR" sz="1600" b="0" i="1" smtClean="0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e>
                                  </m:d>
                                </m:e>
                              </m:d>
                              <m:r>
                                <a:rPr lang="es-AR" sz="1600" b="0" i="1" smtClean="0">
                                  <a:latin typeface="Cambria Math" panose="02040503050406030204" pitchFamily="18" charset="0"/>
                                </a:rPr>
                                <m:t>,1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s-ES" sz="1600" dirty="0"/>
              </a:p>
            </p:txBody>
          </p:sp>
        </mc:Choice>
        <mc:Fallback xmlns="">
          <p:sp>
            <p:nvSpPr>
              <p:cNvPr id="3" name="CuadroTexto 2">
                <a:extLst>
                  <a:ext uri="{FF2B5EF4-FFF2-40B4-BE49-F238E27FC236}">
                    <a16:creationId xmlns:a16="http://schemas.microsoft.com/office/drawing/2014/main" id="{7365D057-F571-F9FE-FC22-0A27A2BF32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3191" y="2919427"/>
                <a:ext cx="2514214" cy="59753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Conector recto de flecha 4">
            <a:extLst>
              <a:ext uri="{FF2B5EF4-FFF2-40B4-BE49-F238E27FC236}">
                <a16:creationId xmlns:a16="http://schemas.microsoft.com/office/drawing/2014/main" id="{7E5F8F1B-C23D-3C09-5F17-3B62E88B5C9F}"/>
              </a:ext>
            </a:extLst>
          </p:cNvPr>
          <p:cNvCxnSpPr>
            <a:cxnSpLocks/>
          </p:cNvCxnSpPr>
          <p:nvPr/>
        </p:nvCxnSpPr>
        <p:spPr>
          <a:xfrm flipV="1">
            <a:off x="6476428" y="3526972"/>
            <a:ext cx="0" cy="28875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7" name="Google Shape;247;g220569f7507_1_154">
            <a:extLst>
              <a:ext uri="{FF2B5EF4-FFF2-40B4-BE49-F238E27FC236}">
                <a16:creationId xmlns:a16="http://schemas.microsoft.com/office/drawing/2014/main" id="{9F7636BC-0191-94C6-4140-62C7662A45C3}"/>
              </a:ext>
            </a:extLst>
          </p:cNvPr>
          <p:cNvSpPr txBox="1"/>
          <p:nvPr/>
        </p:nvSpPr>
        <p:spPr>
          <a:xfrm>
            <a:off x="5540351" y="3898763"/>
            <a:ext cx="2009658" cy="511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chemeClr val="accent3"/>
                </a:solidFill>
                <a:latin typeface="Twentieth Century"/>
                <a:sym typeface="Times New Roman"/>
              </a:rPr>
              <a:t>El objetivo de G es “engañar” a D</a:t>
            </a:r>
            <a:endParaRPr lang="es-ES" sz="2100" dirty="0">
              <a:solidFill>
                <a:schemeClr val="accent3"/>
              </a:solidFill>
              <a:latin typeface="Twentieth Century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sz="1050" dirty="0">
              <a:solidFill>
                <a:schemeClr val="accent3"/>
              </a:solidFill>
            </a:endParaRPr>
          </a:p>
        </p:txBody>
      </p:sp>
      <p:sp>
        <p:nvSpPr>
          <p:cNvPr id="8" name="Google Shape;247;g220569f7507_1_154">
            <a:extLst>
              <a:ext uri="{FF2B5EF4-FFF2-40B4-BE49-F238E27FC236}">
                <a16:creationId xmlns:a16="http://schemas.microsoft.com/office/drawing/2014/main" id="{3A863E5F-14CB-2C3D-E323-28CEF661A49E}"/>
              </a:ext>
            </a:extLst>
          </p:cNvPr>
          <p:cNvSpPr txBox="1"/>
          <p:nvPr/>
        </p:nvSpPr>
        <p:spPr>
          <a:xfrm>
            <a:off x="5128365" y="1032952"/>
            <a:ext cx="2833630" cy="597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chemeClr val="accent3"/>
                </a:solidFill>
                <a:latin typeface="Twentieth Century"/>
                <a:sym typeface="Times New Roman"/>
              </a:rPr>
              <a:t>El objetivo de D es distinguir Real vs </a:t>
            </a:r>
            <a:r>
              <a:rPr lang="es-AR" sz="2100" dirty="0" err="1">
                <a:solidFill>
                  <a:schemeClr val="accent3"/>
                </a:solidFill>
                <a:latin typeface="Twentieth Century"/>
                <a:sym typeface="Times New Roman"/>
              </a:rPr>
              <a:t>Fake</a:t>
            </a:r>
            <a:endParaRPr lang="es-ES" sz="2100" dirty="0">
              <a:solidFill>
                <a:schemeClr val="accent3"/>
              </a:solidFill>
              <a:latin typeface="Twentieth Century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sz="1050" dirty="0">
              <a:solidFill>
                <a:schemeClr val="accent3"/>
              </a:solidFill>
            </a:endParaRPr>
          </a:p>
        </p:txBody>
      </p:sp>
      <p:sp>
        <p:nvSpPr>
          <p:cNvPr id="9" name="Abrir llave 8">
            <a:extLst>
              <a:ext uri="{FF2B5EF4-FFF2-40B4-BE49-F238E27FC236}">
                <a16:creationId xmlns:a16="http://schemas.microsoft.com/office/drawing/2014/main" id="{14FA3FF8-8D78-0AEF-8496-C1B8FA595683}"/>
              </a:ext>
            </a:extLst>
          </p:cNvPr>
          <p:cNvSpPr/>
          <p:nvPr/>
        </p:nvSpPr>
        <p:spPr>
          <a:xfrm rot="5400000">
            <a:off x="6502320" y="286641"/>
            <a:ext cx="259955" cy="2967668"/>
          </a:xfrm>
          <a:prstGeom prst="leftBrace">
            <a:avLst/>
          </a:prstGeom>
          <a:ln w="19050"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40DC35CA-797E-C19D-6093-FFF88A54A781}"/>
              </a:ext>
            </a:extLst>
          </p:cNvPr>
          <p:cNvSpPr txBox="1"/>
          <p:nvPr/>
        </p:nvSpPr>
        <p:spPr>
          <a:xfrm>
            <a:off x="139223" y="1032952"/>
            <a:ext cx="3876413" cy="36445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s-ES" b="0" i="0" dirty="0">
                <a:solidFill>
                  <a:schemeClr val="bg2"/>
                </a:solidFill>
                <a:effectLst/>
                <a:latin typeface="Segoe WPC"/>
              </a:rPr>
              <a:t>En teoría, en el equilibrio ideal de una GAN es:</a:t>
            </a:r>
          </a:p>
          <a:p>
            <a:pPr algn="l"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s-ES" b="0" i="0" dirty="0">
                <a:solidFill>
                  <a:schemeClr val="bg2"/>
                </a:solidFill>
                <a:effectLst/>
                <a:latin typeface="Consolas" panose="020B0609020204030204" pitchFamily="49" charset="0"/>
              </a:rPr>
              <a:t>D(x) = 0.5</a:t>
            </a:r>
            <a:endParaRPr lang="es-ES" b="0" i="0" dirty="0">
              <a:solidFill>
                <a:schemeClr val="bg2"/>
              </a:solidFill>
              <a:effectLst/>
              <a:latin typeface="Segoe WPC"/>
            </a:endParaRPr>
          </a:p>
          <a:p>
            <a:pPr algn="l"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s-ES" b="0" i="0" dirty="0">
                <a:solidFill>
                  <a:schemeClr val="bg2"/>
                </a:solidFill>
                <a:effectLst/>
                <a:latin typeface="Consolas" panose="020B0609020204030204" pitchFamily="49" charset="0"/>
              </a:rPr>
              <a:t>D(G(z)) = 0.5</a:t>
            </a:r>
            <a:endParaRPr lang="es-ES" b="0" i="0" dirty="0">
              <a:solidFill>
                <a:schemeClr val="bg2"/>
              </a:solidFill>
              <a:effectLst/>
              <a:latin typeface="Segoe WPC"/>
            </a:endParaRPr>
          </a:p>
          <a:p>
            <a:pPr algn="l">
              <a:buNone/>
            </a:pPr>
            <a:endParaRPr lang="es-ES" b="0" i="0" dirty="0">
              <a:solidFill>
                <a:schemeClr val="bg2"/>
              </a:solidFill>
              <a:effectLst/>
              <a:latin typeface="Segoe WPC"/>
            </a:endParaRPr>
          </a:p>
          <a:p>
            <a:pPr algn="l">
              <a:buNone/>
            </a:pPr>
            <a:r>
              <a:rPr lang="es-ES" b="0" i="0" dirty="0">
                <a:solidFill>
                  <a:schemeClr val="bg2"/>
                </a:solidFill>
                <a:effectLst/>
                <a:latin typeface="Segoe WPC"/>
              </a:rPr>
              <a:t>porque el discriminador ya no puede distinguir reales de falsas mejor que al azar.</a:t>
            </a:r>
          </a:p>
          <a:p>
            <a:pPr algn="l">
              <a:buNone/>
            </a:pPr>
            <a:endParaRPr lang="es-ES" b="0" i="0" dirty="0">
              <a:solidFill>
                <a:schemeClr val="bg2"/>
              </a:solidFill>
              <a:effectLst/>
              <a:latin typeface="Segoe WPC"/>
            </a:endParaRPr>
          </a:p>
          <a:p>
            <a:pPr algn="l">
              <a:buNone/>
            </a:pPr>
            <a:r>
              <a:rPr lang="es-ES" b="0" i="0" dirty="0">
                <a:solidFill>
                  <a:schemeClr val="bg2"/>
                </a:solidFill>
                <a:effectLst/>
                <a:latin typeface="Segoe WPC"/>
              </a:rPr>
              <a:t>Entonces, si </a:t>
            </a:r>
            <a:r>
              <a:rPr lang="es-ES" b="0" i="0" dirty="0">
                <a:solidFill>
                  <a:schemeClr val="bg2"/>
                </a:solidFill>
                <a:effectLst/>
                <a:latin typeface="Consolas" panose="020B0609020204030204" pitchFamily="49" charset="0"/>
              </a:rPr>
              <a:t>D(x) = 0.5</a:t>
            </a:r>
            <a:r>
              <a:rPr lang="es-ES" b="0" i="0" dirty="0">
                <a:solidFill>
                  <a:schemeClr val="bg2"/>
                </a:solidFill>
                <a:effectLst/>
                <a:latin typeface="Segoe WPC"/>
              </a:rPr>
              <a:t> y </a:t>
            </a:r>
            <a:r>
              <a:rPr lang="es-ES" b="0" i="0" dirty="0">
                <a:solidFill>
                  <a:schemeClr val="bg2"/>
                </a:solidFill>
                <a:effectLst/>
                <a:latin typeface="Consolas" panose="020B0609020204030204" pitchFamily="49" charset="0"/>
              </a:rPr>
              <a:t>D(G(z)) = 0.5</a:t>
            </a:r>
            <a:r>
              <a:rPr lang="es-ES" b="0" i="0" dirty="0">
                <a:solidFill>
                  <a:schemeClr val="bg2"/>
                </a:solidFill>
                <a:effectLst/>
                <a:latin typeface="Segoe WPC"/>
              </a:rPr>
              <a:t>:</a:t>
            </a:r>
          </a:p>
          <a:p>
            <a:pPr algn="l">
              <a:buNone/>
            </a:pPr>
            <a:endParaRPr lang="es-ES" b="0" i="0" dirty="0">
              <a:solidFill>
                <a:schemeClr val="bg2"/>
              </a:solidFill>
              <a:effectLst/>
              <a:latin typeface="Segoe WPC"/>
            </a:endParaRPr>
          </a:p>
          <a:p>
            <a:pPr algn="l"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s-ES" b="0" i="0" dirty="0">
                <a:solidFill>
                  <a:schemeClr val="bg2"/>
                </a:solidFill>
                <a:effectLst/>
                <a:latin typeface="Consolas" panose="020B0609020204030204" pitchFamily="49" charset="0"/>
              </a:rPr>
              <a:t>BCE(0.5, 1) = -log(0.5) = 0.693</a:t>
            </a:r>
            <a:endParaRPr lang="es-ES" b="0" i="0" dirty="0">
              <a:solidFill>
                <a:schemeClr val="bg2"/>
              </a:solidFill>
              <a:effectLst/>
              <a:latin typeface="Segoe WPC"/>
            </a:endParaRPr>
          </a:p>
          <a:p>
            <a:pPr algn="l"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s-ES" b="0" i="0" dirty="0">
                <a:solidFill>
                  <a:schemeClr val="bg2"/>
                </a:solidFill>
                <a:effectLst/>
                <a:latin typeface="Consolas" panose="020B0609020204030204" pitchFamily="49" charset="0"/>
              </a:rPr>
              <a:t>BCE(0.5, 0) = -log(0.5) = 0.693</a:t>
            </a:r>
            <a:endParaRPr lang="es-ES" b="0" i="0" dirty="0">
              <a:solidFill>
                <a:schemeClr val="bg2"/>
              </a:solidFill>
              <a:effectLst/>
              <a:latin typeface="Segoe WPC"/>
            </a:endParaRPr>
          </a:p>
          <a:p>
            <a:pPr algn="l">
              <a:buNone/>
            </a:pPr>
            <a:endParaRPr lang="es-ES" b="0" i="0" dirty="0">
              <a:solidFill>
                <a:schemeClr val="bg2"/>
              </a:solidFill>
              <a:effectLst/>
              <a:latin typeface="Segoe WPC"/>
            </a:endParaRPr>
          </a:p>
          <a:p>
            <a:pPr algn="l">
              <a:buNone/>
            </a:pPr>
            <a:r>
              <a:rPr lang="es-ES" b="0" i="0" dirty="0">
                <a:solidFill>
                  <a:schemeClr val="bg2"/>
                </a:solidFill>
                <a:effectLst/>
                <a:latin typeface="Segoe WPC"/>
              </a:rPr>
              <a:t>por lo tanto, las pérdidas de equilibrio rondan:</a:t>
            </a:r>
          </a:p>
          <a:p>
            <a:pPr algn="l"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s-ES" b="0" i="0" dirty="0">
                <a:solidFill>
                  <a:schemeClr val="bg2"/>
                </a:solidFill>
                <a:effectLst/>
                <a:latin typeface="Consolas" panose="020B0609020204030204" pitchFamily="49" charset="0"/>
              </a:rPr>
              <a:t>L</a:t>
            </a:r>
            <a:r>
              <a:rPr lang="es-ES" b="0" i="0" baseline="-25000" dirty="0">
                <a:solidFill>
                  <a:schemeClr val="bg2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s-ES" b="0" i="0" dirty="0">
                <a:solidFill>
                  <a:schemeClr val="bg2"/>
                </a:solidFill>
                <a:effectLst/>
                <a:latin typeface="Consolas" panose="020B0609020204030204" pitchFamily="49" charset="0"/>
              </a:rPr>
              <a:t> = 0.693 + 0.693 = 1.386</a:t>
            </a:r>
            <a:endParaRPr lang="es-ES" b="0" i="0" dirty="0">
              <a:solidFill>
                <a:schemeClr val="bg2"/>
              </a:solidFill>
              <a:effectLst/>
              <a:latin typeface="Segoe WPC"/>
            </a:endParaRPr>
          </a:p>
          <a:p>
            <a:pPr algn="l"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s-ES" b="0" i="0" dirty="0">
                <a:solidFill>
                  <a:schemeClr val="bg2"/>
                </a:solidFill>
                <a:effectLst/>
                <a:latin typeface="Consolas" panose="020B0609020204030204" pitchFamily="49" charset="0"/>
              </a:rPr>
              <a:t>L</a:t>
            </a:r>
            <a:r>
              <a:rPr lang="es-ES" b="0" i="0" baseline="-25000" dirty="0">
                <a:solidFill>
                  <a:schemeClr val="bg2"/>
                </a:solidFill>
                <a:effectLst/>
                <a:latin typeface="Consolas" panose="020B0609020204030204" pitchFamily="49" charset="0"/>
              </a:rPr>
              <a:t>G</a:t>
            </a:r>
            <a:r>
              <a:rPr lang="es-ES" b="0" i="0" dirty="0">
                <a:solidFill>
                  <a:schemeClr val="bg2"/>
                </a:solidFill>
                <a:effectLst/>
                <a:latin typeface="Consolas" panose="020B0609020204030204" pitchFamily="49" charset="0"/>
              </a:rPr>
              <a:t> = 0.693</a:t>
            </a:r>
            <a:endParaRPr lang="es-ES" b="0" i="0" dirty="0">
              <a:solidFill>
                <a:schemeClr val="bg2"/>
              </a:solidFill>
              <a:effectLst/>
              <a:latin typeface="Segoe WPC"/>
            </a:endParaRPr>
          </a:p>
        </p:txBody>
      </p:sp>
    </p:spTree>
    <p:extLst>
      <p:ext uri="{BB962C8B-B14F-4D97-AF65-F5344CB8AC3E}">
        <p14:creationId xmlns:p14="http://schemas.microsoft.com/office/powerpoint/2010/main" val="34800619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DEE781F1-57AC-E6E3-6B6D-A9E2536C9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220569f7507_1_172">
            <a:extLst>
              <a:ext uri="{FF2B5EF4-FFF2-40B4-BE49-F238E27FC236}">
                <a16:creationId xmlns:a16="http://schemas.microsoft.com/office/drawing/2014/main" id="{A2EDDB55-49CB-222B-05D9-0599A6F28B0D}"/>
              </a:ext>
            </a:extLst>
          </p:cNvPr>
          <p:cNvSpPr txBox="1"/>
          <p:nvPr/>
        </p:nvSpPr>
        <p:spPr>
          <a:xfrm>
            <a:off x="358048" y="814403"/>
            <a:ext cx="8427904" cy="37355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Entrena GANs es actualmente una especie de “trabajo de artesano”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lang="en"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Algunos trucos son: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lang="en"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342900" marR="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Tx/>
              <a:buChar char="-"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TanH como output del generador.</a:t>
            </a:r>
          </a:p>
          <a:p>
            <a:pPr marL="342900" marR="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Tx/>
              <a:buChar char="-"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Poner etiquetas reales a muestras falsas para entrenar generador.</a:t>
            </a:r>
          </a:p>
          <a:p>
            <a:pPr marL="342900" marR="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Tx/>
              <a:buChar char="-"/>
            </a:pPr>
            <a:r>
              <a:rPr lang="es-AR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U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sar batch normalization y minibatch.</a:t>
            </a:r>
          </a:p>
          <a:p>
            <a:pPr marL="342900" marR="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Tx/>
              <a:buChar char="-"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Evitar Maxpool, usar average pool o hacer downsampling con el stride de conv.</a:t>
            </a:r>
          </a:p>
          <a:p>
            <a:pPr marL="342900" lvl="0" indent="-342900">
              <a:lnSpc>
                <a:spcPct val="90000"/>
              </a:lnSpc>
              <a:buClr>
                <a:schemeClr val="dk1"/>
              </a:buClr>
              <a:buSzPts val="2100"/>
              <a:buFontTx/>
              <a:buChar char="-"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Evitar usar ReLu, usar LeakyReLu.</a:t>
            </a:r>
          </a:p>
          <a:p>
            <a:pPr marL="342900" marR="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Tx/>
              <a:buChar char="-"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Usar Adam como optimizador, beta_1 = 0,5, lr=0,0002.</a:t>
            </a:r>
          </a:p>
          <a:p>
            <a:pPr marL="342900" marR="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Tx/>
              <a:buChar char="-"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Usar label smoothing (en lugar de 1 – 0; usar 0,9 – 0,1 para las clases real-fake).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69" name="Google Shape;269;g220569f7507_1_172">
            <a:extLst>
              <a:ext uri="{FF2B5EF4-FFF2-40B4-BE49-F238E27FC236}">
                <a16:creationId xmlns:a16="http://schemas.microsoft.com/office/drawing/2014/main" id="{639ED827-AF87-178A-F1AA-8E9F6BC77668}"/>
              </a:ext>
            </a:extLst>
          </p:cNvPr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 - Entrenamiento</a:t>
            </a:r>
            <a:endParaRPr sz="1100" dirty="0">
              <a:solidFill>
                <a:schemeClr val="dk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10863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9E4F9795-F933-BCC1-210A-2F8211B0C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220569f7507_1_172">
            <a:extLst>
              <a:ext uri="{FF2B5EF4-FFF2-40B4-BE49-F238E27FC236}">
                <a16:creationId xmlns:a16="http://schemas.microsoft.com/office/drawing/2014/main" id="{4D45B54C-9538-87B2-3625-112C7589CB40}"/>
              </a:ext>
            </a:extLst>
          </p:cNvPr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 - Implementación</a:t>
            </a: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2" name="Google Shape;295;g220569f7507_1_196">
            <a:extLst>
              <a:ext uri="{FF2B5EF4-FFF2-40B4-BE49-F238E27FC236}">
                <a16:creationId xmlns:a16="http://schemas.microsoft.com/office/drawing/2014/main" id="{2DB4136E-433B-2E98-EB61-7CF7F2E749B9}"/>
              </a:ext>
            </a:extLst>
          </p:cNvPr>
          <p:cNvSpPr txBox="1"/>
          <p:nvPr/>
        </p:nvSpPr>
        <p:spPr>
          <a:xfrm>
            <a:off x="251252" y="1114299"/>
            <a:ext cx="8641496" cy="1828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Implementación de GANs para generar número nuevos de MNIST</a:t>
            </a: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- VanillaGAN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 GAN implementada con MLP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- DCGAN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 GAN implementada con capas de convolución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3" name="Google Shape;221;g220569f7507_1_129" descr="Forma&#10;&#10;Descripción generada automáticamente con confianza baja">
            <a:extLst>
              <a:ext uri="{FF2B5EF4-FFF2-40B4-BE49-F238E27FC236}">
                <a16:creationId xmlns:a16="http://schemas.microsoft.com/office/drawing/2014/main" id="{218FB180-5070-BBD8-09A9-7CF697AE081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91908" y="2571750"/>
            <a:ext cx="4115768" cy="198071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261801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747BE2D2-55C1-6F87-B487-DEF14AFB7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220569f7507_1_172">
            <a:extLst>
              <a:ext uri="{FF2B5EF4-FFF2-40B4-BE49-F238E27FC236}">
                <a16:creationId xmlns:a16="http://schemas.microsoft.com/office/drawing/2014/main" id="{8D004D17-2F5D-9E3D-5971-0171A208E5FB}"/>
              </a:ext>
            </a:extLst>
          </p:cNvPr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 - Experimentos</a:t>
            </a: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2" name="Google Shape;295;g220569f7507_1_196">
            <a:extLst>
              <a:ext uri="{FF2B5EF4-FFF2-40B4-BE49-F238E27FC236}">
                <a16:creationId xmlns:a16="http://schemas.microsoft.com/office/drawing/2014/main" id="{5A95C271-64BF-3492-754D-4DDA2D021E1A}"/>
              </a:ext>
            </a:extLst>
          </p:cNvPr>
          <p:cNvSpPr txBox="1"/>
          <p:nvPr/>
        </p:nvSpPr>
        <p:spPr>
          <a:xfrm>
            <a:off x="251252" y="1093674"/>
            <a:ext cx="8641496" cy="2598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Experimentos propuestos (tarea para el hogar)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lang="en"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exp1 – Variar tamaño de n_noise (tamaño ruido input generador)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exp2 – Variar lr y beta1 (momentum) del optimizer adam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exp3 – Varia batch_size y n_critic (entrenar mas veces D que G)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exp4 – Entrenamiento extendido (200 epochs)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exp5 – scheduler lr a D y G, para evitar sobreaprendizaje del G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  <p:extLst>
      <p:ext uri="{BB962C8B-B14F-4D97-AF65-F5344CB8AC3E}">
        <p14:creationId xmlns:p14="http://schemas.microsoft.com/office/powerpoint/2010/main" val="3656110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E559B8C3-065D-AB75-3A84-EEAA93188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220569f7507_1_172">
            <a:extLst>
              <a:ext uri="{FF2B5EF4-FFF2-40B4-BE49-F238E27FC236}">
                <a16:creationId xmlns:a16="http://schemas.microsoft.com/office/drawing/2014/main" id="{DB93D9C9-7E66-758B-D6B7-5FADB12E4A97}"/>
              </a:ext>
            </a:extLst>
          </p:cNvPr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 - Experimentos</a:t>
            </a: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2" name="Google Shape;295;g220569f7507_1_196">
            <a:extLst>
              <a:ext uri="{FF2B5EF4-FFF2-40B4-BE49-F238E27FC236}">
                <a16:creationId xmlns:a16="http://schemas.microsoft.com/office/drawing/2014/main" id="{99CA9870-1700-3C23-EC5A-63BA4901A497}"/>
              </a:ext>
            </a:extLst>
          </p:cNvPr>
          <p:cNvSpPr txBox="1"/>
          <p:nvPr/>
        </p:nvSpPr>
        <p:spPr>
          <a:xfrm>
            <a:off x="251252" y="954038"/>
            <a:ext cx="8641496" cy="4532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exp1 – Variar tamaño de n_noise (tamaño ruido input generador)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86A2053-BCC6-4477-F769-69CCE2D4B3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09" y="1546917"/>
            <a:ext cx="2160000" cy="2209141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BBB7CDCF-77ED-C2BA-4F56-7893DD39EC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7122" y="1546917"/>
            <a:ext cx="2160000" cy="2209141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1653CA5A-0FBA-2BDF-2354-B8349E33FC5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60553" y="1546917"/>
            <a:ext cx="2160000" cy="2209141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1B2F1EA6-4F05-639E-E7FF-12DFC8EAA6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6179" y="1546917"/>
            <a:ext cx="2160000" cy="2209141"/>
          </a:xfrm>
          <a:prstGeom prst="rect">
            <a:avLst/>
          </a:prstGeom>
        </p:spPr>
      </p:pic>
      <p:sp>
        <p:nvSpPr>
          <p:cNvPr id="12" name="Google Shape;295;g220569f7507_1_196">
            <a:extLst>
              <a:ext uri="{FF2B5EF4-FFF2-40B4-BE49-F238E27FC236}">
                <a16:creationId xmlns:a16="http://schemas.microsoft.com/office/drawing/2014/main" id="{7EF8AAB6-78D2-F3DC-1211-A2067CEEEDB7}"/>
              </a:ext>
            </a:extLst>
          </p:cNvPr>
          <p:cNvSpPr txBox="1"/>
          <p:nvPr/>
        </p:nvSpPr>
        <p:spPr>
          <a:xfrm>
            <a:off x="387632" y="3962840"/>
            <a:ext cx="1654300" cy="4532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n_noise = 10</a:t>
            </a:r>
          </a:p>
        </p:txBody>
      </p:sp>
      <p:sp>
        <p:nvSpPr>
          <p:cNvPr id="13" name="Google Shape;295;g220569f7507_1_196">
            <a:extLst>
              <a:ext uri="{FF2B5EF4-FFF2-40B4-BE49-F238E27FC236}">
                <a16:creationId xmlns:a16="http://schemas.microsoft.com/office/drawing/2014/main" id="{44A80539-02FE-66FA-5369-29586F05BDE0}"/>
              </a:ext>
            </a:extLst>
          </p:cNvPr>
          <p:cNvSpPr txBox="1"/>
          <p:nvPr/>
        </p:nvSpPr>
        <p:spPr>
          <a:xfrm>
            <a:off x="2485710" y="3962840"/>
            <a:ext cx="1654300" cy="4532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n_noise = 50</a:t>
            </a:r>
          </a:p>
        </p:txBody>
      </p:sp>
      <p:sp>
        <p:nvSpPr>
          <p:cNvPr id="14" name="Google Shape;295;g220569f7507_1_196">
            <a:extLst>
              <a:ext uri="{FF2B5EF4-FFF2-40B4-BE49-F238E27FC236}">
                <a16:creationId xmlns:a16="http://schemas.microsoft.com/office/drawing/2014/main" id="{3B23ED33-7D3C-6DC3-EE1F-903B83D54BBA}"/>
              </a:ext>
            </a:extLst>
          </p:cNvPr>
          <p:cNvSpPr txBox="1"/>
          <p:nvPr/>
        </p:nvSpPr>
        <p:spPr>
          <a:xfrm>
            <a:off x="4754522" y="3962839"/>
            <a:ext cx="1654300" cy="4532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n_noise = 100</a:t>
            </a:r>
          </a:p>
        </p:txBody>
      </p:sp>
      <p:sp>
        <p:nvSpPr>
          <p:cNvPr id="15" name="Google Shape;295;g220569f7507_1_196">
            <a:extLst>
              <a:ext uri="{FF2B5EF4-FFF2-40B4-BE49-F238E27FC236}">
                <a16:creationId xmlns:a16="http://schemas.microsoft.com/office/drawing/2014/main" id="{D77EDB31-4774-E5F2-18DF-E1A92859CD89}"/>
              </a:ext>
            </a:extLst>
          </p:cNvPr>
          <p:cNvSpPr txBox="1"/>
          <p:nvPr/>
        </p:nvSpPr>
        <p:spPr>
          <a:xfrm>
            <a:off x="7102068" y="3962838"/>
            <a:ext cx="1654300" cy="4532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n_noise = 200</a:t>
            </a:r>
          </a:p>
        </p:txBody>
      </p:sp>
    </p:spTree>
    <p:extLst>
      <p:ext uri="{BB962C8B-B14F-4D97-AF65-F5344CB8AC3E}">
        <p14:creationId xmlns:p14="http://schemas.microsoft.com/office/powerpoint/2010/main" val="23527432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A9CAD79F-FADC-75A5-F29B-6DB1F56BC3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220569f7507_1_172">
            <a:extLst>
              <a:ext uri="{FF2B5EF4-FFF2-40B4-BE49-F238E27FC236}">
                <a16:creationId xmlns:a16="http://schemas.microsoft.com/office/drawing/2014/main" id="{53C90C5D-705A-7D78-13B2-FFDB8E896A0C}"/>
              </a:ext>
            </a:extLst>
          </p:cNvPr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 - Experimentos</a:t>
            </a: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2" name="Google Shape;295;g220569f7507_1_196">
            <a:extLst>
              <a:ext uri="{FF2B5EF4-FFF2-40B4-BE49-F238E27FC236}">
                <a16:creationId xmlns:a16="http://schemas.microsoft.com/office/drawing/2014/main" id="{0AC6E18A-8098-5C88-A181-60F98C94D22A}"/>
              </a:ext>
            </a:extLst>
          </p:cNvPr>
          <p:cNvSpPr txBox="1"/>
          <p:nvPr/>
        </p:nvSpPr>
        <p:spPr>
          <a:xfrm>
            <a:off x="251252" y="1018047"/>
            <a:ext cx="8641496" cy="4326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lvl="0">
              <a:lnSpc>
                <a:spcPct val="90000"/>
              </a:lnSpc>
              <a:buClr>
                <a:schemeClr val="dk1"/>
              </a:buClr>
              <a:buSzPts val="2100"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exp2 – Variar lr y beta1 (momentum) del optimizer adam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C181BB3-8409-97CD-AE88-4BD35408CB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531" y="1450665"/>
            <a:ext cx="2520000" cy="2577332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387DA8BB-3167-1D0C-D81A-A4FA5A2B67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3211" y="1450666"/>
            <a:ext cx="2520000" cy="2577331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76367148-B6B7-F68D-0940-A0A86A84EF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7979" y="1450665"/>
            <a:ext cx="2520000" cy="2577332"/>
          </a:xfrm>
          <a:prstGeom prst="rect">
            <a:avLst/>
          </a:prstGeom>
        </p:spPr>
      </p:pic>
      <p:sp>
        <p:nvSpPr>
          <p:cNvPr id="9" name="Google Shape;295;g220569f7507_1_196">
            <a:extLst>
              <a:ext uri="{FF2B5EF4-FFF2-40B4-BE49-F238E27FC236}">
                <a16:creationId xmlns:a16="http://schemas.microsoft.com/office/drawing/2014/main" id="{BB5C38BE-2320-B1E5-B983-557D36BF6300}"/>
              </a:ext>
            </a:extLst>
          </p:cNvPr>
          <p:cNvSpPr txBox="1"/>
          <p:nvPr/>
        </p:nvSpPr>
        <p:spPr>
          <a:xfrm>
            <a:off x="613381" y="4211016"/>
            <a:ext cx="1654300" cy="6841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 = 0,001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eta = 0,50</a:t>
            </a:r>
          </a:p>
        </p:txBody>
      </p:sp>
      <p:sp>
        <p:nvSpPr>
          <p:cNvPr id="10" name="Google Shape;295;g220569f7507_1_196">
            <a:extLst>
              <a:ext uri="{FF2B5EF4-FFF2-40B4-BE49-F238E27FC236}">
                <a16:creationId xmlns:a16="http://schemas.microsoft.com/office/drawing/2014/main" id="{8CA4D838-FBFF-46F9-CB46-1024F2E3B68D}"/>
              </a:ext>
            </a:extLst>
          </p:cNvPr>
          <p:cNvSpPr txBox="1"/>
          <p:nvPr/>
        </p:nvSpPr>
        <p:spPr>
          <a:xfrm>
            <a:off x="3667111" y="4211016"/>
            <a:ext cx="1654300" cy="6841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 = 0,0002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eta = 0,50</a:t>
            </a:r>
          </a:p>
        </p:txBody>
      </p:sp>
      <p:sp>
        <p:nvSpPr>
          <p:cNvPr id="11" name="Google Shape;295;g220569f7507_1_196">
            <a:extLst>
              <a:ext uri="{FF2B5EF4-FFF2-40B4-BE49-F238E27FC236}">
                <a16:creationId xmlns:a16="http://schemas.microsoft.com/office/drawing/2014/main" id="{9556C75D-B014-9D94-2BB8-1485093881D7}"/>
              </a:ext>
            </a:extLst>
          </p:cNvPr>
          <p:cNvSpPr txBox="1"/>
          <p:nvPr/>
        </p:nvSpPr>
        <p:spPr>
          <a:xfrm>
            <a:off x="6597087" y="4211016"/>
            <a:ext cx="1654300" cy="6841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 = 0,0002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eta = 0,90</a:t>
            </a:r>
          </a:p>
        </p:txBody>
      </p:sp>
    </p:spTree>
    <p:extLst>
      <p:ext uri="{BB962C8B-B14F-4D97-AF65-F5344CB8AC3E}">
        <p14:creationId xmlns:p14="http://schemas.microsoft.com/office/powerpoint/2010/main" val="42909495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6339EFDD-F7CD-4BC2-5CC3-C67309199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220569f7507_1_172">
            <a:extLst>
              <a:ext uri="{FF2B5EF4-FFF2-40B4-BE49-F238E27FC236}">
                <a16:creationId xmlns:a16="http://schemas.microsoft.com/office/drawing/2014/main" id="{F4A0F5CE-B6C9-D0F4-942E-1438B86EA4C0}"/>
              </a:ext>
            </a:extLst>
          </p:cNvPr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 - Experimentos</a:t>
            </a: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2" name="Google Shape;295;g220569f7507_1_196">
            <a:extLst>
              <a:ext uri="{FF2B5EF4-FFF2-40B4-BE49-F238E27FC236}">
                <a16:creationId xmlns:a16="http://schemas.microsoft.com/office/drawing/2014/main" id="{4A84F79F-4CB5-4026-9752-5F6DEDF928B7}"/>
              </a:ext>
            </a:extLst>
          </p:cNvPr>
          <p:cNvSpPr txBox="1"/>
          <p:nvPr/>
        </p:nvSpPr>
        <p:spPr>
          <a:xfrm>
            <a:off x="251252" y="1093674"/>
            <a:ext cx="8641496" cy="3638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exp3 – Varia batch_size y n_critic (entrenar mas veces D que G)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C79DFE8-3F8D-BE36-7874-67F9E4B3BA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252" y="1581294"/>
            <a:ext cx="2880000" cy="2945522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697C6155-60D6-C03B-C872-2115F40ED6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2750" y="1581294"/>
            <a:ext cx="2880000" cy="2945522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70BB4408-7158-7E08-91A3-0BCD5DF8FE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3192" y="1581294"/>
            <a:ext cx="2880000" cy="2945522"/>
          </a:xfrm>
          <a:prstGeom prst="rect">
            <a:avLst/>
          </a:prstGeom>
        </p:spPr>
      </p:pic>
      <p:sp>
        <p:nvSpPr>
          <p:cNvPr id="9" name="Google Shape;295;g220569f7507_1_196">
            <a:extLst>
              <a:ext uri="{FF2B5EF4-FFF2-40B4-BE49-F238E27FC236}">
                <a16:creationId xmlns:a16="http://schemas.microsoft.com/office/drawing/2014/main" id="{0F10D328-9827-6D3F-74E3-4CFB7A506692}"/>
              </a:ext>
            </a:extLst>
          </p:cNvPr>
          <p:cNvSpPr txBox="1"/>
          <p:nvPr/>
        </p:nvSpPr>
        <p:spPr>
          <a:xfrm>
            <a:off x="611079" y="4526816"/>
            <a:ext cx="1654300" cy="567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AR" sz="2100" dirty="0" err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batch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= 32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AR" sz="2100" dirty="0" err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n_critic</a:t>
            </a:r>
            <a:r>
              <a:rPr lang="es-AR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= 1</a:t>
            </a:r>
          </a:p>
        </p:txBody>
      </p:sp>
      <p:sp>
        <p:nvSpPr>
          <p:cNvPr id="10" name="Google Shape;295;g220569f7507_1_196">
            <a:extLst>
              <a:ext uri="{FF2B5EF4-FFF2-40B4-BE49-F238E27FC236}">
                <a16:creationId xmlns:a16="http://schemas.microsoft.com/office/drawing/2014/main" id="{8984718D-CC04-8D44-0030-74347BBD7FC2}"/>
              </a:ext>
            </a:extLst>
          </p:cNvPr>
          <p:cNvSpPr txBox="1"/>
          <p:nvPr/>
        </p:nvSpPr>
        <p:spPr>
          <a:xfrm>
            <a:off x="3390858" y="4526816"/>
            <a:ext cx="1654300" cy="567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AR" sz="2100" dirty="0" err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batch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= 64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AR" sz="2100" dirty="0" err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n_critic</a:t>
            </a:r>
            <a:r>
              <a:rPr lang="es-AR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= 1</a:t>
            </a:r>
          </a:p>
        </p:txBody>
      </p:sp>
      <p:sp>
        <p:nvSpPr>
          <p:cNvPr id="11" name="Google Shape;295;g220569f7507_1_196">
            <a:extLst>
              <a:ext uri="{FF2B5EF4-FFF2-40B4-BE49-F238E27FC236}">
                <a16:creationId xmlns:a16="http://schemas.microsoft.com/office/drawing/2014/main" id="{3C4098F8-F0EC-FCA9-70A3-7D64EB50336A}"/>
              </a:ext>
            </a:extLst>
          </p:cNvPr>
          <p:cNvSpPr txBox="1"/>
          <p:nvPr/>
        </p:nvSpPr>
        <p:spPr>
          <a:xfrm>
            <a:off x="6490511" y="4526816"/>
            <a:ext cx="1654300" cy="567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AR" sz="2100" dirty="0" err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batch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= 128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AR" sz="2100" dirty="0" err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n_critic</a:t>
            </a:r>
            <a:r>
              <a:rPr lang="es-AR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= 1</a:t>
            </a:r>
          </a:p>
        </p:txBody>
      </p:sp>
    </p:spTree>
    <p:extLst>
      <p:ext uri="{BB962C8B-B14F-4D97-AF65-F5344CB8AC3E}">
        <p14:creationId xmlns:p14="http://schemas.microsoft.com/office/powerpoint/2010/main" val="35142906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6A890A41-BD00-3642-ABFA-40B00C6D2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220569f7507_1_172">
            <a:extLst>
              <a:ext uri="{FF2B5EF4-FFF2-40B4-BE49-F238E27FC236}">
                <a16:creationId xmlns:a16="http://schemas.microsoft.com/office/drawing/2014/main" id="{BA4F40F1-1A76-64A8-61BE-2CD0D343F51F}"/>
              </a:ext>
            </a:extLst>
          </p:cNvPr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 - Experimentos</a:t>
            </a: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2" name="Google Shape;295;g220569f7507_1_196">
            <a:extLst>
              <a:ext uri="{FF2B5EF4-FFF2-40B4-BE49-F238E27FC236}">
                <a16:creationId xmlns:a16="http://schemas.microsoft.com/office/drawing/2014/main" id="{9157D0A9-5A07-89D1-69CC-3A9F2B5F88B9}"/>
              </a:ext>
            </a:extLst>
          </p:cNvPr>
          <p:cNvSpPr txBox="1"/>
          <p:nvPr/>
        </p:nvSpPr>
        <p:spPr>
          <a:xfrm>
            <a:off x="251252" y="1093674"/>
            <a:ext cx="8641496" cy="3638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exp3 – Varia batch_size y n_critic (entrenar mas veces D que G)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9FBEF20-3EBE-406D-C74D-15E50662CD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252" y="1581294"/>
            <a:ext cx="2880000" cy="2945522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1980B507-12D8-AA18-A4FA-E45F4142C9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2750" y="1581294"/>
            <a:ext cx="2880000" cy="2945522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37861807-5648-BB7E-04A1-8C8D5E91A2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7406" y="1581294"/>
            <a:ext cx="2880000" cy="2945522"/>
          </a:xfrm>
          <a:prstGeom prst="rect">
            <a:avLst/>
          </a:prstGeom>
        </p:spPr>
      </p:pic>
      <p:sp>
        <p:nvSpPr>
          <p:cNvPr id="8" name="Google Shape;295;g220569f7507_1_196">
            <a:extLst>
              <a:ext uri="{FF2B5EF4-FFF2-40B4-BE49-F238E27FC236}">
                <a16:creationId xmlns:a16="http://schemas.microsoft.com/office/drawing/2014/main" id="{D5CC434B-A0BF-8487-84BF-87CA6F3C65C8}"/>
              </a:ext>
            </a:extLst>
          </p:cNvPr>
          <p:cNvSpPr txBox="1"/>
          <p:nvPr/>
        </p:nvSpPr>
        <p:spPr>
          <a:xfrm>
            <a:off x="611079" y="4526816"/>
            <a:ext cx="1654300" cy="567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AR" sz="2100" dirty="0" err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batch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= 32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AR" sz="2100" dirty="0" err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n_critic</a:t>
            </a:r>
            <a:r>
              <a:rPr lang="es-AR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= 1</a:t>
            </a:r>
          </a:p>
        </p:txBody>
      </p:sp>
      <p:sp>
        <p:nvSpPr>
          <p:cNvPr id="9" name="Google Shape;295;g220569f7507_1_196">
            <a:extLst>
              <a:ext uri="{FF2B5EF4-FFF2-40B4-BE49-F238E27FC236}">
                <a16:creationId xmlns:a16="http://schemas.microsoft.com/office/drawing/2014/main" id="{EDB2AC20-EF5D-DA03-36F8-994D5606737F}"/>
              </a:ext>
            </a:extLst>
          </p:cNvPr>
          <p:cNvSpPr txBox="1"/>
          <p:nvPr/>
        </p:nvSpPr>
        <p:spPr>
          <a:xfrm>
            <a:off x="3390858" y="4526816"/>
            <a:ext cx="1654300" cy="567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AR" sz="2100" dirty="0" err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batch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= 32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AR" sz="2100" dirty="0" err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n_critic</a:t>
            </a:r>
            <a:r>
              <a:rPr lang="es-AR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= 5</a:t>
            </a:r>
          </a:p>
        </p:txBody>
      </p:sp>
      <p:sp>
        <p:nvSpPr>
          <p:cNvPr id="10" name="Google Shape;295;g220569f7507_1_196">
            <a:extLst>
              <a:ext uri="{FF2B5EF4-FFF2-40B4-BE49-F238E27FC236}">
                <a16:creationId xmlns:a16="http://schemas.microsoft.com/office/drawing/2014/main" id="{8942D241-EF00-8ECB-9A4D-3201CC955A95}"/>
              </a:ext>
            </a:extLst>
          </p:cNvPr>
          <p:cNvSpPr txBox="1"/>
          <p:nvPr/>
        </p:nvSpPr>
        <p:spPr>
          <a:xfrm>
            <a:off x="6490511" y="4526816"/>
            <a:ext cx="1654300" cy="567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AR" sz="2100" dirty="0" err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batch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= 32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AR" sz="2100" dirty="0" err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n_critic</a:t>
            </a:r>
            <a:r>
              <a:rPr lang="es-AR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= 10</a:t>
            </a:r>
            <a:endParaRPr lang="en"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" name="Google Shape;295;g220569f7507_1_196">
            <a:extLst>
              <a:ext uri="{FF2B5EF4-FFF2-40B4-BE49-F238E27FC236}">
                <a16:creationId xmlns:a16="http://schemas.microsoft.com/office/drawing/2014/main" id="{98C8F893-6C47-B9AA-51B0-7277926DFCC3}"/>
              </a:ext>
            </a:extLst>
          </p:cNvPr>
          <p:cNvSpPr txBox="1"/>
          <p:nvPr/>
        </p:nvSpPr>
        <p:spPr>
          <a:xfrm>
            <a:off x="6371381" y="1922045"/>
            <a:ext cx="2353231" cy="2038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400" b="1" dirty="0">
                <a:solidFill>
                  <a:schemeClr val="accent3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</a:t>
            </a:r>
            <a:r>
              <a:rPr lang="en" sz="2400" b="1" dirty="0">
                <a:solidFill>
                  <a:schemeClr val="accent3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odel collapse!!</a:t>
            </a: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lang="en" sz="2400" b="1" dirty="0">
              <a:solidFill>
                <a:schemeClr val="accent3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400" b="1" dirty="0">
                <a:solidFill>
                  <a:schemeClr val="accent3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El G encuentra “cómodo” solo producir cifras “faciles”</a:t>
            </a: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400" b="1" dirty="0">
                <a:solidFill>
                  <a:schemeClr val="accent3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</a:t>
            </a:r>
            <a:endParaRPr sz="2400" b="1" dirty="0">
              <a:solidFill>
                <a:schemeClr val="accent3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  <p:extLst>
      <p:ext uri="{BB962C8B-B14F-4D97-AF65-F5344CB8AC3E}">
        <p14:creationId xmlns:p14="http://schemas.microsoft.com/office/powerpoint/2010/main" val="496538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00C30C6A-63CA-5BA3-744B-668297FB8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220569f7507_1_172">
            <a:extLst>
              <a:ext uri="{FF2B5EF4-FFF2-40B4-BE49-F238E27FC236}">
                <a16:creationId xmlns:a16="http://schemas.microsoft.com/office/drawing/2014/main" id="{8BCF6F4E-FB4E-3788-C389-0F6DEAF97028}"/>
              </a:ext>
            </a:extLst>
          </p:cNvPr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 - Experimentos</a:t>
            </a: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2" name="Google Shape;295;g220569f7507_1_196">
            <a:extLst>
              <a:ext uri="{FF2B5EF4-FFF2-40B4-BE49-F238E27FC236}">
                <a16:creationId xmlns:a16="http://schemas.microsoft.com/office/drawing/2014/main" id="{CADDCBA7-46E5-C454-6EA8-49718D99C0D1}"/>
              </a:ext>
            </a:extLst>
          </p:cNvPr>
          <p:cNvSpPr txBox="1"/>
          <p:nvPr/>
        </p:nvSpPr>
        <p:spPr>
          <a:xfrm>
            <a:off x="251252" y="1093674"/>
            <a:ext cx="8641496" cy="5082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exp4 – Entrenamiento extendido (200 epochs)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58891D0-23A3-54F5-13EF-12F643E866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9857" y="1488827"/>
            <a:ext cx="3937326" cy="1552636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E301722F-FBC1-0DF5-9C35-36C8FA0EA5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232" y="3129350"/>
            <a:ext cx="1800000" cy="1840951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D6DA0545-9A55-A698-EFAA-7FECA4C431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81236" y="3129349"/>
            <a:ext cx="1800000" cy="1840951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7C69F3A7-9C04-56D6-AF24-0C1ADEA0AB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15466" y="3168784"/>
            <a:ext cx="1800000" cy="1840951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2956A771-401F-E227-59F6-88FAE830592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92245" y="3184251"/>
            <a:ext cx="1800000" cy="1840951"/>
          </a:xfrm>
          <a:prstGeom prst="rect">
            <a:avLst/>
          </a:prstGeom>
        </p:spPr>
      </p:pic>
      <p:cxnSp>
        <p:nvCxnSpPr>
          <p:cNvPr id="14" name="Conector recto de flecha 13">
            <a:extLst>
              <a:ext uri="{FF2B5EF4-FFF2-40B4-BE49-F238E27FC236}">
                <a16:creationId xmlns:a16="http://schemas.microsoft.com/office/drawing/2014/main" id="{CE633B78-3673-8A43-9097-7708613A70BD}"/>
              </a:ext>
            </a:extLst>
          </p:cNvPr>
          <p:cNvCxnSpPr>
            <a:cxnSpLocks/>
          </p:cNvCxnSpPr>
          <p:nvPr/>
        </p:nvCxnSpPr>
        <p:spPr>
          <a:xfrm flipH="1">
            <a:off x="2087232" y="2933199"/>
            <a:ext cx="917225" cy="25105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6" name="Conector recto de flecha 15">
            <a:extLst>
              <a:ext uri="{FF2B5EF4-FFF2-40B4-BE49-F238E27FC236}">
                <a16:creationId xmlns:a16="http://schemas.microsoft.com/office/drawing/2014/main" id="{5BDE8546-D52F-B0F9-D39E-6F512BF44F3E}"/>
              </a:ext>
            </a:extLst>
          </p:cNvPr>
          <p:cNvCxnSpPr>
            <a:cxnSpLocks/>
            <a:endCxn id="8" idx="0"/>
          </p:cNvCxnSpPr>
          <p:nvPr/>
        </p:nvCxnSpPr>
        <p:spPr>
          <a:xfrm flipH="1">
            <a:off x="3381236" y="2952917"/>
            <a:ext cx="473459" cy="17643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8" name="Conector recto de flecha 17">
            <a:extLst>
              <a:ext uri="{FF2B5EF4-FFF2-40B4-BE49-F238E27FC236}">
                <a16:creationId xmlns:a16="http://schemas.microsoft.com/office/drawing/2014/main" id="{65D3F733-DF42-CCD8-189B-22774BD4FDAC}"/>
              </a:ext>
            </a:extLst>
          </p:cNvPr>
          <p:cNvCxnSpPr>
            <a:cxnSpLocks/>
            <a:endCxn id="10" idx="0"/>
          </p:cNvCxnSpPr>
          <p:nvPr/>
        </p:nvCxnSpPr>
        <p:spPr>
          <a:xfrm>
            <a:off x="4785131" y="2981180"/>
            <a:ext cx="730335" cy="18760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3" name="Conector recto de flecha 22">
            <a:extLst>
              <a:ext uri="{FF2B5EF4-FFF2-40B4-BE49-F238E27FC236}">
                <a16:creationId xmlns:a16="http://schemas.microsoft.com/office/drawing/2014/main" id="{1F936A48-7E68-AF86-FC1D-DEA293803426}"/>
              </a:ext>
            </a:extLst>
          </p:cNvPr>
          <p:cNvCxnSpPr>
            <a:cxnSpLocks/>
          </p:cNvCxnSpPr>
          <p:nvPr/>
        </p:nvCxnSpPr>
        <p:spPr>
          <a:xfrm>
            <a:off x="6084541" y="2933199"/>
            <a:ext cx="707704" cy="23558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34" name="CuadroTexto 33">
            <a:extLst>
              <a:ext uri="{FF2B5EF4-FFF2-40B4-BE49-F238E27FC236}">
                <a16:creationId xmlns:a16="http://schemas.microsoft.com/office/drawing/2014/main" id="{430D180E-6B15-032F-FB1F-51402EEFAC75}"/>
              </a:ext>
            </a:extLst>
          </p:cNvPr>
          <p:cNvSpPr txBox="1"/>
          <p:nvPr/>
        </p:nvSpPr>
        <p:spPr>
          <a:xfrm>
            <a:off x="21887" y="1569319"/>
            <a:ext cx="213004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200" b="0" i="0" dirty="0">
                <a:solidFill>
                  <a:schemeClr val="accent3"/>
                </a:solidFill>
                <a:effectLst/>
                <a:latin typeface="Segoe WPC"/>
              </a:rPr>
              <a:t>D sigue mejorando como clasificador real/falso, pero G ya alcanzó un nivel visual aceptable y no mejora en la métrica adversaria al mismo ritmo.</a:t>
            </a:r>
            <a:endParaRPr lang="es-ES" sz="1200" dirty="0">
              <a:solidFill>
                <a:schemeClr val="accent3"/>
              </a:solidFill>
            </a:endParaRPr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0308AC55-6AF4-83B5-2679-9FA1BE57331B}"/>
              </a:ext>
            </a:extLst>
          </p:cNvPr>
          <p:cNvSpPr txBox="1"/>
          <p:nvPr/>
        </p:nvSpPr>
        <p:spPr>
          <a:xfrm>
            <a:off x="6415466" y="971045"/>
            <a:ext cx="2703932" cy="19466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chemeClr val="accent3"/>
                </a:solidFill>
                <a:effectLst/>
                <a:latin typeface="Segoe WPC"/>
              </a:rPr>
              <a:t>al principio ambos mejoran rápido</a:t>
            </a:r>
          </a:p>
          <a:p>
            <a:pPr algn="l"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chemeClr val="accent3"/>
                </a:solidFill>
                <a:effectLst/>
                <a:latin typeface="Segoe WPC"/>
              </a:rPr>
              <a:t>después </a:t>
            </a:r>
            <a:r>
              <a:rPr lang="es-ES" sz="1200" b="0" i="0" dirty="0">
                <a:solidFill>
                  <a:schemeClr val="accent3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s-ES" sz="1200" b="0" i="0" dirty="0">
                <a:solidFill>
                  <a:schemeClr val="accent3"/>
                </a:solidFill>
                <a:effectLst/>
                <a:latin typeface="Segoe WPC"/>
              </a:rPr>
              <a:t> aprende una frontera de decisión bastante buena</a:t>
            </a:r>
          </a:p>
          <a:p>
            <a:pPr algn="l"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chemeClr val="accent3"/>
                </a:solidFill>
                <a:effectLst/>
                <a:latin typeface="Segoe WPC"/>
              </a:rPr>
              <a:t>más adelante </a:t>
            </a:r>
            <a:r>
              <a:rPr lang="es-ES" sz="1200" b="0" i="0" dirty="0">
                <a:solidFill>
                  <a:schemeClr val="accent3"/>
                </a:solidFill>
                <a:effectLst/>
                <a:latin typeface="Consolas" panose="020B0609020204030204" pitchFamily="49" charset="0"/>
              </a:rPr>
              <a:t>G</a:t>
            </a:r>
            <a:r>
              <a:rPr lang="es-ES" sz="1200" b="0" i="0" dirty="0">
                <a:solidFill>
                  <a:schemeClr val="accent3"/>
                </a:solidFill>
                <a:effectLst/>
                <a:latin typeface="Segoe WPC"/>
              </a:rPr>
              <a:t> ya produce dígitos razonables, pero corregir defectos finos es mucho más difícil</a:t>
            </a:r>
          </a:p>
          <a:p>
            <a:pPr algn="l"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chemeClr val="accent3"/>
                </a:solidFill>
                <a:effectLst/>
                <a:latin typeface="Segoe WPC"/>
              </a:rPr>
              <a:t>entonces </a:t>
            </a:r>
            <a:r>
              <a:rPr lang="es-ES" sz="1200" b="0" i="0" dirty="0">
                <a:solidFill>
                  <a:schemeClr val="accent3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s-ES" sz="1200" b="0" i="0" dirty="0">
                <a:solidFill>
                  <a:schemeClr val="accent3"/>
                </a:solidFill>
                <a:effectLst/>
                <a:latin typeface="Segoe WPC"/>
              </a:rPr>
              <a:t> sigue mejorando un poco, y ese pequeño margen ya alcanza para hacer subir </a:t>
            </a:r>
            <a:r>
              <a:rPr lang="es-ES" sz="1200" b="0" i="0" dirty="0" err="1">
                <a:solidFill>
                  <a:schemeClr val="accent3"/>
                </a:solidFill>
                <a:effectLst/>
                <a:latin typeface="Consolas" panose="020B0609020204030204" pitchFamily="49" charset="0"/>
              </a:rPr>
              <a:t>G_loss</a:t>
            </a:r>
            <a:r>
              <a:rPr lang="es-ES" sz="1200" b="0" i="0" dirty="0">
                <a:solidFill>
                  <a:schemeClr val="accent3"/>
                </a:solidFill>
                <a:effectLst/>
                <a:latin typeface="Segoe WPC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598751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08F786FB-164D-BA01-720E-A7C8CBF50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220569f7507_1_172">
            <a:extLst>
              <a:ext uri="{FF2B5EF4-FFF2-40B4-BE49-F238E27FC236}">
                <a16:creationId xmlns:a16="http://schemas.microsoft.com/office/drawing/2014/main" id="{F9871FBA-7658-D0EB-599C-308338962F8B}"/>
              </a:ext>
            </a:extLst>
          </p:cNvPr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 - Experimentos</a:t>
            </a: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2" name="Google Shape;295;g220569f7507_1_196">
            <a:extLst>
              <a:ext uri="{FF2B5EF4-FFF2-40B4-BE49-F238E27FC236}">
                <a16:creationId xmlns:a16="http://schemas.microsoft.com/office/drawing/2014/main" id="{7EC07DDC-1D67-7F7F-52FF-E6CCA171393A}"/>
              </a:ext>
            </a:extLst>
          </p:cNvPr>
          <p:cNvSpPr txBox="1"/>
          <p:nvPr/>
        </p:nvSpPr>
        <p:spPr>
          <a:xfrm>
            <a:off x="251252" y="695805"/>
            <a:ext cx="8641496" cy="301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exp5 – scheduler lr a D y G, para evitar sobreaprendizaje del G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479E7DC-7BC7-DA7D-4B70-A05B8821D7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8469" y="1065653"/>
            <a:ext cx="3600000" cy="1287007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759678E6-5AFD-B08D-D96C-33A2C9451C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56599" y="2345215"/>
            <a:ext cx="3441870" cy="1419616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CA860AAC-64BA-B4BD-36B2-3A84F8911A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02" y="3613526"/>
            <a:ext cx="1440000" cy="1472761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7D212FEE-571E-0D3B-C29E-6824184973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69015" y="3632222"/>
            <a:ext cx="1440000" cy="1472761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A7FAFBD2-AF15-E607-3BB4-C34CE7B9151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19756" y="3586789"/>
            <a:ext cx="1440000" cy="1472761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B5196221-21DC-0C0F-8BD9-8B7B5A767F6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59756" y="3218599"/>
            <a:ext cx="1800000" cy="1840951"/>
          </a:xfrm>
          <a:prstGeom prst="rect">
            <a:avLst/>
          </a:prstGeom>
        </p:spPr>
      </p:pic>
      <p:cxnSp>
        <p:nvCxnSpPr>
          <p:cNvPr id="15" name="Conector recto de flecha 14">
            <a:extLst>
              <a:ext uri="{FF2B5EF4-FFF2-40B4-BE49-F238E27FC236}">
                <a16:creationId xmlns:a16="http://schemas.microsoft.com/office/drawing/2014/main" id="{A5FFA43E-3508-BA26-AE43-2EE7C9FE39A8}"/>
              </a:ext>
            </a:extLst>
          </p:cNvPr>
          <p:cNvCxnSpPr>
            <a:cxnSpLocks/>
          </p:cNvCxnSpPr>
          <p:nvPr/>
        </p:nvCxnSpPr>
        <p:spPr>
          <a:xfrm flipH="1">
            <a:off x="1544688" y="3586789"/>
            <a:ext cx="1634416" cy="6157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6" name="Conector recto de flecha 15">
            <a:extLst>
              <a:ext uri="{FF2B5EF4-FFF2-40B4-BE49-F238E27FC236}">
                <a16:creationId xmlns:a16="http://schemas.microsoft.com/office/drawing/2014/main" id="{2E3D83F4-A469-4469-CDBE-0276439BF7B6}"/>
              </a:ext>
            </a:extLst>
          </p:cNvPr>
          <p:cNvCxnSpPr>
            <a:cxnSpLocks/>
          </p:cNvCxnSpPr>
          <p:nvPr/>
        </p:nvCxnSpPr>
        <p:spPr>
          <a:xfrm flipH="1">
            <a:off x="3402723" y="3704581"/>
            <a:ext cx="473459" cy="17643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7" name="Conector recto de flecha 16">
            <a:extLst>
              <a:ext uri="{FF2B5EF4-FFF2-40B4-BE49-F238E27FC236}">
                <a16:creationId xmlns:a16="http://schemas.microsoft.com/office/drawing/2014/main" id="{5C25090F-362D-77AF-7EE3-C1B627BF981B}"/>
              </a:ext>
            </a:extLst>
          </p:cNvPr>
          <p:cNvCxnSpPr>
            <a:cxnSpLocks/>
          </p:cNvCxnSpPr>
          <p:nvPr/>
        </p:nvCxnSpPr>
        <p:spPr>
          <a:xfrm>
            <a:off x="4969218" y="3729120"/>
            <a:ext cx="850538" cy="40390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8" name="Conector recto de flecha 17">
            <a:extLst>
              <a:ext uri="{FF2B5EF4-FFF2-40B4-BE49-F238E27FC236}">
                <a16:creationId xmlns:a16="http://schemas.microsoft.com/office/drawing/2014/main" id="{2717843D-6F1E-A95D-1425-57BBFB1422FC}"/>
              </a:ext>
            </a:extLst>
          </p:cNvPr>
          <p:cNvCxnSpPr>
            <a:cxnSpLocks/>
          </p:cNvCxnSpPr>
          <p:nvPr/>
        </p:nvCxnSpPr>
        <p:spPr>
          <a:xfrm flipV="1">
            <a:off x="5803277" y="3540162"/>
            <a:ext cx="1456479" cy="1260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04904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BF00FC04-BBED-3C5E-7ADB-5D575B50B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220569f7507_1_172">
            <a:extLst>
              <a:ext uri="{FF2B5EF4-FFF2-40B4-BE49-F238E27FC236}">
                <a16:creationId xmlns:a16="http://schemas.microsoft.com/office/drawing/2014/main" id="{A1DA6A0C-A8E0-4D34-1363-34167DEC411E}"/>
              </a:ext>
            </a:extLst>
          </p:cNvPr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 - Experimentos</a:t>
            </a: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2" name="Google Shape;295;g220569f7507_1_196">
            <a:extLst>
              <a:ext uri="{FF2B5EF4-FFF2-40B4-BE49-F238E27FC236}">
                <a16:creationId xmlns:a16="http://schemas.microsoft.com/office/drawing/2014/main" id="{8BD79883-E5E6-642C-C252-5EB7BF91EEB7}"/>
              </a:ext>
            </a:extLst>
          </p:cNvPr>
          <p:cNvSpPr txBox="1"/>
          <p:nvPr/>
        </p:nvSpPr>
        <p:spPr>
          <a:xfrm>
            <a:off x="198806" y="2098134"/>
            <a:ext cx="8641496" cy="301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exp4 vs exp5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AE038DC2-7961-FC40-EC70-D8BDCCF6D2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0302" y="743140"/>
            <a:ext cx="3240000" cy="3313712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2F070547-85A4-FF11-E854-1A463D4D41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556" y="746586"/>
            <a:ext cx="3240000" cy="3313712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7A5B8291-69D2-6171-598D-0994D895990B}"/>
              </a:ext>
            </a:extLst>
          </p:cNvPr>
          <p:cNvSpPr txBox="1"/>
          <p:nvPr/>
        </p:nvSpPr>
        <p:spPr>
          <a:xfrm>
            <a:off x="1589887" y="4225576"/>
            <a:ext cx="555343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b="0" i="0" dirty="0">
                <a:solidFill>
                  <a:schemeClr val="accent3"/>
                </a:solidFill>
                <a:effectLst/>
                <a:latin typeface="Segoe WPC"/>
              </a:rPr>
              <a:t>Que el discriminador esté alrededor de </a:t>
            </a:r>
            <a:r>
              <a:rPr lang="es-ES" b="0" i="0" dirty="0">
                <a:solidFill>
                  <a:schemeClr val="accent3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es-ES" b="0" i="0" dirty="0">
                <a:solidFill>
                  <a:schemeClr val="accent3"/>
                </a:solidFill>
                <a:effectLst/>
                <a:latin typeface="Segoe WPC"/>
              </a:rPr>
              <a:t> quiere decir: “ya no distingue con mucha confianza entre real y falso”. Eso es estabilidad adversaria, no garantía de mejores dígitos.</a:t>
            </a:r>
            <a:endParaRPr lang="es-ES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34969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220569f7507_1_172"/>
          <p:cNvSpPr txBox="1"/>
          <p:nvPr/>
        </p:nvSpPr>
        <p:spPr>
          <a:xfrm>
            <a:off x="222275" y="814403"/>
            <a:ext cx="864149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Conditionals GANs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 le pasa un ‘label’ para que genere algo bajo ese ‘label’</a:t>
            </a: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269" name="Google Shape;269;g220569f7507_1_172"/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 - Implementación</a:t>
            </a:r>
            <a:endParaRPr sz="1100" dirty="0">
              <a:solidFill>
                <a:schemeClr val="dk2"/>
              </a:solidFill>
            </a:endParaRPr>
          </a:p>
        </p:txBody>
      </p:sp>
      <p:pic>
        <p:nvPicPr>
          <p:cNvPr id="270" name="Google Shape;270;g220569f7507_1_17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41863" y="1986797"/>
            <a:ext cx="5699757" cy="2316974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g220569f7507_1_172"/>
          <p:cNvSpPr/>
          <p:nvPr/>
        </p:nvSpPr>
        <p:spPr>
          <a:xfrm>
            <a:off x="112689" y="4661781"/>
            <a:ext cx="886066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https://machinelearningmastery.com/impressive-applications-of-generative-adversarial-networks/</a:t>
            </a:r>
            <a:endParaRPr sz="11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220569f7507_1_179"/>
          <p:cNvSpPr txBox="1"/>
          <p:nvPr/>
        </p:nvSpPr>
        <p:spPr>
          <a:xfrm>
            <a:off x="251252" y="704466"/>
            <a:ext cx="8641496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Super resolution GANs</a:t>
            </a:r>
            <a:endParaRPr sz="21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77" name="Google Shape;277;g220569f7507_1_179"/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 – Otros ejemplos</a:t>
            </a: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278" name="Google Shape;278;g220569f7507_1_179"/>
          <p:cNvSpPr/>
          <p:nvPr/>
        </p:nvSpPr>
        <p:spPr>
          <a:xfrm>
            <a:off x="112689" y="4661781"/>
            <a:ext cx="8860666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https://www.researchgate.net/publication/361868139_SWCGAN_Generative_Adversarial_Network_Combining_Swin_Transformer_and_CNN_for_Remote_Sensing_Image_Super-Resolution</a:t>
            </a:r>
            <a:endParaRPr sz="1100">
              <a:solidFill>
                <a:schemeClr val="dk2"/>
              </a:solidFill>
            </a:endParaRPr>
          </a:p>
        </p:txBody>
      </p:sp>
      <p:pic>
        <p:nvPicPr>
          <p:cNvPr id="279" name="Google Shape;279;g220569f7507_1_179"/>
          <p:cNvPicPr preferRelativeResize="0"/>
          <p:nvPr/>
        </p:nvPicPr>
        <p:blipFill rotWithShape="1">
          <a:blip r:embed="rId3">
            <a:alphaModFix/>
          </a:blip>
          <a:srcRect l="5651" t="45941" r="72717" b="20227"/>
          <a:stretch/>
        </p:blipFill>
        <p:spPr>
          <a:xfrm>
            <a:off x="1456555" y="1093304"/>
            <a:ext cx="6175988" cy="33457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220569f7507_1_186"/>
          <p:cNvSpPr txBox="1"/>
          <p:nvPr/>
        </p:nvSpPr>
        <p:spPr>
          <a:xfrm>
            <a:off x="251252" y="704466"/>
            <a:ext cx="8641496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Remote Sensing Image to Map Translation GANs</a:t>
            </a:r>
            <a:endParaRPr sz="21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85" name="Google Shape;285;g220569f7507_1_186"/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 – Otros ejemplos</a:t>
            </a: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286" name="Google Shape;286;g220569f7507_1_186"/>
          <p:cNvSpPr/>
          <p:nvPr/>
        </p:nvSpPr>
        <p:spPr>
          <a:xfrm>
            <a:off x="112689" y="4661781"/>
            <a:ext cx="886066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https://www.mdpi.com/2072-4292/13/10/1936</a:t>
            </a:r>
            <a:endParaRPr sz="1100">
              <a:solidFill>
                <a:schemeClr val="dk2"/>
              </a:solidFill>
            </a:endParaRPr>
          </a:p>
        </p:txBody>
      </p:sp>
      <p:pic>
        <p:nvPicPr>
          <p:cNvPr id="287" name="Google Shape;287;g220569f7507_1_186" descr="Forma&#10;&#10;Descripción generada automáticamente con confianza baja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7342" y="1408377"/>
            <a:ext cx="6949316" cy="3030657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g220569f7507_1_186" descr="Imagen que contiene Aplicación&#10;&#10;Descripción generada automáticamente"/>
          <p:cNvPicPr preferRelativeResize="0"/>
          <p:nvPr/>
        </p:nvPicPr>
        <p:blipFill rotWithShape="1">
          <a:blip r:embed="rId4">
            <a:alphaModFix/>
          </a:blip>
          <a:srcRect r="79198" b="51977"/>
          <a:stretch/>
        </p:blipFill>
        <p:spPr>
          <a:xfrm>
            <a:off x="448971" y="2762299"/>
            <a:ext cx="1517626" cy="15246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89" name="Google Shape;289;g220569f7507_1_186"/>
          <p:cNvPicPr preferRelativeResize="0"/>
          <p:nvPr/>
        </p:nvPicPr>
        <p:blipFill rotWithShape="1">
          <a:blip r:embed="rId5">
            <a:alphaModFix/>
          </a:blip>
          <a:srcRect l="20282" r="59793" b="52174"/>
          <a:stretch/>
        </p:blipFill>
        <p:spPr>
          <a:xfrm>
            <a:off x="3919627" y="3104779"/>
            <a:ext cx="1055138" cy="11021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90" name="Google Shape;290;g220569f7507_1_186"/>
          <p:cNvPicPr preferRelativeResize="0"/>
          <p:nvPr/>
        </p:nvPicPr>
        <p:blipFill rotWithShape="1">
          <a:blip r:embed="rId5">
            <a:alphaModFix/>
          </a:blip>
          <a:srcRect l="20282" r="59793" b="52931"/>
          <a:stretch/>
        </p:blipFill>
        <p:spPr>
          <a:xfrm>
            <a:off x="3330720" y="1453624"/>
            <a:ext cx="1241279" cy="12760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220569f7507_1_196"/>
          <p:cNvSpPr txBox="1"/>
          <p:nvPr/>
        </p:nvSpPr>
        <p:spPr>
          <a:xfrm>
            <a:off x="251252" y="1114299"/>
            <a:ext cx="864149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GANs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- ver colab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96" name="Google Shape;296;g220569f7507_1_196"/>
          <p:cNvSpPr/>
          <p:nvPr/>
        </p:nvSpPr>
        <p:spPr>
          <a:xfrm>
            <a:off x="2450749" y="1972520"/>
            <a:ext cx="4000133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https://github.com/Yangyangii/GAN-Tutorial</a:t>
            </a:r>
            <a:endParaRPr sz="1100" dirty="0"/>
          </a:p>
        </p:txBody>
      </p:sp>
      <p:sp>
        <p:nvSpPr>
          <p:cNvPr id="297" name="Google Shape;297;g220569f7507_1_196"/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298" name="Google Shape;298;g220569f7507_1_196"/>
          <p:cNvSpPr txBox="1"/>
          <p:nvPr/>
        </p:nvSpPr>
        <p:spPr>
          <a:xfrm>
            <a:off x="4450816" y="4155548"/>
            <a:ext cx="4695825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https://github.com/hindupuravinash/the-gan-zoo</a:t>
            </a:r>
            <a:endParaRPr sz="1100" dirty="0"/>
          </a:p>
        </p:txBody>
      </p:sp>
      <p:sp>
        <p:nvSpPr>
          <p:cNvPr id="299" name="Google Shape;299;g220569f7507_1_196"/>
          <p:cNvSpPr txBox="1"/>
          <p:nvPr/>
        </p:nvSpPr>
        <p:spPr>
          <a:xfrm>
            <a:off x="87424" y="3893847"/>
            <a:ext cx="300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https://arxiv.org/abs/1606.03498</a:t>
            </a:r>
            <a:endParaRPr dirty="0"/>
          </a:p>
        </p:txBody>
      </p:sp>
      <p:sp>
        <p:nvSpPr>
          <p:cNvPr id="300" name="Google Shape;300;g220569f7507_1_196"/>
          <p:cNvSpPr txBox="1"/>
          <p:nvPr/>
        </p:nvSpPr>
        <p:spPr>
          <a:xfrm>
            <a:off x="120325" y="3049798"/>
            <a:ext cx="2414834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How to train GANs: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452BA9D1-0C1A-6AF6-A3CD-CDB983D8E434}"/>
              </a:ext>
            </a:extLst>
          </p:cNvPr>
          <p:cNvSpPr txBox="1"/>
          <p:nvPr/>
        </p:nvSpPr>
        <p:spPr>
          <a:xfrm>
            <a:off x="87424" y="3565447"/>
            <a:ext cx="3327655" cy="400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>
              <a:buNone/>
              <a:defRPr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</a:defRPr>
            </a:lvl1pPr>
          </a:lstStyle>
          <a:p>
            <a:r>
              <a:rPr lang="es-AR" dirty="0"/>
              <a:t>https://neptune.ai/blog/gan-loss-functions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31A771BC-9320-4477-D4CE-E48E835C0A6D}"/>
              </a:ext>
            </a:extLst>
          </p:cNvPr>
          <p:cNvSpPr txBox="1"/>
          <p:nvPr/>
        </p:nvSpPr>
        <p:spPr>
          <a:xfrm>
            <a:off x="4450816" y="3529259"/>
            <a:ext cx="3680827" cy="615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>
              <a:buNone/>
              <a:defRPr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</a:defRPr>
            </a:lvl1pPr>
          </a:lstStyle>
          <a:p>
            <a:r>
              <a:rPr lang="es-AR" dirty="0"/>
              <a:t>https://docs.pytorch.org/tutorials/beginner/dcgan_faces_tutorial.html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865C14E4-B3EF-D19C-1D43-2D916429F03D}"/>
              </a:ext>
            </a:extLst>
          </p:cNvPr>
          <p:cNvSpPr txBox="1"/>
          <p:nvPr/>
        </p:nvSpPr>
        <p:spPr>
          <a:xfrm>
            <a:off x="4450816" y="4472539"/>
            <a:ext cx="4693184" cy="400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0" indent="0">
              <a:buNone/>
              <a:defRPr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</a:defRPr>
            </a:lvl1pPr>
          </a:lstStyle>
          <a:p>
            <a:r>
              <a:rPr lang="es-AR" dirty="0"/>
              <a:t>https://github.com/nashory/gans-awesome-applications</a:t>
            </a:r>
          </a:p>
        </p:txBody>
      </p:sp>
      <p:sp>
        <p:nvSpPr>
          <p:cNvPr id="8" name="Google Shape;300;g220569f7507_1_196">
            <a:extLst>
              <a:ext uri="{FF2B5EF4-FFF2-40B4-BE49-F238E27FC236}">
                <a16:creationId xmlns:a16="http://schemas.microsoft.com/office/drawing/2014/main" id="{6512D101-6837-A73E-D75D-958F6A99344A}"/>
              </a:ext>
            </a:extLst>
          </p:cNvPr>
          <p:cNvSpPr txBox="1"/>
          <p:nvPr/>
        </p:nvSpPr>
        <p:spPr>
          <a:xfrm>
            <a:off x="5468807" y="2979754"/>
            <a:ext cx="2414834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as sobre GANs: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D79F49-D78E-CC45-08B2-8B5CF4768294}"/>
              </a:ext>
            </a:extLst>
          </p:cNvPr>
          <p:cNvSpPr txBox="1"/>
          <p:nvPr/>
        </p:nvSpPr>
        <p:spPr>
          <a:xfrm>
            <a:off x="120325" y="4204101"/>
            <a:ext cx="3206769" cy="400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>
              <a:buNone/>
              <a:defRPr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</a:defRPr>
            </a:lvl1pPr>
          </a:lstStyle>
          <a:p>
            <a:r>
              <a:rPr lang="es-AR" dirty="0"/>
              <a:t>https://github.com/soumith/ganhacks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AB8CC89-ED55-C9D3-89AC-203C814D0040}"/>
              </a:ext>
            </a:extLst>
          </p:cNvPr>
          <p:cNvSpPr txBox="1"/>
          <p:nvPr/>
        </p:nvSpPr>
        <p:spPr>
          <a:xfrm>
            <a:off x="120324" y="4517436"/>
            <a:ext cx="3449141" cy="615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>
              <a:buNone/>
              <a:defRPr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</a:defRPr>
            </a:lvl1pPr>
          </a:lstStyle>
          <a:p>
            <a:r>
              <a:rPr lang="es-AR" dirty="0"/>
              <a:t>https://dropsofai.com/best-practices-for-training-stable-gans/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terial">
  <a:themeElements>
    <a:clrScheme name="Material">
      <a:dk1>
        <a:srgbClr val="4285F4"/>
      </a:dk1>
      <a:lt1>
        <a:srgbClr val="FFFFFF"/>
      </a:lt1>
      <a:dk2>
        <a:srgbClr val="424242"/>
      </a:dk2>
      <a:lt2>
        <a:srgbClr val="737373"/>
      </a:lt2>
      <a:accent1>
        <a:srgbClr val="0277BD"/>
      </a:accent1>
      <a:accent2>
        <a:srgbClr val="0F9D58"/>
      </a:accent2>
      <a:accent3>
        <a:srgbClr val="DB4437"/>
      </a:accent3>
      <a:accent4>
        <a:srgbClr val="FAFAFA"/>
      </a:accent4>
      <a:accent5>
        <a:srgbClr val="1A237E"/>
      </a:accent5>
      <a:accent6>
        <a:srgbClr val="F4B400"/>
      </a:accent6>
      <a:hlink>
        <a:srgbClr val="1A237E"/>
      </a:hlink>
      <a:folHlink>
        <a:srgbClr val="1A237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1156</TotalTime>
  <Words>1580</Words>
  <Application>Microsoft Office PowerPoint</Application>
  <PresentationFormat>On-screen Show (16:9)</PresentationFormat>
  <Paragraphs>247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8" baseType="lpstr">
      <vt:lpstr>Twentieth Century</vt:lpstr>
      <vt:lpstr>Cambria Math</vt:lpstr>
      <vt:lpstr>Times New Roman</vt:lpstr>
      <vt:lpstr>Segoe WPC</vt:lpstr>
      <vt:lpstr>Roboto</vt:lpstr>
      <vt:lpstr>Consolas</vt:lpstr>
      <vt:lpstr>Arial</vt:lpstr>
      <vt:lpstr>Material</vt:lpstr>
      <vt:lpstr>Aprendizaje Profundo</vt:lpstr>
      <vt:lpstr>TRANSFER LEARNING GENERATIVE ADVERSARIAL NETWORKS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Marcos Maillot</cp:lastModifiedBy>
  <cp:revision>13</cp:revision>
  <cp:lastPrinted>2026-04-21T15:09:08Z</cp:lastPrinted>
  <dcterms:modified xsi:type="dcterms:W3CDTF">2026-04-22T00:40:32Z</dcterms:modified>
</cp:coreProperties>
</file>